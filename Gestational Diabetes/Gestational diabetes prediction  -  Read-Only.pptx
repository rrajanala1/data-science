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2" r:id="rId1"/>
  </p:sldMasterIdLst>
  <p:notesMasterIdLst>
    <p:notesMasterId r:id="rId43"/>
  </p:notesMasterIdLst>
  <p:sldIdLst>
    <p:sldId id="256" r:id="rId2"/>
    <p:sldId id="294" r:id="rId3"/>
    <p:sldId id="263" r:id="rId4"/>
    <p:sldId id="257" r:id="rId5"/>
    <p:sldId id="259" r:id="rId6"/>
    <p:sldId id="262" r:id="rId7"/>
    <p:sldId id="260" r:id="rId8"/>
    <p:sldId id="264" r:id="rId9"/>
    <p:sldId id="265" r:id="rId10"/>
    <p:sldId id="266" r:id="rId11"/>
    <p:sldId id="273" r:id="rId12"/>
    <p:sldId id="267" r:id="rId13"/>
    <p:sldId id="268" r:id="rId14"/>
    <p:sldId id="269" r:id="rId15"/>
    <p:sldId id="270" r:id="rId16"/>
    <p:sldId id="271" r:id="rId17"/>
    <p:sldId id="272" r:id="rId18"/>
    <p:sldId id="275" r:id="rId19"/>
    <p:sldId id="274"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5" r:id="rId39"/>
    <p:sldId id="296" r:id="rId40"/>
    <p:sldId id="297" r:id="rId41"/>
    <p:sldId id="298"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287FAC5-16D6-4554-844E-9538463A878E}">
          <p14:sldIdLst>
            <p14:sldId id="256"/>
            <p14:sldId id="294"/>
            <p14:sldId id="263"/>
            <p14:sldId id="257"/>
            <p14:sldId id="259"/>
            <p14:sldId id="262"/>
            <p14:sldId id="260"/>
            <p14:sldId id="264"/>
            <p14:sldId id="265"/>
            <p14:sldId id="266"/>
            <p14:sldId id="273"/>
            <p14:sldId id="267"/>
            <p14:sldId id="268"/>
            <p14:sldId id="269"/>
            <p14:sldId id="270"/>
            <p14:sldId id="271"/>
            <p14:sldId id="272"/>
            <p14:sldId id="275"/>
          </p14:sldIdLst>
        </p14:section>
        <p14:section name="Untitled Section" id="{246F62FC-6E25-4BF1-8D9D-FA4C304E0F6A}">
          <p14:sldIdLst>
            <p14:sldId id="274"/>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5"/>
            <p14:sldId id="296"/>
            <p14:sldId id="297"/>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3" d="100"/>
          <a:sy n="83" d="100"/>
        </p:scale>
        <p:origin x="40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thnakar Rajanala" userId="9017f8e93c7a39dc" providerId="LiveId" clId="{E692541B-A49E-4E25-BFA5-6B00169A9834}"/>
    <pc:docChg chg="modSld">
      <pc:chgData name="Rathnakar Rajanala" userId="9017f8e93c7a39dc" providerId="LiveId" clId="{E692541B-A49E-4E25-BFA5-6B00169A9834}" dt="2026-03-05T19:25:54.878" v="0" actId="1076"/>
      <pc:docMkLst>
        <pc:docMk/>
      </pc:docMkLst>
      <pc:sldChg chg="modSp mod">
        <pc:chgData name="Rathnakar Rajanala" userId="9017f8e93c7a39dc" providerId="LiveId" clId="{E692541B-A49E-4E25-BFA5-6B00169A9834}" dt="2026-03-05T19:25:54.878" v="0" actId="1076"/>
        <pc:sldMkLst>
          <pc:docMk/>
          <pc:sldMk cId="454077870" sldId="295"/>
        </pc:sldMkLst>
        <pc:spChg chg="mod">
          <ac:chgData name="Rathnakar Rajanala" userId="9017f8e93c7a39dc" providerId="LiveId" clId="{E692541B-A49E-4E25-BFA5-6B00169A9834}" dt="2026-03-05T19:25:54.878" v="0" actId="1076"/>
          <ac:spMkLst>
            <pc:docMk/>
            <pc:sldMk cId="454077870" sldId="295"/>
            <ac:spMk id="3" creationId="{297AAFD8-5A36-C2C5-419F-1BA29D3D04DB}"/>
          </ac:spMkLst>
        </pc:spChg>
      </pc:sldChg>
    </pc:docChg>
  </pc:docChgLst>
</pc:chgInfo>
</file>

<file path=ppt/diagrams/_rels/data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_rels/data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ata6.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21.png"/><Relationship Id="rId7" Type="http://schemas.openxmlformats.org/officeDocument/2006/relationships/image" Target="../media/image1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10" Type="http://schemas.openxmlformats.org/officeDocument/2006/relationships/image" Target="../media/image26.svg"/><Relationship Id="rId4" Type="http://schemas.openxmlformats.org/officeDocument/2006/relationships/image" Target="../media/image22.svg"/><Relationship Id="rId9" Type="http://schemas.openxmlformats.org/officeDocument/2006/relationships/image" Target="../media/image25.png"/></Relationships>
</file>

<file path=ppt/diagrams/_rels/data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 Id="rId4" Type="http://schemas.openxmlformats.org/officeDocument/2006/relationships/image" Target="../media/image35.svg"/></Relationships>
</file>

<file path=ppt/diagrams/_rels/data1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svg"/><Relationship Id="rId1" Type="http://schemas.openxmlformats.org/officeDocument/2006/relationships/image" Target="../media/image44.png"/><Relationship Id="rId4" Type="http://schemas.openxmlformats.org/officeDocument/2006/relationships/image" Target="../media/image47.svg"/></Relationships>
</file>

<file path=ppt/diagrams/_rels/data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55.svg"/><Relationship Id="rId1" Type="http://schemas.openxmlformats.org/officeDocument/2006/relationships/image" Target="../media/image54.png"/><Relationship Id="rId6" Type="http://schemas.openxmlformats.org/officeDocument/2006/relationships/image" Target="../media/image57.svg"/><Relationship Id="rId5" Type="http://schemas.openxmlformats.org/officeDocument/2006/relationships/image" Target="../media/image56.png"/><Relationship Id="rId4" Type="http://schemas.openxmlformats.org/officeDocument/2006/relationships/image" Target="../media/image35.svg"/></Relationships>
</file>

<file path=ppt/diagrams/_rels/drawing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6.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21.png"/><Relationship Id="rId7" Type="http://schemas.openxmlformats.org/officeDocument/2006/relationships/image" Target="../media/image1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10" Type="http://schemas.openxmlformats.org/officeDocument/2006/relationships/image" Target="../media/image26.svg"/><Relationship Id="rId4" Type="http://schemas.openxmlformats.org/officeDocument/2006/relationships/image" Target="../media/image22.svg"/><Relationship Id="rId9" Type="http://schemas.openxmlformats.org/officeDocument/2006/relationships/image" Target="../media/image25.png"/></Relationships>
</file>

<file path=ppt/diagrams/_rels/drawing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 Id="rId4" Type="http://schemas.openxmlformats.org/officeDocument/2006/relationships/image" Target="../media/image35.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svg"/><Relationship Id="rId1" Type="http://schemas.openxmlformats.org/officeDocument/2006/relationships/image" Target="../media/image44.png"/><Relationship Id="rId4" Type="http://schemas.openxmlformats.org/officeDocument/2006/relationships/image" Target="../media/image47.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55.svg"/><Relationship Id="rId1" Type="http://schemas.openxmlformats.org/officeDocument/2006/relationships/image" Target="../media/image54.png"/><Relationship Id="rId6" Type="http://schemas.openxmlformats.org/officeDocument/2006/relationships/image" Target="../media/image57.svg"/><Relationship Id="rId5" Type="http://schemas.openxmlformats.org/officeDocument/2006/relationships/image" Target="../media/image56.png"/><Relationship Id="rId4" Type="http://schemas.openxmlformats.org/officeDocument/2006/relationships/image" Target="../media/image35.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7FDAB2-FD7A-4500-A3C6-E500ECC4A847}"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9CA1B70F-6962-496B-97A1-D4C815465151}">
      <dgm:prSet/>
      <dgm:spPr/>
      <dgm:t>
        <a:bodyPr/>
        <a:lstStyle/>
        <a:p>
          <a:r>
            <a:rPr lang="en-US"/>
            <a:t>Data Description </a:t>
          </a:r>
        </a:p>
      </dgm:t>
    </dgm:pt>
    <dgm:pt modelId="{76B7E00A-A820-45AF-B577-F9D171B89EC5}" type="parTrans" cxnId="{E2D52C5A-2C1C-4C8B-9BDE-1DFB2C077B9C}">
      <dgm:prSet/>
      <dgm:spPr/>
      <dgm:t>
        <a:bodyPr/>
        <a:lstStyle/>
        <a:p>
          <a:endParaRPr lang="en-US"/>
        </a:p>
      </dgm:t>
    </dgm:pt>
    <dgm:pt modelId="{3630E31F-FE63-44FE-BB15-E3260946606B}" type="sibTrans" cxnId="{E2D52C5A-2C1C-4C8B-9BDE-1DFB2C077B9C}">
      <dgm:prSet/>
      <dgm:spPr/>
      <dgm:t>
        <a:bodyPr/>
        <a:lstStyle/>
        <a:p>
          <a:endParaRPr lang="en-US"/>
        </a:p>
      </dgm:t>
    </dgm:pt>
    <dgm:pt modelId="{13F08BD3-A267-401D-8660-6776ECA7F2E1}">
      <dgm:prSet/>
      <dgm:spPr/>
      <dgm:t>
        <a:bodyPr/>
        <a:lstStyle/>
        <a:p>
          <a:r>
            <a:rPr lang="en-US"/>
            <a:t>Step 1 – Data Collection</a:t>
          </a:r>
        </a:p>
      </dgm:t>
    </dgm:pt>
    <dgm:pt modelId="{62906284-A985-4F92-8195-64C1BBCE7E0C}" type="parTrans" cxnId="{0B0A75E4-0BF3-42AF-B848-F7A0ABF84533}">
      <dgm:prSet/>
      <dgm:spPr/>
      <dgm:t>
        <a:bodyPr/>
        <a:lstStyle/>
        <a:p>
          <a:endParaRPr lang="en-US"/>
        </a:p>
      </dgm:t>
    </dgm:pt>
    <dgm:pt modelId="{17B5743E-88BC-4FA3-B0F3-05141D261AAE}" type="sibTrans" cxnId="{0B0A75E4-0BF3-42AF-B848-F7A0ABF84533}">
      <dgm:prSet/>
      <dgm:spPr/>
      <dgm:t>
        <a:bodyPr/>
        <a:lstStyle/>
        <a:p>
          <a:endParaRPr lang="en-US"/>
        </a:p>
      </dgm:t>
    </dgm:pt>
    <dgm:pt modelId="{EA883B81-F55F-44B8-B34F-934A35C0003B}">
      <dgm:prSet/>
      <dgm:spPr/>
      <dgm:t>
        <a:bodyPr/>
        <a:lstStyle/>
        <a:p>
          <a:r>
            <a:rPr lang="en-US"/>
            <a:t>Step 2 – Data visualization </a:t>
          </a:r>
        </a:p>
      </dgm:t>
    </dgm:pt>
    <dgm:pt modelId="{B28B9D1D-B75E-4EA4-9894-F973D278BAE9}" type="parTrans" cxnId="{4B092D0B-81FA-488F-AD89-DEBA6CCA2E13}">
      <dgm:prSet/>
      <dgm:spPr/>
      <dgm:t>
        <a:bodyPr/>
        <a:lstStyle/>
        <a:p>
          <a:endParaRPr lang="en-US"/>
        </a:p>
      </dgm:t>
    </dgm:pt>
    <dgm:pt modelId="{133F72E6-24DF-4ED8-A05E-715E0329F5FB}" type="sibTrans" cxnId="{4B092D0B-81FA-488F-AD89-DEBA6CCA2E13}">
      <dgm:prSet/>
      <dgm:spPr/>
      <dgm:t>
        <a:bodyPr/>
        <a:lstStyle/>
        <a:p>
          <a:endParaRPr lang="en-US"/>
        </a:p>
      </dgm:t>
    </dgm:pt>
    <dgm:pt modelId="{AD9C4E98-970F-4009-B38F-40AFE03C3EC0}">
      <dgm:prSet/>
      <dgm:spPr/>
      <dgm:t>
        <a:bodyPr/>
        <a:lstStyle/>
        <a:p>
          <a:r>
            <a:rPr lang="en-US"/>
            <a:t>Step 3 – Regression </a:t>
          </a:r>
        </a:p>
      </dgm:t>
    </dgm:pt>
    <dgm:pt modelId="{4D1DD694-64FE-4DAE-BF09-414F445BFC51}" type="parTrans" cxnId="{0C4C0A4C-E9FE-42ED-A2E0-654907EC13C7}">
      <dgm:prSet/>
      <dgm:spPr/>
      <dgm:t>
        <a:bodyPr/>
        <a:lstStyle/>
        <a:p>
          <a:endParaRPr lang="en-US"/>
        </a:p>
      </dgm:t>
    </dgm:pt>
    <dgm:pt modelId="{8AC2D9ED-1801-477F-B79D-87208D515AEC}" type="sibTrans" cxnId="{0C4C0A4C-E9FE-42ED-A2E0-654907EC13C7}">
      <dgm:prSet/>
      <dgm:spPr/>
      <dgm:t>
        <a:bodyPr/>
        <a:lstStyle/>
        <a:p>
          <a:endParaRPr lang="en-US"/>
        </a:p>
      </dgm:t>
    </dgm:pt>
    <dgm:pt modelId="{6384D5D8-C132-4A4A-AAAA-B8A6FD37928E}">
      <dgm:prSet/>
      <dgm:spPr/>
      <dgm:t>
        <a:bodyPr/>
        <a:lstStyle/>
        <a:p>
          <a:r>
            <a:rPr lang="en-US"/>
            <a:t>Step 4 – KNN &amp; Naïve bayes</a:t>
          </a:r>
        </a:p>
      </dgm:t>
    </dgm:pt>
    <dgm:pt modelId="{3D3874AF-64F9-4BCB-A484-77AF2AF711AB}" type="parTrans" cxnId="{FFCDCD13-DF7D-4070-9114-B1B461144253}">
      <dgm:prSet/>
      <dgm:spPr/>
      <dgm:t>
        <a:bodyPr/>
        <a:lstStyle/>
        <a:p>
          <a:endParaRPr lang="en-US"/>
        </a:p>
      </dgm:t>
    </dgm:pt>
    <dgm:pt modelId="{EE8CB5C7-18CC-47B6-B98D-FC8B63CC0F21}" type="sibTrans" cxnId="{FFCDCD13-DF7D-4070-9114-B1B461144253}">
      <dgm:prSet/>
      <dgm:spPr/>
      <dgm:t>
        <a:bodyPr/>
        <a:lstStyle/>
        <a:p>
          <a:endParaRPr lang="en-US"/>
        </a:p>
      </dgm:t>
    </dgm:pt>
    <dgm:pt modelId="{24BB5D96-D996-46B3-A62D-F4342C7371CF}">
      <dgm:prSet/>
      <dgm:spPr/>
      <dgm:t>
        <a:bodyPr/>
        <a:lstStyle/>
        <a:p>
          <a:r>
            <a:rPr lang="en-US"/>
            <a:t>Step 5 – SVM</a:t>
          </a:r>
        </a:p>
      </dgm:t>
    </dgm:pt>
    <dgm:pt modelId="{51D53E6B-D6D6-41CF-9E4C-277251E33B77}" type="parTrans" cxnId="{31BFFEA1-D6FB-49DE-A1A0-9714AD74D24B}">
      <dgm:prSet/>
      <dgm:spPr/>
      <dgm:t>
        <a:bodyPr/>
        <a:lstStyle/>
        <a:p>
          <a:endParaRPr lang="en-US"/>
        </a:p>
      </dgm:t>
    </dgm:pt>
    <dgm:pt modelId="{DCD35852-1FE8-4042-BED8-B6C9CD671095}" type="sibTrans" cxnId="{31BFFEA1-D6FB-49DE-A1A0-9714AD74D24B}">
      <dgm:prSet/>
      <dgm:spPr/>
      <dgm:t>
        <a:bodyPr/>
        <a:lstStyle/>
        <a:p>
          <a:endParaRPr lang="en-US"/>
        </a:p>
      </dgm:t>
    </dgm:pt>
    <dgm:pt modelId="{6C8A1C4B-3C16-445C-9A9F-1C14E7846E58}">
      <dgm:prSet/>
      <dgm:spPr/>
      <dgm:t>
        <a:bodyPr/>
        <a:lstStyle/>
        <a:p>
          <a:r>
            <a:rPr lang="en-US"/>
            <a:t>Step 6 – Random forest </a:t>
          </a:r>
        </a:p>
      </dgm:t>
    </dgm:pt>
    <dgm:pt modelId="{9461F95B-9C6D-4DA8-8DF8-705577007276}" type="parTrans" cxnId="{3115A485-5B0D-47E8-BCD3-4182AE7CF54E}">
      <dgm:prSet/>
      <dgm:spPr/>
      <dgm:t>
        <a:bodyPr/>
        <a:lstStyle/>
        <a:p>
          <a:endParaRPr lang="en-US"/>
        </a:p>
      </dgm:t>
    </dgm:pt>
    <dgm:pt modelId="{75D8092B-F5C0-4EF2-8C2B-60D072140BE5}" type="sibTrans" cxnId="{3115A485-5B0D-47E8-BCD3-4182AE7CF54E}">
      <dgm:prSet/>
      <dgm:spPr/>
      <dgm:t>
        <a:bodyPr/>
        <a:lstStyle/>
        <a:p>
          <a:endParaRPr lang="en-US"/>
        </a:p>
      </dgm:t>
    </dgm:pt>
    <dgm:pt modelId="{C124DABE-7183-4D79-A90E-9402F4411908}">
      <dgm:prSet/>
      <dgm:spPr/>
      <dgm:t>
        <a:bodyPr/>
        <a:lstStyle/>
        <a:p>
          <a:r>
            <a:rPr lang="en-US"/>
            <a:t>Conclusion </a:t>
          </a:r>
        </a:p>
      </dgm:t>
    </dgm:pt>
    <dgm:pt modelId="{6807828E-3CA6-418C-8CCE-CF44F664B32D}" type="parTrans" cxnId="{D27B4A45-C702-42E0-98CA-249F65E62DE8}">
      <dgm:prSet/>
      <dgm:spPr/>
      <dgm:t>
        <a:bodyPr/>
        <a:lstStyle/>
        <a:p>
          <a:endParaRPr lang="en-US"/>
        </a:p>
      </dgm:t>
    </dgm:pt>
    <dgm:pt modelId="{D8A2879F-2DA5-49A3-BD95-48E87F22A75B}" type="sibTrans" cxnId="{D27B4A45-C702-42E0-98CA-249F65E62DE8}">
      <dgm:prSet/>
      <dgm:spPr/>
      <dgm:t>
        <a:bodyPr/>
        <a:lstStyle/>
        <a:p>
          <a:endParaRPr lang="en-US"/>
        </a:p>
      </dgm:t>
    </dgm:pt>
    <dgm:pt modelId="{9CEC834A-B54F-4DC4-A1B9-4B2FB7EDCC52}">
      <dgm:prSet/>
      <dgm:spPr/>
      <dgm:t>
        <a:bodyPr/>
        <a:lstStyle/>
        <a:p>
          <a:r>
            <a:rPr lang="en-US"/>
            <a:t>References </a:t>
          </a:r>
        </a:p>
      </dgm:t>
    </dgm:pt>
    <dgm:pt modelId="{61F7D8DB-7CB1-47E2-93E2-7E0103C4CA4D}" type="parTrans" cxnId="{C3DFE42A-F622-4CFC-B1B0-F97FA8881872}">
      <dgm:prSet/>
      <dgm:spPr/>
      <dgm:t>
        <a:bodyPr/>
        <a:lstStyle/>
        <a:p>
          <a:endParaRPr lang="en-US"/>
        </a:p>
      </dgm:t>
    </dgm:pt>
    <dgm:pt modelId="{803A7DEF-5542-4E79-9899-77BE86E233E8}" type="sibTrans" cxnId="{C3DFE42A-F622-4CFC-B1B0-F97FA8881872}">
      <dgm:prSet/>
      <dgm:spPr/>
      <dgm:t>
        <a:bodyPr/>
        <a:lstStyle/>
        <a:p>
          <a:endParaRPr lang="en-US"/>
        </a:p>
      </dgm:t>
    </dgm:pt>
    <dgm:pt modelId="{1BD9C024-2D37-4224-942A-AC0C9A07CFFF}">
      <dgm:prSet/>
      <dgm:spPr/>
      <dgm:t>
        <a:bodyPr/>
        <a:lstStyle/>
        <a:p>
          <a:r>
            <a:rPr lang="en-US"/>
            <a:t>Contribution</a:t>
          </a:r>
        </a:p>
      </dgm:t>
    </dgm:pt>
    <dgm:pt modelId="{0C990DB5-1F1C-4994-811D-A1DBA384BF36}" type="parTrans" cxnId="{637F4B1B-B60F-4995-B6D6-1D672689CCF8}">
      <dgm:prSet/>
      <dgm:spPr/>
      <dgm:t>
        <a:bodyPr/>
        <a:lstStyle/>
        <a:p>
          <a:endParaRPr lang="en-US"/>
        </a:p>
      </dgm:t>
    </dgm:pt>
    <dgm:pt modelId="{F5AD1DD7-4962-4ABB-96CE-D73DA89FCBF6}" type="sibTrans" cxnId="{637F4B1B-B60F-4995-B6D6-1D672689CCF8}">
      <dgm:prSet/>
      <dgm:spPr/>
      <dgm:t>
        <a:bodyPr/>
        <a:lstStyle/>
        <a:p>
          <a:endParaRPr lang="en-US"/>
        </a:p>
      </dgm:t>
    </dgm:pt>
    <dgm:pt modelId="{DA079041-73AE-4AF5-ADCB-DCE8D0760B5E}" type="pres">
      <dgm:prSet presAssocID="{B17FDAB2-FD7A-4500-A3C6-E500ECC4A847}" presName="vert0" presStyleCnt="0">
        <dgm:presLayoutVars>
          <dgm:dir/>
          <dgm:animOne val="branch"/>
          <dgm:animLvl val="lvl"/>
        </dgm:presLayoutVars>
      </dgm:prSet>
      <dgm:spPr/>
    </dgm:pt>
    <dgm:pt modelId="{336C08CF-B725-4BFD-8CAC-88CDB111AFB6}" type="pres">
      <dgm:prSet presAssocID="{9CA1B70F-6962-496B-97A1-D4C815465151}" presName="thickLine" presStyleLbl="alignNode1" presStyleIdx="0" presStyleCnt="10"/>
      <dgm:spPr/>
    </dgm:pt>
    <dgm:pt modelId="{7E8AB539-3083-4CA4-A28B-C0D9EDF52AAE}" type="pres">
      <dgm:prSet presAssocID="{9CA1B70F-6962-496B-97A1-D4C815465151}" presName="horz1" presStyleCnt="0"/>
      <dgm:spPr/>
    </dgm:pt>
    <dgm:pt modelId="{CFC484D6-8076-4BA5-8EF6-92202534F92A}" type="pres">
      <dgm:prSet presAssocID="{9CA1B70F-6962-496B-97A1-D4C815465151}" presName="tx1" presStyleLbl="revTx" presStyleIdx="0" presStyleCnt="10"/>
      <dgm:spPr/>
    </dgm:pt>
    <dgm:pt modelId="{FE7653CC-B7FC-41E3-8C8B-20666D248BE5}" type="pres">
      <dgm:prSet presAssocID="{9CA1B70F-6962-496B-97A1-D4C815465151}" presName="vert1" presStyleCnt="0"/>
      <dgm:spPr/>
    </dgm:pt>
    <dgm:pt modelId="{04D85B17-2D88-4A93-A0B1-FB17BFB1CE58}" type="pres">
      <dgm:prSet presAssocID="{13F08BD3-A267-401D-8660-6776ECA7F2E1}" presName="thickLine" presStyleLbl="alignNode1" presStyleIdx="1" presStyleCnt="10"/>
      <dgm:spPr/>
    </dgm:pt>
    <dgm:pt modelId="{76087577-CB91-4A00-9D59-D7EDB29A0C4F}" type="pres">
      <dgm:prSet presAssocID="{13F08BD3-A267-401D-8660-6776ECA7F2E1}" presName="horz1" presStyleCnt="0"/>
      <dgm:spPr/>
    </dgm:pt>
    <dgm:pt modelId="{D4E30EEE-8602-4C9B-9EBF-F859C42E261C}" type="pres">
      <dgm:prSet presAssocID="{13F08BD3-A267-401D-8660-6776ECA7F2E1}" presName="tx1" presStyleLbl="revTx" presStyleIdx="1" presStyleCnt="10"/>
      <dgm:spPr/>
    </dgm:pt>
    <dgm:pt modelId="{CAE503D5-0C74-4F7F-9BD2-C61B6A3D03A4}" type="pres">
      <dgm:prSet presAssocID="{13F08BD3-A267-401D-8660-6776ECA7F2E1}" presName="vert1" presStyleCnt="0"/>
      <dgm:spPr/>
    </dgm:pt>
    <dgm:pt modelId="{F9326321-FB40-4D3F-BFF6-A210719BB4A0}" type="pres">
      <dgm:prSet presAssocID="{EA883B81-F55F-44B8-B34F-934A35C0003B}" presName="thickLine" presStyleLbl="alignNode1" presStyleIdx="2" presStyleCnt="10"/>
      <dgm:spPr/>
    </dgm:pt>
    <dgm:pt modelId="{A824D029-4E41-409F-AA75-0E6BD6D3EDA9}" type="pres">
      <dgm:prSet presAssocID="{EA883B81-F55F-44B8-B34F-934A35C0003B}" presName="horz1" presStyleCnt="0"/>
      <dgm:spPr/>
    </dgm:pt>
    <dgm:pt modelId="{01896962-72CA-4049-9A18-1F46CF4A144E}" type="pres">
      <dgm:prSet presAssocID="{EA883B81-F55F-44B8-B34F-934A35C0003B}" presName="tx1" presStyleLbl="revTx" presStyleIdx="2" presStyleCnt="10"/>
      <dgm:spPr/>
    </dgm:pt>
    <dgm:pt modelId="{F7EBFEA9-142B-46D0-B0B1-368DBBBFB201}" type="pres">
      <dgm:prSet presAssocID="{EA883B81-F55F-44B8-B34F-934A35C0003B}" presName="vert1" presStyleCnt="0"/>
      <dgm:spPr/>
    </dgm:pt>
    <dgm:pt modelId="{8F414D5F-A955-463A-978D-DDD332577538}" type="pres">
      <dgm:prSet presAssocID="{AD9C4E98-970F-4009-B38F-40AFE03C3EC0}" presName="thickLine" presStyleLbl="alignNode1" presStyleIdx="3" presStyleCnt="10"/>
      <dgm:spPr/>
    </dgm:pt>
    <dgm:pt modelId="{92E2D138-F444-4845-B8FC-7A1B41BD92D4}" type="pres">
      <dgm:prSet presAssocID="{AD9C4E98-970F-4009-B38F-40AFE03C3EC0}" presName="horz1" presStyleCnt="0"/>
      <dgm:spPr/>
    </dgm:pt>
    <dgm:pt modelId="{5BABA67F-8C4C-4259-A74C-963238C199B8}" type="pres">
      <dgm:prSet presAssocID="{AD9C4E98-970F-4009-B38F-40AFE03C3EC0}" presName="tx1" presStyleLbl="revTx" presStyleIdx="3" presStyleCnt="10"/>
      <dgm:spPr/>
    </dgm:pt>
    <dgm:pt modelId="{6606E7CD-8725-414E-A2F5-82DE7E052676}" type="pres">
      <dgm:prSet presAssocID="{AD9C4E98-970F-4009-B38F-40AFE03C3EC0}" presName="vert1" presStyleCnt="0"/>
      <dgm:spPr/>
    </dgm:pt>
    <dgm:pt modelId="{C054BF63-FB67-420F-9A9C-3796AE8C4763}" type="pres">
      <dgm:prSet presAssocID="{6384D5D8-C132-4A4A-AAAA-B8A6FD37928E}" presName="thickLine" presStyleLbl="alignNode1" presStyleIdx="4" presStyleCnt="10"/>
      <dgm:spPr/>
    </dgm:pt>
    <dgm:pt modelId="{94596573-901E-453C-A65D-C746447E888D}" type="pres">
      <dgm:prSet presAssocID="{6384D5D8-C132-4A4A-AAAA-B8A6FD37928E}" presName="horz1" presStyleCnt="0"/>
      <dgm:spPr/>
    </dgm:pt>
    <dgm:pt modelId="{5B5C7FF1-01C3-4484-B185-EAE52F9AC90D}" type="pres">
      <dgm:prSet presAssocID="{6384D5D8-C132-4A4A-AAAA-B8A6FD37928E}" presName="tx1" presStyleLbl="revTx" presStyleIdx="4" presStyleCnt="10"/>
      <dgm:spPr/>
    </dgm:pt>
    <dgm:pt modelId="{6929DE6D-0691-4869-B67E-DBBF78F956C1}" type="pres">
      <dgm:prSet presAssocID="{6384D5D8-C132-4A4A-AAAA-B8A6FD37928E}" presName="vert1" presStyleCnt="0"/>
      <dgm:spPr/>
    </dgm:pt>
    <dgm:pt modelId="{8670244D-8C7C-4BAE-B093-D0017BF5B3A8}" type="pres">
      <dgm:prSet presAssocID="{24BB5D96-D996-46B3-A62D-F4342C7371CF}" presName="thickLine" presStyleLbl="alignNode1" presStyleIdx="5" presStyleCnt="10"/>
      <dgm:spPr/>
    </dgm:pt>
    <dgm:pt modelId="{BA605C35-D20A-4595-BBF0-01D17B7A85C2}" type="pres">
      <dgm:prSet presAssocID="{24BB5D96-D996-46B3-A62D-F4342C7371CF}" presName="horz1" presStyleCnt="0"/>
      <dgm:spPr/>
    </dgm:pt>
    <dgm:pt modelId="{1558760A-8B4A-4119-BA79-5E8A8E825B6A}" type="pres">
      <dgm:prSet presAssocID="{24BB5D96-D996-46B3-A62D-F4342C7371CF}" presName="tx1" presStyleLbl="revTx" presStyleIdx="5" presStyleCnt="10"/>
      <dgm:spPr/>
    </dgm:pt>
    <dgm:pt modelId="{2571AE33-E5C1-4249-BB20-7B5066E6C352}" type="pres">
      <dgm:prSet presAssocID="{24BB5D96-D996-46B3-A62D-F4342C7371CF}" presName="vert1" presStyleCnt="0"/>
      <dgm:spPr/>
    </dgm:pt>
    <dgm:pt modelId="{CCEC3D7A-CDD4-4D34-99AF-84D75B4B01C2}" type="pres">
      <dgm:prSet presAssocID="{6C8A1C4B-3C16-445C-9A9F-1C14E7846E58}" presName="thickLine" presStyleLbl="alignNode1" presStyleIdx="6" presStyleCnt="10"/>
      <dgm:spPr/>
    </dgm:pt>
    <dgm:pt modelId="{78DB4073-4330-4C89-B3D2-7351CB0CC700}" type="pres">
      <dgm:prSet presAssocID="{6C8A1C4B-3C16-445C-9A9F-1C14E7846E58}" presName="horz1" presStyleCnt="0"/>
      <dgm:spPr/>
    </dgm:pt>
    <dgm:pt modelId="{AD1E1B08-7535-4EDA-A73F-796E3295E197}" type="pres">
      <dgm:prSet presAssocID="{6C8A1C4B-3C16-445C-9A9F-1C14E7846E58}" presName="tx1" presStyleLbl="revTx" presStyleIdx="6" presStyleCnt="10"/>
      <dgm:spPr/>
    </dgm:pt>
    <dgm:pt modelId="{D500BE0E-16D2-48AE-88C1-CD1A05407AD9}" type="pres">
      <dgm:prSet presAssocID="{6C8A1C4B-3C16-445C-9A9F-1C14E7846E58}" presName="vert1" presStyleCnt="0"/>
      <dgm:spPr/>
    </dgm:pt>
    <dgm:pt modelId="{99ABB125-1D01-4E93-8AA1-7CFFFA5981E0}" type="pres">
      <dgm:prSet presAssocID="{C124DABE-7183-4D79-A90E-9402F4411908}" presName="thickLine" presStyleLbl="alignNode1" presStyleIdx="7" presStyleCnt="10"/>
      <dgm:spPr/>
    </dgm:pt>
    <dgm:pt modelId="{E5A155B6-E375-4779-8121-BFF4132F11CF}" type="pres">
      <dgm:prSet presAssocID="{C124DABE-7183-4D79-A90E-9402F4411908}" presName="horz1" presStyleCnt="0"/>
      <dgm:spPr/>
    </dgm:pt>
    <dgm:pt modelId="{93553598-E1CF-40FE-A3D0-C28EF4CDAC1E}" type="pres">
      <dgm:prSet presAssocID="{C124DABE-7183-4D79-A90E-9402F4411908}" presName="tx1" presStyleLbl="revTx" presStyleIdx="7" presStyleCnt="10"/>
      <dgm:spPr/>
    </dgm:pt>
    <dgm:pt modelId="{80AD588A-B1D9-4618-9D03-21561E8B7D8B}" type="pres">
      <dgm:prSet presAssocID="{C124DABE-7183-4D79-A90E-9402F4411908}" presName="vert1" presStyleCnt="0"/>
      <dgm:spPr/>
    </dgm:pt>
    <dgm:pt modelId="{AEF0E355-CFA9-4C1A-949A-F87E13060545}" type="pres">
      <dgm:prSet presAssocID="{9CEC834A-B54F-4DC4-A1B9-4B2FB7EDCC52}" presName="thickLine" presStyleLbl="alignNode1" presStyleIdx="8" presStyleCnt="10"/>
      <dgm:spPr/>
    </dgm:pt>
    <dgm:pt modelId="{E9875BE3-293A-4ECE-950C-BBE617D8833F}" type="pres">
      <dgm:prSet presAssocID="{9CEC834A-B54F-4DC4-A1B9-4B2FB7EDCC52}" presName="horz1" presStyleCnt="0"/>
      <dgm:spPr/>
    </dgm:pt>
    <dgm:pt modelId="{D933DB7D-6A7E-4B83-86C5-FAC5E444A4FD}" type="pres">
      <dgm:prSet presAssocID="{9CEC834A-B54F-4DC4-A1B9-4B2FB7EDCC52}" presName="tx1" presStyleLbl="revTx" presStyleIdx="8" presStyleCnt="10"/>
      <dgm:spPr/>
    </dgm:pt>
    <dgm:pt modelId="{FF6011DE-6F51-488A-9FF8-C1A59BF11D5A}" type="pres">
      <dgm:prSet presAssocID="{9CEC834A-B54F-4DC4-A1B9-4B2FB7EDCC52}" presName="vert1" presStyleCnt="0"/>
      <dgm:spPr/>
    </dgm:pt>
    <dgm:pt modelId="{A916693D-40F3-4548-A770-FC9F800ADC59}" type="pres">
      <dgm:prSet presAssocID="{1BD9C024-2D37-4224-942A-AC0C9A07CFFF}" presName="thickLine" presStyleLbl="alignNode1" presStyleIdx="9" presStyleCnt="10"/>
      <dgm:spPr/>
    </dgm:pt>
    <dgm:pt modelId="{6D42129B-0E45-41D7-9953-1652DE911612}" type="pres">
      <dgm:prSet presAssocID="{1BD9C024-2D37-4224-942A-AC0C9A07CFFF}" presName="horz1" presStyleCnt="0"/>
      <dgm:spPr/>
    </dgm:pt>
    <dgm:pt modelId="{9F07A29D-B120-4819-AE4E-61114C08AA07}" type="pres">
      <dgm:prSet presAssocID="{1BD9C024-2D37-4224-942A-AC0C9A07CFFF}" presName="tx1" presStyleLbl="revTx" presStyleIdx="9" presStyleCnt="10"/>
      <dgm:spPr/>
    </dgm:pt>
    <dgm:pt modelId="{1DF421C3-51DE-4216-88E9-1F2179C3455E}" type="pres">
      <dgm:prSet presAssocID="{1BD9C024-2D37-4224-942A-AC0C9A07CFFF}" presName="vert1" presStyleCnt="0"/>
      <dgm:spPr/>
    </dgm:pt>
  </dgm:ptLst>
  <dgm:cxnLst>
    <dgm:cxn modelId="{4B092D0B-81FA-488F-AD89-DEBA6CCA2E13}" srcId="{B17FDAB2-FD7A-4500-A3C6-E500ECC4A847}" destId="{EA883B81-F55F-44B8-B34F-934A35C0003B}" srcOrd="2" destOrd="0" parTransId="{B28B9D1D-B75E-4EA4-9894-F973D278BAE9}" sibTransId="{133F72E6-24DF-4ED8-A05E-715E0329F5FB}"/>
    <dgm:cxn modelId="{FFCDCD13-DF7D-4070-9114-B1B461144253}" srcId="{B17FDAB2-FD7A-4500-A3C6-E500ECC4A847}" destId="{6384D5D8-C132-4A4A-AAAA-B8A6FD37928E}" srcOrd="4" destOrd="0" parTransId="{3D3874AF-64F9-4BCB-A484-77AF2AF711AB}" sibTransId="{EE8CB5C7-18CC-47B6-B98D-FC8B63CC0F21}"/>
    <dgm:cxn modelId="{637F4B1B-B60F-4995-B6D6-1D672689CCF8}" srcId="{B17FDAB2-FD7A-4500-A3C6-E500ECC4A847}" destId="{1BD9C024-2D37-4224-942A-AC0C9A07CFFF}" srcOrd="9" destOrd="0" parTransId="{0C990DB5-1F1C-4994-811D-A1DBA384BF36}" sibTransId="{F5AD1DD7-4962-4ABB-96CE-D73DA89FCBF6}"/>
    <dgm:cxn modelId="{C3DFE42A-F622-4CFC-B1B0-F97FA8881872}" srcId="{B17FDAB2-FD7A-4500-A3C6-E500ECC4A847}" destId="{9CEC834A-B54F-4DC4-A1B9-4B2FB7EDCC52}" srcOrd="8" destOrd="0" parTransId="{61F7D8DB-7CB1-47E2-93E2-7E0103C4CA4D}" sibTransId="{803A7DEF-5542-4E79-9899-77BE86E233E8}"/>
    <dgm:cxn modelId="{E8494830-E1C2-4B93-8AB0-E80A66754F27}" type="presOf" srcId="{9CEC834A-B54F-4DC4-A1B9-4B2FB7EDCC52}" destId="{D933DB7D-6A7E-4B83-86C5-FAC5E444A4FD}" srcOrd="0" destOrd="0" presId="urn:microsoft.com/office/officeart/2008/layout/LinedList"/>
    <dgm:cxn modelId="{09783C3A-C254-4E2F-9264-0B25EE19A876}" type="presOf" srcId="{AD9C4E98-970F-4009-B38F-40AFE03C3EC0}" destId="{5BABA67F-8C4C-4259-A74C-963238C199B8}" srcOrd="0" destOrd="0" presId="urn:microsoft.com/office/officeart/2008/layout/LinedList"/>
    <dgm:cxn modelId="{D27B4A45-C702-42E0-98CA-249F65E62DE8}" srcId="{B17FDAB2-FD7A-4500-A3C6-E500ECC4A847}" destId="{C124DABE-7183-4D79-A90E-9402F4411908}" srcOrd="7" destOrd="0" parTransId="{6807828E-3CA6-418C-8CCE-CF44F664B32D}" sibTransId="{D8A2879F-2DA5-49A3-BD95-48E87F22A75B}"/>
    <dgm:cxn modelId="{C417CB67-0F6B-40F4-9970-C1EC29080F54}" type="presOf" srcId="{B17FDAB2-FD7A-4500-A3C6-E500ECC4A847}" destId="{DA079041-73AE-4AF5-ADCB-DCE8D0760B5E}" srcOrd="0" destOrd="0" presId="urn:microsoft.com/office/officeart/2008/layout/LinedList"/>
    <dgm:cxn modelId="{AD152849-E1B8-4C58-9661-BB630BA25429}" type="presOf" srcId="{1BD9C024-2D37-4224-942A-AC0C9A07CFFF}" destId="{9F07A29D-B120-4819-AE4E-61114C08AA07}" srcOrd="0" destOrd="0" presId="urn:microsoft.com/office/officeart/2008/layout/LinedList"/>
    <dgm:cxn modelId="{0C4C0A4C-E9FE-42ED-A2E0-654907EC13C7}" srcId="{B17FDAB2-FD7A-4500-A3C6-E500ECC4A847}" destId="{AD9C4E98-970F-4009-B38F-40AFE03C3EC0}" srcOrd="3" destOrd="0" parTransId="{4D1DD694-64FE-4DAE-BF09-414F445BFC51}" sibTransId="{8AC2D9ED-1801-477F-B79D-87208D515AEC}"/>
    <dgm:cxn modelId="{9CA99E54-AD81-4C82-8366-0F3D2A4DAC7D}" type="presOf" srcId="{24BB5D96-D996-46B3-A62D-F4342C7371CF}" destId="{1558760A-8B4A-4119-BA79-5E8A8E825B6A}" srcOrd="0" destOrd="0" presId="urn:microsoft.com/office/officeart/2008/layout/LinedList"/>
    <dgm:cxn modelId="{E2D52C5A-2C1C-4C8B-9BDE-1DFB2C077B9C}" srcId="{B17FDAB2-FD7A-4500-A3C6-E500ECC4A847}" destId="{9CA1B70F-6962-496B-97A1-D4C815465151}" srcOrd="0" destOrd="0" parTransId="{76B7E00A-A820-45AF-B577-F9D171B89EC5}" sibTransId="{3630E31F-FE63-44FE-BB15-E3260946606B}"/>
    <dgm:cxn modelId="{60834883-3B0F-42BB-A3F2-96B038C35D47}" type="presOf" srcId="{9CA1B70F-6962-496B-97A1-D4C815465151}" destId="{CFC484D6-8076-4BA5-8EF6-92202534F92A}" srcOrd="0" destOrd="0" presId="urn:microsoft.com/office/officeart/2008/layout/LinedList"/>
    <dgm:cxn modelId="{3115A485-5B0D-47E8-BCD3-4182AE7CF54E}" srcId="{B17FDAB2-FD7A-4500-A3C6-E500ECC4A847}" destId="{6C8A1C4B-3C16-445C-9A9F-1C14E7846E58}" srcOrd="6" destOrd="0" parTransId="{9461F95B-9C6D-4DA8-8DF8-705577007276}" sibTransId="{75D8092B-F5C0-4EF2-8C2B-60D072140BE5}"/>
    <dgm:cxn modelId="{31BFFEA1-D6FB-49DE-A1A0-9714AD74D24B}" srcId="{B17FDAB2-FD7A-4500-A3C6-E500ECC4A847}" destId="{24BB5D96-D996-46B3-A62D-F4342C7371CF}" srcOrd="5" destOrd="0" parTransId="{51D53E6B-D6D6-41CF-9E4C-277251E33B77}" sibTransId="{DCD35852-1FE8-4042-BED8-B6C9CD671095}"/>
    <dgm:cxn modelId="{AD4A7EAF-CE29-4EA8-A5FC-662912694AE3}" type="presOf" srcId="{13F08BD3-A267-401D-8660-6776ECA7F2E1}" destId="{D4E30EEE-8602-4C9B-9EBF-F859C42E261C}" srcOrd="0" destOrd="0" presId="urn:microsoft.com/office/officeart/2008/layout/LinedList"/>
    <dgm:cxn modelId="{F723ACC0-06E5-48FE-B307-FABD66AC37D2}" type="presOf" srcId="{6C8A1C4B-3C16-445C-9A9F-1C14E7846E58}" destId="{AD1E1B08-7535-4EDA-A73F-796E3295E197}" srcOrd="0" destOrd="0" presId="urn:microsoft.com/office/officeart/2008/layout/LinedList"/>
    <dgm:cxn modelId="{0B0A75E4-0BF3-42AF-B848-F7A0ABF84533}" srcId="{B17FDAB2-FD7A-4500-A3C6-E500ECC4A847}" destId="{13F08BD3-A267-401D-8660-6776ECA7F2E1}" srcOrd="1" destOrd="0" parTransId="{62906284-A985-4F92-8195-64C1BBCE7E0C}" sibTransId="{17B5743E-88BC-4FA3-B0F3-05141D261AAE}"/>
    <dgm:cxn modelId="{4CF669F0-92C1-4282-8F7B-B8C17FA7BBAE}" type="presOf" srcId="{C124DABE-7183-4D79-A90E-9402F4411908}" destId="{93553598-E1CF-40FE-A3D0-C28EF4CDAC1E}" srcOrd="0" destOrd="0" presId="urn:microsoft.com/office/officeart/2008/layout/LinedList"/>
    <dgm:cxn modelId="{E7B6E0F3-83D0-4ABA-95A0-5EECCAA06636}" type="presOf" srcId="{EA883B81-F55F-44B8-B34F-934A35C0003B}" destId="{01896962-72CA-4049-9A18-1F46CF4A144E}" srcOrd="0" destOrd="0" presId="urn:microsoft.com/office/officeart/2008/layout/LinedList"/>
    <dgm:cxn modelId="{5A41BCFB-C70C-4647-A43B-C3F8F4C4E28E}" type="presOf" srcId="{6384D5D8-C132-4A4A-AAAA-B8A6FD37928E}" destId="{5B5C7FF1-01C3-4484-B185-EAE52F9AC90D}" srcOrd="0" destOrd="0" presId="urn:microsoft.com/office/officeart/2008/layout/LinedList"/>
    <dgm:cxn modelId="{EC482B56-7FEB-4E54-B0BF-6ED4E839D887}" type="presParOf" srcId="{DA079041-73AE-4AF5-ADCB-DCE8D0760B5E}" destId="{336C08CF-B725-4BFD-8CAC-88CDB111AFB6}" srcOrd="0" destOrd="0" presId="urn:microsoft.com/office/officeart/2008/layout/LinedList"/>
    <dgm:cxn modelId="{AAE1F736-168A-4F76-AD8F-D9281B3CCF0F}" type="presParOf" srcId="{DA079041-73AE-4AF5-ADCB-DCE8D0760B5E}" destId="{7E8AB539-3083-4CA4-A28B-C0D9EDF52AAE}" srcOrd="1" destOrd="0" presId="urn:microsoft.com/office/officeart/2008/layout/LinedList"/>
    <dgm:cxn modelId="{A155ED80-5341-4432-B812-C4D50119AD1B}" type="presParOf" srcId="{7E8AB539-3083-4CA4-A28B-C0D9EDF52AAE}" destId="{CFC484D6-8076-4BA5-8EF6-92202534F92A}" srcOrd="0" destOrd="0" presId="urn:microsoft.com/office/officeart/2008/layout/LinedList"/>
    <dgm:cxn modelId="{73329D2B-AD61-4AD0-A9D6-5A6A2312E75C}" type="presParOf" srcId="{7E8AB539-3083-4CA4-A28B-C0D9EDF52AAE}" destId="{FE7653CC-B7FC-41E3-8C8B-20666D248BE5}" srcOrd="1" destOrd="0" presId="urn:microsoft.com/office/officeart/2008/layout/LinedList"/>
    <dgm:cxn modelId="{4DB5BAA3-33B0-4D9D-BAE6-43D7CF3348AD}" type="presParOf" srcId="{DA079041-73AE-4AF5-ADCB-DCE8D0760B5E}" destId="{04D85B17-2D88-4A93-A0B1-FB17BFB1CE58}" srcOrd="2" destOrd="0" presId="urn:microsoft.com/office/officeart/2008/layout/LinedList"/>
    <dgm:cxn modelId="{338FC7C7-C6D8-4179-97BB-5B0532E56C8A}" type="presParOf" srcId="{DA079041-73AE-4AF5-ADCB-DCE8D0760B5E}" destId="{76087577-CB91-4A00-9D59-D7EDB29A0C4F}" srcOrd="3" destOrd="0" presId="urn:microsoft.com/office/officeart/2008/layout/LinedList"/>
    <dgm:cxn modelId="{DCF541DE-6F27-4AB2-8685-5260C484A0FB}" type="presParOf" srcId="{76087577-CB91-4A00-9D59-D7EDB29A0C4F}" destId="{D4E30EEE-8602-4C9B-9EBF-F859C42E261C}" srcOrd="0" destOrd="0" presId="urn:microsoft.com/office/officeart/2008/layout/LinedList"/>
    <dgm:cxn modelId="{56C08E16-C6A7-4CE2-8411-B9591D870041}" type="presParOf" srcId="{76087577-CB91-4A00-9D59-D7EDB29A0C4F}" destId="{CAE503D5-0C74-4F7F-9BD2-C61B6A3D03A4}" srcOrd="1" destOrd="0" presId="urn:microsoft.com/office/officeart/2008/layout/LinedList"/>
    <dgm:cxn modelId="{B44797F4-37F5-42DE-A7E4-7018E1AC710D}" type="presParOf" srcId="{DA079041-73AE-4AF5-ADCB-DCE8D0760B5E}" destId="{F9326321-FB40-4D3F-BFF6-A210719BB4A0}" srcOrd="4" destOrd="0" presId="urn:microsoft.com/office/officeart/2008/layout/LinedList"/>
    <dgm:cxn modelId="{1DA9EBB1-57B8-44DC-B819-7D6869F6C0AC}" type="presParOf" srcId="{DA079041-73AE-4AF5-ADCB-DCE8D0760B5E}" destId="{A824D029-4E41-409F-AA75-0E6BD6D3EDA9}" srcOrd="5" destOrd="0" presId="urn:microsoft.com/office/officeart/2008/layout/LinedList"/>
    <dgm:cxn modelId="{DFCD2DC7-2C45-4886-A0C9-F64A123BB658}" type="presParOf" srcId="{A824D029-4E41-409F-AA75-0E6BD6D3EDA9}" destId="{01896962-72CA-4049-9A18-1F46CF4A144E}" srcOrd="0" destOrd="0" presId="urn:microsoft.com/office/officeart/2008/layout/LinedList"/>
    <dgm:cxn modelId="{D2360BC1-E67F-4D42-A29A-872D7FCD17F1}" type="presParOf" srcId="{A824D029-4E41-409F-AA75-0E6BD6D3EDA9}" destId="{F7EBFEA9-142B-46D0-B0B1-368DBBBFB201}" srcOrd="1" destOrd="0" presId="urn:microsoft.com/office/officeart/2008/layout/LinedList"/>
    <dgm:cxn modelId="{91D6254F-C9EB-427F-A8DB-8DEB5518DDD1}" type="presParOf" srcId="{DA079041-73AE-4AF5-ADCB-DCE8D0760B5E}" destId="{8F414D5F-A955-463A-978D-DDD332577538}" srcOrd="6" destOrd="0" presId="urn:microsoft.com/office/officeart/2008/layout/LinedList"/>
    <dgm:cxn modelId="{E25C16D3-F82C-408F-BE4A-3A7554950BBF}" type="presParOf" srcId="{DA079041-73AE-4AF5-ADCB-DCE8D0760B5E}" destId="{92E2D138-F444-4845-B8FC-7A1B41BD92D4}" srcOrd="7" destOrd="0" presId="urn:microsoft.com/office/officeart/2008/layout/LinedList"/>
    <dgm:cxn modelId="{8B10CF5F-3609-4BE3-8DB7-FD78509FA14B}" type="presParOf" srcId="{92E2D138-F444-4845-B8FC-7A1B41BD92D4}" destId="{5BABA67F-8C4C-4259-A74C-963238C199B8}" srcOrd="0" destOrd="0" presId="urn:microsoft.com/office/officeart/2008/layout/LinedList"/>
    <dgm:cxn modelId="{F13E0C1A-C7EA-4A9F-8B19-FACA537E6FB1}" type="presParOf" srcId="{92E2D138-F444-4845-B8FC-7A1B41BD92D4}" destId="{6606E7CD-8725-414E-A2F5-82DE7E052676}" srcOrd="1" destOrd="0" presId="urn:microsoft.com/office/officeart/2008/layout/LinedList"/>
    <dgm:cxn modelId="{D2FE6B24-315B-49F4-AEA8-489BB17B48B9}" type="presParOf" srcId="{DA079041-73AE-4AF5-ADCB-DCE8D0760B5E}" destId="{C054BF63-FB67-420F-9A9C-3796AE8C4763}" srcOrd="8" destOrd="0" presId="urn:microsoft.com/office/officeart/2008/layout/LinedList"/>
    <dgm:cxn modelId="{071731D2-A613-4BED-BD39-91DC3197AB5D}" type="presParOf" srcId="{DA079041-73AE-4AF5-ADCB-DCE8D0760B5E}" destId="{94596573-901E-453C-A65D-C746447E888D}" srcOrd="9" destOrd="0" presId="urn:microsoft.com/office/officeart/2008/layout/LinedList"/>
    <dgm:cxn modelId="{0F23D258-64E1-44CB-AD59-9ED18FC31959}" type="presParOf" srcId="{94596573-901E-453C-A65D-C746447E888D}" destId="{5B5C7FF1-01C3-4484-B185-EAE52F9AC90D}" srcOrd="0" destOrd="0" presId="urn:microsoft.com/office/officeart/2008/layout/LinedList"/>
    <dgm:cxn modelId="{5C5044B9-F322-4C1A-BA38-77788338ACFD}" type="presParOf" srcId="{94596573-901E-453C-A65D-C746447E888D}" destId="{6929DE6D-0691-4869-B67E-DBBF78F956C1}" srcOrd="1" destOrd="0" presId="urn:microsoft.com/office/officeart/2008/layout/LinedList"/>
    <dgm:cxn modelId="{C0E67D67-C003-41F5-944F-A374B334A59B}" type="presParOf" srcId="{DA079041-73AE-4AF5-ADCB-DCE8D0760B5E}" destId="{8670244D-8C7C-4BAE-B093-D0017BF5B3A8}" srcOrd="10" destOrd="0" presId="urn:microsoft.com/office/officeart/2008/layout/LinedList"/>
    <dgm:cxn modelId="{6810BA52-A9F5-4E18-801F-D4B9AB8085F4}" type="presParOf" srcId="{DA079041-73AE-4AF5-ADCB-DCE8D0760B5E}" destId="{BA605C35-D20A-4595-BBF0-01D17B7A85C2}" srcOrd="11" destOrd="0" presId="urn:microsoft.com/office/officeart/2008/layout/LinedList"/>
    <dgm:cxn modelId="{EFA16A93-7DA1-427E-9A8D-3561ACAF9C16}" type="presParOf" srcId="{BA605C35-D20A-4595-BBF0-01D17B7A85C2}" destId="{1558760A-8B4A-4119-BA79-5E8A8E825B6A}" srcOrd="0" destOrd="0" presId="urn:microsoft.com/office/officeart/2008/layout/LinedList"/>
    <dgm:cxn modelId="{69CD93C0-2D7F-482F-A43F-835E0253FB75}" type="presParOf" srcId="{BA605C35-D20A-4595-BBF0-01D17B7A85C2}" destId="{2571AE33-E5C1-4249-BB20-7B5066E6C352}" srcOrd="1" destOrd="0" presId="urn:microsoft.com/office/officeart/2008/layout/LinedList"/>
    <dgm:cxn modelId="{AA0D0936-A48F-445A-86EF-E95BEE07610B}" type="presParOf" srcId="{DA079041-73AE-4AF5-ADCB-DCE8D0760B5E}" destId="{CCEC3D7A-CDD4-4D34-99AF-84D75B4B01C2}" srcOrd="12" destOrd="0" presId="urn:microsoft.com/office/officeart/2008/layout/LinedList"/>
    <dgm:cxn modelId="{02514230-7D1A-447A-86F4-03E5D36D5271}" type="presParOf" srcId="{DA079041-73AE-4AF5-ADCB-DCE8D0760B5E}" destId="{78DB4073-4330-4C89-B3D2-7351CB0CC700}" srcOrd="13" destOrd="0" presId="urn:microsoft.com/office/officeart/2008/layout/LinedList"/>
    <dgm:cxn modelId="{CC9E8454-303B-432D-AC4B-A9BDAB52B1E3}" type="presParOf" srcId="{78DB4073-4330-4C89-B3D2-7351CB0CC700}" destId="{AD1E1B08-7535-4EDA-A73F-796E3295E197}" srcOrd="0" destOrd="0" presId="urn:microsoft.com/office/officeart/2008/layout/LinedList"/>
    <dgm:cxn modelId="{50DABFE0-F121-4E6F-9EFD-1A0514B4018D}" type="presParOf" srcId="{78DB4073-4330-4C89-B3D2-7351CB0CC700}" destId="{D500BE0E-16D2-48AE-88C1-CD1A05407AD9}" srcOrd="1" destOrd="0" presId="urn:microsoft.com/office/officeart/2008/layout/LinedList"/>
    <dgm:cxn modelId="{E9F3C7C5-7738-4B66-9B01-B7C2D8B9CAEA}" type="presParOf" srcId="{DA079041-73AE-4AF5-ADCB-DCE8D0760B5E}" destId="{99ABB125-1D01-4E93-8AA1-7CFFFA5981E0}" srcOrd="14" destOrd="0" presId="urn:microsoft.com/office/officeart/2008/layout/LinedList"/>
    <dgm:cxn modelId="{4AE43571-79CD-4BA3-9BC9-3C03E9F785E5}" type="presParOf" srcId="{DA079041-73AE-4AF5-ADCB-DCE8D0760B5E}" destId="{E5A155B6-E375-4779-8121-BFF4132F11CF}" srcOrd="15" destOrd="0" presId="urn:microsoft.com/office/officeart/2008/layout/LinedList"/>
    <dgm:cxn modelId="{A8A1EC0C-91F2-45CF-8264-91287F73C249}" type="presParOf" srcId="{E5A155B6-E375-4779-8121-BFF4132F11CF}" destId="{93553598-E1CF-40FE-A3D0-C28EF4CDAC1E}" srcOrd="0" destOrd="0" presId="urn:microsoft.com/office/officeart/2008/layout/LinedList"/>
    <dgm:cxn modelId="{6DA367F9-E70C-4EA8-B742-A94D8278A8AD}" type="presParOf" srcId="{E5A155B6-E375-4779-8121-BFF4132F11CF}" destId="{80AD588A-B1D9-4618-9D03-21561E8B7D8B}" srcOrd="1" destOrd="0" presId="urn:microsoft.com/office/officeart/2008/layout/LinedList"/>
    <dgm:cxn modelId="{BA10A85A-3E59-4195-A2A7-09E28EA2C6D1}" type="presParOf" srcId="{DA079041-73AE-4AF5-ADCB-DCE8D0760B5E}" destId="{AEF0E355-CFA9-4C1A-949A-F87E13060545}" srcOrd="16" destOrd="0" presId="urn:microsoft.com/office/officeart/2008/layout/LinedList"/>
    <dgm:cxn modelId="{F3490F2C-EC3D-4826-96D4-40E260AFE7E5}" type="presParOf" srcId="{DA079041-73AE-4AF5-ADCB-DCE8D0760B5E}" destId="{E9875BE3-293A-4ECE-950C-BBE617D8833F}" srcOrd="17" destOrd="0" presId="urn:microsoft.com/office/officeart/2008/layout/LinedList"/>
    <dgm:cxn modelId="{26953886-8C5C-4207-A880-2B43EEBD5AC1}" type="presParOf" srcId="{E9875BE3-293A-4ECE-950C-BBE617D8833F}" destId="{D933DB7D-6A7E-4B83-86C5-FAC5E444A4FD}" srcOrd="0" destOrd="0" presId="urn:microsoft.com/office/officeart/2008/layout/LinedList"/>
    <dgm:cxn modelId="{4837B4CD-CC8C-453F-96CE-1E2D30126E2F}" type="presParOf" srcId="{E9875BE3-293A-4ECE-950C-BBE617D8833F}" destId="{FF6011DE-6F51-488A-9FF8-C1A59BF11D5A}" srcOrd="1" destOrd="0" presId="urn:microsoft.com/office/officeart/2008/layout/LinedList"/>
    <dgm:cxn modelId="{7381BEB8-BE55-4CC9-9C07-A32727A08907}" type="presParOf" srcId="{DA079041-73AE-4AF5-ADCB-DCE8D0760B5E}" destId="{A916693D-40F3-4548-A770-FC9F800ADC59}" srcOrd="18" destOrd="0" presId="urn:microsoft.com/office/officeart/2008/layout/LinedList"/>
    <dgm:cxn modelId="{3AD9BF08-1883-4501-9357-56E5C55C6F80}" type="presParOf" srcId="{DA079041-73AE-4AF5-ADCB-DCE8D0760B5E}" destId="{6D42129B-0E45-41D7-9953-1652DE911612}" srcOrd="19" destOrd="0" presId="urn:microsoft.com/office/officeart/2008/layout/LinedList"/>
    <dgm:cxn modelId="{B89E6DFC-A660-4F4A-B496-3408CFFCA005}" type="presParOf" srcId="{6D42129B-0E45-41D7-9953-1652DE911612}" destId="{9F07A29D-B120-4819-AE4E-61114C08AA07}" srcOrd="0" destOrd="0" presId="urn:microsoft.com/office/officeart/2008/layout/LinedList"/>
    <dgm:cxn modelId="{B1555C30-9A12-449E-9464-6D7DA5496421}" type="presParOf" srcId="{6D42129B-0E45-41D7-9953-1652DE911612}" destId="{1DF421C3-51DE-4216-88E9-1F2179C3455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9775DFA-0717-433D-8571-32D2966F5B0A}" type="doc">
      <dgm:prSet loTypeId="urn:microsoft.com/office/officeart/2016/7/layout/ChevronBlockProcess" loCatId="process" qsTypeId="urn:microsoft.com/office/officeart/2005/8/quickstyle/simple5" qsCatId="simple" csTypeId="urn:microsoft.com/office/officeart/2005/8/colors/colorful2" csCatId="colorful" phldr="1"/>
      <dgm:spPr/>
      <dgm:t>
        <a:bodyPr/>
        <a:lstStyle/>
        <a:p>
          <a:endParaRPr lang="en-US"/>
        </a:p>
      </dgm:t>
    </dgm:pt>
    <dgm:pt modelId="{B7EC9AE3-AB07-49AC-A2D3-BE7C8652CBC2}">
      <dgm:prSet/>
      <dgm:spPr/>
      <dgm:t>
        <a:bodyPr/>
        <a:lstStyle/>
        <a:p>
          <a:endParaRPr lang="en-US"/>
        </a:p>
      </dgm:t>
    </dgm:pt>
    <dgm:pt modelId="{3875A0D5-3007-45F1-B56D-AE977504488C}" type="parTrans" cxnId="{4979E805-E65A-449D-ADFF-AD2F16CC70EF}">
      <dgm:prSet/>
      <dgm:spPr/>
      <dgm:t>
        <a:bodyPr/>
        <a:lstStyle/>
        <a:p>
          <a:endParaRPr lang="en-US"/>
        </a:p>
      </dgm:t>
    </dgm:pt>
    <dgm:pt modelId="{80EFB530-6C70-4678-A41C-140EFA48DB1B}" type="sibTrans" cxnId="{4979E805-E65A-449D-ADFF-AD2F16CC70EF}">
      <dgm:prSet/>
      <dgm:spPr/>
      <dgm:t>
        <a:bodyPr/>
        <a:lstStyle/>
        <a:p>
          <a:endParaRPr lang="en-US"/>
        </a:p>
      </dgm:t>
    </dgm:pt>
    <dgm:pt modelId="{68E2DDA1-B499-4999-B072-465BB910CC47}">
      <dgm:prSet/>
      <dgm:spPr/>
      <dgm:t>
        <a:bodyPr/>
        <a:lstStyle/>
        <a:p>
          <a:r>
            <a:rPr lang="en-US"/>
            <a:t>Define the project.</a:t>
          </a:r>
        </a:p>
      </dgm:t>
    </dgm:pt>
    <dgm:pt modelId="{3ADD9819-7555-4AD1-A780-C088A0F4206D}" type="parTrans" cxnId="{70EA5463-CDBB-44A8-BAFB-362CA6DC8CAB}">
      <dgm:prSet/>
      <dgm:spPr/>
      <dgm:t>
        <a:bodyPr/>
        <a:lstStyle/>
        <a:p>
          <a:endParaRPr lang="en-US"/>
        </a:p>
      </dgm:t>
    </dgm:pt>
    <dgm:pt modelId="{C84E1A7D-4179-4274-8B07-3F10CFD28AE9}" type="sibTrans" cxnId="{70EA5463-CDBB-44A8-BAFB-362CA6DC8CAB}">
      <dgm:prSet/>
      <dgm:spPr/>
      <dgm:t>
        <a:bodyPr/>
        <a:lstStyle/>
        <a:p>
          <a:endParaRPr lang="en-US"/>
        </a:p>
      </dgm:t>
    </dgm:pt>
    <dgm:pt modelId="{A4F9F883-879F-4375-BE25-869045E1B17A}">
      <dgm:prSet/>
      <dgm:spPr/>
      <dgm:t>
        <a:bodyPr/>
        <a:lstStyle/>
        <a:p>
          <a:endParaRPr lang="en-US"/>
        </a:p>
      </dgm:t>
    </dgm:pt>
    <dgm:pt modelId="{EB126F49-2B56-4559-8F00-AC56CE3B1437}" type="parTrans" cxnId="{BEA60B99-2AF0-41F9-8260-A2D0339A6853}">
      <dgm:prSet/>
      <dgm:spPr/>
      <dgm:t>
        <a:bodyPr/>
        <a:lstStyle/>
        <a:p>
          <a:endParaRPr lang="en-US"/>
        </a:p>
      </dgm:t>
    </dgm:pt>
    <dgm:pt modelId="{F7AAC666-3DEC-4E4F-81E5-0E4E285CB215}" type="sibTrans" cxnId="{BEA60B99-2AF0-41F9-8260-A2D0339A6853}">
      <dgm:prSet/>
      <dgm:spPr/>
      <dgm:t>
        <a:bodyPr/>
        <a:lstStyle/>
        <a:p>
          <a:endParaRPr lang="en-US"/>
        </a:p>
      </dgm:t>
    </dgm:pt>
    <dgm:pt modelId="{C0270556-E774-4B8C-A058-A00C8F699F82}">
      <dgm:prSet/>
      <dgm:spPr/>
      <dgm:t>
        <a:bodyPr/>
        <a:lstStyle/>
        <a:p>
          <a:r>
            <a:rPr lang="en-US"/>
            <a:t>Define data.</a:t>
          </a:r>
        </a:p>
      </dgm:t>
    </dgm:pt>
    <dgm:pt modelId="{7FFF8A95-2F83-4807-99D9-76940A450BDB}" type="parTrans" cxnId="{0D4FB2D1-13D5-4922-A935-4E99AD2894DE}">
      <dgm:prSet/>
      <dgm:spPr/>
      <dgm:t>
        <a:bodyPr/>
        <a:lstStyle/>
        <a:p>
          <a:endParaRPr lang="en-US"/>
        </a:p>
      </dgm:t>
    </dgm:pt>
    <dgm:pt modelId="{84B6D9B8-713D-438E-A03A-9120DE0755A0}" type="sibTrans" cxnId="{0D4FB2D1-13D5-4922-A935-4E99AD2894DE}">
      <dgm:prSet/>
      <dgm:spPr/>
      <dgm:t>
        <a:bodyPr/>
        <a:lstStyle/>
        <a:p>
          <a:endParaRPr lang="en-US"/>
        </a:p>
      </dgm:t>
    </dgm:pt>
    <dgm:pt modelId="{5E89F833-A56E-46B0-8702-D7ACD2B21A31}">
      <dgm:prSet/>
      <dgm:spPr/>
      <dgm:t>
        <a:bodyPr/>
        <a:lstStyle/>
        <a:p>
          <a:endParaRPr lang="en-US"/>
        </a:p>
      </dgm:t>
    </dgm:pt>
    <dgm:pt modelId="{0481F295-D657-4A24-8BDE-8DB51937780B}" type="parTrans" cxnId="{53AD9939-CF56-4D79-952B-5DE4BCF5C348}">
      <dgm:prSet/>
      <dgm:spPr/>
      <dgm:t>
        <a:bodyPr/>
        <a:lstStyle/>
        <a:p>
          <a:endParaRPr lang="en-US"/>
        </a:p>
      </dgm:t>
    </dgm:pt>
    <dgm:pt modelId="{01A3EF66-D3D3-4AF3-997B-C848353E3125}" type="sibTrans" cxnId="{53AD9939-CF56-4D79-952B-5DE4BCF5C348}">
      <dgm:prSet/>
      <dgm:spPr/>
      <dgm:t>
        <a:bodyPr/>
        <a:lstStyle/>
        <a:p>
          <a:endParaRPr lang="en-US"/>
        </a:p>
      </dgm:t>
    </dgm:pt>
    <dgm:pt modelId="{E22B077D-1486-4980-975D-A07B03AF906E}">
      <dgm:prSet/>
      <dgm:spPr/>
      <dgm:t>
        <a:bodyPr/>
        <a:lstStyle/>
        <a:p>
          <a:r>
            <a:rPr lang="en-US"/>
            <a:t>Collect data.</a:t>
          </a:r>
        </a:p>
      </dgm:t>
    </dgm:pt>
    <dgm:pt modelId="{76E50B0E-ED59-4350-B124-4653EBB277CC}" type="parTrans" cxnId="{50B4E48C-CF45-4A02-929B-91255FCAE4D6}">
      <dgm:prSet/>
      <dgm:spPr/>
      <dgm:t>
        <a:bodyPr/>
        <a:lstStyle/>
        <a:p>
          <a:endParaRPr lang="en-US"/>
        </a:p>
      </dgm:t>
    </dgm:pt>
    <dgm:pt modelId="{3EB5EC0F-38C8-43B8-B6DB-69C6AF8221DC}" type="sibTrans" cxnId="{50B4E48C-CF45-4A02-929B-91255FCAE4D6}">
      <dgm:prSet/>
      <dgm:spPr/>
      <dgm:t>
        <a:bodyPr/>
        <a:lstStyle/>
        <a:p>
          <a:endParaRPr lang="en-US"/>
        </a:p>
      </dgm:t>
    </dgm:pt>
    <dgm:pt modelId="{E03AF015-7B43-4CFF-8387-E7C3BB2E1ABC}" type="pres">
      <dgm:prSet presAssocID="{89775DFA-0717-433D-8571-32D2966F5B0A}" presName="Name0" presStyleCnt="0">
        <dgm:presLayoutVars>
          <dgm:dir/>
          <dgm:animLvl val="lvl"/>
          <dgm:resizeHandles val="exact"/>
        </dgm:presLayoutVars>
      </dgm:prSet>
      <dgm:spPr/>
    </dgm:pt>
    <dgm:pt modelId="{E4510A19-67D3-4A9C-93F3-624C8C09C331}" type="pres">
      <dgm:prSet presAssocID="{B7EC9AE3-AB07-49AC-A2D3-BE7C8652CBC2}" presName="composite" presStyleCnt="0"/>
      <dgm:spPr/>
    </dgm:pt>
    <dgm:pt modelId="{5B1D537D-70A2-4242-A53E-FAEA0AAC945D}" type="pres">
      <dgm:prSet presAssocID="{B7EC9AE3-AB07-49AC-A2D3-BE7C8652CBC2}" presName="parTx" presStyleLbl="alignNode1" presStyleIdx="0" presStyleCnt="3">
        <dgm:presLayoutVars>
          <dgm:chMax val="0"/>
          <dgm:chPref val="0"/>
        </dgm:presLayoutVars>
      </dgm:prSet>
      <dgm:spPr/>
    </dgm:pt>
    <dgm:pt modelId="{F411EB22-053B-4E6D-80F4-4B83CBE3C719}" type="pres">
      <dgm:prSet presAssocID="{B7EC9AE3-AB07-49AC-A2D3-BE7C8652CBC2}" presName="desTx" presStyleLbl="alignAccFollowNode1" presStyleIdx="0" presStyleCnt="3">
        <dgm:presLayoutVars/>
      </dgm:prSet>
      <dgm:spPr/>
    </dgm:pt>
    <dgm:pt modelId="{1DDBC913-F393-4D3F-A8CC-37C0F362369B}" type="pres">
      <dgm:prSet presAssocID="{80EFB530-6C70-4678-A41C-140EFA48DB1B}" presName="space" presStyleCnt="0"/>
      <dgm:spPr/>
    </dgm:pt>
    <dgm:pt modelId="{7F10CD25-EE41-45D0-93B2-3739B18C81F1}" type="pres">
      <dgm:prSet presAssocID="{A4F9F883-879F-4375-BE25-869045E1B17A}" presName="composite" presStyleCnt="0"/>
      <dgm:spPr/>
    </dgm:pt>
    <dgm:pt modelId="{8235CDF9-45B8-4929-8480-A510DD066B6B}" type="pres">
      <dgm:prSet presAssocID="{A4F9F883-879F-4375-BE25-869045E1B17A}" presName="parTx" presStyleLbl="alignNode1" presStyleIdx="1" presStyleCnt="3">
        <dgm:presLayoutVars>
          <dgm:chMax val="0"/>
          <dgm:chPref val="0"/>
        </dgm:presLayoutVars>
      </dgm:prSet>
      <dgm:spPr/>
    </dgm:pt>
    <dgm:pt modelId="{4472CA98-ECC8-470F-94BA-BB0E68395029}" type="pres">
      <dgm:prSet presAssocID="{A4F9F883-879F-4375-BE25-869045E1B17A}" presName="desTx" presStyleLbl="alignAccFollowNode1" presStyleIdx="1" presStyleCnt="3">
        <dgm:presLayoutVars/>
      </dgm:prSet>
      <dgm:spPr/>
    </dgm:pt>
    <dgm:pt modelId="{7E84FE97-D44D-4C02-9D76-B118C1DC37C3}" type="pres">
      <dgm:prSet presAssocID="{F7AAC666-3DEC-4E4F-81E5-0E4E285CB215}" presName="space" presStyleCnt="0"/>
      <dgm:spPr/>
    </dgm:pt>
    <dgm:pt modelId="{7D19E672-B518-405E-9E21-96F860ADB5A4}" type="pres">
      <dgm:prSet presAssocID="{5E89F833-A56E-46B0-8702-D7ACD2B21A31}" presName="composite" presStyleCnt="0"/>
      <dgm:spPr/>
    </dgm:pt>
    <dgm:pt modelId="{1AEC8EC5-A803-4E28-93C4-0DE09323CBA8}" type="pres">
      <dgm:prSet presAssocID="{5E89F833-A56E-46B0-8702-D7ACD2B21A31}" presName="parTx" presStyleLbl="alignNode1" presStyleIdx="2" presStyleCnt="3">
        <dgm:presLayoutVars>
          <dgm:chMax val="0"/>
          <dgm:chPref val="0"/>
        </dgm:presLayoutVars>
      </dgm:prSet>
      <dgm:spPr/>
    </dgm:pt>
    <dgm:pt modelId="{6CA65D77-D26A-4B19-BF52-95B31FE9ECAE}" type="pres">
      <dgm:prSet presAssocID="{5E89F833-A56E-46B0-8702-D7ACD2B21A31}" presName="desTx" presStyleLbl="alignAccFollowNode1" presStyleIdx="2" presStyleCnt="3">
        <dgm:presLayoutVars/>
      </dgm:prSet>
      <dgm:spPr/>
    </dgm:pt>
  </dgm:ptLst>
  <dgm:cxnLst>
    <dgm:cxn modelId="{4979E805-E65A-449D-ADFF-AD2F16CC70EF}" srcId="{89775DFA-0717-433D-8571-32D2966F5B0A}" destId="{B7EC9AE3-AB07-49AC-A2D3-BE7C8652CBC2}" srcOrd="0" destOrd="0" parTransId="{3875A0D5-3007-45F1-B56D-AE977504488C}" sibTransId="{80EFB530-6C70-4678-A41C-140EFA48DB1B}"/>
    <dgm:cxn modelId="{AFF4580D-D36A-4D2C-976C-B330F6921B26}" type="presOf" srcId="{C0270556-E774-4B8C-A058-A00C8F699F82}" destId="{4472CA98-ECC8-470F-94BA-BB0E68395029}" srcOrd="0" destOrd="0" presId="urn:microsoft.com/office/officeart/2016/7/layout/ChevronBlockProcess"/>
    <dgm:cxn modelId="{DAD60A36-CA96-4DC2-8913-9082E93FC11A}" type="presOf" srcId="{68E2DDA1-B499-4999-B072-465BB910CC47}" destId="{F411EB22-053B-4E6D-80F4-4B83CBE3C719}" srcOrd="0" destOrd="0" presId="urn:microsoft.com/office/officeart/2016/7/layout/ChevronBlockProcess"/>
    <dgm:cxn modelId="{53AD9939-CF56-4D79-952B-5DE4BCF5C348}" srcId="{89775DFA-0717-433D-8571-32D2966F5B0A}" destId="{5E89F833-A56E-46B0-8702-D7ACD2B21A31}" srcOrd="2" destOrd="0" parTransId="{0481F295-D657-4A24-8BDE-8DB51937780B}" sibTransId="{01A3EF66-D3D3-4AF3-997B-C848353E3125}"/>
    <dgm:cxn modelId="{0C91003A-90A1-459C-AED5-BBC3C3E8304C}" type="presOf" srcId="{E22B077D-1486-4980-975D-A07B03AF906E}" destId="{6CA65D77-D26A-4B19-BF52-95B31FE9ECAE}" srcOrd="0" destOrd="0" presId="urn:microsoft.com/office/officeart/2016/7/layout/ChevronBlockProcess"/>
    <dgm:cxn modelId="{A2906D63-8913-44CE-8C7B-4FCC9464DF0C}" type="presOf" srcId="{89775DFA-0717-433D-8571-32D2966F5B0A}" destId="{E03AF015-7B43-4CFF-8387-E7C3BB2E1ABC}" srcOrd="0" destOrd="0" presId="urn:microsoft.com/office/officeart/2016/7/layout/ChevronBlockProcess"/>
    <dgm:cxn modelId="{70EA5463-CDBB-44A8-BAFB-362CA6DC8CAB}" srcId="{B7EC9AE3-AB07-49AC-A2D3-BE7C8652CBC2}" destId="{68E2DDA1-B499-4999-B072-465BB910CC47}" srcOrd="0" destOrd="0" parTransId="{3ADD9819-7555-4AD1-A780-C088A0F4206D}" sibTransId="{C84E1A7D-4179-4274-8B07-3F10CFD28AE9}"/>
    <dgm:cxn modelId="{37552083-5BA6-40CE-9237-A6DEC5CB4D7F}" type="presOf" srcId="{A4F9F883-879F-4375-BE25-869045E1B17A}" destId="{8235CDF9-45B8-4929-8480-A510DD066B6B}" srcOrd="0" destOrd="0" presId="urn:microsoft.com/office/officeart/2016/7/layout/ChevronBlockProcess"/>
    <dgm:cxn modelId="{50B4E48C-CF45-4A02-929B-91255FCAE4D6}" srcId="{5E89F833-A56E-46B0-8702-D7ACD2B21A31}" destId="{E22B077D-1486-4980-975D-A07B03AF906E}" srcOrd="0" destOrd="0" parTransId="{76E50B0E-ED59-4350-B124-4653EBB277CC}" sibTransId="{3EB5EC0F-38C8-43B8-B6DB-69C6AF8221DC}"/>
    <dgm:cxn modelId="{BEA60B99-2AF0-41F9-8260-A2D0339A6853}" srcId="{89775DFA-0717-433D-8571-32D2966F5B0A}" destId="{A4F9F883-879F-4375-BE25-869045E1B17A}" srcOrd="1" destOrd="0" parTransId="{EB126F49-2B56-4559-8F00-AC56CE3B1437}" sibTransId="{F7AAC666-3DEC-4E4F-81E5-0E4E285CB215}"/>
    <dgm:cxn modelId="{0596B9B5-2109-45C2-A02D-963D4B40E2CC}" type="presOf" srcId="{5E89F833-A56E-46B0-8702-D7ACD2B21A31}" destId="{1AEC8EC5-A803-4E28-93C4-0DE09323CBA8}" srcOrd="0" destOrd="0" presId="urn:microsoft.com/office/officeart/2016/7/layout/ChevronBlockProcess"/>
    <dgm:cxn modelId="{0D4FB2D1-13D5-4922-A935-4E99AD2894DE}" srcId="{A4F9F883-879F-4375-BE25-869045E1B17A}" destId="{C0270556-E774-4B8C-A058-A00C8F699F82}" srcOrd="0" destOrd="0" parTransId="{7FFF8A95-2F83-4807-99D9-76940A450BDB}" sibTransId="{84B6D9B8-713D-438E-A03A-9120DE0755A0}"/>
    <dgm:cxn modelId="{CE441FE1-CA0C-44F6-949F-A2BAE17F47EE}" type="presOf" srcId="{B7EC9AE3-AB07-49AC-A2D3-BE7C8652CBC2}" destId="{5B1D537D-70A2-4242-A53E-FAEA0AAC945D}" srcOrd="0" destOrd="0" presId="urn:microsoft.com/office/officeart/2016/7/layout/ChevronBlockProcess"/>
    <dgm:cxn modelId="{8ED98AEB-D55A-4141-A49E-1A37179B4F64}" type="presParOf" srcId="{E03AF015-7B43-4CFF-8387-E7C3BB2E1ABC}" destId="{E4510A19-67D3-4A9C-93F3-624C8C09C331}" srcOrd="0" destOrd="0" presId="urn:microsoft.com/office/officeart/2016/7/layout/ChevronBlockProcess"/>
    <dgm:cxn modelId="{42D21627-B481-4999-A86D-95B4343B945F}" type="presParOf" srcId="{E4510A19-67D3-4A9C-93F3-624C8C09C331}" destId="{5B1D537D-70A2-4242-A53E-FAEA0AAC945D}" srcOrd="0" destOrd="0" presId="urn:microsoft.com/office/officeart/2016/7/layout/ChevronBlockProcess"/>
    <dgm:cxn modelId="{CAAA2614-2036-4709-AD7C-DE8F3DAA34A0}" type="presParOf" srcId="{E4510A19-67D3-4A9C-93F3-624C8C09C331}" destId="{F411EB22-053B-4E6D-80F4-4B83CBE3C719}" srcOrd="1" destOrd="0" presId="urn:microsoft.com/office/officeart/2016/7/layout/ChevronBlockProcess"/>
    <dgm:cxn modelId="{623D8A86-23EF-47CC-9B62-3FE5FF872A3B}" type="presParOf" srcId="{E03AF015-7B43-4CFF-8387-E7C3BB2E1ABC}" destId="{1DDBC913-F393-4D3F-A8CC-37C0F362369B}" srcOrd="1" destOrd="0" presId="urn:microsoft.com/office/officeart/2016/7/layout/ChevronBlockProcess"/>
    <dgm:cxn modelId="{B77FA3F5-4ECB-4E5C-A96C-738D894233BB}" type="presParOf" srcId="{E03AF015-7B43-4CFF-8387-E7C3BB2E1ABC}" destId="{7F10CD25-EE41-45D0-93B2-3739B18C81F1}" srcOrd="2" destOrd="0" presId="urn:microsoft.com/office/officeart/2016/7/layout/ChevronBlockProcess"/>
    <dgm:cxn modelId="{92A68486-184C-44C6-8201-258F2F1FC541}" type="presParOf" srcId="{7F10CD25-EE41-45D0-93B2-3739B18C81F1}" destId="{8235CDF9-45B8-4929-8480-A510DD066B6B}" srcOrd="0" destOrd="0" presId="urn:microsoft.com/office/officeart/2016/7/layout/ChevronBlockProcess"/>
    <dgm:cxn modelId="{AFB3D146-FE40-4B1A-8862-7886A46F2A2E}" type="presParOf" srcId="{7F10CD25-EE41-45D0-93B2-3739B18C81F1}" destId="{4472CA98-ECC8-470F-94BA-BB0E68395029}" srcOrd="1" destOrd="0" presId="urn:microsoft.com/office/officeart/2016/7/layout/ChevronBlockProcess"/>
    <dgm:cxn modelId="{3106FEFA-C48A-4375-BE2D-473511768C19}" type="presParOf" srcId="{E03AF015-7B43-4CFF-8387-E7C3BB2E1ABC}" destId="{7E84FE97-D44D-4C02-9D76-B118C1DC37C3}" srcOrd="3" destOrd="0" presId="urn:microsoft.com/office/officeart/2016/7/layout/ChevronBlockProcess"/>
    <dgm:cxn modelId="{E22A79F0-EDF4-4676-9D01-E7C520472C5F}" type="presParOf" srcId="{E03AF015-7B43-4CFF-8387-E7C3BB2E1ABC}" destId="{7D19E672-B518-405E-9E21-96F860ADB5A4}" srcOrd="4" destOrd="0" presId="urn:microsoft.com/office/officeart/2016/7/layout/ChevronBlockProcess"/>
    <dgm:cxn modelId="{BF1BDCF2-8F80-42FB-A600-F8FA7A7A894D}" type="presParOf" srcId="{7D19E672-B518-405E-9E21-96F860ADB5A4}" destId="{1AEC8EC5-A803-4E28-93C4-0DE09323CBA8}" srcOrd="0" destOrd="0" presId="urn:microsoft.com/office/officeart/2016/7/layout/ChevronBlockProcess"/>
    <dgm:cxn modelId="{04D89318-40D5-4CC8-AD7D-90F5D4AB872C}" type="presParOf" srcId="{7D19E672-B518-405E-9E21-96F860ADB5A4}" destId="{6CA65D77-D26A-4B19-BF52-95B31FE9ECAE}" srcOrd="1" destOrd="0" presId="urn:microsoft.com/office/officeart/2016/7/layout/ChevronBlock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CD24256-DBEA-4CE5-B51F-BDD462BDCEDA}" type="doc">
      <dgm:prSet loTypeId="urn:microsoft.com/office/officeart/2005/8/layout/default" loCatId="list" qsTypeId="urn:microsoft.com/office/officeart/2005/8/quickstyle/simple5" qsCatId="simple" csTypeId="urn:microsoft.com/office/officeart/2005/8/colors/colorful2" csCatId="colorful"/>
      <dgm:spPr/>
      <dgm:t>
        <a:bodyPr/>
        <a:lstStyle/>
        <a:p>
          <a:endParaRPr lang="en-US"/>
        </a:p>
      </dgm:t>
    </dgm:pt>
    <dgm:pt modelId="{52D2D0A9-AF52-480F-8795-101B3E526B23}">
      <dgm:prSet/>
      <dgm:spPr/>
      <dgm:t>
        <a:bodyPr/>
        <a:lstStyle/>
        <a:p>
          <a:r>
            <a:rPr lang="en-US" b="1"/>
            <a:t>Pregnancies</a:t>
          </a:r>
          <a:r>
            <a:rPr lang="en-US"/>
            <a:t>: Number of times the patient has been pregnant.</a:t>
          </a:r>
        </a:p>
      </dgm:t>
    </dgm:pt>
    <dgm:pt modelId="{713ADAF0-5320-4955-9120-2F3F686ADCDF}" type="parTrans" cxnId="{8B7EF1C6-CA96-4B2C-BD8E-DFD1DB2815E3}">
      <dgm:prSet/>
      <dgm:spPr/>
      <dgm:t>
        <a:bodyPr/>
        <a:lstStyle/>
        <a:p>
          <a:endParaRPr lang="en-US"/>
        </a:p>
      </dgm:t>
    </dgm:pt>
    <dgm:pt modelId="{7246B157-6B45-430D-919A-C4ABB288A407}" type="sibTrans" cxnId="{8B7EF1C6-CA96-4B2C-BD8E-DFD1DB2815E3}">
      <dgm:prSet/>
      <dgm:spPr/>
      <dgm:t>
        <a:bodyPr/>
        <a:lstStyle/>
        <a:p>
          <a:endParaRPr lang="en-US"/>
        </a:p>
      </dgm:t>
    </dgm:pt>
    <dgm:pt modelId="{C93111FC-5679-4396-A277-B1605A1CEA65}">
      <dgm:prSet/>
      <dgm:spPr/>
      <dgm:t>
        <a:bodyPr/>
        <a:lstStyle/>
        <a:p>
          <a:r>
            <a:rPr lang="en-US" b="1"/>
            <a:t>Glucose</a:t>
          </a:r>
          <a:r>
            <a:rPr lang="en-US"/>
            <a:t>: Plasma glucose concentration a 2 hours in an oral glucose tolerance test.</a:t>
          </a:r>
        </a:p>
      </dgm:t>
    </dgm:pt>
    <dgm:pt modelId="{7830476A-143A-4328-914F-D09F85011198}" type="parTrans" cxnId="{67637C20-A5B6-4B84-87C7-BF38A555A392}">
      <dgm:prSet/>
      <dgm:spPr/>
      <dgm:t>
        <a:bodyPr/>
        <a:lstStyle/>
        <a:p>
          <a:endParaRPr lang="en-US"/>
        </a:p>
      </dgm:t>
    </dgm:pt>
    <dgm:pt modelId="{3827C15E-84F9-45DB-BD6E-2A391746E070}" type="sibTrans" cxnId="{67637C20-A5B6-4B84-87C7-BF38A555A392}">
      <dgm:prSet/>
      <dgm:spPr/>
      <dgm:t>
        <a:bodyPr/>
        <a:lstStyle/>
        <a:p>
          <a:endParaRPr lang="en-US"/>
        </a:p>
      </dgm:t>
    </dgm:pt>
    <dgm:pt modelId="{9BBCBFE8-014A-440C-A302-EFC5AAE26882}">
      <dgm:prSet/>
      <dgm:spPr/>
      <dgm:t>
        <a:bodyPr/>
        <a:lstStyle/>
        <a:p>
          <a:r>
            <a:rPr lang="en-US" b="1"/>
            <a:t>Blood Pressure</a:t>
          </a:r>
          <a:r>
            <a:rPr lang="en-US"/>
            <a:t>: Diastolic blood pressure (mm Hg).</a:t>
          </a:r>
        </a:p>
      </dgm:t>
    </dgm:pt>
    <dgm:pt modelId="{831D300A-08C9-4D6B-8C75-601165EAF8CD}" type="parTrans" cxnId="{AD9433EF-CF4A-4172-9400-D4FE9085528A}">
      <dgm:prSet/>
      <dgm:spPr/>
      <dgm:t>
        <a:bodyPr/>
        <a:lstStyle/>
        <a:p>
          <a:endParaRPr lang="en-US"/>
        </a:p>
      </dgm:t>
    </dgm:pt>
    <dgm:pt modelId="{A8659531-4958-49CD-B3B6-FB14FB5D0A28}" type="sibTrans" cxnId="{AD9433EF-CF4A-4172-9400-D4FE9085528A}">
      <dgm:prSet/>
      <dgm:spPr/>
      <dgm:t>
        <a:bodyPr/>
        <a:lstStyle/>
        <a:p>
          <a:endParaRPr lang="en-US"/>
        </a:p>
      </dgm:t>
    </dgm:pt>
    <dgm:pt modelId="{9AB1CC93-EA49-4847-89A1-77AA333D616C}">
      <dgm:prSet/>
      <dgm:spPr/>
      <dgm:t>
        <a:bodyPr/>
        <a:lstStyle/>
        <a:p>
          <a:r>
            <a:rPr lang="en-US" b="1"/>
            <a:t>Skin Thickness</a:t>
          </a:r>
          <a:r>
            <a:rPr lang="en-US"/>
            <a:t>: Triceps skinfold thickness (mm).</a:t>
          </a:r>
        </a:p>
      </dgm:t>
    </dgm:pt>
    <dgm:pt modelId="{EBBB85F7-4276-497F-ACDE-2495BC784347}" type="parTrans" cxnId="{0FBC285E-562D-4EB0-9FE4-06B094F773F4}">
      <dgm:prSet/>
      <dgm:spPr/>
      <dgm:t>
        <a:bodyPr/>
        <a:lstStyle/>
        <a:p>
          <a:endParaRPr lang="en-US"/>
        </a:p>
      </dgm:t>
    </dgm:pt>
    <dgm:pt modelId="{98DFF58D-4718-4340-9DF0-79597C228BAA}" type="sibTrans" cxnId="{0FBC285E-562D-4EB0-9FE4-06B094F773F4}">
      <dgm:prSet/>
      <dgm:spPr/>
      <dgm:t>
        <a:bodyPr/>
        <a:lstStyle/>
        <a:p>
          <a:endParaRPr lang="en-US"/>
        </a:p>
      </dgm:t>
    </dgm:pt>
    <dgm:pt modelId="{024560A1-E864-4C5C-92C7-B97FAF0A5191}">
      <dgm:prSet/>
      <dgm:spPr/>
      <dgm:t>
        <a:bodyPr/>
        <a:lstStyle/>
        <a:p>
          <a:r>
            <a:rPr lang="en-US" b="1"/>
            <a:t>Insulin</a:t>
          </a:r>
          <a:r>
            <a:rPr lang="en-US"/>
            <a:t>: 2-Hour serum insulin (mu U/ml).</a:t>
          </a:r>
        </a:p>
      </dgm:t>
    </dgm:pt>
    <dgm:pt modelId="{927BED53-B8DB-4A58-A5F8-470348761B2C}" type="parTrans" cxnId="{18403A82-A233-45AE-A31B-AC7F4EEE8BDC}">
      <dgm:prSet/>
      <dgm:spPr/>
      <dgm:t>
        <a:bodyPr/>
        <a:lstStyle/>
        <a:p>
          <a:endParaRPr lang="en-US"/>
        </a:p>
      </dgm:t>
    </dgm:pt>
    <dgm:pt modelId="{F0027F4E-82DE-4D8C-9977-0AFC0512A1FB}" type="sibTrans" cxnId="{18403A82-A233-45AE-A31B-AC7F4EEE8BDC}">
      <dgm:prSet/>
      <dgm:spPr/>
      <dgm:t>
        <a:bodyPr/>
        <a:lstStyle/>
        <a:p>
          <a:endParaRPr lang="en-US"/>
        </a:p>
      </dgm:t>
    </dgm:pt>
    <dgm:pt modelId="{84E05FD7-120B-4952-B1B5-3EF37FC3FDC2}">
      <dgm:prSet/>
      <dgm:spPr/>
      <dgm:t>
        <a:bodyPr/>
        <a:lstStyle/>
        <a:p>
          <a:r>
            <a:rPr lang="en-US" b="1"/>
            <a:t>BMI</a:t>
          </a:r>
          <a:r>
            <a:rPr lang="en-US"/>
            <a:t>: Body mass index (weight in kg/(height in m)^2).</a:t>
          </a:r>
        </a:p>
      </dgm:t>
    </dgm:pt>
    <dgm:pt modelId="{5B930CCF-9B7C-410F-82E2-E6EC3EE2581C}" type="parTrans" cxnId="{6F5DA4C4-8634-41B5-B330-CE99AE6AFB57}">
      <dgm:prSet/>
      <dgm:spPr/>
      <dgm:t>
        <a:bodyPr/>
        <a:lstStyle/>
        <a:p>
          <a:endParaRPr lang="en-US"/>
        </a:p>
      </dgm:t>
    </dgm:pt>
    <dgm:pt modelId="{14C1153E-B630-4554-8A50-18DE6253FF04}" type="sibTrans" cxnId="{6F5DA4C4-8634-41B5-B330-CE99AE6AFB57}">
      <dgm:prSet/>
      <dgm:spPr/>
      <dgm:t>
        <a:bodyPr/>
        <a:lstStyle/>
        <a:p>
          <a:endParaRPr lang="en-US"/>
        </a:p>
      </dgm:t>
    </dgm:pt>
    <dgm:pt modelId="{67EBE3FC-DD2D-4450-BF2E-FAB0B6F64F05}">
      <dgm:prSet/>
      <dgm:spPr/>
      <dgm:t>
        <a:bodyPr/>
        <a:lstStyle/>
        <a:p>
          <a:r>
            <a:rPr lang="en-US" b="1"/>
            <a:t>Diabetes Pedigree Function</a:t>
          </a:r>
          <a:r>
            <a:rPr lang="en-US"/>
            <a:t>: A function that scores the likelihood of diabetes based on family history.</a:t>
          </a:r>
        </a:p>
      </dgm:t>
    </dgm:pt>
    <dgm:pt modelId="{482A5538-D3AD-49FA-A532-3C3CBE852772}" type="parTrans" cxnId="{46CE8C01-D835-4BB8-8089-82F408EFC4A8}">
      <dgm:prSet/>
      <dgm:spPr/>
      <dgm:t>
        <a:bodyPr/>
        <a:lstStyle/>
        <a:p>
          <a:endParaRPr lang="en-US"/>
        </a:p>
      </dgm:t>
    </dgm:pt>
    <dgm:pt modelId="{8755DC88-2E9A-4D19-87B3-81DC089C921D}" type="sibTrans" cxnId="{46CE8C01-D835-4BB8-8089-82F408EFC4A8}">
      <dgm:prSet/>
      <dgm:spPr/>
      <dgm:t>
        <a:bodyPr/>
        <a:lstStyle/>
        <a:p>
          <a:endParaRPr lang="en-US"/>
        </a:p>
      </dgm:t>
    </dgm:pt>
    <dgm:pt modelId="{A69D1A3C-4C19-4EA9-ACB6-4892819567BC}">
      <dgm:prSet/>
      <dgm:spPr/>
      <dgm:t>
        <a:bodyPr/>
        <a:lstStyle/>
        <a:p>
          <a:r>
            <a:rPr lang="en-US" b="1"/>
            <a:t>Age</a:t>
          </a:r>
          <a:r>
            <a:rPr lang="en-US"/>
            <a:t>: Age of the patient in years.</a:t>
          </a:r>
        </a:p>
      </dgm:t>
    </dgm:pt>
    <dgm:pt modelId="{3FADA538-C1B9-4340-942B-BF0D84BF9D53}" type="parTrans" cxnId="{441E0248-1E5E-47F4-8841-9449113E5CFC}">
      <dgm:prSet/>
      <dgm:spPr/>
      <dgm:t>
        <a:bodyPr/>
        <a:lstStyle/>
        <a:p>
          <a:endParaRPr lang="en-US"/>
        </a:p>
      </dgm:t>
    </dgm:pt>
    <dgm:pt modelId="{B9894B1B-D491-465B-A5C0-EAF41634C345}" type="sibTrans" cxnId="{441E0248-1E5E-47F4-8841-9449113E5CFC}">
      <dgm:prSet/>
      <dgm:spPr/>
      <dgm:t>
        <a:bodyPr/>
        <a:lstStyle/>
        <a:p>
          <a:endParaRPr lang="en-US"/>
        </a:p>
      </dgm:t>
    </dgm:pt>
    <dgm:pt modelId="{D2C7F3ED-ED77-4220-9EE9-97ED040BD99D}">
      <dgm:prSet/>
      <dgm:spPr/>
      <dgm:t>
        <a:bodyPr/>
        <a:lstStyle/>
        <a:p>
          <a:r>
            <a:rPr lang="en-US" b="1"/>
            <a:t>Outcome</a:t>
          </a:r>
          <a:r>
            <a:rPr lang="en-US"/>
            <a:t>: Binary variable (0 or 1) indicating whether the patient has diabetes.</a:t>
          </a:r>
        </a:p>
      </dgm:t>
    </dgm:pt>
    <dgm:pt modelId="{B0B0064A-7282-4CCA-9E08-94D4A2F7468F}" type="parTrans" cxnId="{2B064B96-0EB2-4F6F-8272-6D0DD867C78F}">
      <dgm:prSet/>
      <dgm:spPr/>
      <dgm:t>
        <a:bodyPr/>
        <a:lstStyle/>
        <a:p>
          <a:endParaRPr lang="en-US"/>
        </a:p>
      </dgm:t>
    </dgm:pt>
    <dgm:pt modelId="{D85AF7AE-1D7C-40FD-80A7-DF81BF187F34}" type="sibTrans" cxnId="{2B064B96-0EB2-4F6F-8272-6D0DD867C78F}">
      <dgm:prSet/>
      <dgm:spPr/>
      <dgm:t>
        <a:bodyPr/>
        <a:lstStyle/>
        <a:p>
          <a:endParaRPr lang="en-US"/>
        </a:p>
      </dgm:t>
    </dgm:pt>
    <dgm:pt modelId="{AEEB6CD9-8A36-4098-B586-75BC895B47BB}" type="pres">
      <dgm:prSet presAssocID="{6CD24256-DBEA-4CE5-B51F-BDD462BDCEDA}" presName="diagram" presStyleCnt="0">
        <dgm:presLayoutVars>
          <dgm:dir/>
          <dgm:resizeHandles val="exact"/>
        </dgm:presLayoutVars>
      </dgm:prSet>
      <dgm:spPr/>
    </dgm:pt>
    <dgm:pt modelId="{8794CA41-D20C-4E8A-B225-CF88AFD96826}" type="pres">
      <dgm:prSet presAssocID="{52D2D0A9-AF52-480F-8795-101B3E526B23}" presName="node" presStyleLbl="node1" presStyleIdx="0" presStyleCnt="9">
        <dgm:presLayoutVars>
          <dgm:bulletEnabled val="1"/>
        </dgm:presLayoutVars>
      </dgm:prSet>
      <dgm:spPr/>
    </dgm:pt>
    <dgm:pt modelId="{6A3ECE7D-9144-4870-92F8-935CED7DFB0F}" type="pres">
      <dgm:prSet presAssocID="{7246B157-6B45-430D-919A-C4ABB288A407}" presName="sibTrans" presStyleCnt="0"/>
      <dgm:spPr/>
    </dgm:pt>
    <dgm:pt modelId="{FE76E8A7-25E4-4989-B2C8-2810E4AD5455}" type="pres">
      <dgm:prSet presAssocID="{C93111FC-5679-4396-A277-B1605A1CEA65}" presName="node" presStyleLbl="node1" presStyleIdx="1" presStyleCnt="9">
        <dgm:presLayoutVars>
          <dgm:bulletEnabled val="1"/>
        </dgm:presLayoutVars>
      </dgm:prSet>
      <dgm:spPr/>
    </dgm:pt>
    <dgm:pt modelId="{4E660C84-A2B3-43F1-8744-9DB786ACCF2C}" type="pres">
      <dgm:prSet presAssocID="{3827C15E-84F9-45DB-BD6E-2A391746E070}" presName="sibTrans" presStyleCnt="0"/>
      <dgm:spPr/>
    </dgm:pt>
    <dgm:pt modelId="{ADE58C7D-B175-44DD-B59A-02820B0F660D}" type="pres">
      <dgm:prSet presAssocID="{9BBCBFE8-014A-440C-A302-EFC5AAE26882}" presName="node" presStyleLbl="node1" presStyleIdx="2" presStyleCnt="9">
        <dgm:presLayoutVars>
          <dgm:bulletEnabled val="1"/>
        </dgm:presLayoutVars>
      </dgm:prSet>
      <dgm:spPr/>
    </dgm:pt>
    <dgm:pt modelId="{D530DD08-FED1-45AC-8DA6-88FBE90CB4D0}" type="pres">
      <dgm:prSet presAssocID="{A8659531-4958-49CD-B3B6-FB14FB5D0A28}" presName="sibTrans" presStyleCnt="0"/>
      <dgm:spPr/>
    </dgm:pt>
    <dgm:pt modelId="{CA5A8EB9-1C6E-4BAB-8DF4-2F2E5B368099}" type="pres">
      <dgm:prSet presAssocID="{9AB1CC93-EA49-4847-89A1-77AA333D616C}" presName="node" presStyleLbl="node1" presStyleIdx="3" presStyleCnt="9">
        <dgm:presLayoutVars>
          <dgm:bulletEnabled val="1"/>
        </dgm:presLayoutVars>
      </dgm:prSet>
      <dgm:spPr/>
    </dgm:pt>
    <dgm:pt modelId="{BBA1018B-96CA-4FF1-9954-F064108F9408}" type="pres">
      <dgm:prSet presAssocID="{98DFF58D-4718-4340-9DF0-79597C228BAA}" presName="sibTrans" presStyleCnt="0"/>
      <dgm:spPr/>
    </dgm:pt>
    <dgm:pt modelId="{666663FF-6F28-4C8D-86B6-6609A504D12D}" type="pres">
      <dgm:prSet presAssocID="{024560A1-E864-4C5C-92C7-B97FAF0A5191}" presName="node" presStyleLbl="node1" presStyleIdx="4" presStyleCnt="9">
        <dgm:presLayoutVars>
          <dgm:bulletEnabled val="1"/>
        </dgm:presLayoutVars>
      </dgm:prSet>
      <dgm:spPr/>
    </dgm:pt>
    <dgm:pt modelId="{723EF14F-F8D3-4FEE-A8B9-9AF24D1C0385}" type="pres">
      <dgm:prSet presAssocID="{F0027F4E-82DE-4D8C-9977-0AFC0512A1FB}" presName="sibTrans" presStyleCnt="0"/>
      <dgm:spPr/>
    </dgm:pt>
    <dgm:pt modelId="{41A3F5D4-01F4-4F54-998B-A38C5E312FB1}" type="pres">
      <dgm:prSet presAssocID="{84E05FD7-120B-4952-B1B5-3EF37FC3FDC2}" presName="node" presStyleLbl="node1" presStyleIdx="5" presStyleCnt="9">
        <dgm:presLayoutVars>
          <dgm:bulletEnabled val="1"/>
        </dgm:presLayoutVars>
      </dgm:prSet>
      <dgm:spPr/>
    </dgm:pt>
    <dgm:pt modelId="{EBE32CE5-09EA-43FD-8939-03565984EECE}" type="pres">
      <dgm:prSet presAssocID="{14C1153E-B630-4554-8A50-18DE6253FF04}" presName="sibTrans" presStyleCnt="0"/>
      <dgm:spPr/>
    </dgm:pt>
    <dgm:pt modelId="{12751BCD-1C72-4A71-B5CA-ABD6CD2D12CC}" type="pres">
      <dgm:prSet presAssocID="{67EBE3FC-DD2D-4450-BF2E-FAB0B6F64F05}" presName="node" presStyleLbl="node1" presStyleIdx="6" presStyleCnt="9">
        <dgm:presLayoutVars>
          <dgm:bulletEnabled val="1"/>
        </dgm:presLayoutVars>
      </dgm:prSet>
      <dgm:spPr/>
    </dgm:pt>
    <dgm:pt modelId="{5191A283-0CA4-4350-9E64-CDE4795A4AD3}" type="pres">
      <dgm:prSet presAssocID="{8755DC88-2E9A-4D19-87B3-81DC089C921D}" presName="sibTrans" presStyleCnt="0"/>
      <dgm:spPr/>
    </dgm:pt>
    <dgm:pt modelId="{D7C76A9D-CF8B-48D7-A4A5-874C680470A3}" type="pres">
      <dgm:prSet presAssocID="{A69D1A3C-4C19-4EA9-ACB6-4892819567BC}" presName="node" presStyleLbl="node1" presStyleIdx="7" presStyleCnt="9">
        <dgm:presLayoutVars>
          <dgm:bulletEnabled val="1"/>
        </dgm:presLayoutVars>
      </dgm:prSet>
      <dgm:spPr/>
    </dgm:pt>
    <dgm:pt modelId="{6A13FC8B-CC5B-44F0-9270-FFD1AC0B393C}" type="pres">
      <dgm:prSet presAssocID="{B9894B1B-D491-465B-A5C0-EAF41634C345}" presName="sibTrans" presStyleCnt="0"/>
      <dgm:spPr/>
    </dgm:pt>
    <dgm:pt modelId="{BDFEB740-1A91-4DBA-B9B9-25F63F946564}" type="pres">
      <dgm:prSet presAssocID="{D2C7F3ED-ED77-4220-9EE9-97ED040BD99D}" presName="node" presStyleLbl="node1" presStyleIdx="8" presStyleCnt="9">
        <dgm:presLayoutVars>
          <dgm:bulletEnabled val="1"/>
        </dgm:presLayoutVars>
      </dgm:prSet>
      <dgm:spPr/>
    </dgm:pt>
  </dgm:ptLst>
  <dgm:cxnLst>
    <dgm:cxn modelId="{46CE8C01-D835-4BB8-8089-82F408EFC4A8}" srcId="{6CD24256-DBEA-4CE5-B51F-BDD462BDCEDA}" destId="{67EBE3FC-DD2D-4450-BF2E-FAB0B6F64F05}" srcOrd="6" destOrd="0" parTransId="{482A5538-D3AD-49FA-A532-3C3CBE852772}" sibTransId="{8755DC88-2E9A-4D19-87B3-81DC089C921D}"/>
    <dgm:cxn modelId="{15DA190A-C077-438A-AEF2-42A9ECD1FDE1}" type="presOf" srcId="{A69D1A3C-4C19-4EA9-ACB6-4892819567BC}" destId="{D7C76A9D-CF8B-48D7-A4A5-874C680470A3}" srcOrd="0" destOrd="0" presId="urn:microsoft.com/office/officeart/2005/8/layout/default"/>
    <dgm:cxn modelId="{C5CA1215-6AE6-4A2D-B783-47DB03B95312}" type="presOf" srcId="{D2C7F3ED-ED77-4220-9EE9-97ED040BD99D}" destId="{BDFEB740-1A91-4DBA-B9B9-25F63F946564}" srcOrd="0" destOrd="0" presId="urn:microsoft.com/office/officeart/2005/8/layout/default"/>
    <dgm:cxn modelId="{44C82020-092E-499D-B8AE-E89307DEC39E}" type="presOf" srcId="{9BBCBFE8-014A-440C-A302-EFC5AAE26882}" destId="{ADE58C7D-B175-44DD-B59A-02820B0F660D}" srcOrd="0" destOrd="0" presId="urn:microsoft.com/office/officeart/2005/8/layout/default"/>
    <dgm:cxn modelId="{67637C20-A5B6-4B84-87C7-BF38A555A392}" srcId="{6CD24256-DBEA-4CE5-B51F-BDD462BDCEDA}" destId="{C93111FC-5679-4396-A277-B1605A1CEA65}" srcOrd="1" destOrd="0" parTransId="{7830476A-143A-4328-914F-D09F85011198}" sibTransId="{3827C15E-84F9-45DB-BD6E-2A391746E070}"/>
    <dgm:cxn modelId="{0FBC285E-562D-4EB0-9FE4-06B094F773F4}" srcId="{6CD24256-DBEA-4CE5-B51F-BDD462BDCEDA}" destId="{9AB1CC93-EA49-4847-89A1-77AA333D616C}" srcOrd="3" destOrd="0" parTransId="{EBBB85F7-4276-497F-ACDE-2495BC784347}" sibTransId="{98DFF58D-4718-4340-9DF0-79597C228BAA}"/>
    <dgm:cxn modelId="{441E0248-1E5E-47F4-8841-9449113E5CFC}" srcId="{6CD24256-DBEA-4CE5-B51F-BDD462BDCEDA}" destId="{A69D1A3C-4C19-4EA9-ACB6-4892819567BC}" srcOrd="7" destOrd="0" parTransId="{3FADA538-C1B9-4340-942B-BF0D84BF9D53}" sibTransId="{B9894B1B-D491-465B-A5C0-EAF41634C345}"/>
    <dgm:cxn modelId="{A789476C-2A63-4B7A-A04E-E6880E38A19C}" type="presOf" srcId="{024560A1-E864-4C5C-92C7-B97FAF0A5191}" destId="{666663FF-6F28-4C8D-86B6-6609A504D12D}" srcOrd="0" destOrd="0" presId="urn:microsoft.com/office/officeart/2005/8/layout/default"/>
    <dgm:cxn modelId="{18403A82-A233-45AE-A31B-AC7F4EEE8BDC}" srcId="{6CD24256-DBEA-4CE5-B51F-BDD462BDCEDA}" destId="{024560A1-E864-4C5C-92C7-B97FAF0A5191}" srcOrd="4" destOrd="0" parTransId="{927BED53-B8DB-4A58-A5F8-470348761B2C}" sibTransId="{F0027F4E-82DE-4D8C-9977-0AFC0512A1FB}"/>
    <dgm:cxn modelId="{24725287-3344-42CC-A7D0-9625ADDD3199}" type="presOf" srcId="{84E05FD7-120B-4952-B1B5-3EF37FC3FDC2}" destId="{41A3F5D4-01F4-4F54-998B-A38C5E312FB1}" srcOrd="0" destOrd="0" presId="urn:microsoft.com/office/officeart/2005/8/layout/default"/>
    <dgm:cxn modelId="{2B064B96-0EB2-4F6F-8272-6D0DD867C78F}" srcId="{6CD24256-DBEA-4CE5-B51F-BDD462BDCEDA}" destId="{D2C7F3ED-ED77-4220-9EE9-97ED040BD99D}" srcOrd="8" destOrd="0" parTransId="{B0B0064A-7282-4CCA-9E08-94D4A2F7468F}" sibTransId="{D85AF7AE-1D7C-40FD-80A7-DF81BF187F34}"/>
    <dgm:cxn modelId="{55C491AB-B657-4F4C-A370-287E669AA0EE}" type="presOf" srcId="{52D2D0A9-AF52-480F-8795-101B3E526B23}" destId="{8794CA41-D20C-4E8A-B225-CF88AFD96826}" srcOrd="0" destOrd="0" presId="urn:microsoft.com/office/officeart/2005/8/layout/default"/>
    <dgm:cxn modelId="{E9EB49B4-8A71-4DFA-98E6-2DC63615BA78}" type="presOf" srcId="{67EBE3FC-DD2D-4450-BF2E-FAB0B6F64F05}" destId="{12751BCD-1C72-4A71-B5CA-ABD6CD2D12CC}" srcOrd="0" destOrd="0" presId="urn:microsoft.com/office/officeart/2005/8/layout/default"/>
    <dgm:cxn modelId="{6F5DA4C4-8634-41B5-B330-CE99AE6AFB57}" srcId="{6CD24256-DBEA-4CE5-B51F-BDD462BDCEDA}" destId="{84E05FD7-120B-4952-B1B5-3EF37FC3FDC2}" srcOrd="5" destOrd="0" parTransId="{5B930CCF-9B7C-410F-82E2-E6EC3EE2581C}" sibTransId="{14C1153E-B630-4554-8A50-18DE6253FF04}"/>
    <dgm:cxn modelId="{8B7EF1C6-CA96-4B2C-BD8E-DFD1DB2815E3}" srcId="{6CD24256-DBEA-4CE5-B51F-BDD462BDCEDA}" destId="{52D2D0A9-AF52-480F-8795-101B3E526B23}" srcOrd="0" destOrd="0" parTransId="{713ADAF0-5320-4955-9120-2F3F686ADCDF}" sibTransId="{7246B157-6B45-430D-919A-C4ABB288A407}"/>
    <dgm:cxn modelId="{581567D2-F364-4B31-8105-B0A063DA9F26}" type="presOf" srcId="{6CD24256-DBEA-4CE5-B51F-BDD462BDCEDA}" destId="{AEEB6CD9-8A36-4098-B586-75BC895B47BB}" srcOrd="0" destOrd="0" presId="urn:microsoft.com/office/officeart/2005/8/layout/default"/>
    <dgm:cxn modelId="{9CE36FD9-3A24-42FD-BE24-65EE478B1CFC}" type="presOf" srcId="{9AB1CC93-EA49-4847-89A1-77AA333D616C}" destId="{CA5A8EB9-1C6E-4BAB-8DF4-2F2E5B368099}" srcOrd="0" destOrd="0" presId="urn:microsoft.com/office/officeart/2005/8/layout/default"/>
    <dgm:cxn modelId="{5B731CEB-866B-42B8-93D8-3749A054CE37}" type="presOf" srcId="{C93111FC-5679-4396-A277-B1605A1CEA65}" destId="{FE76E8A7-25E4-4989-B2C8-2810E4AD5455}" srcOrd="0" destOrd="0" presId="urn:microsoft.com/office/officeart/2005/8/layout/default"/>
    <dgm:cxn modelId="{AD9433EF-CF4A-4172-9400-D4FE9085528A}" srcId="{6CD24256-DBEA-4CE5-B51F-BDD462BDCEDA}" destId="{9BBCBFE8-014A-440C-A302-EFC5AAE26882}" srcOrd="2" destOrd="0" parTransId="{831D300A-08C9-4D6B-8C75-601165EAF8CD}" sibTransId="{A8659531-4958-49CD-B3B6-FB14FB5D0A28}"/>
    <dgm:cxn modelId="{63264E53-30EE-4492-A55D-B40F32D352ED}" type="presParOf" srcId="{AEEB6CD9-8A36-4098-B586-75BC895B47BB}" destId="{8794CA41-D20C-4E8A-B225-CF88AFD96826}" srcOrd="0" destOrd="0" presId="urn:microsoft.com/office/officeart/2005/8/layout/default"/>
    <dgm:cxn modelId="{ED7E90A6-2D4B-47C5-AFA3-555AF53F92A6}" type="presParOf" srcId="{AEEB6CD9-8A36-4098-B586-75BC895B47BB}" destId="{6A3ECE7D-9144-4870-92F8-935CED7DFB0F}" srcOrd="1" destOrd="0" presId="urn:microsoft.com/office/officeart/2005/8/layout/default"/>
    <dgm:cxn modelId="{F831D604-CFC6-4642-AB7E-68C45715150C}" type="presParOf" srcId="{AEEB6CD9-8A36-4098-B586-75BC895B47BB}" destId="{FE76E8A7-25E4-4989-B2C8-2810E4AD5455}" srcOrd="2" destOrd="0" presId="urn:microsoft.com/office/officeart/2005/8/layout/default"/>
    <dgm:cxn modelId="{7C34B232-35C0-444C-8A34-1ACB5A3A27EA}" type="presParOf" srcId="{AEEB6CD9-8A36-4098-B586-75BC895B47BB}" destId="{4E660C84-A2B3-43F1-8744-9DB786ACCF2C}" srcOrd="3" destOrd="0" presId="urn:microsoft.com/office/officeart/2005/8/layout/default"/>
    <dgm:cxn modelId="{F1966F09-B2A6-4552-851B-12D8890EB163}" type="presParOf" srcId="{AEEB6CD9-8A36-4098-B586-75BC895B47BB}" destId="{ADE58C7D-B175-44DD-B59A-02820B0F660D}" srcOrd="4" destOrd="0" presId="urn:microsoft.com/office/officeart/2005/8/layout/default"/>
    <dgm:cxn modelId="{7C69761A-040A-406B-B4B6-239047ABFCFC}" type="presParOf" srcId="{AEEB6CD9-8A36-4098-B586-75BC895B47BB}" destId="{D530DD08-FED1-45AC-8DA6-88FBE90CB4D0}" srcOrd="5" destOrd="0" presId="urn:microsoft.com/office/officeart/2005/8/layout/default"/>
    <dgm:cxn modelId="{A0EA18C1-007F-49F6-8745-48C972712AA6}" type="presParOf" srcId="{AEEB6CD9-8A36-4098-B586-75BC895B47BB}" destId="{CA5A8EB9-1C6E-4BAB-8DF4-2F2E5B368099}" srcOrd="6" destOrd="0" presId="urn:microsoft.com/office/officeart/2005/8/layout/default"/>
    <dgm:cxn modelId="{AA9BAE28-0ECF-47C7-92F2-4EB74AD6E5C5}" type="presParOf" srcId="{AEEB6CD9-8A36-4098-B586-75BC895B47BB}" destId="{BBA1018B-96CA-4FF1-9954-F064108F9408}" srcOrd="7" destOrd="0" presId="urn:microsoft.com/office/officeart/2005/8/layout/default"/>
    <dgm:cxn modelId="{76945DF1-39EF-40CC-81E2-7DAC3F77055B}" type="presParOf" srcId="{AEEB6CD9-8A36-4098-B586-75BC895B47BB}" destId="{666663FF-6F28-4C8D-86B6-6609A504D12D}" srcOrd="8" destOrd="0" presId="urn:microsoft.com/office/officeart/2005/8/layout/default"/>
    <dgm:cxn modelId="{2001A91E-01BD-4226-BCE9-2F5D40B7833B}" type="presParOf" srcId="{AEEB6CD9-8A36-4098-B586-75BC895B47BB}" destId="{723EF14F-F8D3-4FEE-A8B9-9AF24D1C0385}" srcOrd="9" destOrd="0" presId="urn:microsoft.com/office/officeart/2005/8/layout/default"/>
    <dgm:cxn modelId="{377B3404-36BC-40D2-9788-150132BBC1D7}" type="presParOf" srcId="{AEEB6CD9-8A36-4098-B586-75BC895B47BB}" destId="{41A3F5D4-01F4-4F54-998B-A38C5E312FB1}" srcOrd="10" destOrd="0" presId="urn:microsoft.com/office/officeart/2005/8/layout/default"/>
    <dgm:cxn modelId="{5F600FBF-8D6C-47ED-845F-4DA1C3A27F2A}" type="presParOf" srcId="{AEEB6CD9-8A36-4098-B586-75BC895B47BB}" destId="{EBE32CE5-09EA-43FD-8939-03565984EECE}" srcOrd="11" destOrd="0" presId="urn:microsoft.com/office/officeart/2005/8/layout/default"/>
    <dgm:cxn modelId="{8C5FED66-B830-4FB0-A86F-C63C7696DE7E}" type="presParOf" srcId="{AEEB6CD9-8A36-4098-B586-75BC895B47BB}" destId="{12751BCD-1C72-4A71-B5CA-ABD6CD2D12CC}" srcOrd="12" destOrd="0" presId="urn:microsoft.com/office/officeart/2005/8/layout/default"/>
    <dgm:cxn modelId="{FBC31DD3-0289-4E9D-B055-8F279E65370A}" type="presParOf" srcId="{AEEB6CD9-8A36-4098-B586-75BC895B47BB}" destId="{5191A283-0CA4-4350-9E64-CDE4795A4AD3}" srcOrd="13" destOrd="0" presId="urn:microsoft.com/office/officeart/2005/8/layout/default"/>
    <dgm:cxn modelId="{8C1DC2EF-67F0-4F32-B8CD-8637E7A5F941}" type="presParOf" srcId="{AEEB6CD9-8A36-4098-B586-75BC895B47BB}" destId="{D7C76A9D-CF8B-48D7-A4A5-874C680470A3}" srcOrd="14" destOrd="0" presId="urn:microsoft.com/office/officeart/2005/8/layout/default"/>
    <dgm:cxn modelId="{B3C3249D-3812-4300-91C7-EBAC64B3D6F0}" type="presParOf" srcId="{AEEB6CD9-8A36-4098-B586-75BC895B47BB}" destId="{6A13FC8B-CC5B-44F0-9270-FFD1AC0B393C}" srcOrd="15" destOrd="0" presId="urn:microsoft.com/office/officeart/2005/8/layout/default"/>
    <dgm:cxn modelId="{AAF9ED46-E17F-4BA0-8063-B46112935926}" type="presParOf" srcId="{AEEB6CD9-8A36-4098-B586-75BC895B47BB}" destId="{BDFEB740-1A91-4DBA-B9B9-25F63F946564}"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97741B5-01B7-46C8-850D-2A97493C41F5}"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8085738-7E50-4B09-B936-1599E48D8B94}">
      <dgm:prSet/>
      <dgm:spPr/>
      <dgm:t>
        <a:bodyPr/>
        <a:lstStyle/>
        <a:p>
          <a:pPr>
            <a:lnSpc>
              <a:spcPct val="100000"/>
            </a:lnSpc>
          </a:pPr>
          <a:r>
            <a:rPr lang="en-US"/>
            <a:t>DATA VISUALISATION</a:t>
          </a:r>
        </a:p>
      </dgm:t>
    </dgm:pt>
    <dgm:pt modelId="{5A54BD5A-88DA-466D-991C-4722A972C7CC}" type="parTrans" cxnId="{576B020D-9C04-40E7-A02D-60B4BB1D2DC2}">
      <dgm:prSet/>
      <dgm:spPr/>
      <dgm:t>
        <a:bodyPr/>
        <a:lstStyle/>
        <a:p>
          <a:endParaRPr lang="en-US"/>
        </a:p>
      </dgm:t>
    </dgm:pt>
    <dgm:pt modelId="{A7926CB1-02E7-4393-8E7D-C20BDCAE8A40}" type="sibTrans" cxnId="{576B020D-9C04-40E7-A02D-60B4BB1D2DC2}">
      <dgm:prSet/>
      <dgm:spPr/>
      <dgm:t>
        <a:bodyPr/>
        <a:lstStyle/>
        <a:p>
          <a:endParaRPr lang="en-US"/>
        </a:p>
      </dgm:t>
    </dgm:pt>
    <dgm:pt modelId="{DD871246-2A5B-4308-AE70-6CE3D62B5786}">
      <dgm:prSet/>
      <dgm:spPr/>
      <dgm:t>
        <a:bodyPr/>
        <a:lstStyle/>
        <a:p>
          <a:pPr>
            <a:lnSpc>
              <a:spcPct val="100000"/>
            </a:lnSpc>
          </a:pPr>
          <a:r>
            <a:rPr lang="en-US" dirty="0">
              <a:solidFill>
                <a:srgbClr val="00B0F0"/>
              </a:solidFill>
            </a:rPr>
            <a:t>Objective:</a:t>
          </a:r>
          <a:r>
            <a:rPr lang="en-US" dirty="0"/>
            <a:t> </a:t>
          </a:r>
          <a:r>
            <a:rPr lang="en-US" dirty="0">
              <a:solidFill>
                <a:schemeClr val="accent2">
                  <a:lumMod val="50000"/>
                </a:schemeClr>
              </a:solidFill>
            </a:rPr>
            <a:t>To Investigate trends, patterns, and connections between features using visualizations. This helps in comprehending data before developing models.</a:t>
          </a:r>
        </a:p>
      </dgm:t>
    </dgm:pt>
    <dgm:pt modelId="{81A699B4-9C4A-4B6A-A383-2226B2AC6D22}" type="parTrans" cxnId="{9AECEE45-9B7B-4E55-9B23-FA6850DFA1DC}">
      <dgm:prSet/>
      <dgm:spPr/>
      <dgm:t>
        <a:bodyPr/>
        <a:lstStyle/>
        <a:p>
          <a:endParaRPr lang="en-US"/>
        </a:p>
      </dgm:t>
    </dgm:pt>
    <dgm:pt modelId="{841C5F00-E76C-428E-B507-9DCCA94C2D6C}" type="sibTrans" cxnId="{9AECEE45-9B7B-4E55-9B23-FA6850DFA1DC}">
      <dgm:prSet/>
      <dgm:spPr/>
      <dgm:t>
        <a:bodyPr/>
        <a:lstStyle/>
        <a:p>
          <a:endParaRPr lang="en-US"/>
        </a:p>
      </dgm:t>
    </dgm:pt>
    <dgm:pt modelId="{9AACB30C-4B8B-4E10-A064-3C30AE0227A5}" type="pres">
      <dgm:prSet presAssocID="{297741B5-01B7-46C8-850D-2A97493C41F5}" presName="root" presStyleCnt="0">
        <dgm:presLayoutVars>
          <dgm:dir/>
          <dgm:resizeHandles val="exact"/>
        </dgm:presLayoutVars>
      </dgm:prSet>
      <dgm:spPr/>
    </dgm:pt>
    <dgm:pt modelId="{B7F318CE-19B5-4BE8-86E9-A577AD669EEB}" type="pres">
      <dgm:prSet presAssocID="{28085738-7E50-4B09-B936-1599E48D8B94}" presName="compNode" presStyleCnt="0"/>
      <dgm:spPr/>
    </dgm:pt>
    <dgm:pt modelId="{33F5295C-788A-4E67-BE84-72E7E7E1608B}" type="pres">
      <dgm:prSet presAssocID="{28085738-7E50-4B09-B936-1599E48D8B94}" presName="bgRect" presStyleLbl="bgShp" presStyleIdx="0" presStyleCnt="2"/>
      <dgm:spPr/>
    </dgm:pt>
    <dgm:pt modelId="{96C63B27-55CD-43F8-B813-A8A20F08CE44}" type="pres">
      <dgm:prSet presAssocID="{28085738-7E50-4B09-B936-1599E48D8B94}"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ar chart"/>
        </a:ext>
      </dgm:extLst>
    </dgm:pt>
    <dgm:pt modelId="{CDB380A9-30A8-4DC2-B6C0-05194550DE7D}" type="pres">
      <dgm:prSet presAssocID="{28085738-7E50-4B09-B936-1599E48D8B94}" presName="spaceRect" presStyleCnt="0"/>
      <dgm:spPr/>
    </dgm:pt>
    <dgm:pt modelId="{9BDEB6B6-1B75-47C7-82B7-CD6ADF985FE2}" type="pres">
      <dgm:prSet presAssocID="{28085738-7E50-4B09-B936-1599E48D8B94}" presName="parTx" presStyleLbl="revTx" presStyleIdx="0" presStyleCnt="2">
        <dgm:presLayoutVars>
          <dgm:chMax val="0"/>
          <dgm:chPref val="0"/>
        </dgm:presLayoutVars>
      </dgm:prSet>
      <dgm:spPr/>
    </dgm:pt>
    <dgm:pt modelId="{102E469B-EB7D-410E-9D64-DA1989C9C833}" type="pres">
      <dgm:prSet presAssocID="{A7926CB1-02E7-4393-8E7D-C20BDCAE8A40}" presName="sibTrans" presStyleCnt="0"/>
      <dgm:spPr/>
    </dgm:pt>
    <dgm:pt modelId="{1C5716BD-1BB2-474A-BC39-6FE909510AD3}" type="pres">
      <dgm:prSet presAssocID="{DD871246-2A5B-4308-AE70-6CE3D62B5786}" presName="compNode" presStyleCnt="0"/>
      <dgm:spPr/>
    </dgm:pt>
    <dgm:pt modelId="{F5FA12B7-7207-41D1-8B80-4A620D0AA0CB}" type="pres">
      <dgm:prSet presAssocID="{DD871246-2A5B-4308-AE70-6CE3D62B5786}" presName="bgRect" presStyleLbl="bgShp" presStyleIdx="1" presStyleCnt="2"/>
      <dgm:spPr/>
    </dgm:pt>
    <dgm:pt modelId="{E7CE0840-65CF-47FE-A821-E0C714CE08C1}" type="pres">
      <dgm:prSet presAssocID="{DD871246-2A5B-4308-AE70-6CE3D62B578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atistics"/>
        </a:ext>
      </dgm:extLst>
    </dgm:pt>
    <dgm:pt modelId="{D76F4AD7-2960-4C14-A8FB-986A98CFE82E}" type="pres">
      <dgm:prSet presAssocID="{DD871246-2A5B-4308-AE70-6CE3D62B5786}" presName="spaceRect" presStyleCnt="0"/>
      <dgm:spPr/>
    </dgm:pt>
    <dgm:pt modelId="{7A626C00-717F-4C2D-88F4-C1E7A9D584BE}" type="pres">
      <dgm:prSet presAssocID="{DD871246-2A5B-4308-AE70-6CE3D62B5786}" presName="parTx" presStyleLbl="revTx" presStyleIdx="1" presStyleCnt="2">
        <dgm:presLayoutVars>
          <dgm:chMax val="0"/>
          <dgm:chPref val="0"/>
        </dgm:presLayoutVars>
      </dgm:prSet>
      <dgm:spPr/>
    </dgm:pt>
  </dgm:ptLst>
  <dgm:cxnLst>
    <dgm:cxn modelId="{45CA8F02-019C-474D-843A-A18ADFC8C61E}" type="presOf" srcId="{28085738-7E50-4B09-B936-1599E48D8B94}" destId="{9BDEB6B6-1B75-47C7-82B7-CD6ADF985FE2}" srcOrd="0" destOrd="0" presId="urn:microsoft.com/office/officeart/2018/2/layout/IconVerticalSolidList"/>
    <dgm:cxn modelId="{1ED0E402-B229-41AE-A12D-3AB868DA6A0C}" type="presOf" srcId="{297741B5-01B7-46C8-850D-2A97493C41F5}" destId="{9AACB30C-4B8B-4E10-A064-3C30AE0227A5}" srcOrd="0" destOrd="0" presId="urn:microsoft.com/office/officeart/2018/2/layout/IconVerticalSolidList"/>
    <dgm:cxn modelId="{576B020D-9C04-40E7-A02D-60B4BB1D2DC2}" srcId="{297741B5-01B7-46C8-850D-2A97493C41F5}" destId="{28085738-7E50-4B09-B936-1599E48D8B94}" srcOrd="0" destOrd="0" parTransId="{5A54BD5A-88DA-466D-991C-4722A972C7CC}" sibTransId="{A7926CB1-02E7-4393-8E7D-C20BDCAE8A40}"/>
    <dgm:cxn modelId="{90DA4E12-900D-420D-950F-915EF8594E08}" type="presOf" srcId="{DD871246-2A5B-4308-AE70-6CE3D62B5786}" destId="{7A626C00-717F-4C2D-88F4-C1E7A9D584BE}" srcOrd="0" destOrd="0" presId="urn:microsoft.com/office/officeart/2018/2/layout/IconVerticalSolidList"/>
    <dgm:cxn modelId="{9AECEE45-9B7B-4E55-9B23-FA6850DFA1DC}" srcId="{297741B5-01B7-46C8-850D-2A97493C41F5}" destId="{DD871246-2A5B-4308-AE70-6CE3D62B5786}" srcOrd="1" destOrd="0" parTransId="{81A699B4-9C4A-4B6A-A383-2226B2AC6D22}" sibTransId="{841C5F00-E76C-428E-B507-9DCCA94C2D6C}"/>
    <dgm:cxn modelId="{82137263-55DD-432F-B649-F0727C8490B8}" type="presParOf" srcId="{9AACB30C-4B8B-4E10-A064-3C30AE0227A5}" destId="{B7F318CE-19B5-4BE8-86E9-A577AD669EEB}" srcOrd="0" destOrd="0" presId="urn:microsoft.com/office/officeart/2018/2/layout/IconVerticalSolidList"/>
    <dgm:cxn modelId="{81909E0A-43D1-40C0-B47B-B142C530A72E}" type="presParOf" srcId="{B7F318CE-19B5-4BE8-86E9-A577AD669EEB}" destId="{33F5295C-788A-4E67-BE84-72E7E7E1608B}" srcOrd="0" destOrd="0" presId="urn:microsoft.com/office/officeart/2018/2/layout/IconVerticalSolidList"/>
    <dgm:cxn modelId="{F503BA34-44C3-4D33-8A54-0F0292FBFB89}" type="presParOf" srcId="{B7F318CE-19B5-4BE8-86E9-A577AD669EEB}" destId="{96C63B27-55CD-43F8-B813-A8A20F08CE44}" srcOrd="1" destOrd="0" presId="urn:microsoft.com/office/officeart/2018/2/layout/IconVerticalSolidList"/>
    <dgm:cxn modelId="{0A551EF8-34D3-44B3-B64D-EB81E83CBFBD}" type="presParOf" srcId="{B7F318CE-19B5-4BE8-86E9-A577AD669EEB}" destId="{CDB380A9-30A8-4DC2-B6C0-05194550DE7D}" srcOrd="2" destOrd="0" presId="urn:microsoft.com/office/officeart/2018/2/layout/IconVerticalSolidList"/>
    <dgm:cxn modelId="{BF380CE1-8F20-442F-873D-9CDCAF608554}" type="presParOf" srcId="{B7F318CE-19B5-4BE8-86E9-A577AD669EEB}" destId="{9BDEB6B6-1B75-47C7-82B7-CD6ADF985FE2}" srcOrd="3" destOrd="0" presId="urn:microsoft.com/office/officeart/2018/2/layout/IconVerticalSolidList"/>
    <dgm:cxn modelId="{71F4CFF7-D10C-4AF7-98E1-08394DFE33A6}" type="presParOf" srcId="{9AACB30C-4B8B-4E10-A064-3C30AE0227A5}" destId="{102E469B-EB7D-410E-9D64-DA1989C9C833}" srcOrd="1" destOrd="0" presId="urn:microsoft.com/office/officeart/2018/2/layout/IconVerticalSolidList"/>
    <dgm:cxn modelId="{86BD2097-11DD-479B-88FB-BA74AFE98FB6}" type="presParOf" srcId="{9AACB30C-4B8B-4E10-A064-3C30AE0227A5}" destId="{1C5716BD-1BB2-474A-BC39-6FE909510AD3}" srcOrd="2" destOrd="0" presId="urn:microsoft.com/office/officeart/2018/2/layout/IconVerticalSolidList"/>
    <dgm:cxn modelId="{13E2664E-E25D-4D91-B7C3-E16AA0102F26}" type="presParOf" srcId="{1C5716BD-1BB2-474A-BC39-6FE909510AD3}" destId="{F5FA12B7-7207-41D1-8B80-4A620D0AA0CB}" srcOrd="0" destOrd="0" presId="urn:microsoft.com/office/officeart/2018/2/layout/IconVerticalSolidList"/>
    <dgm:cxn modelId="{547B7757-D608-4084-A4D0-155EEB1B3965}" type="presParOf" srcId="{1C5716BD-1BB2-474A-BC39-6FE909510AD3}" destId="{E7CE0840-65CF-47FE-A821-E0C714CE08C1}" srcOrd="1" destOrd="0" presId="urn:microsoft.com/office/officeart/2018/2/layout/IconVerticalSolidList"/>
    <dgm:cxn modelId="{8D4263A4-770E-4BE9-AD36-C019BE86F95D}" type="presParOf" srcId="{1C5716BD-1BB2-474A-BC39-6FE909510AD3}" destId="{D76F4AD7-2960-4C14-A8FB-986A98CFE82E}" srcOrd="2" destOrd="0" presId="urn:microsoft.com/office/officeart/2018/2/layout/IconVerticalSolidList"/>
    <dgm:cxn modelId="{0C82F978-0890-4C9D-81C3-065FC02D53D8}" type="presParOf" srcId="{1C5716BD-1BB2-474A-BC39-6FE909510AD3}" destId="{7A626C00-717F-4C2D-88F4-C1E7A9D584B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5FDFBF8-50DB-415D-B9BF-320D0644E5C8}"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A60AC16E-D2F6-4055-8B9B-570FC3600187}">
      <dgm:prSet/>
      <dgm:spPr/>
      <dgm:t>
        <a:bodyPr/>
        <a:lstStyle/>
        <a:p>
          <a:r>
            <a:rPr lang="en-US" b="0" i="0" baseline="0"/>
            <a:t>1.Glucose: The selection was made because blood glucose levels are a major sign of diabetes and are therefore highly useful in diabetes analysis and prediction. Glucose appears to fluctuate considerably throughout the dataset in the plot, and it may be correlated with other variables like age or BMI.</a:t>
          </a:r>
          <a:endParaRPr lang="en-US"/>
        </a:p>
      </dgm:t>
    </dgm:pt>
    <dgm:pt modelId="{E5FC3675-4647-4FA1-8763-FE35A07C2C9B}" type="parTrans" cxnId="{8DC17B22-A2B9-4813-B8EE-980B7CBCAD4B}">
      <dgm:prSet/>
      <dgm:spPr/>
      <dgm:t>
        <a:bodyPr/>
        <a:lstStyle/>
        <a:p>
          <a:endParaRPr lang="en-US"/>
        </a:p>
      </dgm:t>
    </dgm:pt>
    <dgm:pt modelId="{81180D30-D286-4D12-BA5E-AF8D6B238006}" type="sibTrans" cxnId="{8DC17B22-A2B9-4813-B8EE-980B7CBCAD4B}">
      <dgm:prSet/>
      <dgm:spPr/>
      <dgm:t>
        <a:bodyPr/>
        <a:lstStyle/>
        <a:p>
          <a:endParaRPr lang="en-US"/>
        </a:p>
      </dgm:t>
    </dgm:pt>
    <dgm:pt modelId="{00EC8E29-C5BA-458E-802B-F2F5CF138261}">
      <dgm:prSet/>
      <dgm:spPr/>
      <dgm:t>
        <a:bodyPr/>
        <a:lstStyle/>
        <a:p>
          <a:r>
            <a:rPr lang="en-US" b="0" i="0" baseline="0"/>
            <a:t>2. Age: Selection criteria: Age is a significant demographic component, and diabetes may be more common in older people. Age can be used to investigate correlations between BMI or glucose levels in various age groups in the scatter plot matrix.</a:t>
          </a:r>
          <a:endParaRPr lang="en-US"/>
        </a:p>
      </dgm:t>
    </dgm:pt>
    <dgm:pt modelId="{0577084E-6773-4010-80BB-83E77F05EA88}" type="parTrans" cxnId="{8CC9DE19-6F0C-4602-ADF8-7F0F34C75B42}">
      <dgm:prSet/>
      <dgm:spPr/>
      <dgm:t>
        <a:bodyPr/>
        <a:lstStyle/>
        <a:p>
          <a:endParaRPr lang="en-US"/>
        </a:p>
      </dgm:t>
    </dgm:pt>
    <dgm:pt modelId="{8FA10B16-A186-4FA9-816C-0418B9B982EF}" type="sibTrans" cxnId="{8CC9DE19-6F0C-4602-ADF8-7F0F34C75B42}">
      <dgm:prSet/>
      <dgm:spPr/>
      <dgm:t>
        <a:bodyPr/>
        <a:lstStyle/>
        <a:p>
          <a:endParaRPr lang="en-US"/>
        </a:p>
      </dgm:t>
    </dgm:pt>
    <dgm:pt modelId="{E7DB047F-7AEA-47AD-B6FB-C73CE0648C60}">
      <dgm:prSet/>
      <dgm:spPr/>
      <dgm:t>
        <a:bodyPr/>
        <a:lstStyle/>
        <a:p>
          <a:r>
            <a:rPr lang="en-US"/>
            <a:t>3. Body Mass Index (BMI): Selection rationale: Another important factor is BMI, since a high BMI is frequently linked to an increased risk of diabetes. This variable also has a variety of values, as the scatter plot demonstrates, which may be a sign of a link with insulin and glucose levels.</a:t>
          </a:r>
        </a:p>
      </dgm:t>
    </dgm:pt>
    <dgm:pt modelId="{900B7E61-080E-48D3-8ED8-B1D5F8767022}" type="parTrans" cxnId="{13C8DED6-6332-4430-989D-DC15E2586997}">
      <dgm:prSet/>
      <dgm:spPr/>
      <dgm:t>
        <a:bodyPr/>
        <a:lstStyle/>
        <a:p>
          <a:endParaRPr lang="en-US"/>
        </a:p>
      </dgm:t>
    </dgm:pt>
    <dgm:pt modelId="{A627A587-1A42-4301-8737-54637E24B2BD}" type="sibTrans" cxnId="{13C8DED6-6332-4430-989D-DC15E2586997}">
      <dgm:prSet/>
      <dgm:spPr/>
      <dgm:t>
        <a:bodyPr/>
        <a:lstStyle/>
        <a:p>
          <a:endParaRPr lang="en-US"/>
        </a:p>
      </dgm:t>
    </dgm:pt>
    <dgm:pt modelId="{FE674F67-509B-4B58-A436-B9BC3515A02D}" type="pres">
      <dgm:prSet presAssocID="{35FDFBF8-50DB-415D-B9BF-320D0644E5C8}" presName="root" presStyleCnt="0">
        <dgm:presLayoutVars>
          <dgm:dir/>
          <dgm:resizeHandles val="exact"/>
        </dgm:presLayoutVars>
      </dgm:prSet>
      <dgm:spPr/>
    </dgm:pt>
    <dgm:pt modelId="{C16514D2-F314-4561-BA7E-121FE4700D15}" type="pres">
      <dgm:prSet presAssocID="{A60AC16E-D2F6-4055-8B9B-570FC3600187}" presName="compNode" presStyleCnt="0"/>
      <dgm:spPr/>
    </dgm:pt>
    <dgm:pt modelId="{D0F8D1EB-33D5-4824-9BD9-8CDFCA8789D6}" type="pres">
      <dgm:prSet presAssocID="{A60AC16E-D2F6-4055-8B9B-570FC3600187}" presName="bgRect" presStyleLbl="bgShp" presStyleIdx="0" presStyleCnt="3"/>
      <dgm:spPr/>
    </dgm:pt>
    <dgm:pt modelId="{97253209-A20E-476C-8241-1DB30F393103}" type="pres">
      <dgm:prSet presAssocID="{A60AC16E-D2F6-4055-8B9B-570FC360018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eedle"/>
        </a:ext>
      </dgm:extLst>
    </dgm:pt>
    <dgm:pt modelId="{CB44AAD2-208C-4ADA-A534-AD7DB2606052}" type="pres">
      <dgm:prSet presAssocID="{A60AC16E-D2F6-4055-8B9B-570FC3600187}" presName="spaceRect" presStyleCnt="0"/>
      <dgm:spPr/>
    </dgm:pt>
    <dgm:pt modelId="{575C22B1-D4B2-4FBC-85DC-F0538646DA21}" type="pres">
      <dgm:prSet presAssocID="{A60AC16E-D2F6-4055-8B9B-570FC3600187}" presName="parTx" presStyleLbl="revTx" presStyleIdx="0" presStyleCnt="3">
        <dgm:presLayoutVars>
          <dgm:chMax val="0"/>
          <dgm:chPref val="0"/>
        </dgm:presLayoutVars>
      </dgm:prSet>
      <dgm:spPr/>
    </dgm:pt>
    <dgm:pt modelId="{55FA1DDA-5DE3-467B-8531-682C51B7205B}" type="pres">
      <dgm:prSet presAssocID="{81180D30-D286-4D12-BA5E-AF8D6B238006}" presName="sibTrans" presStyleCnt="0"/>
      <dgm:spPr/>
    </dgm:pt>
    <dgm:pt modelId="{EF64BEDD-9DB1-4572-AA33-4A5157341701}" type="pres">
      <dgm:prSet presAssocID="{00EC8E29-C5BA-458E-802B-F2F5CF138261}" presName="compNode" presStyleCnt="0"/>
      <dgm:spPr/>
    </dgm:pt>
    <dgm:pt modelId="{E6E87EA6-8A0D-4A87-A14F-C91C4C685502}" type="pres">
      <dgm:prSet presAssocID="{00EC8E29-C5BA-458E-802B-F2F5CF138261}" presName="bgRect" presStyleLbl="bgShp" presStyleIdx="1" presStyleCnt="3"/>
      <dgm:spPr/>
    </dgm:pt>
    <dgm:pt modelId="{1BE7AAC2-27E3-4D70-90B3-AD6EC268CEBC}" type="pres">
      <dgm:prSet presAssocID="{00EC8E29-C5BA-458E-802B-F2F5CF13826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Kidney"/>
        </a:ext>
      </dgm:extLst>
    </dgm:pt>
    <dgm:pt modelId="{2E805E40-B6D7-48A7-8228-5842D351B71C}" type="pres">
      <dgm:prSet presAssocID="{00EC8E29-C5BA-458E-802B-F2F5CF138261}" presName="spaceRect" presStyleCnt="0"/>
      <dgm:spPr/>
    </dgm:pt>
    <dgm:pt modelId="{30DB430E-6028-4668-B700-8C8D166247D9}" type="pres">
      <dgm:prSet presAssocID="{00EC8E29-C5BA-458E-802B-F2F5CF138261}" presName="parTx" presStyleLbl="revTx" presStyleIdx="1" presStyleCnt="3">
        <dgm:presLayoutVars>
          <dgm:chMax val="0"/>
          <dgm:chPref val="0"/>
        </dgm:presLayoutVars>
      </dgm:prSet>
      <dgm:spPr/>
    </dgm:pt>
    <dgm:pt modelId="{021E6523-E40C-42A7-B1D3-560FE8B85084}" type="pres">
      <dgm:prSet presAssocID="{8FA10B16-A186-4FA9-816C-0418B9B982EF}" presName="sibTrans" presStyleCnt="0"/>
      <dgm:spPr/>
    </dgm:pt>
    <dgm:pt modelId="{32879168-7397-4F92-8421-72C5FD3B4D0E}" type="pres">
      <dgm:prSet presAssocID="{E7DB047F-7AEA-47AD-B6FB-C73CE0648C60}" presName="compNode" presStyleCnt="0"/>
      <dgm:spPr/>
    </dgm:pt>
    <dgm:pt modelId="{2B7665D9-2318-4063-98C5-BF016792BE6B}" type="pres">
      <dgm:prSet presAssocID="{E7DB047F-7AEA-47AD-B6FB-C73CE0648C60}" presName="bgRect" presStyleLbl="bgShp" presStyleIdx="2" presStyleCnt="3"/>
      <dgm:spPr/>
    </dgm:pt>
    <dgm:pt modelId="{1CE4C398-ADE0-4171-9F86-89B3AFB7100F}" type="pres">
      <dgm:prSet presAssocID="{E7DB047F-7AEA-47AD-B6FB-C73CE0648C6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umbbell"/>
        </a:ext>
      </dgm:extLst>
    </dgm:pt>
    <dgm:pt modelId="{6C97A53E-58A5-4312-8593-8725D9D02A0D}" type="pres">
      <dgm:prSet presAssocID="{E7DB047F-7AEA-47AD-B6FB-C73CE0648C60}" presName="spaceRect" presStyleCnt="0"/>
      <dgm:spPr/>
    </dgm:pt>
    <dgm:pt modelId="{7F51F673-BB34-4391-85E7-C89FBDC37DC9}" type="pres">
      <dgm:prSet presAssocID="{E7DB047F-7AEA-47AD-B6FB-C73CE0648C60}" presName="parTx" presStyleLbl="revTx" presStyleIdx="2" presStyleCnt="3">
        <dgm:presLayoutVars>
          <dgm:chMax val="0"/>
          <dgm:chPref val="0"/>
        </dgm:presLayoutVars>
      </dgm:prSet>
      <dgm:spPr/>
    </dgm:pt>
  </dgm:ptLst>
  <dgm:cxnLst>
    <dgm:cxn modelId="{8CC9DE19-6F0C-4602-ADF8-7F0F34C75B42}" srcId="{35FDFBF8-50DB-415D-B9BF-320D0644E5C8}" destId="{00EC8E29-C5BA-458E-802B-F2F5CF138261}" srcOrd="1" destOrd="0" parTransId="{0577084E-6773-4010-80BB-83E77F05EA88}" sibTransId="{8FA10B16-A186-4FA9-816C-0418B9B982EF}"/>
    <dgm:cxn modelId="{8DC17B22-A2B9-4813-B8EE-980B7CBCAD4B}" srcId="{35FDFBF8-50DB-415D-B9BF-320D0644E5C8}" destId="{A60AC16E-D2F6-4055-8B9B-570FC3600187}" srcOrd="0" destOrd="0" parTransId="{E5FC3675-4647-4FA1-8763-FE35A07C2C9B}" sibTransId="{81180D30-D286-4D12-BA5E-AF8D6B238006}"/>
    <dgm:cxn modelId="{121B1531-5294-46A5-B1FB-3E3A04477E57}" type="presOf" srcId="{00EC8E29-C5BA-458E-802B-F2F5CF138261}" destId="{30DB430E-6028-4668-B700-8C8D166247D9}" srcOrd="0" destOrd="0" presId="urn:microsoft.com/office/officeart/2018/2/layout/IconVerticalSolidList"/>
    <dgm:cxn modelId="{A8C5DE6C-A043-4EA0-8E8C-2F10138A9F7B}" type="presOf" srcId="{E7DB047F-7AEA-47AD-B6FB-C73CE0648C60}" destId="{7F51F673-BB34-4391-85E7-C89FBDC37DC9}" srcOrd="0" destOrd="0" presId="urn:microsoft.com/office/officeart/2018/2/layout/IconVerticalSolidList"/>
    <dgm:cxn modelId="{654D49A8-1D4B-4F55-AED1-4A3FA261D15F}" type="presOf" srcId="{A60AC16E-D2F6-4055-8B9B-570FC3600187}" destId="{575C22B1-D4B2-4FBC-85DC-F0538646DA21}" srcOrd="0" destOrd="0" presId="urn:microsoft.com/office/officeart/2018/2/layout/IconVerticalSolidList"/>
    <dgm:cxn modelId="{13C8DED6-6332-4430-989D-DC15E2586997}" srcId="{35FDFBF8-50DB-415D-B9BF-320D0644E5C8}" destId="{E7DB047F-7AEA-47AD-B6FB-C73CE0648C60}" srcOrd="2" destOrd="0" parTransId="{900B7E61-080E-48D3-8ED8-B1D5F8767022}" sibTransId="{A627A587-1A42-4301-8737-54637E24B2BD}"/>
    <dgm:cxn modelId="{00BE94FF-D907-4AE3-A75C-B8F1675047F5}" type="presOf" srcId="{35FDFBF8-50DB-415D-B9BF-320D0644E5C8}" destId="{FE674F67-509B-4B58-A436-B9BC3515A02D}" srcOrd="0" destOrd="0" presId="urn:microsoft.com/office/officeart/2018/2/layout/IconVerticalSolidList"/>
    <dgm:cxn modelId="{9DE93FAC-303B-4285-BF12-F57F1724B5B5}" type="presParOf" srcId="{FE674F67-509B-4B58-A436-B9BC3515A02D}" destId="{C16514D2-F314-4561-BA7E-121FE4700D15}" srcOrd="0" destOrd="0" presId="urn:microsoft.com/office/officeart/2018/2/layout/IconVerticalSolidList"/>
    <dgm:cxn modelId="{5098C518-ADA7-48AC-99C2-1B02C998ADA9}" type="presParOf" srcId="{C16514D2-F314-4561-BA7E-121FE4700D15}" destId="{D0F8D1EB-33D5-4824-9BD9-8CDFCA8789D6}" srcOrd="0" destOrd="0" presId="urn:microsoft.com/office/officeart/2018/2/layout/IconVerticalSolidList"/>
    <dgm:cxn modelId="{C7C49949-7B94-42C9-84F6-751D0131861F}" type="presParOf" srcId="{C16514D2-F314-4561-BA7E-121FE4700D15}" destId="{97253209-A20E-476C-8241-1DB30F393103}" srcOrd="1" destOrd="0" presId="urn:microsoft.com/office/officeart/2018/2/layout/IconVerticalSolidList"/>
    <dgm:cxn modelId="{78232DAE-A780-4892-8285-11484E2E11E0}" type="presParOf" srcId="{C16514D2-F314-4561-BA7E-121FE4700D15}" destId="{CB44AAD2-208C-4ADA-A534-AD7DB2606052}" srcOrd="2" destOrd="0" presId="urn:microsoft.com/office/officeart/2018/2/layout/IconVerticalSolidList"/>
    <dgm:cxn modelId="{316C1F03-364E-42BF-9627-B030565882EB}" type="presParOf" srcId="{C16514D2-F314-4561-BA7E-121FE4700D15}" destId="{575C22B1-D4B2-4FBC-85DC-F0538646DA21}" srcOrd="3" destOrd="0" presId="urn:microsoft.com/office/officeart/2018/2/layout/IconVerticalSolidList"/>
    <dgm:cxn modelId="{098B986D-3399-4DD7-909B-DD52034C70AD}" type="presParOf" srcId="{FE674F67-509B-4B58-A436-B9BC3515A02D}" destId="{55FA1DDA-5DE3-467B-8531-682C51B7205B}" srcOrd="1" destOrd="0" presId="urn:microsoft.com/office/officeart/2018/2/layout/IconVerticalSolidList"/>
    <dgm:cxn modelId="{E20AC945-A104-4542-B8C4-73982920E164}" type="presParOf" srcId="{FE674F67-509B-4B58-A436-B9BC3515A02D}" destId="{EF64BEDD-9DB1-4572-AA33-4A5157341701}" srcOrd="2" destOrd="0" presId="urn:microsoft.com/office/officeart/2018/2/layout/IconVerticalSolidList"/>
    <dgm:cxn modelId="{00BFB65A-8A43-4315-8D01-D1AF5293DF95}" type="presParOf" srcId="{EF64BEDD-9DB1-4572-AA33-4A5157341701}" destId="{E6E87EA6-8A0D-4A87-A14F-C91C4C685502}" srcOrd="0" destOrd="0" presId="urn:microsoft.com/office/officeart/2018/2/layout/IconVerticalSolidList"/>
    <dgm:cxn modelId="{313C8DBD-A139-4273-B9F4-5BAA436EF410}" type="presParOf" srcId="{EF64BEDD-9DB1-4572-AA33-4A5157341701}" destId="{1BE7AAC2-27E3-4D70-90B3-AD6EC268CEBC}" srcOrd="1" destOrd="0" presId="urn:microsoft.com/office/officeart/2018/2/layout/IconVerticalSolidList"/>
    <dgm:cxn modelId="{F32B9B2A-9A19-40A1-8ACE-332D84552D10}" type="presParOf" srcId="{EF64BEDD-9DB1-4572-AA33-4A5157341701}" destId="{2E805E40-B6D7-48A7-8228-5842D351B71C}" srcOrd="2" destOrd="0" presId="urn:microsoft.com/office/officeart/2018/2/layout/IconVerticalSolidList"/>
    <dgm:cxn modelId="{ED0E1BDB-FE23-4191-A857-554A89293514}" type="presParOf" srcId="{EF64BEDD-9DB1-4572-AA33-4A5157341701}" destId="{30DB430E-6028-4668-B700-8C8D166247D9}" srcOrd="3" destOrd="0" presId="urn:microsoft.com/office/officeart/2018/2/layout/IconVerticalSolidList"/>
    <dgm:cxn modelId="{61C140DE-E2D4-4065-81CC-11468C44ADC0}" type="presParOf" srcId="{FE674F67-509B-4B58-A436-B9BC3515A02D}" destId="{021E6523-E40C-42A7-B1D3-560FE8B85084}" srcOrd="3" destOrd="0" presId="urn:microsoft.com/office/officeart/2018/2/layout/IconVerticalSolidList"/>
    <dgm:cxn modelId="{E9E5CD86-953D-4293-B103-C488CD332C93}" type="presParOf" srcId="{FE674F67-509B-4B58-A436-B9BC3515A02D}" destId="{32879168-7397-4F92-8421-72C5FD3B4D0E}" srcOrd="4" destOrd="0" presId="urn:microsoft.com/office/officeart/2018/2/layout/IconVerticalSolidList"/>
    <dgm:cxn modelId="{0BF74946-8A4A-406E-8765-62885BF796E2}" type="presParOf" srcId="{32879168-7397-4F92-8421-72C5FD3B4D0E}" destId="{2B7665D9-2318-4063-98C5-BF016792BE6B}" srcOrd="0" destOrd="0" presId="urn:microsoft.com/office/officeart/2018/2/layout/IconVerticalSolidList"/>
    <dgm:cxn modelId="{1CEA789F-C2C6-4A36-9FA1-009AA6FC32B3}" type="presParOf" srcId="{32879168-7397-4F92-8421-72C5FD3B4D0E}" destId="{1CE4C398-ADE0-4171-9F86-89B3AFB7100F}" srcOrd="1" destOrd="0" presId="urn:microsoft.com/office/officeart/2018/2/layout/IconVerticalSolidList"/>
    <dgm:cxn modelId="{5D722958-34B5-4C0A-A56A-FDBD8C987405}" type="presParOf" srcId="{32879168-7397-4F92-8421-72C5FD3B4D0E}" destId="{6C97A53E-58A5-4312-8593-8725D9D02A0D}" srcOrd="2" destOrd="0" presId="urn:microsoft.com/office/officeart/2018/2/layout/IconVerticalSolidList"/>
    <dgm:cxn modelId="{755DABEB-506E-411F-A20B-9B2C30116AFA}" type="presParOf" srcId="{32879168-7397-4F92-8421-72C5FD3B4D0E}" destId="{7F51F673-BB34-4391-85E7-C89FBDC37DC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64EF2B7-9B63-4E3F-85DC-30C97B41384F}"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3DF09CE9-7CF3-4A75-9E1C-6025F2A246CD}">
      <dgm:prSet/>
      <dgm:spPr/>
      <dgm:t>
        <a:bodyPr/>
        <a:lstStyle/>
        <a:p>
          <a:r>
            <a:rPr lang="en-US" b="0" i="0" baseline="0"/>
            <a:t>Medical Significance: It is established that the three characteristics that were chosen—BMI, age, and glucose—have an impact on the chance of developing diabetes.</a:t>
          </a:r>
          <a:endParaRPr lang="en-US"/>
        </a:p>
      </dgm:t>
    </dgm:pt>
    <dgm:pt modelId="{9722B152-6D2D-4642-8AEB-F48C90511782}" type="parTrans" cxnId="{71C68EF0-B5A9-49AA-89F8-0251F09160B0}">
      <dgm:prSet/>
      <dgm:spPr/>
      <dgm:t>
        <a:bodyPr/>
        <a:lstStyle/>
        <a:p>
          <a:endParaRPr lang="en-US"/>
        </a:p>
      </dgm:t>
    </dgm:pt>
    <dgm:pt modelId="{9B61FD2E-45F1-42E2-8259-430C093142E0}" type="sibTrans" cxnId="{71C68EF0-B5A9-49AA-89F8-0251F09160B0}">
      <dgm:prSet/>
      <dgm:spPr/>
      <dgm:t>
        <a:bodyPr/>
        <a:lstStyle/>
        <a:p>
          <a:endParaRPr lang="en-US"/>
        </a:p>
      </dgm:t>
    </dgm:pt>
    <dgm:pt modelId="{7BC4C72C-8361-41CB-B281-B5681A9C7F60}">
      <dgm:prSet/>
      <dgm:spPr/>
      <dgm:t>
        <a:bodyPr/>
        <a:lstStyle/>
        <a:p>
          <a:r>
            <a:rPr lang="en-US" b="0" i="0" baseline="0"/>
            <a:t>Predictive Power: These variables exhibit variability based on pair plots, and they may have predictive power in the process of developing a machine learning model.</a:t>
          </a:r>
          <a:endParaRPr lang="en-US"/>
        </a:p>
      </dgm:t>
    </dgm:pt>
    <dgm:pt modelId="{A2EE0807-2E57-4C69-89B4-87760E73B3DB}" type="parTrans" cxnId="{1E5122AF-FA8C-4F4F-834A-203F89755FCC}">
      <dgm:prSet/>
      <dgm:spPr/>
      <dgm:t>
        <a:bodyPr/>
        <a:lstStyle/>
        <a:p>
          <a:endParaRPr lang="en-US"/>
        </a:p>
      </dgm:t>
    </dgm:pt>
    <dgm:pt modelId="{8E6EE150-4BDE-4467-BFAF-B370D8394F22}" type="sibTrans" cxnId="{1E5122AF-FA8C-4F4F-834A-203F89755FCC}">
      <dgm:prSet/>
      <dgm:spPr/>
      <dgm:t>
        <a:bodyPr/>
        <a:lstStyle/>
        <a:p>
          <a:endParaRPr lang="en-US"/>
        </a:p>
      </dgm:t>
    </dgm:pt>
    <dgm:pt modelId="{EB9810FF-CA0E-4B82-B29B-344DB321ABA9}">
      <dgm:prSet/>
      <dgm:spPr/>
      <dgm:t>
        <a:bodyPr/>
        <a:lstStyle/>
        <a:p>
          <a:r>
            <a:rPr lang="en-US" b="0" i="0" baseline="0"/>
            <a:t>Potential Relationships: It is helpful to conduct additional research as the scatter plot matrix indicates that there may be connections between glucose and both age and body mass index.</a:t>
          </a:r>
          <a:endParaRPr lang="en-US"/>
        </a:p>
      </dgm:t>
    </dgm:pt>
    <dgm:pt modelId="{2AE9DA97-9C81-43F2-956B-8B1858DF533E}" type="parTrans" cxnId="{9D56AB18-35B7-4080-88E5-C9D9F6EED681}">
      <dgm:prSet/>
      <dgm:spPr/>
      <dgm:t>
        <a:bodyPr/>
        <a:lstStyle/>
        <a:p>
          <a:endParaRPr lang="en-US"/>
        </a:p>
      </dgm:t>
    </dgm:pt>
    <dgm:pt modelId="{79BAC045-9A71-4312-BB4C-1A6A67126B5B}" type="sibTrans" cxnId="{9D56AB18-35B7-4080-88E5-C9D9F6EED681}">
      <dgm:prSet/>
      <dgm:spPr/>
      <dgm:t>
        <a:bodyPr/>
        <a:lstStyle/>
        <a:p>
          <a:endParaRPr lang="en-US"/>
        </a:p>
      </dgm:t>
    </dgm:pt>
    <dgm:pt modelId="{B97C0EBC-CD5E-4265-AD87-DD63549A7E0F}">
      <dgm:prSet/>
      <dgm:spPr/>
      <dgm:t>
        <a:bodyPr/>
        <a:lstStyle/>
        <a:p>
          <a:r>
            <a:rPr lang="en-US"/>
            <a:t>Pregnancies, Glucose, skin thickness,BMI,Insulin,Blood pressure ,Diabetes pedigree function, Age ,Diagnosis are features selected for the scatter plot.</a:t>
          </a:r>
        </a:p>
      </dgm:t>
    </dgm:pt>
    <dgm:pt modelId="{B259FF1F-02E2-486B-81B5-2A83148A39E1}" type="parTrans" cxnId="{58A32658-A307-49D4-9727-EF1E60434EFC}">
      <dgm:prSet/>
      <dgm:spPr/>
      <dgm:t>
        <a:bodyPr/>
        <a:lstStyle/>
        <a:p>
          <a:endParaRPr lang="en-US"/>
        </a:p>
      </dgm:t>
    </dgm:pt>
    <dgm:pt modelId="{3014E233-618A-478F-8508-A0CA57A2C417}" type="sibTrans" cxnId="{58A32658-A307-49D4-9727-EF1E60434EFC}">
      <dgm:prSet/>
      <dgm:spPr/>
      <dgm:t>
        <a:bodyPr/>
        <a:lstStyle/>
        <a:p>
          <a:endParaRPr lang="en-US"/>
        </a:p>
      </dgm:t>
    </dgm:pt>
    <dgm:pt modelId="{4E079A1F-B41D-4A9D-86A4-EAA54117421E}">
      <dgm:prSet/>
      <dgm:spPr/>
      <dgm:t>
        <a:bodyPr/>
        <a:lstStyle/>
        <a:p>
          <a:r>
            <a:rPr lang="en-US"/>
            <a:t>From a medical and statistical standpoint, these characteristics are essential to comprehending diabetes. The scatter plot facilitates the identification of patterns, relationships, and trends associated with diabetes by incorporating a broad variety of physiological (e.g., glucose, BMI), demographic (e.g., age, pregnancies), and genetic (e.g., diabetes pedigree function) variables.</a:t>
          </a:r>
        </a:p>
      </dgm:t>
    </dgm:pt>
    <dgm:pt modelId="{FEF4AE42-A304-4BC6-9B8D-EDCB4216992D}" type="parTrans" cxnId="{776080B2-92FE-48BA-8856-6F4A645C17F4}">
      <dgm:prSet/>
      <dgm:spPr/>
      <dgm:t>
        <a:bodyPr/>
        <a:lstStyle/>
        <a:p>
          <a:endParaRPr lang="en-US"/>
        </a:p>
      </dgm:t>
    </dgm:pt>
    <dgm:pt modelId="{BD68B517-8CA5-483A-AE63-2C6640EE62FB}" type="sibTrans" cxnId="{776080B2-92FE-48BA-8856-6F4A645C17F4}">
      <dgm:prSet/>
      <dgm:spPr/>
      <dgm:t>
        <a:bodyPr/>
        <a:lstStyle/>
        <a:p>
          <a:endParaRPr lang="en-US"/>
        </a:p>
      </dgm:t>
    </dgm:pt>
    <dgm:pt modelId="{47A3DCA6-B051-40E2-907A-9B35D1593DB6}" type="pres">
      <dgm:prSet presAssocID="{264EF2B7-9B63-4E3F-85DC-30C97B41384F}" presName="root" presStyleCnt="0">
        <dgm:presLayoutVars>
          <dgm:dir/>
          <dgm:resizeHandles val="exact"/>
        </dgm:presLayoutVars>
      </dgm:prSet>
      <dgm:spPr/>
    </dgm:pt>
    <dgm:pt modelId="{95FEE4B9-B7A1-4435-8E9D-9D6865C94970}" type="pres">
      <dgm:prSet presAssocID="{264EF2B7-9B63-4E3F-85DC-30C97B41384F}" presName="container" presStyleCnt="0">
        <dgm:presLayoutVars>
          <dgm:dir/>
          <dgm:resizeHandles val="exact"/>
        </dgm:presLayoutVars>
      </dgm:prSet>
      <dgm:spPr/>
    </dgm:pt>
    <dgm:pt modelId="{D4349EC8-3460-4F63-B11E-322F06FB1ABD}" type="pres">
      <dgm:prSet presAssocID="{3DF09CE9-7CF3-4A75-9E1C-6025F2A246CD}" presName="compNode" presStyleCnt="0"/>
      <dgm:spPr/>
    </dgm:pt>
    <dgm:pt modelId="{3DC721F6-AE35-46A1-B620-1FBF8A995C43}" type="pres">
      <dgm:prSet presAssocID="{3DF09CE9-7CF3-4A75-9E1C-6025F2A246CD}" presName="iconBgRect" presStyleLbl="bgShp" presStyleIdx="0" presStyleCnt="5"/>
      <dgm:spPr/>
    </dgm:pt>
    <dgm:pt modelId="{FFFEDA8D-F52E-4541-A66A-C17353329CB3}" type="pres">
      <dgm:prSet presAssocID="{3DF09CE9-7CF3-4A75-9E1C-6025F2A246CD}"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ethoscope"/>
        </a:ext>
      </dgm:extLst>
    </dgm:pt>
    <dgm:pt modelId="{2EB6F0F5-2EE0-4694-A2F9-637ED2752152}" type="pres">
      <dgm:prSet presAssocID="{3DF09CE9-7CF3-4A75-9E1C-6025F2A246CD}" presName="spaceRect" presStyleCnt="0"/>
      <dgm:spPr/>
    </dgm:pt>
    <dgm:pt modelId="{69A9F098-EE30-404D-9299-B3A2C8BF6B6E}" type="pres">
      <dgm:prSet presAssocID="{3DF09CE9-7CF3-4A75-9E1C-6025F2A246CD}" presName="textRect" presStyleLbl="revTx" presStyleIdx="0" presStyleCnt="5">
        <dgm:presLayoutVars>
          <dgm:chMax val="1"/>
          <dgm:chPref val="1"/>
        </dgm:presLayoutVars>
      </dgm:prSet>
      <dgm:spPr/>
    </dgm:pt>
    <dgm:pt modelId="{4ED03D05-B260-4C78-B828-DA88E7185EAE}" type="pres">
      <dgm:prSet presAssocID="{9B61FD2E-45F1-42E2-8259-430C093142E0}" presName="sibTrans" presStyleLbl="sibTrans2D1" presStyleIdx="0" presStyleCnt="0"/>
      <dgm:spPr/>
    </dgm:pt>
    <dgm:pt modelId="{344AA7E7-8258-4486-9739-64FB39C8C01D}" type="pres">
      <dgm:prSet presAssocID="{7BC4C72C-8361-41CB-B281-B5681A9C7F60}" presName="compNode" presStyleCnt="0"/>
      <dgm:spPr/>
    </dgm:pt>
    <dgm:pt modelId="{19AD44FB-9AF1-4E51-8286-BD61B28A978B}" type="pres">
      <dgm:prSet presAssocID="{7BC4C72C-8361-41CB-B281-B5681A9C7F60}" presName="iconBgRect" presStyleLbl="bgShp" presStyleIdx="1" presStyleCnt="5"/>
      <dgm:spPr/>
    </dgm:pt>
    <dgm:pt modelId="{D3484EE0-D54C-48AC-B8FF-DDCB7D330842}" type="pres">
      <dgm:prSet presAssocID="{7BC4C72C-8361-41CB-B281-B5681A9C7F60}"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8BCEFD47-D405-4546-8A69-ACEF254F0324}" type="pres">
      <dgm:prSet presAssocID="{7BC4C72C-8361-41CB-B281-B5681A9C7F60}" presName="spaceRect" presStyleCnt="0"/>
      <dgm:spPr/>
    </dgm:pt>
    <dgm:pt modelId="{F62054F9-53A1-4256-898F-07A6ED8764AE}" type="pres">
      <dgm:prSet presAssocID="{7BC4C72C-8361-41CB-B281-B5681A9C7F60}" presName="textRect" presStyleLbl="revTx" presStyleIdx="1" presStyleCnt="5">
        <dgm:presLayoutVars>
          <dgm:chMax val="1"/>
          <dgm:chPref val="1"/>
        </dgm:presLayoutVars>
      </dgm:prSet>
      <dgm:spPr/>
    </dgm:pt>
    <dgm:pt modelId="{45471920-C35C-4E7A-8E6E-AFE48C5C09F5}" type="pres">
      <dgm:prSet presAssocID="{8E6EE150-4BDE-4467-BFAF-B370D8394F22}" presName="sibTrans" presStyleLbl="sibTrans2D1" presStyleIdx="0" presStyleCnt="0"/>
      <dgm:spPr/>
    </dgm:pt>
    <dgm:pt modelId="{A2636D8F-222D-4B8E-ADD7-C62C4D5AB4C3}" type="pres">
      <dgm:prSet presAssocID="{EB9810FF-CA0E-4B82-B29B-344DB321ABA9}" presName="compNode" presStyleCnt="0"/>
      <dgm:spPr/>
    </dgm:pt>
    <dgm:pt modelId="{089592BB-80EB-4207-AE02-E4D623D7FF53}" type="pres">
      <dgm:prSet presAssocID="{EB9810FF-CA0E-4B82-B29B-344DB321ABA9}" presName="iconBgRect" presStyleLbl="bgShp" presStyleIdx="2" presStyleCnt="5"/>
      <dgm:spPr/>
    </dgm:pt>
    <dgm:pt modelId="{4801ABE2-C129-4BDA-A765-65B4D37B20C8}" type="pres">
      <dgm:prSet presAssocID="{EB9810FF-CA0E-4B82-B29B-344DB321ABA9}"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at"/>
        </a:ext>
      </dgm:extLst>
    </dgm:pt>
    <dgm:pt modelId="{C2DF49BB-0495-4C24-959B-AFF9F43E7F74}" type="pres">
      <dgm:prSet presAssocID="{EB9810FF-CA0E-4B82-B29B-344DB321ABA9}" presName="spaceRect" presStyleCnt="0"/>
      <dgm:spPr/>
    </dgm:pt>
    <dgm:pt modelId="{76F04E9F-F693-4499-8262-9DA4E04EB0F0}" type="pres">
      <dgm:prSet presAssocID="{EB9810FF-CA0E-4B82-B29B-344DB321ABA9}" presName="textRect" presStyleLbl="revTx" presStyleIdx="2" presStyleCnt="5">
        <dgm:presLayoutVars>
          <dgm:chMax val="1"/>
          <dgm:chPref val="1"/>
        </dgm:presLayoutVars>
      </dgm:prSet>
      <dgm:spPr/>
    </dgm:pt>
    <dgm:pt modelId="{A23469C9-073D-4050-B2C2-02CEAD464F3D}" type="pres">
      <dgm:prSet presAssocID="{79BAC045-9A71-4312-BB4C-1A6A67126B5B}" presName="sibTrans" presStyleLbl="sibTrans2D1" presStyleIdx="0" presStyleCnt="0"/>
      <dgm:spPr/>
    </dgm:pt>
    <dgm:pt modelId="{718D98C8-BF56-49CC-AA2C-E0EC2340A740}" type="pres">
      <dgm:prSet presAssocID="{B97C0EBC-CD5E-4265-AD87-DD63549A7E0F}" presName="compNode" presStyleCnt="0"/>
      <dgm:spPr/>
    </dgm:pt>
    <dgm:pt modelId="{B10F7FE3-A41F-4DDD-A194-E4B52855BC28}" type="pres">
      <dgm:prSet presAssocID="{B97C0EBC-CD5E-4265-AD87-DD63549A7E0F}" presName="iconBgRect" presStyleLbl="bgShp" presStyleIdx="3" presStyleCnt="5"/>
      <dgm:spPr/>
    </dgm:pt>
    <dgm:pt modelId="{B379364F-2AFC-4B28-938C-D9C14E41F7B8}" type="pres">
      <dgm:prSet presAssocID="{B97C0EBC-CD5E-4265-AD87-DD63549A7E0F}"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Kidney"/>
        </a:ext>
      </dgm:extLst>
    </dgm:pt>
    <dgm:pt modelId="{6F6C515B-D562-4AE0-AA3E-672E2BB7D730}" type="pres">
      <dgm:prSet presAssocID="{B97C0EBC-CD5E-4265-AD87-DD63549A7E0F}" presName="spaceRect" presStyleCnt="0"/>
      <dgm:spPr/>
    </dgm:pt>
    <dgm:pt modelId="{C2966543-7DBF-4E26-A477-800589E16664}" type="pres">
      <dgm:prSet presAssocID="{B97C0EBC-CD5E-4265-AD87-DD63549A7E0F}" presName="textRect" presStyleLbl="revTx" presStyleIdx="3" presStyleCnt="5">
        <dgm:presLayoutVars>
          <dgm:chMax val="1"/>
          <dgm:chPref val="1"/>
        </dgm:presLayoutVars>
      </dgm:prSet>
      <dgm:spPr/>
    </dgm:pt>
    <dgm:pt modelId="{EDF206F9-6A7D-4E76-B448-C18673CEE938}" type="pres">
      <dgm:prSet presAssocID="{3014E233-618A-478F-8508-A0CA57A2C417}" presName="sibTrans" presStyleLbl="sibTrans2D1" presStyleIdx="0" presStyleCnt="0"/>
      <dgm:spPr/>
    </dgm:pt>
    <dgm:pt modelId="{CD970F44-238C-4449-9C67-100035AB3CA6}" type="pres">
      <dgm:prSet presAssocID="{4E079A1F-B41D-4A9D-86A4-EAA54117421E}" presName="compNode" presStyleCnt="0"/>
      <dgm:spPr/>
    </dgm:pt>
    <dgm:pt modelId="{8FBFCCA6-6396-4C2E-AD59-0B3D5AFF0C2D}" type="pres">
      <dgm:prSet presAssocID="{4E079A1F-B41D-4A9D-86A4-EAA54117421E}" presName="iconBgRect" presStyleLbl="bgShp" presStyleIdx="4" presStyleCnt="5"/>
      <dgm:spPr/>
    </dgm:pt>
    <dgm:pt modelId="{AEF77C89-B52A-4CC9-A62F-0624966827C4}" type="pres">
      <dgm:prSet presAssocID="{4E079A1F-B41D-4A9D-86A4-EAA54117421E}"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octor"/>
        </a:ext>
      </dgm:extLst>
    </dgm:pt>
    <dgm:pt modelId="{E4D9EE8D-9065-4D14-82FF-DBB532BCEAA4}" type="pres">
      <dgm:prSet presAssocID="{4E079A1F-B41D-4A9D-86A4-EAA54117421E}" presName="spaceRect" presStyleCnt="0"/>
      <dgm:spPr/>
    </dgm:pt>
    <dgm:pt modelId="{3062C100-B4FA-4363-B475-5395E73BE52C}" type="pres">
      <dgm:prSet presAssocID="{4E079A1F-B41D-4A9D-86A4-EAA54117421E}" presName="textRect" presStyleLbl="revTx" presStyleIdx="4" presStyleCnt="5">
        <dgm:presLayoutVars>
          <dgm:chMax val="1"/>
          <dgm:chPref val="1"/>
        </dgm:presLayoutVars>
      </dgm:prSet>
      <dgm:spPr/>
    </dgm:pt>
  </dgm:ptLst>
  <dgm:cxnLst>
    <dgm:cxn modelId="{15321C0D-3462-46D6-A4D8-65C4154F9C89}" type="presOf" srcId="{8E6EE150-4BDE-4467-BFAF-B370D8394F22}" destId="{45471920-C35C-4E7A-8E6E-AFE48C5C09F5}" srcOrd="0" destOrd="0" presId="urn:microsoft.com/office/officeart/2018/2/layout/IconCircleList"/>
    <dgm:cxn modelId="{9D680018-0764-4537-B915-A66F430C5BB3}" type="presOf" srcId="{B97C0EBC-CD5E-4265-AD87-DD63549A7E0F}" destId="{C2966543-7DBF-4E26-A477-800589E16664}" srcOrd="0" destOrd="0" presId="urn:microsoft.com/office/officeart/2018/2/layout/IconCircleList"/>
    <dgm:cxn modelId="{9D56AB18-35B7-4080-88E5-C9D9F6EED681}" srcId="{264EF2B7-9B63-4E3F-85DC-30C97B41384F}" destId="{EB9810FF-CA0E-4B82-B29B-344DB321ABA9}" srcOrd="2" destOrd="0" parTransId="{2AE9DA97-9C81-43F2-956B-8B1858DF533E}" sibTransId="{79BAC045-9A71-4312-BB4C-1A6A67126B5B}"/>
    <dgm:cxn modelId="{A6539640-FE10-4DB8-9F74-531F49F423CC}" type="presOf" srcId="{EB9810FF-CA0E-4B82-B29B-344DB321ABA9}" destId="{76F04E9F-F693-4499-8262-9DA4E04EB0F0}" srcOrd="0" destOrd="0" presId="urn:microsoft.com/office/officeart/2018/2/layout/IconCircleList"/>
    <dgm:cxn modelId="{CB48B05E-1182-479D-9BB7-15E35971CA2A}" type="presOf" srcId="{9B61FD2E-45F1-42E2-8259-430C093142E0}" destId="{4ED03D05-B260-4C78-B828-DA88E7185EAE}" srcOrd="0" destOrd="0" presId="urn:microsoft.com/office/officeart/2018/2/layout/IconCircleList"/>
    <dgm:cxn modelId="{843AEA6A-0305-4D26-96BB-51AA181B97E9}" type="presOf" srcId="{264EF2B7-9B63-4E3F-85DC-30C97B41384F}" destId="{47A3DCA6-B051-40E2-907A-9B35D1593DB6}" srcOrd="0" destOrd="0" presId="urn:microsoft.com/office/officeart/2018/2/layout/IconCircleList"/>
    <dgm:cxn modelId="{B41C8971-FBCD-47F9-9765-02196761FE9A}" type="presOf" srcId="{3DF09CE9-7CF3-4A75-9E1C-6025F2A246CD}" destId="{69A9F098-EE30-404D-9299-B3A2C8BF6B6E}" srcOrd="0" destOrd="0" presId="urn:microsoft.com/office/officeart/2018/2/layout/IconCircleList"/>
    <dgm:cxn modelId="{58A32658-A307-49D4-9727-EF1E60434EFC}" srcId="{264EF2B7-9B63-4E3F-85DC-30C97B41384F}" destId="{B97C0EBC-CD5E-4265-AD87-DD63549A7E0F}" srcOrd="3" destOrd="0" parTransId="{B259FF1F-02E2-486B-81B5-2A83148A39E1}" sibTransId="{3014E233-618A-478F-8508-A0CA57A2C417}"/>
    <dgm:cxn modelId="{9C97F581-7095-41E6-997B-77974F5FD904}" type="presOf" srcId="{3014E233-618A-478F-8508-A0CA57A2C417}" destId="{EDF206F9-6A7D-4E76-B448-C18673CEE938}" srcOrd="0" destOrd="0" presId="urn:microsoft.com/office/officeart/2018/2/layout/IconCircleList"/>
    <dgm:cxn modelId="{143701A2-BBF4-4809-8841-73A2927CE9E5}" type="presOf" srcId="{7BC4C72C-8361-41CB-B281-B5681A9C7F60}" destId="{F62054F9-53A1-4256-898F-07A6ED8764AE}" srcOrd="0" destOrd="0" presId="urn:microsoft.com/office/officeart/2018/2/layout/IconCircleList"/>
    <dgm:cxn modelId="{1E5122AF-FA8C-4F4F-834A-203F89755FCC}" srcId="{264EF2B7-9B63-4E3F-85DC-30C97B41384F}" destId="{7BC4C72C-8361-41CB-B281-B5681A9C7F60}" srcOrd="1" destOrd="0" parTransId="{A2EE0807-2E57-4C69-89B4-87760E73B3DB}" sibTransId="{8E6EE150-4BDE-4467-BFAF-B370D8394F22}"/>
    <dgm:cxn modelId="{776080B2-92FE-48BA-8856-6F4A645C17F4}" srcId="{264EF2B7-9B63-4E3F-85DC-30C97B41384F}" destId="{4E079A1F-B41D-4A9D-86A4-EAA54117421E}" srcOrd="4" destOrd="0" parTransId="{FEF4AE42-A304-4BC6-9B8D-EDCB4216992D}" sibTransId="{BD68B517-8CA5-483A-AE63-2C6640EE62FB}"/>
    <dgm:cxn modelId="{94ED1ACF-02C3-47CA-8E97-F6A5EC1D65F9}" type="presOf" srcId="{4E079A1F-B41D-4A9D-86A4-EAA54117421E}" destId="{3062C100-B4FA-4363-B475-5395E73BE52C}" srcOrd="0" destOrd="0" presId="urn:microsoft.com/office/officeart/2018/2/layout/IconCircleList"/>
    <dgm:cxn modelId="{54073BDC-819C-497E-9E11-6CA26A8D285B}" type="presOf" srcId="{79BAC045-9A71-4312-BB4C-1A6A67126B5B}" destId="{A23469C9-073D-4050-B2C2-02CEAD464F3D}" srcOrd="0" destOrd="0" presId="urn:microsoft.com/office/officeart/2018/2/layout/IconCircleList"/>
    <dgm:cxn modelId="{71C68EF0-B5A9-49AA-89F8-0251F09160B0}" srcId="{264EF2B7-9B63-4E3F-85DC-30C97B41384F}" destId="{3DF09CE9-7CF3-4A75-9E1C-6025F2A246CD}" srcOrd="0" destOrd="0" parTransId="{9722B152-6D2D-4642-8AEB-F48C90511782}" sibTransId="{9B61FD2E-45F1-42E2-8259-430C093142E0}"/>
    <dgm:cxn modelId="{289E0607-7975-4D81-9902-C1A0196125DF}" type="presParOf" srcId="{47A3DCA6-B051-40E2-907A-9B35D1593DB6}" destId="{95FEE4B9-B7A1-4435-8E9D-9D6865C94970}" srcOrd="0" destOrd="0" presId="urn:microsoft.com/office/officeart/2018/2/layout/IconCircleList"/>
    <dgm:cxn modelId="{25E5136F-075B-4A9C-B7DD-234463AD8E53}" type="presParOf" srcId="{95FEE4B9-B7A1-4435-8E9D-9D6865C94970}" destId="{D4349EC8-3460-4F63-B11E-322F06FB1ABD}" srcOrd="0" destOrd="0" presId="urn:microsoft.com/office/officeart/2018/2/layout/IconCircleList"/>
    <dgm:cxn modelId="{3177BA74-9AFE-4A28-A446-39352AB1DAB8}" type="presParOf" srcId="{D4349EC8-3460-4F63-B11E-322F06FB1ABD}" destId="{3DC721F6-AE35-46A1-B620-1FBF8A995C43}" srcOrd="0" destOrd="0" presId="urn:microsoft.com/office/officeart/2018/2/layout/IconCircleList"/>
    <dgm:cxn modelId="{4CF8C651-DA6A-4DEC-AD20-FDC39AB1F6BC}" type="presParOf" srcId="{D4349EC8-3460-4F63-B11E-322F06FB1ABD}" destId="{FFFEDA8D-F52E-4541-A66A-C17353329CB3}" srcOrd="1" destOrd="0" presId="urn:microsoft.com/office/officeart/2018/2/layout/IconCircleList"/>
    <dgm:cxn modelId="{5E13AAAE-05C8-44C2-9725-B9CD640159B9}" type="presParOf" srcId="{D4349EC8-3460-4F63-B11E-322F06FB1ABD}" destId="{2EB6F0F5-2EE0-4694-A2F9-637ED2752152}" srcOrd="2" destOrd="0" presId="urn:microsoft.com/office/officeart/2018/2/layout/IconCircleList"/>
    <dgm:cxn modelId="{21D40632-2125-4179-892A-214B386280C8}" type="presParOf" srcId="{D4349EC8-3460-4F63-B11E-322F06FB1ABD}" destId="{69A9F098-EE30-404D-9299-B3A2C8BF6B6E}" srcOrd="3" destOrd="0" presId="urn:microsoft.com/office/officeart/2018/2/layout/IconCircleList"/>
    <dgm:cxn modelId="{B2EF02C9-3CE3-4579-B167-DB191C688343}" type="presParOf" srcId="{95FEE4B9-B7A1-4435-8E9D-9D6865C94970}" destId="{4ED03D05-B260-4C78-B828-DA88E7185EAE}" srcOrd="1" destOrd="0" presId="urn:microsoft.com/office/officeart/2018/2/layout/IconCircleList"/>
    <dgm:cxn modelId="{4E806A27-3CDA-4BBE-97F3-7C0F20965572}" type="presParOf" srcId="{95FEE4B9-B7A1-4435-8E9D-9D6865C94970}" destId="{344AA7E7-8258-4486-9739-64FB39C8C01D}" srcOrd="2" destOrd="0" presId="urn:microsoft.com/office/officeart/2018/2/layout/IconCircleList"/>
    <dgm:cxn modelId="{6FA8D21D-F810-4C12-BEA5-084BC63C1EBE}" type="presParOf" srcId="{344AA7E7-8258-4486-9739-64FB39C8C01D}" destId="{19AD44FB-9AF1-4E51-8286-BD61B28A978B}" srcOrd="0" destOrd="0" presId="urn:microsoft.com/office/officeart/2018/2/layout/IconCircleList"/>
    <dgm:cxn modelId="{0CE85024-023C-426C-9C49-866B07791A4D}" type="presParOf" srcId="{344AA7E7-8258-4486-9739-64FB39C8C01D}" destId="{D3484EE0-D54C-48AC-B8FF-DDCB7D330842}" srcOrd="1" destOrd="0" presId="urn:microsoft.com/office/officeart/2018/2/layout/IconCircleList"/>
    <dgm:cxn modelId="{A1BA3868-1DCC-4084-8FDF-00AACD5FFC5E}" type="presParOf" srcId="{344AA7E7-8258-4486-9739-64FB39C8C01D}" destId="{8BCEFD47-D405-4546-8A69-ACEF254F0324}" srcOrd="2" destOrd="0" presId="urn:microsoft.com/office/officeart/2018/2/layout/IconCircleList"/>
    <dgm:cxn modelId="{4EF611B8-B793-47E0-90D0-4E83EE2D5E68}" type="presParOf" srcId="{344AA7E7-8258-4486-9739-64FB39C8C01D}" destId="{F62054F9-53A1-4256-898F-07A6ED8764AE}" srcOrd="3" destOrd="0" presId="urn:microsoft.com/office/officeart/2018/2/layout/IconCircleList"/>
    <dgm:cxn modelId="{16ACC8A3-5781-4EC1-B97B-203E59AFEF24}" type="presParOf" srcId="{95FEE4B9-B7A1-4435-8E9D-9D6865C94970}" destId="{45471920-C35C-4E7A-8E6E-AFE48C5C09F5}" srcOrd="3" destOrd="0" presId="urn:microsoft.com/office/officeart/2018/2/layout/IconCircleList"/>
    <dgm:cxn modelId="{E0C109CC-6D13-49D4-9527-F53406459796}" type="presParOf" srcId="{95FEE4B9-B7A1-4435-8E9D-9D6865C94970}" destId="{A2636D8F-222D-4B8E-ADD7-C62C4D5AB4C3}" srcOrd="4" destOrd="0" presId="urn:microsoft.com/office/officeart/2018/2/layout/IconCircleList"/>
    <dgm:cxn modelId="{4AF1E980-60F1-4520-8DC3-E6183E32DD4F}" type="presParOf" srcId="{A2636D8F-222D-4B8E-ADD7-C62C4D5AB4C3}" destId="{089592BB-80EB-4207-AE02-E4D623D7FF53}" srcOrd="0" destOrd="0" presId="urn:microsoft.com/office/officeart/2018/2/layout/IconCircleList"/>
    <dgm:cxn modelId="{D8BE8D14-1F80-4D81-86B7-22FCB067CF5C}" type="presParOf" srcId="{A2636D8F-222D-4B8E-ADD7-C62C4D5AB4C3}" destId="{4801ABE2-C129-4BDA-A765-65B4D37B20C8}" srcOrd="1" destOrd="0" presId="urn:microsoft.com/office/officeart/2018/2/layout/IconCircleList"/>
    <dgm:cxn modelId="{35AAE9ED-FB6F-4099-91B8-27A39AD7ADE8}" type="presParOf" srcId="{A2636D8F-222D-4B8E-ADD7-C62C4D5AB4C3}" destId="{C2DF49BB-0495-4C24-959B-AFF9F43E7F74}" srcOrd="2" destOrd="0" presId="urn:microsoft.com/office/officeart/2018/2/layout/IconCircleList"/>
    <dgm:cxn modelId="{8BBD6734-4C06-49C4-AC99-6C0FEFBCAD18}" type="presParOf" srcId="{A2636D8F-222D-4B8E-ADD7-C62C4D5AB4C3}" destId="{76F04E9F-F693-4499-8262-9DA4E04EB0F0}" srcOrd="3" destOrd="0" presId="urn:microsoft.com/office/officeart/2018/2/layout/IconCircleList"/>
    <dgm:cxn modelId="{CA1C05C0-F0EC-400D-BD54-BF2070C80F3D}" type="presParOf" srcId="{95FEE4B9-B7A1-4435-8E9D-9D6865C94970}" destId="{A23469C9-073D-4050-B2C2-02CEAD464F3D}" srcOrd="5" destOrd="0" presId="urn:microsoft.com/office/officeart/2018/2/layout/IconCircleList"/>
    <dgm:cxn modelId="{DDCB546D-4D77-4176-92BB-96AABAB74477}" type="presParOf" srcId="{95FEE4B9-B7A1-4435-8E9D-9D6865C94970}" destId="{718D98C8-BF56-49CC-AA2C-E0EC2340A740}" srcOrd="6" destOrd="0" presId="urn:microsoft.com/office/officeart/2018/2/layout/IconCircleList"/>
    <dgm:cxn modelId="{E5ECFCB0-6784-42FD-A19F-DB004BF3149E}" type="presParOf" srcId="{718D98C8-BF56-49CC-AA2C-E0EC2340A740}" destId="{B10F7FE3-A41F-4DDD-A194-E4B52855BC28}" srcOrd="0" destOrd="0" presId="urn:microsoft.com/office/officeart/2018/2/layout/IconCircleList"/>
    <dgm:cxn modelId="{8C61FE85-A161-49AA-8020-F928EE95DCDF}" type="presParOf" srcId="{718D98C8-BF56-49CC-AA2C-E0EC2340A740}" destId="{B379364F-2AFC-4B28-938C-D9C14E41F7B8}" srcOrd="1" destOrd="0" presId="urn:microsoft.com/office/officeart/2018/2/layout/IconCircleList"/>
    <dgm:cxn modelId="{28EA8A6F-FA55-4B6B-974B-917C26F0B45E}" type="presParOf" srcId="{718D98C8-BF56-49CC-AA2C-E0EC2340A740}" destId="{6F6C515B-D562-4AE0-AA3E-672E2BB7D730}" srcOrd="2" destOrd="0" presId="urn:microsoft.com/office/officeart/2018/2/layout/IconCircleList"/>
    <dgm:cxn modelId="{1ED18865-6034-4BD5-A29B-3ADEDAE73729}" type="presParOf" srcId="{718D98C8-BF56-49CC-AA2C-E0EC2340A740}" destId="{C2966543-7DBF-4E26-A477-800589E16664}" srcOrd="3" destOrd="0" presId="urn:microsoft.com/office/officeart/2018/2/layout/IconCircleList"/>
    <dgm:cxn modelId="{7E0AF443-04B4-46BB-90C8-1A61B4722016}" type="presParOf" srcId="{95FEE4B9-B7A1-4435-8E9D-9D6865C94970}" destId="{EDF206F9-6A7D-4E76-B448-C18673CEE938}" srcOrd="7" destOrd="0" presId="urn:microsoft.com/office/officeart/2018/2/layout/IconCircleList"/>
    <dgm:cxn modelId="{9FD17734-BB96-4447-8871-FB654B6DB528}" type="presParOf" srcId="{95FEE4B9-B7A1-4435-8E9D-9D6865C94970}" destId="{CD970F44-238C-4449-9C67-100035AB3CA6}" srcOrd="8" destOrd="0" presId="urn:microsoft.com/office/officeart/2018/2/layout/IconCircleList"/>
    <dgm:cxn modelId="{B7A794C9-EF0A-45EF-A167-5DA4B02B7446}" type="presParOf" srcId="{CD970F44-238C-4449-9C67-100035AB3CA6}" destId="{8FBFCCA6-6396-4C2E-AD59-0B3D5AFF0C2D}" srcOrd="0" destOrd="0" presId="urn:microsoft.com/office/officeart/2018/2/layout/IconCircleList"/>
    <dgm:cxn modelId="{9E6FEB2E-6E46-4F3D-B5ED-2F006B909F32}" type="presParOf" srcId="{CD970F44-238C-4449-9C67-100035AB3CA6}" destId="{AEF77C89-B52A-4CC9-A62F-0624966827C4}" srcOrd="1" destOrd="0" presId="urn:microsoft.com/office/officeart/2018/2/layout/IconCircleList"/>
    <dgm:cxn modelId="{18F7B0EC-BCDE-4587-964A-FCBDEE26323C}" type="presParOf" srcId="{CD970F44-238C-4449-9C67-100035AB3CA6}" destId="{E4D9EE8D-9065-4D14-82FF-DBB532BCEAA4}" srcOrd="2" destOrd="0" presId="urn:microsoft.com/office/officeart/2018/2/layout/IconCircleList"/>
    <dgm:cxn modelId="{77182161-D56C-4D94-8008-3A7D21C8AFED}" type="presParOf" srcId="{CD970F44-238C-4449-9C67-100035AB3CA6}" destId="{3062C100-B4FA-4363-B475-5395E73BE52C}"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FFBC13C-E6E7-475E-B04D-3360813D9C5A}"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DCE43EF0-1A19-47DF-9F0E-A1C7B43923EF}">
      <dgm:prSet/>
      <dgm:spPr/>
      <dgm:t>
        <a:bodyPr/>
        <a:lstStyle/>
        <a:p>
          <a:pPr algn="just">
            <a:lnSpc>
              <a:spcPct val="100000"/>
            </a:lnSpc>
            <a:defRPr cap="all"/>
          </a:pPr>
          <a:r>
            <a:rPr lang="en-US" b="1" dirty="0"/>
            <a:t>Since our issue is to predict a binary result (whether or not someone has diabetes, denoted as 0 or 1 in the Diagnosis column), logistic regression is being used instead of linear regression.</a:t>
          </a:r>
        </a:p>
      </dgm:t>
    </dgm:pt>
    <dgm:pt modelId="{F67DDB5E-A94C-450A-BBD5-105EB167F226}" type="parTrans" cxnId="{5FAAF6F6-1CF1-495D-A319-FCCE9EEB34B5}">
      <dgm:prSet/>
      <dgm:spPr/>
      <dgm:t>
        <a:bodyPr/>
        <a:lstStyle/>
        <a:p>
          <a:endParaRPr lang="en-US"/>
        </a:p>
      </dgm:t>
    </dgm:pt>
    <dgm:pt modelId="{6BCCE9BA-5597-4203-8681-BE02A6794F55}" type="sibTrans" cxnId="{5FAAF6F6-1CF1-495D-A319-FCCE9EEB34B5}">
      <dgm:prSet/>
      <dgm:spPr/>
      <dgm:t>
        <a:bodyPr/>
        <a:lstStyle/>
        <a:p>
          <a:endParaRPr lang="en-US"/>
        </a:p>
      </dgm:t>
    </dgm:pt>
    <dgm:pt modelId="{3204624B-3891-443A-A8D7-1AED678F2213}">
      <dgm:prSet custT="1"/>
      <dgm:spPr/>
      <dgm:t>
        <a:bodyPr/>
        <a:lstStyle/>
        <a:p>
          <a:pPr algn="just">
            <a:lnSpc>
              <a:spcPct val="100000"/>
            </a:lnSpc>
            <a:defRPr cap="all"/>
          </a:pPr>
          <a:r>
            <a:rPr lang="en-US" sz="1200" b="1" dirty="0"/>
            <a:t>For a binary classification problem such as this one, linear regression is not appropriate since it predicts continuous numerical values. In contrast, logistic regression is specifically meant for jobs involving classification. It makes a prediction about the likelihood of an event (in this case, the likelihood of acquiring diabetes) and then divides the outcome into two groups (0 and 1).</a:t>
          </a:r>
        </a:p>
      </dgm:t>
    </dgm:pt>
    <dgm:pt modelId="{0B6EFC78-6DF6-4742-8ADF-0459404723CC}" type="parTrans" cxnId="{F0DBA52E-4312-4A31-963D-386A75A09916}">
      <dgm:prSet/>
      <dgm:spPr/>
      <dgm:t>
        <a:bodyPr/>
        <a:lstStyle/>
        <a:p>
          <a:endParaRPr lang="en-US"/>
        </a:p>
      </dgm:t>
    </dgm:pt>
    <dgm:pt modelId="{F12448DB-6762-4FF1-94CF-531FB2BB6928}" type="sibTrans" cxnId="{F0DBA52E-4312-4A31-963D-386A75A09916}">
      <dgm:prSet/>
      <dgm:spPr/>
      <dgm:t>
        <a:bodyPr/>
        <a:lstStyle/>
        <a:p>
          <a:endParaRPr lang="en-US"/>
        </a:p>
      </dgm:t>
    </dgm:pt>
    <dgm:pt modelId="{FD625B44-80F9-482F-9579-83083C534D81}" type="pres">
      <dgm:prSet presAssocID="{0FFBC13C-E6E7-475E-B04D-3360813D9C5A}" presName="root" presStyleCnt="0">
        <dgm:presLayoutVars>
          <dgm:dir/>
          <dgm:resizeHandles val="exact"/>
        </dgm:presLayoutVars>
      </dgm:prSet>
      <dgm:spPr/>
    </dgm:pt>
    <dgm:pt modelId="{D10CCEED-B16E-48CE-8D32-4761A3F9334A}" type="pres">
      <dgm:prSet presAssocID="{DCE43EF0-1A19-47DF-9F0E-A1C7B43923EF}" presName="compNode" presStyleCnt="0"/>
      <dgm:spPr/>
    </dgm:pt>
    <dgm:pt modelId="{B55D9364-8CB7-4752-804B-C721F984C97C}" type="pres">
      <dgm:prSet presAssocID="{DCE43EF0-1A19-47DF-9F0E-A1C7B43923EF}" presName="iconBgRect" presStyleLbl="bgShp" presStyleIdx="0" presStyleCnt="2"/>
      <dgm:spPr/>
    </dgm:pt>
    <dgm:pt modelId="{B6982658-C1A7-438E-8DC7-E41BF36315EC}" type="pres">
      <dgm:prSet presAssocID="{DCE43EF0-1A19-47DF-9F0E-A1C7B43923EF}" presName="iconRect" presStyleLbl="node1" presStyleIdx="0" presStyleCnt="2" custFlipVert="1" custScaleY="78252"/>
      <dgm:spPr>
        <a:blipFill>
          <a:blip xmlns:r="http://schemas.openxmlformats.org/officeDocument/2006/relationships" r:embed="rId1">
            <a:extLst>
              <a:ext uri="{96DAC541-7B7A-43D3-8B79-37D633B846F1}">
                <asvg:svgBlip xmlns:asvg="http://schemas.microsoft.com/office/drawing/2016/SVG/main" r:embed="rId2"/>
              </a:ext>
            </a:extLst>
          </a:blip>
          <a:srcRect/>
          <a:stretch>
            <a:fillRect t="-50000" b="-50000"/>
          </a:stretch>
        </a:blipFill>
      </dgm:spPr>
      <dgm:extLst>
        <a:ext uri="{E40237B7-FDA0-4F09-8148-C483321AD2D9}">
          <dgm14:cNvPr xmlns:dgm14="http://schemas.microsoft.com/office/drawing/2010/diagram" id="0" name="" descr="Clock with solid fill"/>
        </a:ext>
      </dgm:extLst>
    </dgm:pt>
    <dgm:pt modelId="{F744A64E-1959-4D53-A096-C917D160B942}" type="pres">
      <dgm:prSet presAssocID="{DCE43EF0-1A19-47DF-9F0E-A1C7B43923EF}" presName="spaceRect" presStyleCnt="0"/>
      <dgm:spPr/>
    </dgm:pt>
    <dgm:pt modelId="{5A671084-63C8-46AD-B523-675A4A8D737D}" type="pres">
      <dgm:prSet presAssocID="{DCE43EF0-1A19-47DF-9F0E-A1C7B43923EF}" presName="textRect" presStyleLbl="revTx" presStyleIdx="0" presStyleCnt="2">
        <dgm:presLayoutVars>
          <dgm:chMax val="1"/>
          <dgm:chPref val="1"/>
        </dgm:presLayoutVars>
      </dgm:prSet>
      <dgm:spPr/>
    </dgm:pt>
    <dgm:pt modelId="{D45C6923-ED41-4034-B3DE-B9B8C6C71136}" type="pres">
      <dgm:prSet presAssocID="{6BCCE9BA-5597-4203-8681-BE02A6794F55}" presName="sibTrans" presStyleCnt="0"/>
      <dgm:spPr/>
    </dgm:pt>
    <dgm:pt modelId="{4DDE3722-3B2F-4C8B-AD08-3A77AB224917}" type="pres">
      <dgm:prSet presAssocID="{3204624B-3891-443A-A8D7-1AED678F2213}" presName="compNode" presStyleCnt="0"/>
      <dgm:spPr/>
    </dgm:pt>
    <dgm:pt modelId="{65F42CFA-EA7A-4149-8667-EEDB5B67AA26}" type="pres">
      <dgm:prSet presAssocID="{3204624B-3891-443A-A8D7-1AED678F2213}" presName="iconBgRect" presStyleLbl="bgShp" presStyleIdx="1" presStyleCnt="2"/>
      <dgm:spPr/>
    </dgm:pt>
    <dgm:pt modelId="{FF6A1B23-6AB2-4AC5-BD0D-D49FB9115165}" type="pres">
      <dgm:prSet presAssocID="{3204624B-3891-443A-A8D7-1AED678F221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aze"/>
        </a:ext>
      </dgm:extLst>
    </dgm:pt>
    <dgm:pt modelId="{151E790A-FA25-4928-8445-F4CBEC1B0D59}" type="pres">
      <dgm:prSet presAssocID="{3204624B-3891-443A-A8D7-1AED678F2213}" presName="spaceRect" presStyleCnt="0"/>
      <dgm:spPr/>
    </dgm:pt>
    <dgm:pt modelId="{E72C6E83-1B80-4161-926F-EEF2C96EEF6B}" type="pres">
      <dgm:prSet presAssocID="{3204624B-3891-443A-A8D7-1AED678F2213}" presName="textRect" presStyleLbl="revTx" presStyleIdx="1" presStyleCnt="2" custScaleX="110542">
        <dgm:presLayoutVars>
          <dgm:chMax val="1"/>
          <dgm:chPref val="1"/>
        </dgm:presLayoutVars>
      </dgm:prSet>
      <dgm:spPr/>
    </dgm:pt>
  </dgm:ptLst>
  <dgm:cxnLst>
    <dgm:cxn modelId="{60B3B917-799A-4B21-BBBE-C6A5EA36C33D}" type="presOf" srcId="{DCE43EF0-1A19-47DF-9F0E-A1C7B43923EF}" destId="{5A671084-63C8-46AD-B523-675A4A8D737D}" srcOrd="0" destOrd="0" presId="urn:microsoft.com/office/officeart/2018/5/layout/IconCircleLabelList"/>
    <dgm:cxn modelId="{9D1F882A-801B-402A-B313-000F12DC47DD}" type="presOf" srcId="{0FFBC13C-E6E7-475E-B04D-3360813D9C5A}" destId="{FD625B44-80F9-482F-9579-83083C534D81}" srcOrd="0" destOrd="0" presId="urn:microsoft.com/office/officeart/2018/5/layout/IconCircleLabelList"/>
    <dgm:cxn modelId="{F0DBA52E-4312-4A31-963D-386A75A09916}" srcId="{0FFBC13C-E6E7-475E-B04D-3360813D9C5A}" destId="{3204624B-3891-443A-A8D7-1AED678F2213}" srcOrd="1" destOrd="0" parTransId="{0B6EFC78-6DF6-4742-8ADF-0459404723CC}" sibTransId="{F12448DB-6762-4FF1-94CF-531FB2BB6928}"/>
    <dgm:cxn modelId="{7FB94041-ADB6-490A-9C55-9E859468D26F}" type="presOf" srcId="{3204624B-3891-443A-A8D7-1AED678F2213}" destId="{E72C6E83-1B80-4161-926F-EEF2C96EEF6B}" srcOrd="0" destOrd="0" presId="urn:microsoft.com/office/officeart/2018/5/layout/IconCircleLabelList"/>
    <dgm:cxn modelId="{5FAAF6F6-1CF1-495D-A319-FCCE9EEB34B5}" srcId="{0FFBC13C-E6E7-475E-B04D-3360813D9C5A}" destId="{DCE43EF0-1A19-47DF-9F0E-A1C7B43923EF}" srcOrd="0" destOrd="0" parTransId="{F67DDB5E-A94C-450A-BBD5-105EB167F226}" sibTransId="{6BCCE9BA-5597-4203-8681-BE02A6794F55}"/>
    <dgm:cxn modelId="{A1E7F0B2-8380-4EE4-AAE6-FF12B304A18A}" type="presParOf" srcId="{FD625B44-80F9-482F-9579-83083C534D81}" destId="{D10CCEED-B16E-48CE-8D32-4761A3F9334A}" srcOrd="0" destOrd="0" presId="urn:microsoft.com/office/officeart/2018/5/layout/IconCircleLabelList"/>
    <dgm:cxn modelId="{BCCA2279-37E1-45E7-8F90-A787B7F1CC6D}" type="presParOf" srcId="{D10CCEED-B16E-48CE-8D32-4761A3F9334A}" destId="{B55D9364-8CB7-4752-804B-C721F984C97C}" srcOrd="0" destOrd="0" presId="urn:microsoft.com/office/officeart/2018/5/layout/IconCircleLabelList"/>
    <dgm:cxn modelId="{70984E95-2D59-43D8-9EB2-B849E50B1E27}" type="presParOf" srcId="{D10CCEED-B16E-48CE-8D32-4761A3F9334A}" destId="{B6982658-C1A7-438E-8DC7-E41BF36315EC}" srcOrd="1" destOrd="0" presId="urn:microsoft.com/office/officeart/2018/5/layout/IconCircleLabelList"/>
    <dgm:cxn modelId="{372F37FF-06B6-43D0-AA5F-9BD1E66BB55B}" type="presParOf" srcId="{D10CCEED-B16E-48CE-8D32-4761A3F9334A}" destId="{F744A64E-1959-4D53-A096-C917D160B942}" srcOrd="2" destOrd="0" presId="urn:microsoft.com/office/officeart/2018/5/layout/IconCircleLabelList"/>
    <dgm:cxn modelId="{31A0F5CB-E462-45CC-8AEE-05DE7C78249D}" type="presParOf" srcId="{D10CCEED-B16E-48CE-8D32-4761A3F9334A}" destId="{5A671084-63C8-46AD-B523-675A4A8D737D}" srcOrd="3" destOrd="0" presId="urn:microsoft.com/office/officeart/2018/5/layout/IconCircleLabelList"/>
    <dgm:cxn modelId="{4EBD867A-A005-4C35-8D26-7FC3CA90D435}" type="presParOf" srcId="{FD625B44-80F9-482F-9579-83083C534D81}" destId="{D45C6923-ED41-4034-B3DE-B9B8C6C71136}" srcOrd="1" destOrd="0" presId="urn:microsoft.com/office/officeart/2018/5/layout/IconCircleLabelList"/>
    <dgm:cxn modelId="{2286AEFA-5B08-4B9F-B33F-68FBB01322CB}" type="presParOf" srcId="{FD625B44-80F9-482F-9579-83083C534D81}" destId="{4DDE3722-3B2F-4C8B-AD08-3A77AB224917}" srcOrd="2" destOrd="0" presId="urn:microsoft.com/office/officeart/2018/5/layout/IconCircleLabelList"/>
    <dgm:cxn modelId="{ECDA364F-329C-4176-B966-0C42AEAD4F64}" type="presParOf" srcId="{4DDE3722-3B2F-4C8B-AD08-3A77AB224917}" destId="{65F42CFA-EA7A-4149-8667-EEDB5B67AA26}" srcOrd="0" destOrd="0" presId="urn:microsoft.com/office/officeart/2018/5/layout/IconCircleLabelList"/>
    <dgm:cxn modelId="{C7987FDE-B70E-4795-9BE5-2280C6F9D39A}" type="presParOf" srcId="{4DDE3722-3B2F-4C8B-AD08-3A77AB224917}" destId="{FF6A1B23-6AB2-4AC5-BD0D-D49FB9115165}" srcOrd="1" destOrd="0" presId="urn:microsoft.com/office/officeart/2018/5/layout/IconCircleLabelList"/>
    <dgm:cxn modelId="{2901E961-9C83-4195-9987-4A6E3BA4B677}" type="presParOf" srcId="{4DDE3722-3B2F-4C8B-AD08-3A77AB224917}" destId="{151E790A-FA25-4928-8445-F4CBEC1B0D59}" srcOrd="2" destOrd="0" presId="urn:microsoft.com/office/officeart/2018/5/layout/IconCircleLabelList"/>
    <dgm:cxn modelId="{25BAEAFC-D098-4F76-8761-3C1BD3628534}" type="presParOf" srcId="{4DDE3722-3B2F-4C8B-AD08-3A77AB224917}" destId="{E72C6E83-1B80-4161-926F-EEF2C96EEF6B}"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7B863BE-BFB0-4187-A5EA-DFD31AAD53A2}"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01076FF4-F63F-4E26-A617-32459D8015E0}">
      <dgm:prSet/>
      <dgm:spPr/>
      <dgm:t>
        <a:bodyPr/>
        <a:lstStyle/>
        <a:p>
          <a:r>
            <a:rPr lang="en-US"/>
            <a:t>KNN achieved 62.00% accuracy, or 62 out of 100 predictions.</a:t>
          </a:r>
        </a:p>
      </dgm:t>
    </dgm:pt>
    <dgm:pt modelId="{A92E1A05-F4FB-4E4A-8CB9-009679A46CD6}" type="parTrans" cxnId="{0D4D8930-BCF1-40AA-882A-D61CA3C3C096}">
      <dgm:prSet/>
      <dgm:spPr/>
      <dgm:t>
        <a:bodyPr/>
        <a:lstStyle/>
        <a:p>
          <a:endParaRPr lang="en-US"/>
        </a:p>
      </dgm:t>
    </dgm:pt>
    <dgm:pt modelId="{FE4B601B-7C81-4E90-B372-E57DE7E5BEFB}" type="sibTrans" cxnId="{0D4D8930-BCF1-40AA-882A-D61CA3C3C096}">
      <dgm:prSet/>
      <dgm:spPr/>
      <dgm:t>
        <a:bodyPr/>
        <a:lstStyle/>
        <a:p>
          <a:endParaRPr lang="en-US"/>
        </a:p>
      </dgm:t>
    </dgm:pt>
    <dgm:pt modelId="{60B1E561-B5C3-461E-89F4-2240A65E6925}">
      <dgm:prSet/>
      <dgm:spPr/>
      <dgm:t>
        <a:bodyPr/>
        <a:lstStyle/>
        <a:p>
          <a:r>
            <a:rPr lang="en-US"/>
            <a:t>69.33% of the predictions made by Naive Bayes were accurate out of 100.</a:t>
          </a:r>
        </a:p>
      </dgm:t>
    </dgm:pt>
    <dgm:pt modelId="{843784BB-1798-4BEB-AD99-DCAB19AD30D6}" type="parTrans" cxnId="{5F1CE5D2-96D6-47C4-93EE-24354FF13EF6}">
      <dgm:prSet/>
      <dgm:spPr/>
      <dgm:t>
        <a:bodyPr/>
        <a:lstStyle/>
        <a:p>
          <a:endParaRPr lang="en-US"/>
        </a:p>
      </dgm:t>
    </dgm:pt>
    <dgm:pt modelId="{210F5CD2-7ED0-49D4-A5DA-5A49DBA03A2A}" type="sibTrans" cxnId="{5F1CE5D2-96D6-47C4-93EE-24354FF13EF6}">
      <dgm:prSet/>
      <dgm:spPr/>
      <dgm:t>
        <a:bodyPr/>
        <a:lstStyle/>
        <a:p>
          <a:endParaRPr lang="en-US"/>
        </a:p>
      </dgm:t>
    </dgm:pt>
    <dgm:pt modelId="{179A8ED2-1426-46DD-9538-223FEEC0798B}" type="pres">
      <dgm:prSet presAssocID="{37B863BE-BFB0-4187-A5EA-DFD31AAD53A2}" presName="linear" presStyleCnt="0">
        <dgm:presLayoutVars>
          <dgm:animLvl val="lvl"/>
          <dgm:resizeHandles val="exact"/>
        </dgm:presLayoutVars>
      </dgm:prSet>
      <dgm:spPr/>
    </dgm:pt>
    <dgm:pt modelId="{7881807E-4F0F-4064-B890-D5A6C4F9E628}" type="pres">
      <dgm:prSet presAssocID="{01076FF4-F63F-4E26-A617-32459D8015E0}" presName="parentText" presStyleLbl="node1" presStyleIdx="0" presStyleCnt="2">
        <dgm:presLayoutVars>
          <dgm:chMax val="0"/>
          <dgm:bulletEnabled val="1"/>
        </dgm:presLayoutVars>
      </dgm:prSet>
      <dgm:spPr/>
    </dgm:pt>
    <dgm:pt modelId="{95A2B308-D539-4B14-A5AB-27B17D30E0B2}" type="pres">
      <dgm:prSet presAssocID="{FE4B601B-7C81-4E90-B372-E57DE7E5BEFB}" presName="spacer" presStyleCnt="0"/>
      <dgm:spPr/>
    </dgm:pt>
    <dgm:pt modelId="{79A1C6E2-5612-45AB-8E90-F6661CD1CE6B}" type="pres">
      <dgm:prSet presAssocID="{60B1E561-B5C3-461E-89F4-2240A65E6925}" presName="parentText" presStyleLbl="node1" presStyleIdx="1" presStyleCnt="2">
        <dgm:presLayoutVars>
          <dgm:chMax val="0"/>
          <dgm:bulletEnabled val="1"/>
        </dgm:presLayoutVars>
      </dgm:prSet>
      <dgm:spPr/>
    </dgm:pt>
  </dgm:ptLst>
  <dgm:cxnLst>
    <dgm:cxn modelId="{F34F7019-AC5F-4CB0-9F82-3A1820940B96}" type="presOf" srcId="{60B1E561-B5C3-461E-89F4-2240A65E6925}" destId="{79A1C6E2-5612-45AB-8E90-F6661CD1CE6B}" srcOrd="0" destOrd="0" presId="urn:microsoft.com/office/officeart/2005/8/layout/vList2"/>
    <dgm:cxn modelId="{C09C231B-7A03-49EE-BF65-FC776DF6F187}" type="presOf" srcId="{37B863BE-BFB0-4187-A5EA-DFD31AAD53A2}" destId="{179A8ED2-1426-46DD-9538-223FEEC0798B}" srcOrd="0" destOrd="0" presId="urn:microsoft.com/office/officeart/2005/8/layout/vList2"/>
    <dgm:cxn modelId="{0D4D8930-BCF1-40AA-882A-D61CA3C3C096}" srcId="{37B863BE-BFB0-4187-A5EA-DFD31AAD53A2}" destId="{01076FF4-F63F-4E26-A617-32459D8015E0}" srcOrd="0" destOrd="0" parTransId="{A92E1A05-F4FB-4E4A-8CB9-009679A46CD6}" sibTransId="{FE4B601B-7C81-4E90-B372-E57DE7E5BEFB}"/>
    <dgm:cxn modelId="{5E88C796-BF52-43B7-B45E-E1948CD773B9}" type="presOf" srcId="{01076FF4-F63F-4E26-A617-32459D8015E0}" destId="{7881807E-4F0F-4064-B890-D5A6C4F9E628}" srcOrd="0" destOrd="0" presId="urn:microsoft.com/office/officeart/2005/8/layout/vList2"/>
    <dgm:cxn modelId="{5F1CE5D2-96D6-47C4-93EE-24354FF13EF6}" srcId="{37B863BE-BFB0-4187-A5EA-DFD31AAD53A2}" destId="{60B1E561-B5C3-461E-89F4-2240A65E6925}" srcOrd="1" destOrd="0" parTransId="{843784BB-1798-4BEB-AD99-DCAB19AD30D6}" sibTransId="{210F5CD2-7ED0-49D4-A5DA-5A49DBA03A2A}"/>
    <dgm:cxn modelId="{2CB02123-A689-4A6A-8171-F737C30BED51}" type="presParOf" srcId="{179A8ED2-1426-46DD-9538-223FEEC0798B}" destId="{7881807E-4F0F-4064-B890-D5A6C4F9E628}" srcOrd="0" destOrd="0" presId="urn:microsoft.com/office/officeart/2005/8/layout/vList2"/>
    <dgm:cxn modelId="{EA96FB27-386D-431B-84FB-CE3E6F91B4AF}" type="presParOf" srcId="{179A8ED2-1426-46DD-9538-223FEEC0798B}" destId="{95A2B308-D539-4B14-A5AB-27B17D30E0B2}" srcOrd="1" destOrd="0" presId="urn:microsoft.com/office/officeart/2005/8/layout/vList2"/>
    <dgm:cxn modelId="{60CAD2E7-EEED-41A3-9B2D-7BC6E751C08B}" type="presParOf" srcId="{179A8ED2-1426-46DD-9538-223FEEC0798B}" destId="{79A1C6E2-5612-45AB-8E90-F6661CD1CE6B}"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D402570-9D5B-49D9-8519-F8264A541573}" type="doc">
      <dgm:prSet loTypeId="urn:microsoft.com/office/officeart/2005/8/layout/list1" loCatId="list" qsTypeId="urn:microsoft.com/office/officeart/2005/8/quickstyle/simple1" qsCatId="simple" csTypeId="urn:microsoft.com/office/officeart/2005/8/colors/colorful1" csCatId="colorful"/>
      <dgm:spPr/>
      <dgm:t>
        <a:bodyPr/>
        <a:lstStyle/>
        <a:p>
          <a:endParaRPr lang="en-US"/>
        </a:p>
      </dgm:t>
    </dgm:pt>
    <dgm:pt modelId="{A82BEF86-625D-4F26-9215-D508679527E2}">
      <dgm:prSet/>
      <dgm:spPr/>
      <dgm:t>
        <a:bodyPr/>
        <a:lstStyle/>
        <a:p>
          <a:r>
            <a:rPr lang="en-US" b="0" i="0"/>
            <a:t>❖ Major Discussion</a:t>
          </a:r>
          <a:endParaRPr lang="en-US"/>
        </a:p>
      </dgm:t>
    </dgm:pt>
    <dgm:pt modelId="{27E4FBC1-1D3C-45B5-83CA-8F02A24F5A4C}" type="parTrans" cxnId="{67123A4B-8F1E-46FD-AE4F-618590407D7F}">
      <dgm:prSet/>
      <dgm:spPr/>
      <dgm:t>
        <a:bodyPr/>
        <a:lstStyle/>
        <a:p>
          <a:endParaRPr lang="en-US"/>
        </a:p>
      </dgm:t>
    </dgm:pt>
    <dgm:pt modelId="{2BC0B99E-B740-4A69-85CF-74A6CF563955}" type="sibTrans" cxnId="{67123A4B-8F1E-46FD-AE4F-618590407D7F}">
      <dgm:prSet/>
      <dgm:spPr/>
      <dgm:t>
        <a:bodyPr/>
        <a:lstStyle/>
        <a:p>
          <a:endParaRPr lang="en-US"/>
        </a:p>
      </dgm:t>
    </dgm:pt>
    <dgm:pt modelId="{3B0BE3A4-05B7-4D78-9018-F227DFA04532}">
      <dgm:prSet/>
      <dgm:spPr/>
      <dgm:t>
        <a:bodyPr/>
        <a:lstStyle/>
        <a:p>
          <a:r>
            <a:rPr lang="en-US" b="0" i="0"/>
            <a:t>• SVM</a:t>
          </a:r>
          <a:br>
            <a:rPr lang="en-US"/>
          </a:br>
          <a:r>
            <a:rPr lang="en-US" b="0" i="0"/>
            <a:t>• Kernels</a:t>
          </a:r>
          <a:endParaRPr lang="en-US"/>
        </a:p>
      </dgm:t>
    </dgm:pt>
    <dgm:pt modelId="{F13222AC-5AD7-415F-B5F9-02267CFF61FF}" type="parTrans" cxnId="{C9A609AA-C6BD-4A31-9420-29FD9AABF6A4}">
      <dgm:prSet/>
      <dgm:spPr/>
      <dgm:t>
        <a:bodyPr/>
        <a:lstStyle/>
        <a:p>
          <a:endParaRPr lang="en-US"/>
        </a:p>
      </dgm:t>
    </dgm:pt>
    <dgm:pt modelId="{032CEE48-47E2-4E64-BA43-C96DA4E0FC9E}" type="sibTrans" cxnId="{C9A609AA-C6BD-4A31-9420-29FD9AABF6A4}">
      <dgm:prSet/>
      <dgm:spPr/>
      <dgm:t>
        <a:bodyPr/>
        <a:lstStyle/>
        <a:p>
          <a:endParaRPr lang="en-US"/>
        </a:p>
      </dgm:t>
    </dgm:pt>
    <dgm:pt modelId="{454CC676-D383-484C-A65F-C053B5FF58DA}" type="pres">
      <dgm:prSet presAssocID="{6D402570-9D5B-49D9-8519-F8264A541573}" presName="linear" presStyleCnt="0">
        <dgm:presLayoutVars>
          <dgm:dir/>
          <dgm:animLvl val="lvl"/>
          <dgm:resizeHandles val="exact"/>
        </dgm:presLayoutVars>
      </dgm:prSet>
      <dgm:spPr/>
    </dgm:pt>
    <dgm:pt modelId="{CFD51E23-8BD4-4BC2-A497-5D30C963FBE5}" type="pres">
      <dgm:prSet presAssocID="{A82BEF86-625D-4F26-9215-D508679527E2}" presName="parentLin" presStyleCnt="0"/>
      <dgm:spPr/>
    </dgm:pt>
    <dgm:pt modelId="{918F6ABB-348D-4273-B673-457554A33C33}" type="pres">
      <dgm:prSet presAssocID="{A82BEF86-625D-4F26-9215-D508679527E2}" presName="parentLeftMargin" presStyleLbl="node1" presStyleIdx="0" presStyleCnt="2"/>
      <dgm:spPr/>
    </dgm:pt>
    <dgm:pt modelId="{B47EE115-52A0-4CCC-AB98-F57FC1BEA3FF}" type="pres">
      <dgm:prSet presAssocID="{A82BEF86-625D-4F26-9215-D508679527E2}" presName="parentText" presStyleLbl="node1" presStyleIdx="0" presStyleCnt="2">
        <dgm:presLayoutVars>
          <dgm:chMax val="0"/>
          <dgm:bulletEnabled val="1"/>
        </dgm:presLayoutVars>
      </dgm:prSet>
      <dgm:spPr/>
    </dgm:pt>
    <dgm:pt modelId="{07FDFE6A-CC49-4783-BE41-4683114A837F}" type="pres">
      <dgm:prSet presAssocID="{A82BEF86-625D-4F26-9215-D508679527E2}" presName="negativeSpace" presStyleCnt="0"/>
      <dgm:spPr/>
    </dgm:pt>
    <dgm:pt modelId="{4B2B4AE8-2897-4858-B4BF-C02C5052FCBC}" type="pres">
      <dgm:prSet presAssocID="{A82BEF86-625D-4F26-9215-D508679527E2}" presName="childText" presStyleLbl="conFgAcc1" presStyleIdx="0" presStyleCnt="2">
        <dgm:presLayoutVars>
          <dgm:bulletEnabled val="1"/>
        </dgm:presLayoutVars>
      </dgm:prSet>
      <dgm:spPr/>
    </dgm:pt>
    <dgm:pt modelId="{5BE1873C-CBE5-403C-9200-C4982D31C191}" type="pres">
      <dgm:prSet presAssocID="{2BC0B99E-B740-4A69-85CF-74A6CF563955}" presName="spaceBetweenRectangles" presStyleCnt="0"/>
      <dgm:spPr/>
    </dgm:pt>
    <dgm:pt modelId="{82CCEE39-027B-49FC-B765-355C9AF98340}" type="pres">
      <dgm:prSet presAssocID="{3B0BE3A4-05B7-4D78-9018-F227DFA04532}" presName="parentLin" presStyleCnt="0"/>
      <dgm:spPr/>
    </dgm:pt>
    <dgm:pt modelId="{932A0023-04B1-48C9-815F-666004BAB869}" type="pres">
      <dgm:prSet presAssocID="{3B0BE3A4-05B7-4D78-9018-F227DFA04532}" presName="parentLeftMargin" presStyleLbl="node1" presStyleIdx="0" presStyleCnt="2"/>
      <dgm:spPr/>
    </dgm:pt>
    <dgm:pt modelId="{A8BD00F1-F817-43C5-92EC-41B4D831C0FA}" type="pres">
      <dgm:prSet presAssocID="{3B0BE3A4-05B7-4D78-9018-F227DFA04532}" presName="parentText" presStyleLbl="node1" presStyleIdx="1" presStyleCnt="2">
        <dgm:presLayoutVars>
          <dgm:chMax val="0"/>
          <dgm:bulletEnabled val="1"/>
        </dgm:presLayoutVars>
      </dgm:prSet>
      <dgm:spPr/>
    </dgm:pt>
    <dgm:pt modelId="{0D636306-D7C1-4805-A922-8EB2C662BEA7}" type="pres">
      <dgm:prSet presAssocID="{3B0BE3A4-05B7-4D78-9018-F227DFA04532}" presName="negativeSpace" presStyleCnt="0"/>
      <dgm:spPr/>
    </dgm:pt>
    <dgm:pt modelId="{9DC5F92C-FF7D-4F61-8502-4DFE61424FEC}" type="pres">
      <dgm:prSet presAssocID="{3B0BE3A4-05B7-4D78-9018-F227DFA04532}" presName="childText" presStyleLbl="conFgAcc1" presStyleIdx="1" presStyleCnt="2">
        <dgm:presLayoutVars>
          <dgm:bulletEnabled val="1"/>
        </dgm:presLayoutVars>
      </dgm:prSet>
      <dgm:spPr/>
    </dgm:pt>
  </dgm:ptLst>
  <dgm:cxnLst>
    <dgm:cxn modelId="{2A00835C-8E90-432B-A59F-CB6EB170B9D2}" type="presOf" srcId="{A82BEF86-625D-4F26-9215-D508679527E2}" destId="{B47EE115-52A0-4CCC-AB98-F57FC1BEA3FF}" srcOrd="1" destOrd="0" presId="urn:microsoft.com/office/officeart/2005/8/layout/list1"/>
    <dgm:cxn modelId="{67123A4B-8F1E-46FD-AE4F-618590407D7F}" srcId="{6D402570-9D5B-49D9-8519-F8264A541573}" destId="{A82BEF86-625D-4F26-9215-D508679527E2}" srcOrd="0" destOrd="0" parTransId="{27E4FBC1-1D3C-45B5-83CA-8F02A24F5A4C}" sibTransId="{2BC0B99E-B740-4A69-85CF-74A6CF563955}"/>
    <dgm:cxn modelId="{C9A609AA-C6BD-4A31-9420-29FD9AABF6A4}" srcId="{6D402570-9D5B-49D9-8519-F8264A541573}" destId="{3B0BE3A4-05B7-4D78-9018-F227DFA04532}" srcOrd="1" destOrd="0" parTransId="{F13222AC-5AD7-415F-B5F9-02267CFF61FF}" sibTransId="{032CEE48-47E2-4E64-BA43-C96DA4E0FC9E}"/>
    <dgm:cxn modelId="{DED14FB1-A5AF-4088-B93B-E8E74CC0BB5F}" type="presOf" srcId="{6D402570-9D5B-49D9-8519-F8264A541573}" destId="{454CC676-D383-484C-A65F-C053B5FF58DA}" srcOrd="0" destOrd="0" presId="urn:microsoft.com/office/officeart/2005/8/layout/list1"/>
    <dgm:cxn modelId="{2926F5E6-18E3-49BD-B4A4-0BA823022EBD}" type="presOf" srcId="{3B0BE3A4-05B7-4D78-9018-F227DFA04532}" destId="{932A0023-04B1-48C9-815F-666004BAB869}" srcOrd="0" destOrd="0" presId="urn:microsoft.com/office/officeart/2005/8/layout/list1"/>
    <dgm:cxn modelId="{073084E8-D4C2-4C98-B3F8-CBC006D94FF3}" type="presOf" srcId="{A82BEF86-625D-4F26-9215-D508679527E2}" destId="{918F6ABB-348D-4273-B673-457554A33C33}" srcOrd="0" destOrd="0" presId="urn:microsoft.com/office/officeart/2005/8/layout/list1"/>
    <dgm:cxn modelId="{2D6DF7EB-55C3-45F9-8D6A-22017D4CA9F3}" type="presOf" srcId="{3B0BE3A4-05B7-4D78-9018-F227DFA04532}" destId="{A8BD00F1-F817-43C5-92EC-41B4D831C0FA}" srcOrd="1" destOrd="0" presId="urn:microsoft.com/office/officeart/2005/8/layout/list1"/>
    <dgm:cxn modelId="{9E023CE6-AE34-4F3D-983C-13A9B2AD21AA}" type="presParOf" srcId="{454CC676-D383-484C-A65F-C053B5FF58DA}" destId="{CFD51E23-8BD4-4BC2-A497-5D30C963FBE5}" srcOrd="0" destOrd="0" presId="urn:microsoft.com/office/officeart/2005/8/layout/list1"/>
    <dgm:cxn modelId="{142DEA9A-B90F-414E-BFE4-89EAC370CED0}" type="presParOf" srcId="{CFD51E23-8BD4-4BC2-A497-5D30C963FBE5}" destId="{918F6ABB-348D-4273-B673-457554A33C33}" srcOrd="0" destOrd="0" presId="urn:microsoft.com/office/officeart/2005/8/layout/list1"/>
    <dgm:cxn modelId="{26748778-DDE7-4A55-A904-22802313C34F}" type="presParOf" srcId="{CFD51E23-8BD4-4BC2-A497-5D30C963FBE5}" destId="{B47EE115-52A0-4CCC-AB98-F57FC1BEA3FF}" srcOrd="1" destOrd="0" presId="urn:microsoft.com/office/officeart/2005/8/layout/list1"/>
    <dgm:cxn modelId="{81F2B6E8-CC2D-4C25-BF42-BF31B01F6AF9}" type="presParOf" srcId="{454CC676-D383-484C-A65F-C053B5FF58DA}" destId="{07FDFE6A-CC49-4783-BE41-4683114A837F}" srcOrd="1" destOrd="0" presId="urn:microsoft.com/office/officeart/2005/8/layout/list1"/>
    <dgm:cxn modelId="{B395067D-0018-4121-A039-E81DEB0EB7B1}" type="presParOf" srcId="{454CC676-D383-484C-A65F-C053B5FF58DA}" destId="{4B2B4AE8-2897-4858-B4BF-C02C5052FCBC}" srcOrd="2" destOrd="0" presId="urn:microsoft.com/office/officeart/2005/8/layout/list1"/>
    <dgm:cxn modelId="{B53E91E5-7523-4984-B775-996E8266CAB3}" type="presParOf" srcId="{454CC676-D383-484C-A65F-C053B5FF58DA}" destId="{5BE1873C-CBE5-403C-9200-C4982D31C191}" srcOrd="3" destOrd="0" presId="urn:microsoft.com/office/officeart/2005/8/layout/list1"/>
    <dgm:cxn modelId="{82DA3068-6DE6-456D-A2C9-8E0F201C1DF7}" type="presParOf" srcId="{454CC676-D383-484C-A65F-C053B5FF58DA}" destId="{82CCEE39-027B-49FC-B765-355C9AF98340}" srcOrd="4" destOrd="0" presId="urn:microsoft.com/office/officeart/2005/8/layout/list1"/>
    <dgm:cxn modelId="{A687EFCA-1599-4478-A62D-BDFFFC33F7A6}" type="presParOf" srcId="{82CCEE39-027B-49FC-B765-355C9AF98340}" destId="{932A0023-04B1-48C9-815F-666004BAB869}" srcOrd="0" destOrd="0" presId="urn:microsoft.com/office/officeart/2005/8/layout/list1"/>
    <dgm:cxn modelId="{0D9F97C4-9280-4B30-9EE0-172D7E7EC71C}" type="presParOf" srcId="{82CCEE39-027B-49FC-B765-355C9AF98340}" destId="{A8BD00F1-F817-43C5-92EC-41B4D831C0FA}" srcOrd="1" destOrd="0" presId="urn:microsoft.com/office/officeart/2005/8/layout/list1"/>
    <dgm:cxn modelId="{F0892EA1-09F9-4981-9A57-E9FA7F167CB4}" type="presParOf" srcId="{454CC676-D383-484C-A65F-C053B5FF58DA}" destId="{0D636306-D7C1-4805-A922-8EB2C662BEA7}" srcOrd="5" destOrd="0" presId="urn:microsoft.com/office/officeart/2005/8/layout/list1"/>
    <dgm:cxn modelId="{D2D301F5-B654-4ABE-BAEF-279910585F22}" type="presParOf" srcId="{454CC676-D383-484C-A65F-C053B5FF58DA}" destId="{9DC5F92C-FF7D-4F61-8502-4DFE61424FEC}"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6B46763-FDFF-4E0B-A68F-206F960252B6}" type="doc">
      <dgm:prSet loTypeId="urn:microsoft.com/office/officeart/2016/7/layout/RepeatingBendingProcessNew" loCatId="process" qsTypeId="urn:microsoft.com/office/officeart/2005/8/quickstyle/simple1" qsCatId="simple" csTypeId="urn:microsoft.com/office/officeart/2005/8/colors/colorful5" csCatId="colorful" phldr="1"/>
      <dgm:spPr/>
      <dgm:t>
        <a:bodyPr/>
        <a:lstStyle/>
        <a:p>
          <a:endParaRPr lang="en-US"/>
        </a:p>
      </dgm:t>
    </dgm:pt>
    <dgm:pt modelId="{7B3B146E-6871-4553-8C9C-6AF56779A4AC}">
      <dgm:prSet/>
      <dgm:spPr/>
      <dgm:t>
        <a:bodyPr/>
        <a:lstStyle/>
        <a:p>
          <a:r>
            <a:rPr lang="en-US" b="0" i="0" baseline="0"/>
            <a:t>Linear SVC accuracy: 69.40% </a:t>
          </a:r>
          <a:endParaRPr lang="en-US"/>
        </a:p>
      </dgm:t>
    </dgm:pt>
    <dgm:pt modelId="{78157835-D740-4B97-8490-89E889FE3E65}" type="parTrans" cxnId="{E5876000-1E12-4695-B586-AB0FBBF607EC}">
      <dgm:prSet/>
      <dgm:spPr/>
      <dgm:t>
        <a:bodyPr/>
        <a:lstStyle/>
        <a:p>
          <a:endParaRPr lang="en-US"/>
        </a:p>
      </dgm:t>
    </dgm:pt>
    <dgm:pt modelId="{97A68CFE-2E70-4E55-BFE6-4D21448E4B21}" type="sibTrans" cxnId="{E5876000-1E12-4695-B586-AB0FBBF607EC}">
      <dgm:prSet/>
      <dgm:spPr/>
      <dgm:t>
        <a:bodyPr/>
        <a:lstStyle/>
        <a:p>
          <a:endParaRPr lang="en-US"/>
        </a:p>
      </dgm:t>
    </dgm:pt>
    <dgm:pt modelId="{4F6EAA16-A8F5-44C9-BBDD-CD39C45AF9CB}">
      <dgm:prSet/>
      <dgm:spPr/>
      <dgm:t>
        <a:bodyPr/>
        <a:lstStyle/>
        <a:p>
          <a:r>
            <a:rPr lang="en-US" b="0" i="0" baseline="0"/>
            <a:t>Sigmoid SVC accuracy: 59.70% </a:t>
          </a:r>
          <a:endParaRPr lang="en-US"/>
        </a:p>
      </dgm:t>
    </dgm:pt>
    <dgm:pt modelId="{A0BD0052-2786-4222-BD2D-F973D8B2DC44}" type="parTrans" cxnId="{17891162-49AF-456F-BB0C-4CE026BB0C25}">
      <dgm:prSet/>
      <dgm:spPr/>
      <dgm:t>
        <a:bodyPr/>
        <a:lstStyle/>
        <a:p>
          <a:endParaRPr lang="en-US"/>
        </a:p>
      </dgm:t>
    </dgm:pt>
    <dgm:pt modelId="{3E675D8E-002C-4D38-BC52-FCC65BC27857}" type="sibTrans" cxnId="{17891162-49AF-456F-BB0C-4CE026BB0C25}">
      <dgm:prSet/>
      <dgm:spPr/>
      <dgm:t>
        <a:bodyPr/>
        <a:lstStyle/>
        <a:p>
          <a:endParaRPr lang="en-US"/>
        </a:p>
      </dgm:t>
    </dgm:pt>
    <dgm:pt modelId="{8A5D0CD5-00C2-4BCF-9A2D-76A5E25726D1}">
      <dgm:prSet/>
      <dgm:spPr/>
      <dgm:t>
        <a:bodyPr/>
        <a:lstStyle/>
        <a:p>
          <a:r>
            <a:rPr lang="en-US" b="0" i="0" baseline="0"/>
            <a:t>RBF SVC accuracy: 80.90% </a:t>
          </a:r>
          <a:endParaRPr lang="en-US"/>
        </a:p>
      </dgm:t>
    </dgm:pt>
    <dgm:pt modelId="{04EE7E63-B91D-40B3-AD4F-58D19638B5A7}" type="parTrans" cxnId="{08E96E70-1BD9-4566-AEE8-327294CDF85D}">
      <dgm:prSet/>
      <dgm:spPr/>
      <dgm:t>
        <a:bodyPr/>
        <a:lstStyle/>
        <a:p>
          <a:endParaRPr lang="en-US"/>
        </a:p>
      </dgm:t>
    </dgm:pt>
    <dgm:pt modelId="{A846590E-881C-45AA-864C-75DEE3C79616}" type="sibTrans" cxnId="{08E96E70-1BD9-4566-AEE8-327294CDF85D}">
      <dgm:prSet/>
      <dgm:spPr/>
      <dgm:t>
        <a:bodyPr/>
        <a:lstStyle/>
        <a:p>
          <a:endParaRPr lang="en-US"/>
        </a:p>
      </dgm:t>
    </dgm:pt>
    <dgm:pt modelId="{AD9ADA54-FB9C-4AD1-B83B-733431076317}">
      <dgm:prSet/>
      <dgm:spPr/>
      <dgm:t>
        <a:bodyPr/>
        <a:lstStyle/>
        <a:p>
          <a:r>
            <a:rPr lang="en-US" b="0" i="0" baseline="0"/>
            <a:t>Poly SVC accuracy: 69.40% </a:t>
          </a:r>
          <a:endParaRPr lang="en-US"/>
        </a:p>
      </dgm:t>
    </dgm:pt>
    <dgm:pt modelId="{68D8033B-382F-4C46-A20D-F2F97712E087}" type="parTrans" cxnId="{4B7A1864-7D8C-4295-B693-AFCF5FA299B8}">
      <dgm:prSet/>
      <dgm:spPr/>
      <dgm:t>
        <a:bodyPr/>
        <a:lstStyle/>
        <a:p>
          <a:endParaRPr lang="en-US"/>
        </a:p>
      </dgm:t>
    </dgm:pt>
    <dgm:pt modelId="{EE4C9C5E-3419-4E0F-B46A-D17DAC37527D}" type="sibTrans" cxnId="{4B7A1864-7D8C-4295-B693-AFCF5FA299B8}">
      <dgm:prSet/>
      <dgm:spPr/>
      <dgm:t>
        <a:bodyPr/>
        <a:lstStyle/>
        <a:p>
          <a:endParaRPr lang="en-US"/>
        </a:p>
      </dgm:t>
    </dgm:pt>
    <dgm:pt modelId="{06A8F670-7473-4815-B49F-F3D632E931E2}">
      <dgm:prSet/>
      <dgm:spPr/>
      <dgm:t>
        <a:bodyPr/>
        <a:lstStyle/>
        <a:p>
          <a:r>
            <a:rPr lang="en-US" b="0" i="0" baseline="0"/>
            <a:t>The RBF SVC model has the highest accuracy (80.90%).This shows that the RBF (Radial Basis Function) kernel may be a better fit for this dataset than the linear, sigmoid, and polynomial kernels.</a:t>
          </a:r>
          <a:endParaRPr lang="en-US"/>
        </a:p>
      </dgm:t>
    </dgm:pt>
    <dgm:pt modelId="{D0CC7162-2996-4047-8A54-DD78270D6058}" type="parTrans" cxnId="{9984232A-554A-4E00-A8FE-74D410F1F2A9}">
      <dgm:prSet/>
      <dgm:spPr/>
      <dgm:t>
        <a:bodyPr/>
        <a:lstStyle/>
        <a:p>
          <a:endParaRPr lang="en-US"/>
        </a:p>
      </dgm:t>
    </dgm:pt>
    <dgm:pt modelId="{F8CE779B-09E0-40FD-89DF-0CF91B686202}" type="sibTrans" cxnId="{9984232A-554A-4E00-A8FE-74D410F1F2A9}">
      <dgm:prSet/>
      <dgm:spPr/>
      <dgm:t>
        <a:bodyPr/>
        <a:lstStyle/>
        <a:p>
          <a:endParaRPr lang="en-US"/>
        </a:p>
      </dgm:t>
    </dgm:pt>
    <dgm:pt modelId="{BF16BF75-DF3A-46CE-A761-B2122BD9B527}" type="pres">
      <dgm:prSet presAssocID="{16B46763-FDFF-4E0B-A68F-206F960252B6}" presName="Name0" presStyleCnt="0">
        <dgm:presLayoutVars>
          <dgm:dir/>
          <dgm:resizeHandles val="exact"/>
        </dgm:presLayoutVars>
      </dgm:prSet>
      <dgm:spPr/>
    </dgm:pt>
    <dgm:pt modelId="{0A6462CE-09F4-44FF-9E54-951ACA2C31BE}" type="pres">
      <dgm:prSet presAssocID="{7B3B146E-6871-4553-8C9C-6AF56779A4AC}" presName="node" presStyleLbl="node1" presStyleIdx="0" presStyleCnt="5">
        <dgm:presLayoutVars>
          <dgm:bulletEnabled val="1"/>
        </dgm:presLayoutVars>
      </dgm:prSet>
      <dgm:spPr/>
    </dgm:pt>
    <dgm:pt modelId="{5F78E6A9-A3BB-43B1-A8EF-304117F8F0F7}" type="pres">
      <dgm:prSet presAssocID="{97A68CFE-2E70-4E55-BFE6-4D21448E4B21}" presName="sibTrans" presStyleLbl="sibTrans1D1" presStyleIdx="0" presStyleCnt="4"/>
      <dgm:spPr/>
    </dgm:pt>
    <dgm:pt modelId="{ED7D4F0C-845D-4ED5-90D7-8992E6163348}" type="pres">
      <dgm:prSet presAssocID="{97A68CFE-2E70-4E55-BFE6-4D21448E4B21}" presName="connectorText" presStyleLbl="sibTrans1D1" presStyleIdx="0" presStyleCnt="4"/>
      <dgm:spPr/>
    </dgm:pt>
    <dgm:pt modelId="{9B852985-5C6A-4AF0-8DF4-06018CA9C6E8}" type="pres">
      <dgm:prSet presAssocID="{4F6EAA16-A8F5-44C9-BBDD-CD39C45AF9CB}" presName="node" presStyleLbl="node1" presStyleIdx="1" presStyleCnt="5">
        <dgm:presLayoutVars>
          <dgm:bulletEnabled val="1"/>
        </dgm:presLayoutVars>
      </dgm:prSet>
      <dgm:spPr/>
    </dgm:pt>
    <dgm:pt modelId="{67FF7561-D395-455D-BA9E-6FA0F77364F4}" type="pres">
      <dgm:prSet presAssocID="{3E675D8E-002C-4D38-BC52-FCC65BC27857}" presName="sibTrans" presStyleLbl="sibTrans1D1" presStyleIdx="1" presStyleCnt="4"/>
      <dgm:spPr/>
    </dgm:pt>
    <dgm:pt modelId="{E46888D8-76FD-49D5-B7E5-2B5A2009523D}" type="pres">
      <dgm:prSet presAssocID="{3E675D8E-002C-4D38-BC52-FCC65BC27857}" presName="connectorText" presStyleLbl="sibTrans1D1" presStyleIdx="1" presStyleCnt="4"/>
      <dgm:spPr/>
    </dgm:pt>
    <dgm:pt modelId="{B0A13DB2-5004-4DEC-A955-547E13213697}" type="pres">
      <dgm:prSet presAssocID="{8A5D0CD5-00C2-4BCF-9A2D-76A5E25726D1}" presName="node" presStyleLbl="node1" presStyleIdx="2" presStyleCnt="5">
        <dgm:presLayoutVars>
          <dgm:bulletEnabled val="1"/>
        </dgm:presLayoutVars>
      </dgm:prSet>
      <dgm:spPr/>
    </dgm:pt>
    <dgm:pt modelId="{244ED9E8-5FA6-4AE6-9A43-D87E5A1A27F6}" type="pres">
      <dgm:prSet presAssocID="{A846590E-881C-45AA-864C-75DEE3C79616}" presName="sibTrans" presStyleLbl="sibTrans1D1" presStyleIdx="2" presStyleCnt="4"/>
      <dgm:spPr/>
    </dgm:pt>
    <dgm:pt modelId="{7E8F8A47-7F36-41EB-92ED-4A9FF0BA0A7C}" type="pres">
      <dgm:prSet presAssocID="{A846590E-881C-45AA-864C-75DEE3C79616}" presName="connectorText" presStyleLbl="sibTrans1D1" presStyleIdx="2" presStyleCnt="4"/>
      <dgm:spPr/>
    </dgm:pt>
    <dgm:pt modelId="{ED3BADEB-3A8B-4B8C-9A38-006C536DAE44}" type="pres">
      <dgm:prSet presAssocID="{AD9ADA54-FB9C-4AD1-B83B-733431076317}" presName="node" presStyleLbl="node1" presStyleIdx="3" presStyleCnt="5">
        <dgm:presLayoutVars>
          <dgm:bulletEnabled val="1"/>
        </dgm:presLayoutVars>
      </dgm:prSet>
      <dgm:spPr/>
    </dgm:pt>
    <dgm:pt modelId="{F5CC0870-6134-4C87-95BF-D66A1A4FC9AD}" type="pres">
      <dgm:prSet presAssocID="{EE4C9C5E-3419-4E0F-B46A-D17DAC37527D}" presName="sibTrans" presStyleLbl="sibTrans1D1" presStyleIdx="3" presStyleCnt="4"/>
      <dgm:spPr/>
    </dgm:pt>
    <dgm:pt modelId="{B0346263-7C11-4B11-BAA5-5423D1D5CC6B}" type="pres">
      <dgm:prSet presAssocID="{EE4C9C5E-3419-4E0F-B46A-D17DAC37527D}" presName="connectorText" presStyleLbl="sibTrans1D1" presStyleIdx="3" presStyleCnt="4"/>
      <dgm:spPr/>
    </dgm:pt>
    <dgm:pt modelId="{735F1439-55BE-45A1-9B03-F91DE059121B}" type="pres">
      <dgm:prSet presAssocID="{06A8F670-7473-4815-B49F-F3D632E931E2}" presName="node" presStyleLbl="node1" presStyleIdx="4" presStyleCnt="5" custScaleX="256320">
        <dgm:presLayoutVars>
          <dgm:bulletEnabled val="1"/>
        </dgm:presLayoutVars>
      </dgm:prSet>
      <dgm:spPr/>
    </dgm:pt>
  </dgm:ptLst>
  <dgm:cxnLst>
    <dgm:cxn modelId="{E5876000-1E12-4695-B586-AB0FBBF607EC}" srcId="{16B46763-FDFF-4E0B-A68F-206F960252B6}" destId="{7B3B146E-6871-4553-8C9C-6AF56779A4AC}" srcOrd="0" destOrd="0" parTransId="{78157835-D740-4B97-8490-89E889FE3E65}" sibTransId="{97A68CFE-2E70-4E55-BFE6-4D21448E4B21}"/>
    <dgm:cxn modelId="{B0E9B920-EE93-47A5-88C9-0E4F4DCBC76A}" type="presOf" srcId="{EE4C9C5E-3419-4E0F-B46A-D17DAC37527D}" destId="{B0346263-7C11-4B11-BAA5-5423D1D5CC6B}" srcOrd="1" destOrd="0" presId="urn:microsoft.com/office/officeart/2016/7/layout/RepeatingBendingProcessNew"/>
    <dgm:cxn modelId="{9984232A-554A-4E00-A8FE-74D410F1F2A9}" srcId="{16B46763-FDFF-4E0B-A68F-206F960252B6}" destId="{06A8F670-7473-4815-B49F-F3D632E931E2}" srcOrd="4" destOrd="0" parTransId="{D0CC7162-2996-4047-8A54-DD78270D6058}" sibTransId="{F8CE779B-09E0-40FD-89DF-0CF91B686202}"/>
    <dgm:cxn modelId="{80D8013A-C5DB-4914-BDBE-9FD114011C07}" type="presOf" srcId="{8A5D0CD5-00C2-4BCF-9A2D-76A5E25726D1}" destId="{B0A13DB2-5004-4DEC-A955-547E13213697}" srcOrd="0" destOrd="0" presId="urn:microsoft.com/office/officeart/2016/7/layout/RepeatingBendingProcessNew"/>
    <dgm:cxn modelId="{17891162-49AF-456F-BB0C-4CE026BB0C25}" srcId="{16B46763-FDFF-4E0B-A68F-206F960252B6}" destId="{4F6EAA16-A8F5-44C9-BBDD-CD39C45AF9CB}" srcOrd="1" destOrd="0" parTransId="{A0BD0052-2786-4222-BD2D-F973D8B2DC44}" sibTransId="{3E675D8E-002C-4D38-BC52-FCC65BC27857}"/>
    <dgm:cxn modelId="{4B7A1864-7D8C-4295-B693-AFCF5FA299B8}" srcId="{16B46763-FDFF-4E0B-A68F-206F960252B6}" destId="{AD9ADA54-FB9C-4AD1-B83B-733431076317}" srcOrd="3" destOrd="0" parTransId="{68D8033B-382F-4C46-A20D-F2F97712E087}" sibTransId="{EE4C9C5E-3419-4E0F-B46A-D17DAC37527D}"/>
    <dgm:cxn modelId="{CEB6076A-E27F-4457-BADF-73173BDA8137}" type="presOf" srcId="{A846590E-881C-45AA-864C-75DEE3C79616}" destId="{244ED9E8-5FA6-4AE6-9A43-D87E5A1A27F6}" srcOrd="0" destOrd="0" presId="urn:microsoft.com/office/officeart/2016/7/layout/RepeatingBendingProcessNew"/>
    <dgm:cxn modelId="{55FB374B-8344-4CB3-A02A-7938CDCFB88A}" type="presOf" srcId="{97A68CFE-2E70-4E55-BFE6-4D21448E4B21}" destId="{5F78E6A9-A3BB-43B1-A8EF-304117F8F0F7}" srcOrd="0" destOrd="0" presId="urn:microsoft.com/office/officeart/2016/7/layout/RepeatingBendingProcessNew"/>
    <dgm:cxn modelId="{20AAC54F-22AC-48D8-9518-1E14A3E35300}" type="presOf" srcId="{4F6EAA16-A8F5-44C9-BBDD-CD39C45AF9CB}" destId="{9B852985-5C6A-4AF0-8DF4-06018CA9C6E8}" srcOrd="0" destOrd="0" presId="urn:microsoft.com/office/officeart/2016/7/layout/RepeatingBendingProcessNew"/>
    <dgm:cxn modelId="{08E96E70-1BD9-4566-AEE8-327294CDF85D}" srcId="{16B46763-FDFF-4E0B-A68F-206F960252B6}" destId="{8A5D0CD5-00C2-4BCF-9A2D-76A5E25726D1}" srcOrd="2" destOrd="0" parTransId="{04EE7E63-B91D-40B3-AD4F-58D19638B5A7}" sibTransId="{A846590E-881C-45AA-864C-75DEE3C79616}"/>
    <dgm:cxn modelId="{F1046374-A658-44FB-8B12-53C18BADADB3}" type="presOf" srcId="{7B3B146E-6871-4553-8C9C-6AF56779A4AC}" destId="{0A6462CE-09F4-44FF-9E54-951ACA2C31BE}" srcOrd="0" destOrd="0" presId="urn:microsoft.com/office/officeart/2016/7/layout/RepeatingBendingProcessNew"/>
    <dgm:cxn modelId="{83975F76-FFCF-468A-8C61-068A6A18F7E3}" type="presOf" srcId="{AD9ADA54-FB9C-4AD1-B83B-733431076317}" destId="{ED3BADEB-3A8B-4B8C-9A38-006C536DAE44}" srcOrd="0" destOrd="0" presId="urn:microsoft.com/office/officeart/2016/7/layout/RepeatingBendingProcessNew"/>
    <dgm:cxn modelId="{5F49DE82-B952-41B5-826B-B605FBA209A1}" type="presOf" srcId="{97A68CFE-2E70-4E55-BFE6-4D21448E4B21}" destId="{ED7D4F0C-845D-4ED5-90D7-8992E6163348}" srcOrd="1" destOrd="0" presId="urn:microsoft.com/office/officeart/2016/7/layout/RepeatingBendingProcessNew"/>
    <dgm:cxn modelId="{FF2E6384-3726-45EB-B74A-723C9A22E275}" type="presOf" srcId="{A846590E-881C-45AA-864C-75DEE3C79616}" destId="{7E8F8A47-7F36-41EB-92ED-4A9FF0BA0A7C}" srcOrd="1" destOrd="0" presId="urn:microsoft.com/office/officeart/2016/7/layout/RepeatingBendingProcessNew"/>
    <dgm:cxn modelId="{0B4B5688-FBA3-472E-80AE-66B23F0E63F3}" type="presOf" srcId="{16B46763-FDFF-4E0B-A68F-206F960252B6}" destId="{BF16BF75-DF3A-46CE-A761-B2122BD9B527}" srcOrd="0" destOrd="0" presId="urn:microsoft.com/office/officeart/2016/7/layout/RepeatingBendingProcessNew"/>
    <dgm:cxn modelId="{6A64D892-3972-478E-972B-86D85D71B334}" type="presOf" srcId="{3E675D8E-002C-4D38-BC52-FCC65BC27857}" destId="{E46888D8-76FD-49D5-B7E5-2B5A2009523D}" srcOrd="1" destOrd="0" presId="urn:microsoft.com/office/officeart/2016/7/layout/RepeatingBendingProcessNew"/>
    <dgm:cxn modelId="{5D53CF95-EF06-40CD-ABC5-8E5680500D18}" type="presOf" srcId="{06A8F670-7473-4815-B49F-F3D632E931E2}" destId="{735F1439-55BE-45A1-9B03-F91DE059121B}" srcOrd="0" destOrd="0" presId="urn:microsoft.com/office/officeart/2016/7/layout/RepeatingBendingProcessNew"/>
    <dgm:cxn modelId="{768969B4-4252-42E6-8281-C6290AF4D9BC}" type="presOf" srcId="{EE4C9C5E-3419-4E0F-B46A-D17DAC37527D}" destId="{F5CC0870-6134-4C87-95BF-D66A1A4FC9AD}" srcOrd="0" destOrd="0" presId="urn:microsoft.com/office/officeart/2016/7/layout/RepeatingBendingProcessNew"/>
    <dgm:cxn modelId="{735B91BB-7C92-4F92-8BCE-7647E5A82167}" type="presOf" srcId="{3E675D8E-002C-4D38-BC52-FCC65BC27857}" destId="{67FF7561-D395-455D-BA9E-6FA0F77364F4}" srcOrd="0" destOrd="0" presId="urn:microsoft.com/office/officeart/2016/7/layout/RepeatingBendingProcessNew"/>
    <dgm:cxn modelId="{EFB3A7C7-D895-415A-9D07-C15D3E4A61D7}" type="presParOf" srcId="{BF16BF75-DF3A-46CE-A761-B2122BD9B527}" destId="{0A6462CE-09F4-44FF-9E54-951ACA2C31BE}" srcOrd="0" destOrd="0" presId="urn:microsoft.com/office/officeart/2016/7/layout/RepeatingBendingProcessNew"/>
    <dgm:cxn modelId="{66C29A16-AFC6-40EB-BEAE-DD03B53DC172}" type="presParOf" srcId="{BF16BF75-DF3A-46CE-A761-B2122BD9B527}" destId="{5F78E6A9-A3BB-43B1-A8EF-304117F8F0F7}" srcOrd="1" destOrd="0" presId="urn:microsoft.com/office/officeart/2016/7/layout/RepeatingBendingProcessNew"/>
    <dgm:cxn modelId="{004CF5D3-F3C9-448E-81EC-94DA7465FAE6}" type="presParOf" srcId="{5F78E6A9-A3BB-43B1-A8EF-304117F8F0F7}" destId="{ED7D4F0C-845D-4ED5-90D7-8992E6163348}" srcOrd="0" destOrd="0" presId="urn:microsoft.com/office/officeart/2016/7/layout/RepeatingBendingProcessNew"/>
    <dgm:cxn modelId="{74807E98-89E5-4D42-BC8B-37FA0177266A}" type="presParOf" srcId="{BF16BF75-DF3A-46CE-A761-B2122BD9B527}" destId="{9B852985-5C6A-4AF0-8DF4-06018CA9C6E8}" srcOrd="2" destOrd="0" presId="urn:microsoft.com/office/officeart/2016/7/layout/RepeatingBendingProcessNew"/>
    <dgm:cxn modelId="{768A7107-80C0-4618-B576-1938B0983E62}" type="presParOf" srcId="{BF16BF75-DF3A-46CE-A761-B2122BD9B527}" destId="{67FF7561-D395-455D-BA9E-6FA0F77364F4}" srcOrd="3" destOrd="0" presId="urn:microsoft.com/office/officeart/2016/7/layout/RepeatingBendingProcessNew"/>
    <dgm:cxn modelId="{86D5B5AE-4491-4895-AA34-F4CFF555764D}" type="presParOf" srcId="{67FF7561-D395-455D-BA9E-6FA0F77364F4}" destId="{E46888D8-76FD-49D5-B7E5-2B5A2009523D}" srcOrd="0" destOrd="0" presId="urn:microsoft.com/office/officeart/2016/7/layout/RepeatingBendingProcessNew"/>
    <dgm:cxn modelId="{2B4B6286-C85B-4E45-9D10-7A22AC42AC03}" type="presParOf" srcId="{BF16BF75-DF3A-46CE-A761-B2122BD9B527}" destId="{B0A13DB2-5004-4DEC-A955-547E13213697}" srcOrd="4" destOrd="0" presId="urn:microsoft.com/office/officeart/2016/7/layout/RepeatingBendingProcessNew"/>
    <dgm:cxn modelId="{6781AAF9-80CB-4286-BF80-8C76993FB81F}" type="presParOf" srcId="{BF16BF75-DF3A-46CE-A761-B2122BD9B527}" destId="{244ED9E8-5FA6-4AE6-9A43-D87E5A1A27F6}" srcOrd="5" destOrd="0" presId="urn:microsoft.com/office/officeart/2016/7/layout/RepeatingBendingProcessNew"/>
    <dgm:cxn modelId="{BF8C702B-CEF0-49B9-A0EB-E6CD506C10C3}" type="presParOf" srcId="{244ED9E8-5FA6-4AE6-9A43-D87E5A1A27F6}" destId="{7E8F8A47-7F36-41EB-92ED-4A9FF0BA0A7C}" srcOrd="0" destOrd="0" presId="urn:microsoft.com/office/officeart/2016/7/layout/RepeatingBendingProcessNew"/>
    <dgm:cxn modelId="{0D3896E5-04B9-47D4-A3EC-0F895007FA62}" type="presParOf" srcId="{BF16BF75-DF3A-46CE-A761-B2122BD9B527}" destId="{ED3BADEB-3A8B-4B8C-9A38-006C536DAE44}" srcOrd="6" destOrd="0" presId="urn:microsoft.com/office/officeart/2016/7/layout/RepeatingBendingProcessNew"/>
    <dgm:cxn modelId="{8E262CB1-7C06-4DA0-8FCE-984D99AFFE5F}" type="presParOf" srcId="{BF16BF75-DF3A-46CE-A761-B2122BD9B527}" destId="{F5CC0870-6134-4C87-95BF-D66A1A4FC9AD}" srcOrd="7" destOrd="0" presId="urn:microsoft.com/office/officeart/2016/7/layout/RepeatingBendingProcessNew"/>
    <dgm:cxn modelId="{2E0F7831-6418-4CED-8439-604C313B0398}" type="presParOf" srcId="{F5CC0870-6134-4C87-95BF-D66A1A4FC9AD}" destId="{B0346263-7C11-4B11-BAA5-5423D1D5CC6B}" srcOrd="0" destOrd="0" presId="urn:microsoft.com/office/officeart/2016/7/layout/RepeatingBendingProcessNew"/>
    <dgm:cxn modelId="{80A94DEF-849B-4541-806B-9B5FE71DF140}" type="presParOf" srcId="{BF16BF75-DF3A-46CE-A761-B2122BD9B527}" destId="{735F1439-55BE-45A1-9B03-F91DE059121B}" srcOrd="8"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EEC7B66-7535-4D0D-B03E-7354EEAC6AA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7F6E798-36A5-41B7-95D7-02D947AB6582}">
      <dgm:prSet custT="1"/>
      <dgm:spPr/>
      <dgm:t>
        <a:bodyPr/>
        <a:lstStyle/>
        <a:p>
          <a:pPr>
            <a:lnSpc>
              <a:spcPct val="100000"/>
            </a:lnSpc>
          </a:pPr>
          <a:r>
            <a:rPr lang="en-US" sz="1200" dirty="0"/>
            <a:t>A  Random Forest Classifier is an ensemble machine learning technique that creates several decision trees from random selections of data and features. It employs **bagging** (Bootstrap Aggregation) to provide variety to the trees and then combines their predictions using majority vote (for classification) or averaging (for regression). It is resilient, prevents overfitting, and works well with huge datasets. </a:t>
          </a:r>
        </a:p>
      </dgm:t>
    </dgm:pt>
    <dgm:pt modelId="{79FAE53F-6A4F-456F-8D88-B16934FB293C}" type="parTrans" cxnId="{05F50A93-E899-4057-BB34-DCF9419EDAE3}">
      <dgm:prSet/>
      <dgm:spPr/>
      <dgm:t>
        <a:bodyPr/>
        <a:lstStyle/>
        <a:p>
          <a:endParaRPr lang="en-US"/>
        </a:p>
      </dgm:t>
    </dgm:pt>
    <dgm:pt modelId="{FDED7043-8DFA-4205-9311-1B69D742928F}" type="sibTrans" cxnId="{05F50A93-E899-4057-BB34-DCF9419EDAE3}">
      <dgm:prSet/>
      <dgm:spPr/>
      <dgm:t>
        <a:bodyPr/>
        <a:lstStyle/>
        <a:p>
          <a:endParaRPr lang="en-US"/>
        </a:p>
      </dgm:t>
    </dgm:pt>
    <dgm:pt modelId="{D015D9F2-5B7F-4F91-8013-09AE93926E36}">
      <dgm:prSet custT="1"/>
      <dgm:spPr/>
      <dgm:t>
        <a:bodyPr/>
        <a:lstStyle/>
        <a:p>
          <a:pPr>
            <a:lnSpc>
              <a:spcPct val="100000"/>
            </a:lnSpc>
          </a:pPr>
          <a:r>
            <a:rPr lang="en-US" sz="1400" dirty="0"/>
            <a:t>Key hyperparameters include the number of trees ('</a:t>
          </a:r>
          <a:r>
            <a:rPr lang="en-US" sz="1400" dirty="0" err="1"/>
            <a:t>n_estimators</a:t>
          </a:r>
          <a:r>
            <a:rPr lang="en-US" sz="1400" dirty="0"/>
            <a:t>'), the maximum tree depth ('</a:t>
          </a:r>
          <a:r>
            <a:rPr lang="en-US" sz="1400" dirty="0" err="1"/>
            <a:t>max_depth</a:t>
          </a:r>
          <a:r>
            <a:rPr lang="en-US" sz="1400" dirty="0"/>
            <a:t>'), and the number of features evaluated. Random Forest is widely applied in fields such as fraud detection, medical diagnosis, and customer segmentation.</a:t>
          </a:r>
        </a:p>
      </dgm:t>
    </dgm:pt>
    <dgm:pt modelId="{52C17310-C460-412A-8F7A-AD96BCB6AC5C}" type="parTrans" cxnId="{E557704D-B1B3-40B7-9788-856A7F6A32C0}">
      <dgm:prSet/>
      <dgm:spPr/>
      <dgm:t>
        <a:bodyPr/>
        <a:lstStyle/>
        <a:p>
          <a:endParaRPr lang="en-US"/>
        </a:p>
      </dgm:t>
    </dgm:pt>
    <dgm:pt modelId="{EC591FEF-16F7-484D-A2EC-B6E73DE29E89}" type="sibTrans" cxnId="{E557704D-B1B3-40B7-9788-856A7F6A32C0}">
      <dgm:prSet/>
      <dgm:spPr/>
      <dgm:t>
        <a:bodyPr/>
        <a:lstStyle/>
        <a:p>
          <a:endParaRPr lang="en-US"/>
        </a:p>
      </dgm:t>
    </dgm:pt>
    <dgm:pt modelId="{56836553-C73A-4F38-A1D8-367A19A9E7D1}" type="pres">
      <dgm:prSet presAssocID="{EEEC7B66-7535-4D0D-B03E-7354EEAC6AA4}" presName="root" presStyleCnt="0">
        <dgm:presLayoutVars>
          <dgm:dir/>
          <dgm:resizeHandles val="exact"/>
        </dgm:presLayoutVars>
      </dgm:prSet>
      <dgm:spPr/>
    </dgm:pt>
    <dgm:pt modelId="{890ACA16-7747-4E8D-A7B4-7C08BE53B93E}" type="pres">
      <dgm:prSet presAssocID="{B7F6E798-36A5-41B7-95D7-02D947AB6582}" presName="compNode" presStyleCnt="0"/>
      <dgm:spPr/>
    </dgm:pt>
    <dgm:pt modelId="{0BF3DD31-4694-44BD-998D-CF9A6B6F2777}" type="pres">
      <dgm:prSet presAssocID="{B7F6E798-36A5-41B7-95D7-02D947AB6582}" presName="bgRect" presStyleLbl="bgShp" presStyleIdx="0" presStyleCnt="2"/>
      <dgm:spPr>
        <a:solidFill>
          <a:schemeClr val="accent5">
            <a:lumMod val="75000"/>
          </a:schemeClr>
        </a:solidFill>
      </dgm:spPr>
    </dgm:pt>
    <dgm:pt modelId="{E50EB937-ECDA-4AD5-9096-9E51084CF609}" type="pres">
      <dgm:prSet presAssocID="{B7F6E798-36A5-41B7-95D7-02D947AB658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eciduous tree"/>
        </a:ext>
      </dgm:extLst>
    </dgm:pt>
    <dgm:pt modelId="{40DA6FF8-E951-4881-B8C0-3388F8A31489}" type="pres">
      <dgm:prSet presAssocID="{B7F6E798-36A5-41B7-95D7-02D947AB6582}" presName="spaceRect" presStyleCnt="0"/>
      <dgm:spPr/>
    </dgm:pt>
    <dgm:pt modelId="{1CF04BC3-A655-46ED-B732-86C4F56A5B56}" type="pres">
      <dgm:prSet presAssocID="{B7F6E798-36A5-41B7-95D7-02D947AB6582}" presName="parTx" presStyleLbl="revTx" presStyleIdx="0" presStyleCnt="2">
        <dgm:presLayoutVars>
          <dgm:chMax val="0"/>
          <dgm:chPref val="0"/>
        </dgm:presLayoutVars>
      </dgm:prSet>
      <dgm:spPr/>
    </dgm:pt>
    <dgm:pt modelId="{2B69F4F9-2F35-428F-A3DC-3C8D1934D956}" type="pres">
      <dgm:prSet presAssocID="{FDED7043-8DFA-4205-9311-1B69D742928F}" presName="sibTrans" presStyleCnt="0"/>
      <dgm:spPr/>
    </dgm:pt>
    <dgm:pt modelId="{EED74891-5477-4360-8A00-40122F05BB29}" type="pres">
      <dgm:prSet presAssocID="{D015D9F2-5B7F-4F91-8013-09AE93926E36}" presName="compNode" presStyleCnt="0"/>
      <dgm:spPr/>
    </dgm:pt>
    <dgm:pt modelId="{D4AA4AE4-06D4-4A1C-9373-95DA3B10B18F}" type="pres">
      <dgm:prSet presAssocID="{D015D9F2-5B7F-4F91-8013-09AE93926E36}" presName="bgRect" presStyleLbl="bgShp" presStyleIdx="1" presStyleCnt="2"/>
      <dgm:spPr>
        <a:solidFill>
          <a:srgbClr val="00B050"/>
        </a:solidFill>
      </dgm:spPr>
    </dgm:pt>
    <dgm:pt modelId="{8169D13D-FC22-408F-8D19-A90F5C19B0C8}" type="pres">
      <dgm:prSet presAssocID="{D015D9F2-5B7F-4F91-8013-09AE93926E3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Key"/>
        </a:ext>
      </dgm:extLst>
    </dgm:pt>
    <dgm:pt modelId="{16D877BA-8F53-4DE1-B703-C6A75AD20686}" type="pres">
      <dgm:prSet presAssocID="{D015D9F2-5B7F-4F91-8013-09AE93926E36}" presName="spaceRect" presStyleCnt="0"/>
      <dgm:spPr/>
    </dgm:pt>
    <dgm:pt modelId="{9AB9B611-8F4F-47B3-8C37-85550E4DF9B3}" type="pres">
      <dgm:prSet presAssocID="{D015D9F2-5B7F-4F91-8013-09AE93926E36}" presName="parTx" presStyleLbl="revTx" presStyleIdx="1" presStyleCnt="2">
        <dgm:presLayoutVars>
          <dgm:chMax val="0"/>
          <dgm:chPref val="0"/>
        </dgm:presLayoutVars>
      </dgm:prSet>
      <dgm:spPr/>
    </dgm:pt>
  </dgm:ptLst>
  <dgm:cxnLst>
    <dgm:cxn modelId="{E557704D-B1B3-40B7-9788-856A7F6A32C0}" srcId="{EEEC7B66-7535-4D0D-B03E-7354EEAC6AA4}" destId="{D015D9F2-5B7F-4F91-8013-09AE93926E36}" srcOrd="1" destOrd="0" parTransId="{52C17310-C460-412A-8F7A-AD96BCB6AC5C}" sibTransId="{EC591FEF-16F7-484D-A2EC-B6E73DE29E89}"/>
    <dgm:cxn modelId="{23923151-5BB0-44F2-8107-6B4E335986D2}" type="presOf" srcId="{EEEC7B66-7535-4D0D-B03E-7354EEAC6AA4}" destId="{56836553-C73A-4F38-A1D8-367A19A9E7D1}" srcOrd="0" destOrd="0" presId="urn:microsoft.com/office/officeart/2018/2/layout/IconVerticalSolidList"/>
    <dgm:cxn modelId="{58304C8E-7604-4904-BECA-A3D7EED79043}" type="presOf" srcId="{D015D9F2-5B7F-4F91-8013-09AE93926E36}" destId="{9AB9B611-8F4F-47B3-8C37-85550E4DF9B3}" srcOrd="0" destOrd="0" presId="urn:microsoft.com/office/officeart/2018/2/layout/IconVerticalSolidList"/>
    <dgm:cxn modelId="{05F50A93-E899-4057-BB34-DCF9419EDAE3}" srcId="{EEEC7B66-7535-4D0D-B03E-7354EEAC6AA4}" destId="{B7F6E798-36A5-41B7-95D7-02D947AB6582}" srcOrd="0" destOrd="0" parTransId="{79FAE53F-6A4F-456F-8D88-B16934FB293C}" sibTransId="{FDED7043-8DFA-4205-9311-1B69D742928F}"/>
    <dgm:cxn modelId="{2D64DAFC-6676-471D-841F-ED471D7AB33B}" type="presOf" srcId="{B7F6E798-36A5-41B7-95D7-02D947AB6582}" destId="{1CF04BC3-A655-46ED-B732-86C4F56A5B56}" srcOrd="0" destOrd="0" presId="urn:microsoft.com/office/officeart/2018/2/layout/IconVerticalSolidList"/>
    <dgm:cxn modelId="{78512FB8-CDF3-4041-8C03-369FF9F54236}" type="presParOf" srcId="{56836553-C73A-4F38-A1D8-367A19A9E7D1}" destId="{890ACA16-7747-4E8D-A7B4-7C08BE53B93E}" srcOrd="0" destOrd="0" presId="urn:microsoft.com/office/officeart/2018/2/layout/IconVerticalSolidList"/>
    <dgm:cxn modelId="{6BA73657-F814-4399-AFD8-2E51EE18E5DB}" type="presParOf" srcId="{890ACA16-7747-4E8D-A7B4-7C08BE53B93E}" destId="{0BF3DD31-4694-44BD-998D-CF9A6B6F2777}" srcOrd="0" destOrd="0" presId="urn:microsoft.com/office/officeart/2018/2/layout/IconVerticalSolidList"/>
    <dgm:cxn modelId="{1DFF789B-B66B-4B1C-A33E-70E732C8278A}" type="presParOf" srcId="{890ACA16-7747-4E8D-A7B4-7C08BE53B93E}" destId="{E50EB937-ECDA-4AD5-9096-9E51084CF609}" srcOrd="1" destOrd="0" presId="urn:microsoft.com/office/officeart/2018/2/layout/IconVerticalSolidList"/>
    <dgm:cxn modelId="{AC17E121-34DA-4E45-9D3C-FE43880F9760}" type="presParOf" srcId="{890ACA16-7747-4E8D-A7B4-7C08BE53B93E}" destId="{40DA6FF8-E951-4881-B8C0-3388F8A31489}" srcOrd="2" destOrd="0" presId="urn:microsoft.com/office/officeart/2018/2/layout/IconVerticalSolidList"/>
    <dgm:cxn modelId="{2032ABE1-75E3-4EEC-89B1-0B4048422E09}" type="presParOf" srcId="{890ACA16-7747-4E8D-A7B4-7C08BE53B93E}" destId="{1CF04BC3-A655-46ED-B732-86C4F56A5B56}" srcOrd="3" destOrd="0" presId="urn:microsoft.com/office/officeart/2018/2/layout/IconVerticalSolidList"/>
    <dgm:cxn modelId="{C579F3F0-03CC-4E1B-90B5-1C85D75D08AF}" type="presParOf" srcId="{56836553-C73A-4F38-A1D8-367A19A9E7D1}" destId="{2B69F4F9-2F35-428F-A3DC-3C8D1934D956}" srcOrd="1" destOrd="0" presId="urn:microsoft.com/office/officeart/2018/2/layout/IconVerticalSolidList"/>
    <dgm:cxn modelId="{D1A4F7C5-5A50-4D84-8A3B-A5CBD0A33CF0}" type="presParOf" srcId="{56836553-C73A-4F38-A1D8-367A19A9E7D1}" destId="{EED74891-5477-4360-8A00-40122F05BB29}" srcOrd="2" destOrd="0" presId="urn:microsoft.com/office/officeart/2018/2/layout/IconVerticalSolidList"/>
    <dgm:cxn modelId="{DBB800FA-455A-4766-8646-71695C4AF670}" type="presParOf" srcId="{EED74891-5477-4360-8A00-40122F05BB29}" destId="{D4AA4AE4-06D4-4A1C-9373-95DA3B10B18F}" srcOrd="0" destOrd="0" presId="urn:microsoft.com/office/officeart/2018/2/layout/IconVerticalSolidList"/>
    <dgm:cxn modelId="{F035AB31-A367-4590-9896-F197CD54A6D0}" type="presParOf" srcId="{EED74891-5477-4360-8A00-40122F05BB29}" destId="{8169D13D-FC22-408F-8D19-A90F5C19B0C8}" srcOrd="1" destOrd="0" presId="urn:microsoft.com/office/officeart/2018/2/layout/IconVerticalSolidList"/>
    <dgm:cxn modelId="{877C8320-1F1B-43B2-B1CB-EF856AD8B862}" type="presParOf" srcId="{EED74891-5477-4360-8A00-40122F05BB29}" destId="{16D877BA-8F53-4DE1-B703-C6A75AD20686}" srcOrd="2" destOrd="0" presId="urn:microsoft.com/office/officeart/2018/2/layout/IconVerticalSolidList"/>
    <dgm:cxn modelId="{6E16787E-C8B5-4B7B-8652-018AD4CB71AB}" type="presParOf" srcId="{EED74891-5477-4360-8A00-40122F05BB29}" destId="{9AB9B611-8F4F-47B3-8C37-85550E4DF9B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ABF78E9-4738-4734-A1B7-9B6D937AE7F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42DBB5C8-0D00-4072-872F-502336921189}">
      <dgm:prSet/>
      <dgm:spPr/>
      <dgm:t>
        <a:bodyPr/>
        <a:lstStyle/>
        <a:p>
          <a:pPr>
            <a:lnSpc>
              <a:spcPct val="100000"/>
            </a:lnSpc>
          </a:pPr>
          <a:r>
            <a:rPr lang="en-US" dirty="0">
              <a:solidFill>
                <a:srgbClr val="0070C0"/>
              </a:solidFill>
            </a:rPr>
            <a:t>Addressing data imbalances and developing new features can improve model performance.</a:t>
          </a:r>
        </a:p>
      </dgm:t>
    </dgm:pt>
    <dgm:pt modelId="{17BE6038-42B7-4507-A40C-28CAE6A0B8DB}" type="parTrans" cxnId="{EC1BEFBE-A826-457D-A5BF-4CCF3DF26A6C}">
      <dgm:prSet/>
      <dgm:spPr/>
      <dgm:t>
        <a:bodyPr/>
        <a:lstStyle/>
        <a:p>
          <a:endParaRPr lang="en-US"/>
        </a:p>
      </dgm:t>
    </dgm:pt>
    <dgm:pt modelId="{68D4BB97-ECA6-4FBE-A49F-CCEBC49E010B}" type="sibTrans" cxnId="{EC1BEFBE-A826-457D-A5BF-4CCF3DF26A6C}">
      <dgm:prSet/>
      <dgm:spPr/>
      <dgm:t>
        <a:bodyPr/>
        <a:lstStyle/>
        <a:p>
          <a:endParaRPr lang="en-US"/>
        </a:p>
      </dgm:t>
    </dgm:pt>
    <dgm:pt modelId="{0B0268D4-BDC5-4265-A794-CF586E5BEFCA}">
      <dgm:prSet/>
      <dgm:spPr/>
      <dgm:t>
        <a:bodyPr/>
        <a:lstStyle/>
        <a:p>
          <a:pPr>
            <a:lnSpc>
              <a:spcPct val="100000"/>
            </a:lnSpc>
          </a:pPr>
          <a:r>
            <a:rPr lang="en-US" dirty="0">
              <a:solidFill>
                <a:srgbClr val="0070C0"/>
              </a:solidFill>
            </a:rPr>
            <a:t>Exploring sophisticated ensemble approaches or deep learning may yield more robust results.</a:t>
          </a:r>
        </a:p>
      </dgm:t>
    </dgm:pt>
    <dgm:pt modelId="{1A416152-7897-4615-A59A-4C4A57E26DED}" type="parTrans" cxnId="{2D167C3A-B7D8-4B35-A000-6D978ADD13A8}">
      <dgm:prSet/>
      <dgm:spPr/>
      <dgm:t>
        <a:bodyPr/>
        <a:lstStyle/>
        <a:p>
          <a:endParaRPr lang="en-US"/>
        </a:p>
      </dgm:t>
    </dgm:pt>
    <dgm:pt modelId="{0B4E7843-D485-4B6B-9060-B1B22473379B}" type="sibTrans" cxnId="{2D167C3A-B7D8-4B35-A000-6D978ADD13A8}">
      <dgm:prSet/>
      <dgm:spPr/>
      <dgm:t>
        <a:bodyPr/>
        <a:lstStyle/>
        <a:p>
          <a:endParaRPr lang="en-US"/>
        </a:p>
      </dgm:t>
    </dgm:pt>
    <dgm:pt modelId="{0B3FA4ED-85C4-40B6-B11B-66847A4A9DBE}">
      <dgm:prSet/>
      <dgm:spPr/>
      <dgm:t>
        <a:bodyPr/>
        <a:lstStyle/>
        <a:p>
          <a:pPr>
            <a:lnSpc>
              <a:spcPct val="100000"/>
            </a:lnSpc>
          </a:pPr>
          <a:r>
            <a:rPr lang="en-US" dirty="0">
              <a:solidFill>
                <a:srgbClr val="0070C0"/>
              </a:solidFill>
            </a:rPr>
            <a:t>This study emphasizes the relevance of accurate models in improving clinical decision-making and patient care by highlighting machine learning's potential for predicting health outcomes.</a:t>
          </a:r>
        </a:p>
      </dgm:t>
    </dgm:pt>
    <dgm:pt modelId="{204FCA1B-B797-4DF4-B17D-E3CB950C3BE9}" type="parTrans" cxnId="{409E6D74-1219-4B1F-82CC-88045DE23CDD}">
      <dgm:prSet/>
      <dgm:spPr/>
      <dgm:t>
        <a:bodyPr/>
        <a:lstStyle/>
        <a:p>
          <a:endParaRPr lang="en-US"/>
        </a:p>
      </dgm:t>
    </dgm:pt>
    <dgm:pt modelId="{7E5822D1-5ACC-4191-9F10-B7597898C561}" type="sibTrans" cxnId="{409E6D74-1219-4B1F-82CC-88045DE23CDD}">
      <dgm:prSet/>
      <dgm:spPr/>
      <dgm:t>
        <a:bodyPr/>
        <a:lstStyle/>
        <a:p>
          <a:endParaRPr lang="en-US"/>
        </a:p>
      </dgm:t>
    </dgm:pt>
    <dgm:pt modelId="{2450F065-EC2D-4C8F-85C1-84FFB93AB2DB}" type="pres">
      <dgm:prSet presAssocID="{3ABF78E9-4738-4734-A1B7-9B6D937AE7F0}" presName="root" presStyleCnt="0">
        <dgm:presLayoutVars>
          <dgm:dir/>
          <dgm:resizeHandles val="exact"/>
        </dgm:presLayoutVars>
      </dgm:prSet>
      <dgm:spPr/>
    </dgm:pt>
    <dgm:pt modelId="{8E27596E-62BA-41C6-8846-A55990E578D1}" type="pres">
      <dgm:prSet presAssocID="{42DBB5C8-0D00-4072-872F-502336921189}" presName="compNode" presStyleCnt="0"/>
      <dgm:spPr/>
    </dgm:pt>
    <dgm:pt modelId="{476634B5-95FB-462F-8FA9-1590D753D15B}" type="pres">
      <dgm:prSet presAssocID="{42DBB5C8-0D00-4072-872F-502336921189}" presName="bgRect" presStyleLbl="bgShp" presStyleIdx="0" presStyleCnt="3"/>
      <dgm:spPr/>
    </dgm:pt>
    <dgm:pt modelId="{01FE6941-31E2-41CE-AB0A-337C7E7A35B2}" type="pres">
      <dgm:prSet presAssocID="{42DBB5C8-0D00-4072-872F-50233692118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pward trend"/>
        </a:ext>
      </dgm:extLst>
    </dgm:pt>
    <dgm:pt modelId="{72A05E9F-C382-4C17-BE60-57FB24F6F782}" type="pres">
      <dgm:prSet presAssocID="{42DBB5C8-0D00-4072-872F-502336921189}" presName="spaceRect" presStyleCnt="0"/>
      <dgm:spPr/>
    </dgm:pt>
    <dgm:pt modelId="{68123325-CE9B-49C3-9057-B64D076283A0}" type="pres">
      <dgm:prSet presAssocID="{42DBB5C8-0D00-4072-872F-502336921189}" presName="parTx" presStyleLbl="revTx" presStyleIdx="0" presStyleCnt="3">
        <dgm:presLayoutVars>
          <dgm:chMax val="0"/>
          <dgm:chPref val="0"/>
        </dgm:presLayoutVars>
      </dgm:prSet>
      <dgm:spPr/>
    </dgm:pt>
    <dgm:pt modelId="{CF8D3AF1-9451-4501-826E-897ADE8EA78A}" type="pres">
      <dgm:prSet presAssocID="{68D4BB97-ECA6-4FBE-A49F-CCEBC49E010B}" presName="sibTrans" presStyleCnt="0"/>
      <dgm:spPr/>
    </dgm:pt>
    <dgm:pt modelId="{763F4D49-A9AF-4D13-9018-9F4343C83B75}" type="pres">
      <dgm:prSet presAssocID="{0B0268D4-BDC5-4265-A794-CF586E5BEFCA}" presName="compNode" presStyleCnt="0"/>
      <dgm:spPr/>
    </dgm:pt>
    <dgm:pt modelId="{D9195AC4-EB4C-486B-8FD6-670466969540}" type="pres">
      <dgm:prSet presAssocID="{0B0268D4-BDC5-4265-A794-CF586E5BEFCA}" presName="bgRect" presStyleLbl="bgShp" presStyleIdx="1" presStyleCnt="3"/>
      <dgm:spPr/>
    </dgm:pt>
    <dgm:pt modelId="{9846FD97-5BE3-4D33-B091-3BA6322752D1}" type="pres">
      <dgm:prSet presAssocID="{0B0268D4-BDC5-4265-A794-CF586E5BEFC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aze"/>
        </a:ext>
      </dgm:extLst>
    </dgm:pt>
    <dgm:pt modelId="{C59AC169-6A66-4540-AEB0-DB759573D47C}" type="pres">
      <dgm:prSet presAssocID="{0B0268D4-BDC5-4265-A794-CF586E5BEFCA}" presName="spaceRect" presStyleCnt="0"/>
      <dgm:spPr/>
    </dgm:pt>
    <dgm:pt modelId="{EA4B832A-168A-4BCF-916C-913ABCF7A656}" type="pres">
      <dgm:prSet presAssocID="{0B0268D4-BDC5-4265-A794-CF586E5BEFCA}" presName="parTx" presStyleLbl="revTx" presStyleIdx="1" presStyleCnt="3">
        <dgm:presLayoutVars>
          <dgm:chMax val="0"/>
          <dgm:chPref val="0"/>
        </dgm:presLayoutVars>
      </dgm:prSet>
      <dgm:spPr/>
    </dgm:pt>
    <dgm:pt modelId="{E689E8B5-7A67-48E6-B0D9-BBE87DD830CA}" type="pres">
      <dgm:prSet presAssocID="{0B4E7843-D485-4B6B-9060-B1B22473379B}" presName="sibTrans" presStyleCnt="0"/>
      <dgm:spPr/>
    </dgm:pt>
    <dgm:pt modelId="{E090D45B-A614-4158-8BB4-2E76BC7ADAB5}" type="pres">
      <dgm:prSet presAssocID="{0B3FA4ED-85C4-40B6-B11B-66847A4A9DBE}" presName="compNode" presStyleCnt="0"/>
      <dgm:spPr/>
    </dgm:pt>
    <dgm:pt modelId="{B2A73338-4A4D-4070-9E0E-301EFBF86707}" type="pres">
      <dgm:prSet presAssocID="{0B3FA4ED-85C4-40B6-B11B-66847A4A9DBE}" presName="bgRect" presStyleLbl="bgShp" presStyleIdx="2" presStyleCnt="3"/>
      <dgm:spPr/>
    </dgm:pt>
    <dgm:pt modelId="{855DD451-D18C-4F2D-A56A-EAE55EF07639}" type="pres">
      <dgm:prSet presAssocID="{0B3FA4ED-85C4-40B6-B11B-66847A4A9DB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octor"/>
        </a:ext>
      </dgm:extLst>
    </dgm:pt>
    <dgm:pt modelId="{2B93C636-894B-4AFC-A795-71DF95EA463B}" type="pres">
      <dgm:prSet presAssocID="{0B3FA4ED-85C4-40B6-B11B-66847A4A9DBE}" presName="spaceRect" presStyleCnt="0"/>
      <dgm:spPr/>
    </dgm:pt>
    <dgm:pt modelId="{6E2E2ECD-0C52-48B0-B20F-6BCC4A51A6CC}" type="pres">
      <dgm:prSet presAssocID="{0B3FA4ED-85C4-40B6-B11B-66847A4A9DBE}" presName="parTx" presStyleLbl="revTx" presStyleIdx="2" presStyleCnt="3">
        <dgm:presLayoutVars>
          <dgm:chMax val="0"/>
          <dgm:chPref val="0"/>
        </dgm:presLayoutVars>
      </dgm:prSet>
      <dgm:spPr/>
    </dgm:pt>
  </dgm:ptLst>
  <dgm:cxnLst>
    <dgm:cxn modelId="{DC57EF33-4541-4DAE-B750-E450434D7922}" type="presOf" srcId="{3ABF78E9-4738-4734-A1B7-9B6D937AE7F0}" destId="{2450F065-EC2D-4C8F-85C1-84FFB93AB2DB}" srcOrd="0" destOrd="0" presId="urn:microsoft.com/office/officeart/2018/2/layout/IconVerticalSolidList"/>
    <dgm:cxn modelId="{2D167C3A-B7D8-4B35-A000-6D978ADD13A8}" srcId="{3ABF78E9-4738-4734-A1B7-9B6D937AE7F0}" destId="{0B0268D4-BDC5-4265-A794-CF586E5BEFCA}" srcOrd="1" destOrd="0" parTransId="{1A416152-7897-4615-A59A-4C4A57E26DED}" sibTransId="{0B4E7843-D485-4B6B-9060-B1B22473379B}"/>
    <dgm:cxn modelId="{5DE51563-EE08-446E-93DD-B7C71192AD2B}" type="presOf" srcId="{42DBB5C8-0D00-4072-872F-502336921189}" destId="{68123325-CE9B-49C3-9057-B64D076283A0}" srcOrd="0" destOrd="0" presId="urn:microsoft.com/office/officeart/2018/2/layout/IconVerticalSolidList"/>
    <dgm:cxn modelId="{409E6D74-1219-4B1F-82CC-88045DE23CDD}" srcId="{3ABF78E9-4738-4734-A1B7-9B6D937AE7F0}" destId="{0B3FA4ED-85C4-40B6-B11B-66847A4A9DBE}" srcOrd="2" destOrd="0" parTransId="{204FCA1B-B797-4DF4-B17D-E3CB950C3BE9}" sibTransId="{7E5822D1-5ACC-4191-9F10-B7597898C561}"/>
    <dgm:cxn modelId="{B6815CA2-AABF-4A21-BE8A-E8161C44E385}" type="presOf" srcId="{0B0268D4-BDC5-4265-A794-CF586E5BEFCA}" destId="{EA4B832A-168A-4BCF-916C-913ABCF7A656}" srcOrd="0" destOrd="0" presId="urn:microsoft.com/office/officeart/2018/2/layout/IconVerticalSolidList"/>
    <dgm:cxn modelId="{EC1BEFBE-A826-457D-A5BF-4CCF3DF26A6C}" srcId="{3ABF78E9-4738-4734-A1B7-9B6D937AE7F0}" destId="{42DBB5C8-0D00-4072-872F-502336921189}" srcOrd="0" destOrd="0" parTransId="{17BE6038-42B7-4507-A40C-28CAE6A0B8DB}" sibTransId="{68D4BB97-ECA6-4FBE-A49F-CCEBC49E010B}"/>
    <dgm:cxn modelId="{49FC3ED6-AC4A-49B3-94E1-2B77587828E8}" type="presOf" srcId="{0B3FA4ED-85C4-40B6-B11B-66847A4A9DBE}" destId="{6E2E2ECD-0C52-48B0-B20F-6BCC4A51A6CC}" srcOrd="0" destOrd="0" presId="urn:microsoft.com/office/officeart/2018/2/layout/IconVerticalSolidList"/>
    <dgm:cxn modelId="{31B381CA-C465-416C-8339-FA84C2FE16F7}" type="presParOf" srcId="{2450F065-EC2D-4C8F-85C1-84FFB93AB2DB}" destId="{8E27596E-62BA-41C6-8846-A55990E578D1}" srcOrd="0" destOrd="0" presId="urn:microsoft.com/office/officeart/2018/2/layout/IconVerticalSolidList"/>
    <dgm:cxn modelId="{76D056B8-DB65-4395-9B35-8C90C9234E50}" type="presParOf" srcId="{8E27596E-62BA-41C6-8846-A55990E578D1}" destId="{476634B5-95FB-462F-8FA9-1590D753D15B}" srcOrd="0" destOrd="0" presId="urn:microsoft.com/office/officeart/2018/2/layout/IconVerticalSolidList"/>
    <dgm:cxn modelId="{C0D1BD65-768A-452C-9134-B88E59039B8A}" type="presParOf" srcId="{8E27596E-62BA-41C6-8846-A55990E578D1}" destId="{01FE6941-31E2-41CE-AB0A-337C7E7A35B2}" srcOrd="1" destOrd="0" presId="urn:microsoft.com/office/officeart/2018/2/layout/IconVerticalSolidList"/>
    <dgm:cxn modelId="{93159059-E4DC-46BA-B967-B38D1BBEF534}" type="presParOf" srcId="{8E27596E-62BA-41C6-8846-A55990E578D1}" destId="{72A05E9F-C382-4C17-BE60-57FB24F6F782}" srcOrd="2" destOrd="0" presId="urn:microsoft.com/office/officeart/2018/2/layout/IconVerticalSolidList"/>
    <dgm:cxn modelId="{C6960C5E-AAC6-4DBA-BBD3-6E933E088869}" type="presParOf" srcId="{8E27596E-62BA-41C6-8846-A55990E578D1}" destId="{68123325-CE9B-49C3-9057-B64D076283A0}" srcOrd="3" destOrd="0" presId="urn:microsoft.com/office/officeart/2018/2/layout/IconVerticalSolidList"/>
    <dgm:cxn modelId="{38FB317A-43A3-401E-A905-F16DFC33A3D6}" type="presParOf" srcId="{2450F065-EC2D-4C8F-85C1-84FFB93AB2DB}" destId="{CF8D3AF1-9451-4501-826E-897ADE8EA78A}" srcOrd="1" destOrd="0" presId="urn:microsoft.com/office/officeart/2018/2/layout/IconVerticalSolidList"/>
    <dgm:cxn modelId="{93A737AE-9432-4E7C-8D0F-1711CF26B8CD}" type="presParOf" srcId="{2450F065-EC2D-4C8F-85C1-84FFB93AB2DB}" destId="{763F4D49-A9AF-4D13-9018-9F4343C83B75}" srcOrd="2" destOrd="0" presId="urn:microsoft.com/office/officeart/2018/2/layout/IconVerticalSolidList"/>
    <dgm:cxn modelId="{458BBB58-ACF4-472F-B51D-1E2C996176E5}" type="presParOf" srcId="{763F4D49-A9AF-4D13-9018-9F4343C83B75}" destId="{D9195AC4-EB4C-486B-8FD6-670466969540}" srcOrd="0" destOrd="0" presId="urn:microsoft.com/office/officeart/2018/2/layout/IconVerticalSolidList"/>
    <dgm:cxn modelId="{AA6718B1-0FA3-40E9-A41F-0B1DC210E1F1}" type="presParOf" srcId="{763F4D49-A9AF-4D13-9018-9F4343C83B75}" destId="{9846FD97-5BE3-4D33-B091-3BA6322752D1}" srcOrd="1" destOrd="0" presId="urn:microsoft.com/office/officeart/2018/2/layout/IconVerticalSolidList"/>
    <dgm:cxn modelId="{6F80C7E4-5821-480B-A819-637A831631F8}" type="presParOf" srcId="{763F4D49-A9AF-4D13-9018-9F4343C83B75}" destId="{C59AC169-6A66-4540-AEB0-DB759573D47C}" srcOrd="2" destOrd="0" presId="urn:microsoft.com/office/officeart/2018/2/layout/IconVerticalSolidList"/>
    <dgm:cxn modelId="{9DC98DB7-2551-4A29-8AA8-F88F13065DCE}" type="presParOf" srcId="{763F4D49-A9AF-4D13-9018-9F4343C83B75}" destId="{EA4B832A-168A-4BCF-916C-913ABCF7A656}" srcOrd="3" destOrd="0" presId="urn:microsoft.com/office/officeart/2018/2/layout/IconVerticalSolidList"/>
    <dgm:cxn modelId="{890E5418-B126-4CB0-A8A4-182B53DAF97E}" type="presParOf" srcId="{2450F065-EC2D-4C8F-85C1-84FFB93AB2DB}" destId="{E689E8B5-7A67-48E6-B0D9-BBE87DD830CA}" srcOrd="3" destOrd="0" presId="urn:microsoft.com/office/officeart/2018/2/layout/IconVerticalSolidList"/>
    <dgm:cxn modelId="{85D4D134-8D9F-4AD8-96D8-87D50D4ABD62}" type="presParOf" srcId="{2450F065-EC2D-4C8F-85C1-84FFB93AB2DB}" destId="{E090D45B-A614-4158-8BB4-2E76BC7ADAB5}" srcOrd="4" destOrd="0" presId="urn:microsoft.com/office/officeart/2018/2/layout/IconVerticalSolidList"/>
    <dgm:cxn modelId="{193E99EE-F35C-4E7E-BF18-09E121E6C11E}" type="presParOf" srcId="{E090D45B-A614-4158-8BB4-2E76BC7ADAB5}" destId="{B2A73338-4A4D-4070-9E0E-301EFBF86707}" srcOrd="0" destOrd="0" presId="urn:microsoft.com/office/officeart/2018/2/layout/IconVerticalSolidList"/>
    <dgm:cxn modelId="{A0D49AFF-9792-4A54-9279-F814939FC924}" type="presParOf" srcId="{E090D45B-A614-4158-8BB4-2E76BC7ADAB5}" destId="{855DD451-D18C-4F2D-A56A-EAE55EF07639}" srcOrd="1" destOrd="0" presId="urn:microsoft.com/office/officeart/2018/2/layout/IconVerticalSolidList"/>
    <dgm:cxn modelId="{36B9087E-C5AC-4731-88A4-FA3EB617E0E7}" type="presParOf" srcId="{E090D45B-A614-4158-8BB4-2E76BC7ADAB5}" destId="{2B93C636-894B-4AFC-A795-71DF95EA463B}" srcOrd="2" destOrd="0" presId="urn:microsoft.com/office/officeart/2018/2/layout/IconVerticalSolidList"/>
    <dgm:cxn modelId="{3433E567-0C2B-4CA4-B98A-D808D7F8014E}" type="presParOf" srcId="{E090D45B-A614-4158-8BB4-2E76BC7ADAB5}" destId="{6E2E2ECD-0C52-48B0-B20F-6BCC4A51A6C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6C08CF-B725-4BFD-8CAC-88CDB111AFB6}">
      <dsp:nvSpPr>
        <dsp:cNvPr id="0" name=""/>
        <dsp:cNvSpPr/>
      </dsp:nvSpPr>
      <dsp:spPr>
        <a:xfrm>
          <a:off x="0" y="675"/>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C484D6-8076-4BA5-8EF6-92202534F92A}">
      <dsp:nvSpPr>
        <dsp:cNvPr id="0" name=""/>
        <dsp:cNvSpPr/>
      </dsp:nvSpPr>
      <dsp:spPr>
        <a:xfrm>
          <a:off x="0" y="675"/>
          <a:ext cx="6900512" cy="553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Data Description </a:t>
          </a:r>
        </a:p>
      </dsp:txBody>
      <dsp:txXfrm>
        <a:off x="0" y="675"/>
        <a:ext cx="6900512" cy="553478"/>
      </dsp:txXfrm>
    </dsp:sp>
    <dsp:sp modelId="{04D85B17-2D88-4A93-A0B1-FB17BFB1CE58}">
      <dsp:nvSpPr>
        <dsp:cNvPr id="0" name=""/>
        <dsp:cNvSpPr/>
      </dsp:nvSpPr>
      <dsp:spPr>
        <a:xfrm>
          <a:off x="0" y="554154"/>
          <a:ext cx="6900512"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E30EEE-8602-4C9B-9EBF-F859C42E261C}">
      <dsp:nvSpPr>
        <dsp:cNvPr id="0" name=""/>
        <dsp:cNvSpPr/>
      </dsp:nvSpPr>
      <dsp:spPr>
        <a:xfrm>
          <a:off x="0" y="554154"/>
          <a:ext cx="6900512" cy="553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Step 1 – Data Collection</a:t>
          </a:r>
        </a:p>
      </dsp:txBody>
      <dsp:txXfrm>
        <a:off x="0" y="554154"/>
        <a:ext cx="6900512" cy="553478"/>
      </dsp:txXfrm>
    </dsp:sp>
    <dsp:sp modelId="{F9326321-FB40-4D3F-BFF6-A210719BB4A0}">
      <dsp:nvSpPr>
        <dsp:cNvPr id="0" name=""/>
        <dsp:cNvSpPr/>
      </dsp:nvSpPr>
      <dsp:spPr>
        <a:xfrm>
          <a:off x="0" y="1107633"/>
          <a:ext cx="690051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896962-72CA-4049-9A18-1F46CF4A144E}">
      <dsp:nvSpPr>
        <dsp:cNvPr id="0" name=""/>
        <dsp:cNvSpPr/>
      </dsp:nvSpPr>
      <dsp:spPr>
        <a:xfrm>
          <a:off x="0" y="1107633"/>
          <a:ext cx="6900512" cy="553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Step 2 – Data visualization </a:t>
          </a:r>
        </a:p>
      </dsp:txBody>
      <dsp:txXfrm>
        <a:off x="0" y="1107633"/>
        <a:ext cx="6900512" cy="553478"/>
      </dsp:txXfrm>
    </dsp:sp>
    <dsp:sp modelId="{8F414D5F-A955-463A-978D-DDD332577538}">
      <dsp:nvSpPr>
        <dsp:cNvPr id="0" name=""/>
        <dsp:cNvSpPr/>
      </dsp:nvSpPr>
      <dsp:spPr>
        <a:xfrm>
          <a:off x="0" y="1661112"/>
          <a:ext cx="6900512"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ABA67F-8C4C-4259-A74C-963238C199B8}">
      <dsp:nvSpPr>
        <dsp:cNvPr id="0" name=""/>
        <dsp:cNvSpPr/>
      </dsp:nvSpPr>
      <dsp:spPr>
        <a:xfrm>
          <a:off x="0" y="1661112"/>
          <a:ext cx="6900512" cy="553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Step 3 – Regression </a:t>
          </a:r>
        </a:p>
      </dsp:txBody>
      <dsp:txXfrm>
        <a:off x="0" y="1661112"/>
        <a:ext cx="6900512" cy="553478"/>
      </dsp:txXfrm>
    </dsp:sp>
    <dsp:sp modelId="{C054BF63-FB67-420F-9A9C-3796AE8C4763}">
      <dsp:nvSpPr>
        <dsp:cNvPr id="0" name=""/>
        <dsp:cNvSpPr/>
      </dsp:nvSpPr>
      <dsp:spPr>
        <a:xfrm>
          <a:off x="0" y="2214591"/>
          <a:ext cx="6900512"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5C7FF1-01C3-4484-B185-EAE52F9AC90D}">
      <dsp:nvSpPr>
        <dsp:cNvPr id="0" name=""/>
        <dsp:cNvSpPr/>
      </dsp:nvSpPr>
      <dsp:spPr>
        <a:xfrm>
          <a:off x="0" y="2214591"/>
          <a:ext cx="6900512" cy="553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Step 4 – KNN &amp; Naïve bayes</a:t>
          </a:r>
        </a:p>
      </dsp:txBody>
      <dsp:txXfrm>
        <a:off x="0" y="2214591"/>
        <a:ext cx="6900512" cy="553478"/>
      </dsp:txXfrm>
    </dsp:sp>
    <dsp:sp modelId="{8670244D-8C7C-4BAE-B093-D0017BF5B3A8}">
      <dsp:nvSpPr>
        <dsp:cNvPr id="0" name=""/>
        <dsp:cNvSpPr/>
      </dsp:nvSpPr>
      <dsp:spPr>
        <a:xfrm>
          <a:off x="0" y="2768070"/>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58760A-8B4A-4119-BA79-5E8A8E825B6A}">
      <dsp:nvSpPr>
        <dsp:cNvPr id="0" name=""/>
        <dsp:cNvSpPr/>
      </dsp:nvSpPr>
      <dsp:spPr>
        <a:xfrm>
          <a:off x="0" y="2768070"/>
          <a:ext cx="6900512" cy="553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Step 5 – SVM</a:t>
          </a:r>
        </a:p>
      </dsp:txBody>
      <dsp:txXfrm>
        <a:off x="0" y="2768070"/>
        <a:ext cx="6900512" cy="553478"/>
      </dsp:txXfrm>
    </dsp:sp>
    <dsp:sp modelId="{CCEC3D7A-CDD4-4D34-99AF-84D75B4B01C2}">
      <dsp:nvSpPr>
        <dsp:cNvPr id="0" name=""/>
        <dsp:cNvSpPr/>
      </dsp:nvSpPr>
      <dsp:spPr>
        <a:xfrm>
          <a:off x="0" y="3321549"/>
          <a:ext cx="6900512"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1E1B08-7535-4EDA-A73F-796E3295E197}">
      <dsp:nvSpPr>
        <dsp:cNvPr id="0" name=""/>
        <dsp:cNvSpPr/>
      </dsp:nvSpPr>
      <dsp:spPr>
        <a:xfrm>
          <a:off x="0" y="3321549"/>
          <a:ext cx="6900512" cy="553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Step 6 – Random forest </a:t>
          </a:r>
        </a:p>
      </dsp:txBody>
      <dsp:txXfrm>
        <a:off x="0" y="3321549"/>
        <a:ext cx="6900512" cy="553478"/>
      </dsp:txXfrm>
    </dsp:sp>
    <dsp:sp modelId="{99ABB125-1D01-4E93-8AA1-7CFFFA5981E0}">
      <dsp:nvSpPr>
        <dsp:cNvPr id="0" name=""/>
        <dsp:cNvSpPr/>
      </dsp:nvSpPr>
      <dsp:spPr>
        <a:xfrm>
          <a:off x="0" y="3875028"/>
          <a:ext cx="690051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553598-E1CF-40FE-A3D0-C28EF4CDAC1E}">
      <dsp:nvSpPr>
        <dsp:cNvPr id="0" name=""/>
        <dsp:cNvSpPr/>
      </dsp:nvSpPr>
      <dsp:spPr>
        <a:xfrm>
          <a:off x="0" y="3875028"/>
          <a:ext cx="6900512" cy="553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Conclusion </a:t>
          </a:r>
        </a:p>
      </dsp:txBody>
      <dsp:txXfrm>
        <a:off x="0" y="3875028"/>
        <a:ext cx="6900512" cy="553478"/>
      </dsp:txXfrm>
    </dsp:sp>
    <dsp:sp modelId="{AEF0E355-CFA9-4C1A-949A-F87E13060545}">
      <dsp:nvSpPr>
        <dsp:cNvPr id="0" name=""/>
        <dsp:cNvSpPr/>
      </dsp:nvSpPr>
      <dsp:spPr>
        <a:xfrm>
          <a:off x="0" y="4428507"/>
          <a:ext cx="6900512"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33DB7D-6A7E-4B83-86C5-FAC5E444A4FD}">
      <dsp:nvSpPr>
        <dsp:cNvPr id="0" name=""/>
        <dsp:cNvSpPr/>
      </dsp:nvSpPr>
      <dsp:spPr>
        <a:xfrm>
          <a:off x="0" y="4428507"/>
          <a:ext cx="6900512" cy="553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References </a:t>
          </a:r>
        </a:p>
      </dsp:txBody>
      <dsp:txXfrm>
        <a:off x="0" y="4428507"/>
        <a:ext cx="6900512" cy="553478"/>
      </dsp:txXfrm>
    </dsp:sp>
    <dsp:sp modelId="{A916693D-40F3-4548-A770-FC9F800ADC59}">
      <dsp:nvSpPr>
        <dsp:cNvPr id="0" name=""/>
        <dsp:cNvSpPr/>
      </dsp:nvSpPr>
      <dsp:spPr>
        <a:xfrm>
          <a:off x="0" y="4981986"/>
          <a:ext cx="6900512"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07A29D-B120-4819-AE4E-61114C08AA07}">
      <dsp:nvSpPr>
        <dsp:cNvPr id="0" name=""/>
        <dsp:cNvSpPr/>
      </dsp:nvSpPr>
      <dsp:spPr>
        <a:xfrm>
          <a:off x="0" y="4981986"/>
          <a:ext cx="6900512" cy="553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Contribution</a:t>
          </a:r>
        </a:p>
      </dsp:txBody>
      <dsp:txXfrm>
        <a:off x="0" y="4981986"/>
        <a:ext cx="6900512" cy="5534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1D537D-70A2-4242-A53E-FAEA0AAC945D}">
      <dsp:nvSpPr>
        <dsp:cNvPr id="0" name=""/>
        <dsp:cNvSpPr/>
      </dsp:nvSpPr>
      <dsp:spPr>
        <a:xfrm>
          <a:off x="8930" y="870267"/>
          <a:ext cx="3534264" cy="1060279"/>
        </a:xfrm>
        <a:prstGeom prst="chevron">
          <a:avLst>
            <a:gd name="adj" fmla="val 3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30915" tIns="130915" rIns="130915" bIns="130915"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327014" y="870267"/>
        <a:ext cx="2898096" cy="1060279"/>
      </dsp:txXfrm>
    </dsp:sp>
    <dsp:sp modelId="{F411EB22-053B-4E6D-80F4-4B83CBE3C719}">
      <dsp:nvSpPr>
        <dsp:cNvPr id="0" name=""/>
        <dsp:cNvSpPr/>
      </dsp:nvSpPr>
      <dsp:spPr>
        <a:xfrm>
          <a:off x="8930" y="1930546"/>
          <a:ext cx="3216180" cy="1550523"/>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150" tIns="254150" rIns="254150" bIns="508299" numCol="1" spcCol="1270" anchor="t" anchorCtr="0">
          <a:noAutofit/>
        </a:bodyPr>
        <a:lstStyle/>
        <a:p>
          <a:pPr marL="0" lvl="0" indent="0" algn="l" defTabSz="889000">
            <a:lnSpc>
              <a:spcPct val="90000"/>
            </a:lnSpc>
            <a:spcBef>
              <a:spcPct val="0"/>
            </a:spcBef>
            <a:spcAft>
              <a:spcPct val="35000"/>
            </a:spcAft>
            <a:buNone/>
          </a:pPr>
          <a:r>
            <a:rPr lang="en-US" sz="2000" kern="1200"/>
            <a:t>Define the project.</a:t>
          </a:r>
        </a:p>
      </dsp:txBody>
      <dsp:txXfrm>
        <a:off x="8930" y="1930546"/>
        <a:ext cx="3216180" cy="1550523"/>
      </dsp:txXfrm>
    </dsp:sp>
    <dsp:sp modelId="{8235CDF9-45B8-4929-8480-A510DD066B6B}">
      <dsp:nvSpPr>
        <dsp:cNvPr id="0" name=""/>
        <dsp:cNvSpPr/>
      </dsp:nvSpPr>
      <dsp:spPr>
        <a:xfrm>
          <a:off x="3490667" y="870267"/>
          <a:ext cx="3534264" cy="1060279"/>
        </a:xfrm>
        <a:prstGeom prst="chevron">
          <a:avLst>
            <a:gd name="adj" fmla="val 30000"/>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w="6350" cap="flat" cmpd="sng" algn="ctr">
          <a:solidFill>
            <a:schemeClr val="accent2">
              <a:hueOff val="-727682"/>
              <a:satOff val="-41964"/>
              <a:lumOff val="4314"/>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30915" tIns="130915" rIns="130915" bIns="130915"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3808751" y="870267"/>
        <a:ext cx="2898096" cy="1060279"/>
      </dsp:txXfrm>
    </dsp:sp>
    <dsp:sp modelId="{4472CA98-ECC8-470F-94BA-BB0E68395029}">
      <dsp:nvSpPr>
        <dsp:cNvPr id="0" name=""/>
        <dsp:cNvSpPr/>
      </dsp:nvSpPr>
      <dsp:spPr>
        <a:xfrm>
          <a:off x="3490667" y="1930546"/>
          <a:ext cx="3216180" cy="1550523"/>
        </a:xfrm>
        <a:prstGeom prst="rect">
          <a:avLst/>
        </a:prstGeom>
        <a:solidFill>
          <a:schemeClr val="accent2">
            <a:tint val="40000"/>
            <a:alpha val="90000"/>
            <a:hueOff val="-424613"/>
            <a:satOff val="-37673"/>
            <a:lumOff val="-385"/>
            <a:alphaOff val="0"/>
          </a:schemeClr>
        </a:solidFill>
        <a:ln w="6350" cap="flat" cmpd="sng" algn="ctr">
          <a:solidFill>
            <a:schemeClr val="accent2">
              <a:tint val="40000"/>
              <a:alpha val="90000"/>
              <a:hueOff val="-424613"/>
              <a:satOff val="-37673"/>
              <a:lumOff val="-385"/>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150" tIns="254150" rIns="254150" bIns="508299" numCol="1" spcCol="1270" anchor="t" anchorCtr="0">
          <a:noAutofit/>
        </a:bodyPr>
        <a:lstStyle/>
        <a:p>
          <a:pPr marL="0" lvl="0" indent="0" algn="l" defTabSz="889000">
            <a:lnSpc>
              <a:spcPct val="90000"/>
            </a:lnSpc>
            <a:spcBef>
              <a:spcPct val="0"/>
            </a:spcBef>
            <a:spcAft>
              <a:spcPct val="35000"/>
            </a:spcAft>
            <a:buNone/>
          </a:pPr>
          <a:r>
            <a:rPr lang="en-US" sz="2000" kern="1200"/>
            <a:t>Define data.</a:t>
          </a:r>
        </a:p>
      </dsp:txBody>
      <dsp:txXfrm>
        <a:off x="3490667" y="1930546"/>
        <a:ext cx="3216180" cy="1550523"/>
      </dsp:txXfrm>
    </dsp:sp>
    <dsp:sp modelId="{1AEC8EC5-A803-4E28-93C4-0DE09323CBA8}">
      <dsp:nvSpPr>
        <dsp:cNvPr id="0" name=""/>
        <dsp:cNvSpPr/>
      </dsp:nvSpPr>
      <dsp:spPr>
        <a:xfrm>
          <a:off x="6972405" y="870267"/>
          <a:ext cx="3534264" cy="1060279"/>
        </a:xfrm>
        <a:prstGeom prst="chevron">
          <a:avLst>
            <a:gd name="adj" fmla="val 30000"/>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w="6350" cap="flat" cmpd="sng" algn="ctr">
          <a:solidFill>
            <a:schemeClr val="accent2">
              <a:hueOff val="-1455363"/>
              <a:satOff val="-83928"/>
              <a:lumOff val="8628"/>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30915" tIns="130915" rIns="130915" bIns="130915"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7290489" y="870267"/>
        <a:ext cx="2898096" cy="1060279"/>
      </dsp:txXfrm>
    </dsp:sp>
    <dsp:sp modelId="{6CA65D77-D26A-4B19-BF52-95B31FE9ECAE}">
      <dsp:nvSpPr>
        <dsp:cNvPr id="0" name=""/>
        <dsp:cNvSpPr/>
      </dsp:nvSpPr>
      <dsp:spPr>
        <a:xfrm>
          <a:off x="6972405" y="1930546"/>
          <a:ext cx="3216180" cy="1550523"/>
        </a:xfrm>
        <a:prstGeom prst="rect">
          <a:avLst/>
        </a:prstGeom>
        <a:solidFill>
          <a:schemeClr val="accent2">
            <a:tint val="40000"/>
            <a:alpha val="90000"/>
            <a:hueOff val="-849226"/>
            <a:satOff val="-75346"/>
            <a:lumOff val="-769"/>
            <a:alphaOff val="0"/>
          </a:schemeClr>
        </a:solidFill>
        <a:ln w="6350" cap="flat" cmpd="sng" algn="ctr">
          <a:solidFill>
            <a:schemeClr val="accent2">
              <a:tint val="40000"/>
              <a:alpha val="90000"/>
              <a:hueOff val="-849226"/>
              <a:satOff val="-75346"/>
              <a:lumOff val="-76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150" tIns="254150" rIns="254150" bIns="508299" numCol="1" spcCol="1270" anchor="t" anchorCtr="0">
          <a:noAutofit/>
        </a:bodyPr>
        <a:lstStyle/>
        <a:p>
          <a:pPr marL="0" lvl="0" indent="0" algn="l" defTabSz="889000">
            <a:lnSpc>
              <a:spcPct val="90000"/>
            </a:lnSpc>
            <a:spcBef>
              <a:spcPct val="0"/>
            </a:spcBef>
            <a:spcAft>
              <a:spcPct val="35000"/>
            </a:spcAft>
            <a:buNone/>
          </a:pPr>
          <a:r>
            <a:rPr lang="en-US" sz="2000" kern="1200"/>
            <a:t>Collect data.</a:t>
          </a:r>
        </a:p>
      </dsp:txBody>
      <dsp:txXfrm>
        <a:off x="6972405" y="1930546"/>
        <a:ext cx="3216180" cy="155052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94CA41-D20C-4E8A-B225-CF88AFD96826}">
      <dsp:nvSpPr>
        <dsp:cNvPr id="0" name=""/>
        <dsp:cNvSpPr/>
      </dsp:nvSpPr>
      <dsp:spPr>
        <a:xfrm>
          <a:off x="582645" y="1178"/>
          <a:ext cx="2174490" cy="130469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Pregnancies</a:t>
          </a:r>
          <a:r>
            <a:rPr lang="en-US" sz="1600" kern="1200"/>
            <a:t>: Number of times the patient has been pregnant.</a:t>
          </a:r>
        </a:p>
      </dsp:txBody>
      <dsp:txXfrm>
        <a:off x="582645" y="1178"/>
        <a:ext cx="2174490" cy="1304694"/>
      </dsp:txXfrm>
    </dsp:sp>
    <dsp:sp modelId="{FE76E8A7-25E4-4989-B2C8-2810E4AD5455}">
      <dsp:nvSpPr>
        <dsp:cNvPr id="0" name=""/>
        <dsp:cNvSpPr/>
      </dsp:nvSpPr>
      <dsp:spPr>
        <a:xfrm>
          <a:off x="2974584" y="1178"/>
          <a:ext cx="2174490" cy="1304694"/>
        </a:xfrm>
        <a:prstGeom prst="rect">
          <a:avLst/>
        </a:prstGeom>
        <a:gradFill rotWithShape="0">
          <a:gsLst>
            <a:gs pos="0">
              <a:schemeClr val="accent2">
                <a:hueOff val="-181920"/>
                <a:satOff val="-10491"/>
                <a:lumOff val="1078"/>
                <a:alphaOff val="0"/>
                <a:satMod val="103000"/>
                <a:lumMod val="102000"/>
                <a:tint val="94000"/>
              </a:schemeClr>
            </a:gs>
            <a:gs pos="50000">
              <a:schemeClr val="accent2">
                <a:hueOff val="-181920"/>
                <a:satOff val="-10491"/>
                <a:lumOff val="1078"/>
                <a:alphaOff val="0"/>
                <a:satMod val="110000"/>
                <a:lumMod val="100000"/>
                <a:shade val="100000"/>
              </a:schemeClr>
            </a:gs>
            <a:gs pos="100000">
              <a:schemeClr val="accent2">
                <a:hueOff val="-181920"/>
                <a:satOff val="-10491"/>
                <a:lumOff val="107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Glucose</a:t>
          </a:r>
          <a:r>
            <a:rPr lang="en-US" sz="1600" kern="1200"/>
            <a:t>: Plasma glucose concentration a 2 hours in an oral glucose tolerance test.</a:t>
          </a:r>
        </a:p>
      </dsp:txBody>
      <dsp:txXfrm>
        <a:off x="2974584" y="1178"/>
        <a:ext cx="2174490" cy="1304694"/>
      </dsp:txXfrm>
    </dsp:sp>
    <dsp:sp modelId="{ADE58C7D-B175-44DD-B59A-02820B0F660D}">
      <dsp:nvSpPr>
        <dsp:cNvPr id="0" name=""/>
        <dsp:cNvSpPr/>
      </dsp:nvSpPr>
      <dsp:spPr>
        <a:xfrm>
          <a:off x="5366524" y="1178"/>
          <a:ext cx="2174490" cy="1304694"/>
        </a:xfrm>
        <a:prstGeom prst="rect">
          <a:avLst/>
        </a:prstGeom>
        <a:gradFill rotWithShape="0">
          <a:gsLst>
            <a:gs pos="0">
              <a:schemeClr val="accent2">
                <a:hueOff val="-363841"/>
                <a:satOff val="-20982"/>
                <a:lumOff val="2157"/>
                <a:alphaOff val="0"/>
                <a:satMod val="103000"/>
                <a:lumMod val="102000"/>
                <a:tint val="94000"/>
              </a:schemeClr>
            </a:gs>
            <a:gs pos="50000">
              <a:schemeClr val="accent2">
                <a:hueOff val="-363841"/>
                <a:satOff val="-20982"/>
                <a:lumOff val="2157"/>
                <a:alphaOff val="0"/>
                <a:satMod val="110000"/>
                <a:lumMod val="100000"/>
                <a:shade val="100000"/>
              </a:schemeClr>
            </a:gs>
            <a:gs pos="100000">
              <a:schemeClr val="accent2">
                <a:hueOff val="-363841"/>
                <a:satOff val="-20982"/>
                <a:lumOff val="215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Blood Pressure</a:t>
          </a:r>
          <a:r>
            <a:rPr lang="en-US" sz="1600" kern="1200"/>
            <a:t>: Diastolic blood pressure (mm Hg).</a:t>
          </a:r>
        </a:p>
      </dsp:txBody>
      <dsp:txXfrm>
        <a:off x="5366524" y="1178"/>
        <a:ext cx="2174490" cy="1304694"/>
      </dsp:txXfrm>
    </dsp:sp>
    <dsp:sp modelId="{CA5A8EB9-1C6E-4BAB-8DF4-2F2E5B368099}">
      <dsp:nvSpPr>
        <dsp:cNvPr id="0" name=""/>
        <dsp:cNvSpPr/>
      </dsp:nvSpPr>
      <dsp:spPr>
        <a:xfrm>
          <a:off x="7758464" y="1178"/>
          <a:ext cx="2174490" cy="1304694"/>
        </a:xfrm>
        <a:prstGeom prst="rect">
          <a:avLst/>
        </a:prstGeom>
        <a:gradFill rotWithShape="0">
          <a:gsLst>
            <a:gs pos="0">
              <a:schemeClr val="accent2">
                <a:hueOff val="-545761"/>
                <a:satOff val="-31473"/>
                <a:lumOff val="3235"/>
                <a:alphaOff val="0"/>
                <a:satMod val="103000"/>
                <a:lumMod val="102000"/>
                <a:tint val="94000"/>
              </a:schemeClr>
            </a:gs>
            <a:gs pos="50000">
              <a:schemeClr val="accent2">
                <a:hueOff val="-545761"/>
                <a:satOff val="-31473"/>
                <a:lumOff val="3235"/>
                <a:alphaOff val="0"/>
                <a:satMod val="110000"/>
                <a:lumMod val="100000"/>
                <a:shade val="100000"/>
              </a:schemeClr>
            </a:gs>
            <a:gs pos="100000">
              <a:schemeClr val="accent2">
                <a:hueOff val="-545761"/>
                <a:satOff val="-31473"/>
                <a:lumOff val="323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Skin Thickness</a:t>
          </a:r>
          <a:r>
            <a:rPr lang="en-US" sz="1600" kern="1200"/>
            <a:t>: Triceps skinfold thickness (mm).</a:t>
          </a:r>
        </a:p>
      </dsp:txBody>
      <dsp:txXfrm>
        <a:off x="7758464" y="1178"/>
        <a:ext cx="2174490" cy="1304694"/>
      </dsp:txXfrm>
    </dsp:sp>
    <dsp:sp modelId="{666663FF-6F28-4C8D-86B6-6609A504D12D}">
      <dsp:nvSpPr>
        <dsp:cNvPr id="0" name=""/>
        <dsp:cNvSpPr/>
      </dsp:nvSpPr>
      <dsp:spPr>
        <a:xfrm>
          <a:off x="582645" y="1523321"/>
          <a:ext cx="2174490" cy="1304694"/>
        </a:xfrm>
        <a:prstGeom prst="rect">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Insulin</a:t>
          </a:r>
          <a:r>
            <a:rPr lang="en-US" sz="1600" kern="1200"/>
            <a:t>: 2-Hour serum insulin (mu U/ml).</a:t>
          </a:r>
        </a:p>
      </dsp:txBody>
      <dsp:txXfrm>
        <a:off x="582645" y="1523321"/>
        <a:ext cx="2174490" cy="1304694"/>
      </dsp:txXfrm>
    </dsp:sp>
    <dsp:sp modelId="{41A3F5D4-01F4-4F54-998B-A38C5E312FB1}">
      <dsp:nvSpPr>
        <dsp:cNvPr id="0" name=""/>
        <dsp:cNvSpPr/>
      </dsp:nvSpPr>
      <dsp:spPr>
        <a:xfrm>
          <a:off x="2974584" y="1523321"/>
          <a:ext cx="2174490" cy="1304694"/>
        </a:xfrm>
        <a:prstGeom prst="rect">
          <a:avLst/>
        </a:prstGeom>
        <a:gradFill rotWithShape="0">
          <a:gsLst>
            <a:gs pos="0">
              <a:schemeClr val="accent2">
                <a:hueOff val="-909602"/>
                <a:satOff val="-52455"/>
                <a:lumOff val="5392"/>
                <a:alphaOff val="0"/>
                <a:satMod val="103000"/>
                <a:lumMod val="102000"/>
                <a:tint val="94000"/>
              </a:schemeClr>
            </a:gs>
            <a:gs pos="50000">
              <a:schemeClr val="accent2">
                <a:hueOff val="-909602"/>
                <a:satOff val="-52455"/>
                <a:lumOff val="5392"/>
                <a:alphaOff val="0"/>
                <a:satMod val="110000"/>
                <a:lumMod val="100000"/>
                <a:shade val="100000"/>
              </a:schemeClr>
            </a:gs>
            <a:gs pos="100000">
              <a:schemeClr val="accent2">
                <a:hueOff val="-909602"/>
                <a:satOff val="-52455"/>
                <a:lumOff val="539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BMI</a:t>
          </a:r>
          <a:r>
            <a:rPr lang="en-US" sz="1600" kern="1200"/>
            <a:t>: Body mass index (weight in kg/(height in m)^2).</a:t>
          </a:r>
        </a:p>
      </dsp:txBody>
      <dsp:txXfrm>
        <a:off x="2974584" y="1523321"/>
        <a:ext cx="2174490" cy="1304694"/>
      </dsp:txXfrm>
    </dsp:sp>
    <dsp:sp modelId="{12751BCD-1C72-4A71-B5CA-ABD6CD2D12CC}">
      <dsp:nvSpPr>
        <dsp:cNvPr id="0" name=""/>
        <dsp:cNvSpPr/>
      </dsp:nvSpPr>
      <dsp:spPr>
        <a:xfrm>
          <a:off x="5366524" y="1523321"/>
          <a:ext cx="2174490" cy="1304694"/>
        </a:xfrm>
        <a:prstGeom prst="rect">
          <a:avLst/>
        </a:prstGeom>
        <a:gradFill rotWithShape="0">
          <a:gsLst>
            <a:gs pos="0">
              <a:schemeClr val="accent2">
                <a:hueOff val="-1091522"/>
                <a:satOff val="-62946"/>
                <a:lumOff val="6471"/>
                <a:alphaOff val="0"/>
                <a:satMod val="103000"/>
                <a:lumMod val="102000"/>
                <a:tint val="94000"/>
              </a:schemeClr>
            </a:gs>
            <a:gs pos="50000">
              <a:schemeClr val="accent2">
                <a:hueOff val="-1091522"/>
                <a:satOff val="-62946"/>
                <a:lumOff val="6471"/>
                <a:alphaOff val="0"/>
                <a:satMod val="110000"/>
                <a:lumMod val="100000"/>
                <a:shade val="100000"/>
              </a:schemeClr>
            </a:gs>
            <a:gs pos="100000">
              <a:schemeClr val="accent2">
                <a:hueOff val="-1091522"/>
                <a:satOff val="-62946"/>
                <a:lumOff val="647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Diabetes Pedigree Function</a:t>
          </a:r>
          <a:r>
            <a:rPr lang="en-US" sz="1600" kern="1200"/>
            <a:t>: A function that scores the likelihood of diabetes based on family history.</a:t>
          </a:r>
        </a:p>
      </dsp:txBody>
      <dsp:txXfrm>
        <a:off x="5366524" y="1523321"/>
        <a:ext cx="2174490" cy="1304694"/>
      </dsp:txXfrm>
    </dsp:sp>
    <dsp:sp modelId="{D7C76A9D-CF8B-48D7-A4A5-874C680470A3}">
      <dsp:nvSpPr>
        <dsp:cNvPr id="0" name=""/>
        <dsp:cNvSpPr/>
      </dsp:nvSpPr>
      <dsp:spPr>
        <a:xfrm>
          <a:off x="7758464" y="1523321"/>
          <a:ext cx="2174490" cy="1304694"/>
        </a:xfrm>
        <a:prstGeom prst="rect">
          <a:avLst/>
        </a:prstGeom>
        <a:gradFill rotWithShape="0">
          <a:gsLst>
            <a:gs pos="0">
              <a:schemeClr val="accent2">
                <a:hueOff val="-1273443"/>
                <a:satOff val="-73437"/>
                <a:lumOff val="7549"/>
                <a:alphaOff val="0"/>
                <a:satMod val="103000"/>
                <a:lumMod val="102000"/>
                <a:tint val="94000"/>
              </a:schemeClr>
            </a:gs>
            <a:gs pos="50000">
              <a:schemeClr val="accent2">
                <a:hueOff val="-1273443"/>
                <a:satOff val="-73437"/>
                <a:lumOff val="7549"/>
                <a:alphaOff val="0"/>
                <a:satMod val="110000"/>
                <a:lumMod val="100000"/>
                <a:shade val="100000"/>
              </a:schemeClr>
            </a:gs>
            <a:gs pos="100000">
              <a:schemeClr val="accent2">
                <a:hueOff val="-1273443"/>
                <a:satOff val="-73437"/>
                <a:lumOff val="754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Age</a:t>
          </a:r>
          <a:r>
            <a:rPr lang="en-US" sz="1600" kern="1200"/>
            <a:t>: Age of the patient in years.</a:t>
          </a:r>
        </a:p>
      </dsp:txBody>
      <dsp:txXfrm>
        <a:off x="7758464" y="1523321"/>
        <a:ext cx="2174490" cy="1304694"/>
      </dsp:txXfrm>
    </dsp:sp>
    <dsp:sp modelId="{BDFEB740-1A91-4DBA-B9B9-25F63F946564}">
      <dsp:nvSpPr>
        <dsp:cNvPr id="0" name=""/>
        <dsp:cNvSpPr/>
      </dsp:nvSpPr>
      <dsp:spPr>
        <a:xfrm>
          <a:off x="4170554" y="3045465"/>
          <a:ext cx="2174490" cy="1304694"/>
        </a:xfrm>
        <a:prstGeom prst="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Outcome</a:t>
          </a:r>
          <a:r>
            <a:rPr lang="en-US" sz="1600" kern="1200"/>
            <a:t>: Binary variable (0 or 1) indicating whether the patient has diabetes.</a:t>
          </a:r>
        </a:p>
      </dsp:txBody>
      <dsp:txXfrm>
        <a:off x="4170554" y="3045465"/>
        <a:ext cx="2174490" cy="130469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F5295C-788A-4E67-BE84-72E7E7E1608B}">
      <dsp:nvSpPr>
        <dsp:cNvPr id="0" name=""/>
        <dsp:cNvSpPr/>
      </dsp:nvSpPr>
      <dsp:spPr>
        <a:xfrm>
          <a:off x="0" y="707092"/>
          <a:ext cx="5387501"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C63B27-55CD-43F8-B813-A8A20F08CE44}">
      <dsp:nvSpPr>
        <dsp:cNvPr id="0" name=""/>
        <dsp:cNvSpPr/>
      </dsp:nvSpPr>
      <dsp:spPr>
        <a:xfrm>
          <a:off x="394883" y="1000807"/>
          <a:ext cx="717970" cy="7179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DEB6B6-1B75-47C7-82B7-CD6ADF985FE2}">
      <dsp:nvSpPr>
        <dsp:cNvPr id="0" name=""/>
        <dsp:cNvSpPr/>
      </dsp:nvSpPr>
      <dsp:spPr>
        <a:xfrm>
          <a:off x="1507738" y="707092"/>
          <a:ext cx="3879763"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711200">
            <a:lnSpc>
              <a:spcPct val="100000"/>
            </a:lnSpc>
            <a:spcBef>
              <a:spcPct val="0"/>
            </a:spcBef>
            <a:spcAft>
              <a:spcPct val="35000"/>
            </a:spcAft>
            <a:buNone/>
          </a:pPr>
          <a:r>
            <a:rPr lang="en-US" sz="1600" kern="1200"/>
            <a:t>DATA VISUALISATION</a:t>
          </a:r>
        </a:p>
      </dsp:txBody>
      <dsp:txXfrm>
        <a:off x="1507738" y="707092"/>
        <a:ext cx="3879763" cy="1305401"/>
      </dsp:txXfrm>
    </dsp:sp>
    <dsp:sp modelId="{F5FA12B7-7207-41D1-8B80-4A620D0AA0CB}">
      <dsp:nvSpPr>
        <dsp:cNvPr id="0" name=""/>
        <dsp:cNvSpPr/>
      </dsp:nvSpPr>
      <dsp:spPr>
        <a:xfrm>
          <a:off x="0" y="2338844"/>
          <a:ext cx="5387501"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CE0840-65CF-47FE-A821-E0C714CE08C1}">
      <dsp:nvSpPr>
        <dsp:cNvPr id="0" name=""/>
        <dsp:cNvSpPr/>
      </dsp:nvSpPr>
      <dsp:spPr>
        <a:xfrm>
          <a:off x="394883" y="2632559"/>
          <a:ext cx="717970" cy="7179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626C00-717F-4C2D-88F4-C1E7A9D584BE}">
      <dsp:nvSpPr>
        <dsp:cNvPr id="0" name=""/>
        <dsp:cNvSpPr/>
      </dsp:nvSpPr>
      <dsp:spPr>
        <a:xfrm>
          <a:off x="1507738" y="2338844"/>
          <a:ext cx="3879763"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711200">
            <a:lnSpc>
              <a:spcPct val="100000"/>
            </a:lnSpc>
            <a:spcBef>
              <a:spcPct val="0"/>
            </a:spcBef>
            <a:spcAft>
              <a:spcPct val="35000"/>
            </a:spcAft>
            <a:buNone/>
          </a:pPr>
          <a:r>
            <a:rPr lang="en-US" sz="1600" kern="1200" dirty="0">
              <a:solidFill>
                <a:srgbClr val="00B0F0"/>
              </a:solidFill>
            </a:rPr>
            <a:t>Objective:</a:t>
          </a:r>
          <a:r>
            <a:rPr lang="en-US" sz="1600" kern="1200" dirty="0"/>
            <a:t> </a:t>
          </a:r>
          <a:r>
            <a:rPr lang="en-US" sz="1600" kern="1200" dirty="0">
              <a:solidFill>
                <a:schemeClr val="accent2">
                  <a:lumMod val="50000"/>
                </a:schemeClr>
              </a:solidFill>
            </a:rPr>
            <a:t>To Investigate trends, patterns, and connections between features using visualizations. This helps in comprehending data before developing models.</a:t>
          </a:r>
        </a:p>
      </dsp:txBody>
      <dsp:txXfrm>
        <a:off x="1507738" y="2338844"/>
        <a:ext cx="3879763" cy="130540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F8D1EB-33D5-4824-9BD9-8CDFCA8789D6}">
      <dsp:nvSpPr>
        <dsp:cNvPr id="0" name=""/>
        <dsp:cNvSpPr/>
      </dsp:nvSpPr>
      <dsp:spPr>
        <a:xfrm>
          <a:off x="0" y="571"/>
          <a:ext cx="10515600" cy="133730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253209-A20E-476C-8241-1DB30F393103}">
      <dsp:nvSpPr>
        <dsp:cNvPr id="0" name=""/>
        <dsp:cNvSpPr/>
      </dsp:nvSpPr>
      <dsp:spPr>
        <a:xfrm>
          <a:off x="404535" y="301465"/>
          <a:ext cx="735518" cy="73551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75C22B1-D4B2-4FBC-85DC-F0538646DA21}">
      <dsp:nvSpPr>
        <dsp:cNvPr id="0" name=""/>
        <dsp:cNvSpPr/>
      </dsp:nvSpPr>
      <dsp:spPr>
        <a:xfrm>
          <a:off x="1544589" y="571"/>
          <a:ext cx="8971010" cy="13373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532" tIns="141532" rIns="141532" bIns="141532" numCol="1" spcCol="1270" anchor="ctr" anchorCtr="0">
          <a:noAutofit/>
        </a:bodyPr>
        <a:lstStyle/>
        <a:p>
          <a:pPr marL="0" lvl="0" indent="0" algn="l" defTabSz="800100">
            <a:lnSpc>
              <a:spcPct val="90000"/>
            </a:lnSpc>
            <a:spcBef>
              <a:spcPct val="0"/>
            </a:spcBef>
            <a:spcAft>
              <a:spcPct val="35000"/>
            </a:spcAft>
            <a:buNone/>
          </a:pPr>
          <a:r>
            <a:rPr lang="en-US" sz="1800" b="0" i="0" kern="1200" baseline="0"/>
            <a:t>1.Glucose: The selection was made because blood glucose levels are a major sign of diabetes and are therefore highly useful in diabetes analysis and prediction. Glucose appears to fluctuate considerably throughout the dataset in the plot, and it may be correlated with other variables like age or BMI.</a:t>
          </a:r>
          <a:endParaRPr lang="en-US" sz="1800" kern="1200"/>
        </a:p>
      </dsp:txBody>
      <dsp:txXfrm>
        <a:off x="1544589" y="571"/>
        <a:ext cx="8971010" cy="1337307"/>
      </dsp:txXfrm>
    </dsp:sp>
    <dsp:sp modelId="{E6E87EA6-8A0D-4A87-A14F-C91C4C685502}">
      <dsp:nvSpPr>
        <dsp:cNvPr id="0" name=""/>
        <dsp:cNvSpPr/>
      </dsp:nvSpPr>
      <dsp:spPr>
        <a:xfrm>
          <a:off x="0" y="1672205"/>
          <a:ext cx="10515600" cy="133730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E7AAC2-27E3-4D70-90B3-AD6EC268CEBC}">
      <dsp:nvSpPr>
        <dsp:cNvPr id="0" name=""/>
        <dsp:cNvSpPr/>
      </dsp:nvSpPr>
      <dsp:spPr>
        <a:xfrm>
          <a:off x="404535" y="1973099"/>
          <a:ext cx="735518" cy="73551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DB430E-6028-4668-B700-8C8D166247D9}">
      <dsp:nvSpPr>
        <dsp:cNvPr id="0" name=""/>
        <dsp:cNvSpPr/>
      </dsp:nvSpPr>
      <dsp:spPr>
        <a:xfrm>
          <a:off x="1544589" y="1672205"/>
          <a:ext cx="8971010" cy="13373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532" tIns="141532" rIns="141532" bIns="141532" numCol="1" spcCol="1270" anchor="ctr" anchorCtr="0">
          <a:noAutofit/>
        </a:bodyPr>
        <a:lstStyle/>
        <a:p>
          <a:pPr marL="0" lvl="0" indent="0" algn="l" defTabSz="800100">
            <a:lnSpc>
              <a:spcPct val="90000"/>
            </a:lnSpc>
            <a:spcBef>
              <a:spcPct val="0"/>
            </a:spcBef>
            <a:spcAft>
              <a:spcPct val="35000"/>
            </a:spcAft>
            <a:buNone/>
          </a:pPr>
          <a:r>
            <a:rPr lang="en-US" sz="1800" b="0" i="0" kern="1200" baseline="0"/>
            <a:t>2. Age: Selection criteria: Age is a significant demographic component, and diabetes may be more common in older people. Age can be used to investigate correlations between BMI or glucose levels in various age groups in the scatter plot matrix.</a:t>
          </a:r>
          <a:endParaRPr lang="en-US" sz="1800" kern="1200"/>
        </a:p>
      </dsp:txBody>
      <dsp:txXfrm>
        <a:off x="1544589" y="1672205"/>
        <a:ext cx="8971010" cy="1337307"/>
      </dsp:txXfrm>
    </dsp:sp>
    <dsp:sp modelId="{2B7665D9-2318-4063-98C5-BF016792BE6B}">
      <dsp:nvSpPr>
        <dsp:cNvPr id="0" name=""/>
        <dsp:cNvSpPr/>
      </dsp:nvSpPr>
      <dsp:spPr>
        <a:xfrm>
          <a:off x="0" y="3343839"/>
          <a:ext cx="10515600" cy="1337307"/>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E4C398-ADE0-4171-9F86-89B3AFB7100F}">
      <dsp:nvSpPr>
        <dsp:cNvPr id="0" name=""/>
        <dsp:cNvSpPr/>
      </dsp:nvSpPr>
      <dsp:spPr>
        <a:xfrm>
          <a:off x="404535" y="3644733"/>
          <a:ext cx="735518" cy="73551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F51F673-BB34-4391-85E7-C89FBDC37DC9}">
      <dsp:nvSpPr>
        <dsp:cNvPr id="0" name=""/>
        <dsp:cNvSpPr/>
      </dsp:nvSpPr>
      <dsp:spPr>
        <a:xfrm>
          <a:off x="1544589" y="3343839"/>
          <a:ext cx="8971010" cy="13373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532" tIns="141532" rIns="141532" bIns="141532" numCol="1" spcCol="1270" anchor="ctr" anchorCtr="0">
          <a:noAutofit/>
        </a:bodyPr>
        <a:lstStyle/>
        <a:p>
          <a:pPr marL="0" lvl="0" indent="0" algn="l" defTabSz="800100">
            <a:lnSpc>
              <a:spcPct val="90000"/>
            </a:lnSpc>
            <a:spcBef>
              <a:spcPct val="0"/>
            </a:spcBef>
            <a:spcAft>
              <a:spcPct val="35000"/>
            </a:spcAft>
            <a:buNone/>
          </a:pPr>
          <a:r>
            <a:rPr lang="en-US" sz="1800" kern="1200"/>
            <a:t>3. Body Mass Index (BMI): Selection rationale: Another important factor is BMI, since a high BMI is frequently linked to an increased risk of diabetes. This variable also has a variety of values, as the scatter plot demonstrates, which may be a sign of a link with insulin and glucose levels.</a:t>
          </a:r>
        </a:p>
      </dsp:txBody>
      <dsp:txXfrm>
        <a:off x="1544589" y="3343839"/>
        <a:ext cx="8971010" cy="133730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C721F6-AE35-46A1-B620-1FBF8A995C43}">
      <dsp:nvSpPr>
        <dsp:cNvPr id="0" name=""/>
        <dsp:cNvSpPr/>
      </dsp:nvSpPr>
      <dsp:spPr>
        <a:xfrm>
          <a:off x="82613" y="908559"/>
          <a:ext cx="897246" cy="89724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FEDA8D-F52E-4541-A66A-C17353329CB3}">
      <dsp:nvSpPr>
        <dsp:cNvPr id="0" name=""/>
        <dsp:cNvSpPr/>
      </dsp:nvSpPr>
      <dsp:spPr>
        <a:xfrm>
          <a:off x="271034" y="1096980"/>
          <a:ext cx="520402" cy="520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A9F098-EE30-404D-9299-B3A2C8BF6B6E}">
      <dsp:nvSpPr>
        <dsp:cNvPr id="0" name=""/>
        <dsp:cNvSpPr/>
      </dsp:nvSpPr>
      <dsp:spPr>
        <a:xfrm>
          <a:off x="1172126"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b="0" i="0" kern="1200" baseline="0"/>
            <a:t>Medical Significance: It is established that the three characteristics that were chosen—BMI, age, and glucose—have an impact on the chance of developing diabetes.</a:t>
          </a:r>
          <a:endParaRPr lang="en-US" sz="1100" kern="1200"/>
        </a:p>
      </dsp:txBody>
      <dsp:txXfrm>
        <a:off x="1172126" y="908559"/>
        <a:ext cx="2114937" cy="897246"/>
      </dsp:txXfrm>
    </dsp:sp>
    <dsp:sp modelId="{19AD44FB-9AF1-4E51-8286-BD61B28A978B}">
      <dsp:nvSpPr>
        <dsp:cNvPr id="0" name=""/>
        <dsp:cNvSpPr/>
      </dsp:nvSpPr>
      <dsp:spPr>
        <a:xfrm>
          <a:off x="3655575" y="908559"/>
          <a:ext cx="897246" cy="89724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484EE0-D54C-48AC-B8FF-DDCB7D330842}">
      <dsp:nvSpPr>
        <dsp:cNvPr id="0" name=""/>
        <dsp:cNvSpPr/>
      </dsp:nvSpPr>
      <dsp:spPr>
        <a:xfrm>
          <a:off x="3843996" y="1096980"/>
          <a:ext cx="520402" cy="5204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2054F9-53A1-4256-898F-07A6ED8764AE}">
      <dsp:nvSpPr>
        <dsp:cNvPr id="0" name=""/>
        <dsp:cNvSpPr/>
      </dsp:nvSpPr>
      <dsp:spPr>
        <a:xfrm>
          <a:off x="4745088"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b="0" i="0" kern="1200" baseline="0"/>
            <a:t>Predictive Power: These variables exhibit variability based on pair plots, and they may have predictive power in the process of developing a machine learning model.</a:t>
          </a:r>
          <a:endParaRPr lang="en-US" sz="1100" kern="1200"/>
        </a:p>
      </dsp:txBody>
      <dsp:txXfrm>
        <a:off x="4745088" y="908559"/>
        <a:ext cx="2114937" cy="897246"/>
      </dsp:txXfrm>
    </dsp:sp>
    <dsp:sp modelId="{089592BB-80EB-4207-AE02-E4D623D7FF53}">
      <dsp:nvSpPr>
        <dsp:cNvPr id="0" name=""/>
        <dsp:cNvSpPr/>
      </dsp:nvSpPr>
      <dsp:spPr>
        <a:xfrm>
          <a:off x="7228536" y="908559"/>
          <a:ext cx="897246" cy="89724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01ABE2-C129-4BDA-A765-65B4D37B20C8}">
      <dsp:nvSpPr>
        <dsp:cNvPr id="0" name=""/>
        <dsp:cNvSpPr/>
      </dsp:nvSpPr>
      <dsp:spPr>
        <a:xfrm>
          <a:off x="7416958" y="1096980"/>
          <a:ext cx="520402" cy="5204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6F04E9F-F693-4499-8262-9DA4E04EB0F0}">
      <dsp:nvSpPr>
        <dsp:cNvPr id="0" name=""/>
        <dsp:cNvSpPr/>
      </dsp:nvSpPr>
      <dsp:spPr>
        <a:xfrm>
          <a:off x="8318049"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b="0" i="0" kern="1200" baseline="0"/>
            <a:t>Potential Relationships: It is helpful to conduct additional research as the scatter plot matrix indicates that there may be connections between glucose and both age and body mass index.</a:t>
          </a:r>
          <a:endParaRPr lang="en-US" sz="1100" kern="1200"/>
        </a:p>
      </dsp:txBody>
      <dsp:txXfrm>
        <a:off x="8318049" y="908559"/>
        <a:ext cx="2114937" cy="897246"/>
      </dsp:txXfrm>
    </dsp:sp>
    <dsp:sp modelId="{B10F7FE3-A41F-4DDD-A194-E4B52855BC28}">
      <dsp:nvSpPr>
        <dsp:cNvPr id="0" name=""/>
        <dsp:cNvSpPr/>
      </dsp:nvSpPr>
      <dsp:spPr>
        <a:xfrm>
          <a:off x="82613" y="2545532"/>
          <a:ext cx="897246" cy="89724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79364F-2AFC-4B28-938C-D9C14E41F7B8}">
      <dsp:nvSpPr>
        <dsp:cNvPr id="0" name=""/>
        <dsp:cNvSpPr/>
      </dsp:nvSpPr>
      <dsp:spPr>
        <a:xfrm>
          <a:off x="271034" y="2733954"/>
          <a:ext cx="520402" cy="5204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2966543-7DBF-4E26-A477-800589E16664}">
      <dsp:nvSpPr>
        <dsp:cNvPr id="0" name=""/>
        <dsp:cNvSpPr/>
      </dsp:nvSpPr>
      <dsp:spPr>
        <a:xfrm>
          <a:off x="1172126"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kern="1200"/>
            <a:t>Pregnancies, Glucose, skin thickness,BMI,Insulin,Blood pressure ,Diabetes pedigree function, Age ,Diagnosis are features selected for the scatter plot.</a:t>
          </a:r>
        </a:p>
      </dsp:txBody>
      <dsp:txXfrm>
        <a:off x="1172126" y="2545532"/>
        <a:ext cx="2114937" cy="897246"/>
      </dsp:txXfrm>
    </dsp:sp>
    <dsp:sp modelId="{8FBFCCA6-6396-4C2E-AD59-0B3D5AFF0C2D}">
      <dsp:nvSpPr>
        <dsp:cNvPr id="0" name=""/>
        <dsp:cNvSpPr/>
      </dsp:nvSpPr>
      <dsp:spPr>
        <a:xfrm>
          <a:off x="3655575" y="2545532"/>
          <a:ext cx="897246" cy="897246"/>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F77C89-B52A-4CC9-A62F-0624966827C4}">
      <dsp:nvSpPr>
        <dsp:cNvPr id="0" name=""/>
        <dsp:cNvSpPr/>
      </dsp:nvSpPr>
      <dsp:spPr>
        <a:xfrm>
          <a:off x="3843996" y="2733954"/>
          <a:ext cx="520402" cy="52040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62C100-B4FA-4363-B475-5395E73BE52C}">
      <dsp:nvSpPr>
        <dsp:cNvPr id="0" name=""/>
        <dsp:cNvSpPr/>
      </dsp:nvSpPr>
      <dsp:spPr>
        <a:xfrm>
          <a:off x="4745088"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kern="1200"/>
            <a:t>From a medical and statistical standpoint, these characteristics are essential to comprehending diabetes. The scatter plot facilitates the identification of patterns, relationships, and trends associated with diabetes by incorporating a broad variety of physiological (e.g., glucose, BMI), demographic (e.g., age, pregnancies), and genetic (e.g., diabetes pedigree function) variables.</a:t>
          </a:r>
        </a:p>
      </dsp:txBody>
      <dsp:txXfrm>
        <a:off x="4745088" y="2545532"/>
        <a:ext cx="2114937" cy="89724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5D9364-8CB7-4752-804B-C721F984C97C}">
      <dsp:nvSpPr>
        <dsp:cNvPr id="0" name=""/>
        <dsp:cNvSpPr/>
      </dsp:nvSpPr>
      <dsp:spPr>
        <a:xfrm>
          <a:off x="500852" y="377491"/>
          <a:ext cx="1509750" cy="150975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982658-C1A7-438E-8DC7-E41BF36315EC}">
      <dsp:nvSpPr>
        <dsp:cNvPr id="0" name=""/>
        <dsp:cNvSpPr/>
      </dsp:nvSpPr>
      <dsp:spPr>
        <a:xfrm flipV="1">
          <a:off x="822602" y="867147"/>
          <a:ext cx="866250" cy="530437"/>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t="-50000" b="-50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671084-63C8-46AD-B523-675A4A8D737D}">
      <dsp:nvSpPr>
        <dsp:cNvPr id="0" name=""/>
        <dsp:cNvSpPr/>
      </dsp:nvSpPr>
      <dsp:spPr>
        <a:xfrm>
          <a:off x="18227" y="2357491"/>
          <a:ext cx="2475000" cy="1616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488950">
            <a:lnSpc>
              <a:spcPct val="100000"/>
            </a:lnSpc>
            <a:spcBef>
              <a:spcPct val="0"/>
            </a:spcBef>
            <a:spcAft>
              <a:spcPct val="35000"/>
            </a:spcAft>
            <a:buNone/>
            <a:defRPr cap="all"/>
          </a:pPr>
          <a:r>
            <a:rPr lang="en-US" sz="1100" b="1" kern="1200" dirty="0"/>
            <a:t>Since our issue is to predict a binary result (whether or not someone has diabetes, denoted as 0 or 1 in the Diagnosis column), logistic regression is being used instead of linear regression.</a:t>
          </a:r>
        </a:p>
      </dsp:txBody>
      <dsp:txXfrm>
        <a:off x="18227" y="2357491"/>
        <a:ext cx="2475000" cy="1616354"/>
      </dsp:txXfrm>
    </dsp:sp>
    <dsp:sp modelId="{65F42CFA-EA7A-4149-8667-EEDB5B67AA26}">
      <dsp:nvSpPr>
        <dsp:cNvPr id="0" name=""/>
        <dsp:cNvSpPr/>
      </dsp:nvSpPr>
      <dsp:spPr>
        <a:xfrm>
          <a:off x="3539434" y="377491"/>
          <a:ext cx="1509750" cy="150975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6A1B23-6AB2-4AC5-BD0D-D49FB9115165}">
      <dsp:nvSpPr>
        <dsp:cNvPr id="0" name=""/>
        <dsp:cNvSpPr/>
      </dsp:nvSpPr>
      <dsp:spPr>
        <a:xfrm>
          <a:off x="3861184" y="699241"/>
          <a:ext cx="866250" cy="8662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2C6E83-1B80-4161-926F-EEF2C96EEF6B}">
      <dsp:nvSpPr>
        <dsp:cNvPr id="0" name=""/>
        <dsp:cNvSpPr/>
      </dsp:nvSpPr>
      <dsp:spPr>
        <a:xfrm>
          <a:off x="2926352" y="2357491"/>
          <a:ext cx="2735914" cy="1616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533400">
            <a:lnSpc>
              <a:spcPct val="100000"/>
            </a:lnSpc>
            <a:spcBef>
              <a:spcPct val="0"/>
            </a:spcBef>
            <a:spcAft>
              <a:spcPct val="35000"/>
            </a:spcAft>
            <a:buNone/>
            <a:defRPr cap="all"/>
          </a:pPr>
          <a:r>
            <a:rPr lang="en-US" sz="1200" b="1" kern="1200" dirty="0"/>
            <a:t>For a binary classification problem such as this one, linear regression is not appropriate since it predicts continuous numerical values. In contrast, logistic regression is specifically meant for jobs involving classification. It makes a prediction about the likelihood of an event (in this case, the likelihood of acquiring diabetes) and then divides the outcome into two groups (0 and 1).</a:t>
          </a:r>
        </a:p>
      </dsp:txBody>
      <dsp:txXfrm>
        <a:off x="2926352" y="2357491"/>
        <a:ext cx="2735914" cy="161635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81807E-4F0F-4064-B890-D5A6C4F9E628}">
      <dsp:nvSpPr>
        <dsp:cNvPr id="0" name=""/>
        <dsp:cNvSpPr/>
      </dsp:nvSpPr>
      <dsp:spPr>
        <a:xfrm>
          <a:off x="0" y="368183"/>
          <a:ext cx="6245265" cy="236456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kern="1200"/>
            <a:t>KNN achieved 62.00% accuracy, or 62 out of 100 predictions.</a:t>
          </a:r>
        </a:p>
      </dsp:txBody>
      <dsp:txXfrm>
        <a:off x="115429" y="483612"/>
        <a:ext cx="6014407" cy="2133711"/>
      </dsp:txXfrm>
    </dsp:sp>
    <dsp:sp modelId="{79A1C6E2-5612-45AB-8E90-F6661CD1CE6B}">
      <dsp:nvSpPr>
        <dsp:cNvPr id="0" name=""/>
        <dsp:cNvSpPr/>
      </dsp:nvSpPr>
      <dsp:spPr>
        <a:xfrm>
          <a:off x="0" y="2856593"/>
          <a:ext cx="6245265" cy="2364569"/>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kern="1200"/>
            <a:t>69.33% of the predictions made by Naive Bayes were accurate out of 100.</a:t>
          </a:r>
        </a:p>
      </dsp:txBody>
      <dsp:txXfrm>
        <a:off x="115429" y="2972022"/>
        <a:ext cx="6014407" cy="213371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2B4AE8-2897-4858-B4BF-C02C5052FCBC}">
      <dsp:nvSpPr>
        <dsp:cNvPr id="0" name=""/>
        <dsp:cNvSpPr/>
      </dsp:nvSpPr>
      <dsp:spPr>
        <a:xfrm>
          <a:off x="0" y="1596270"/>
          <a:ext cx="6900512" cy="10584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47EE115-52A0-4CCC-AB98-F57FC1BEA3FF}">
      <dsp:nvSpPr>
        <dsp:cNvPr id="0" name=""/>
        <dsp:cNvSpPr/>
      </dsp:nvSpPr>
      <dsp:spPr>
        <a:xfrm>
          <a:off x="345025" y="976350"/>
          <a:ext cx="4830358" cy="12398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576" tIns="0" rIns="182576" bIns="0" numCol="1" spcCol="1270" anchor="ctr" anchorCtr="0">
          <a:noAutofit/>
        </a:bodyPr>
        <a:lstStyle/>
        <a:p>
          <a:pPr marL="0" lvl="0" indent="0" algn="l" defTabSz="1866900">
            <a:lnSpc>
              <a:spcPct val="90000"/>
            </a:lnSpc>
            <a:spcBef>
              <a:spcPct val="0"/>
            </a:spcBef>
            <a:spcAft>
              <a:spcPct val="35000"/>
            </a:spcAft>
            <a:buNone/>
          </a:pPr>
          <a:r>
            <a:rPr lang="en-US" sz="4200" b="0" i="0" kern="1200"/>
            <a:t>❖ Major Discussion</a:t>
          </a:r>
          <a:endParaRPr lang="en-US" sz="4200" kern="1200"/>
        </a:p>
      </dsp:txBody>
      <dsp:txXfrm>
        <a:off x="405549" y="1036874"/>
        <a:ext cx="4709310" cy="1118792"/>
      </dsp:txXfrm>
    </dsp:sp>
    <dsp:sp modelId="{9DC5F92C-FF7D-4F61-8502-4DFE61424FEC}">
      <dsp:nvSpPr>
        <dsp:cNvPr id="0" name=""/>
        <dsp:cNvSpPr/>
      </dsp:nvSpPr>
      <dsp:spPr>
        <a:xfrm>
          <a:off x="0" y="3501390"/>
          <a:ext cx="6900512" cy="10584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8BD00F1-F817-43C5-92EC-41B4D831C0FA}">
      <dsp:nvSpPr>
        <dsp:cNvPr id="0" name=""/>
        <dsp:cNvSpPr/>
      </dsp:nvSpPr>
      <dsp:spPr>
        <a:xfrm>
          <a:off x="345025" y="2881470"/>
          <a:ext cx="4830358" cy="123984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576" tIns="0" rIns="182576" bIns="0" numCol="1" spcCol="1270" anchor="ctr" anchorCtr="0">
          <a:noAutofit/>
        </a:bodyPr>
        <a:lstStyle/>
        <a:p>
          <a:pPr marL="0" lvl="0" indent="0" algn="l" defTabSz="1866900">
            <a:lnSpc>
              <a:spcPct val="90000"/>
            </a:lnSpc>
            <a:spcBef>
              <a:spcPct val="0"/>
            </a:spcBef>
            <a:spcAft>
              <a:spcPct val="35000"/>
            </a:spcAft>
            <a:buNone/>
          </a:pPr>
          <a:r>
            <a:rPr lang="en-US" sz="4200" b="0" i="0" kern="1200"/>
            <a:t>• SVM</a:t>
          </a:r>
          <a:br>
            <a:rPr lang="en-US" sz="4200" kern="1200"/>
          </a:br>
          <a:r>
            <a:rPr lang="en-US" sz="4200" b="0" i="0" kern="1200"/>
            <a:t>• Kernels</a:t>
          </a:r>
          <a:endParaRPr lang="en-US" sz="4200" kern="1200"/>
        </a:p>
      </dsp:txBody>
      <dsp:txXfrm>
        <a:off x="405549" y="2941994"/>
        <a:ext cx="4709310" cy="111879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78E6A9-A3BB-43B1-A8EF-304117F8F0F7}">
      <dsp:nvSpPr>
        <dsp:cNvPr id="0" name=""/>
        <dsp:cNvSpPr/>
      </dsp:nvSpPr>
      <dsp:spPr>
        <a:xfrm>
          <a:off x="2457521" y="693467"/>
          <a:ext cx="535042" cy="91440"/>
        </a:xfrm>
        <a:custGeom>
          <a:avLst/>
          <a:gdLst/>
          <a:ahLst/>
          <a:cxnLst/>
          <a:rect l="0" t="0" r="0" b="0"/>
          <a:pathLst>
            <a:path>
              <a:moveTo>
                <a:pt x="0" y="45720"/>
              </a:moveTo>
              <a:lnTo>
                <a:pt x="535042" y="45720"/>
              </a:lnTo>
            </a:path>
          </a:pathLst>
        </a:custGeom>
        <a:noFill/>
        <a:ln w="635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710901" y="736358"/>
        <a:ext cx="28282" cy="5656"/>
      </dsp:txXfrm>
    </dsp:sp>
    <dsp:sp modelId="{0A6462CE-09F4-44FF-9E54-951ACA2C31BE}">
      <dsp:nvSpPr>
        <dsp:cNvPr id="0" name=""/>
        <dsp:cNvSpPr/>
      </dsp:nvSpPr>
      <dsp:spPr>
        <a:xfrm>
          <a:off x="4" y="1392"/>
          <a:ext cx="2459316" cy="147558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509" tIns="126495" rIns="120509" bIns="126495" numCol="1" spcCol="1270" anchor="ctr" anchorCtr="0">
          <a:noAutofit/>
        </a:bodyPr>
        <a:lstStyle/>
        <a:p>
          <a:pPr marL="0" lvl="0" indent="0" algn="ctr" defTabSz="889000">
            <a:lnSpc>
              <a:spcPct val="90000"/>
            </a:lnSpc>
            <a:spcBef>
              <a:spcPct val="0"/>
            </a:spcBef>
            <a:spcAft>
              <a:spcPct val="35000"/>
            </a:spcAft>
            <a:buNone/>
          </a:pPr>
          <a:r>
            <a:rPr lang="en-US" sz="2000" b="0" i="0" kern="1200" baseline="0"/>
            <a:t>Linear SVC accuracy: 69.40% </a:t>
          </a:r>
          <a:endParaRPr lang="en-US" sz="2000" kern="1200"/>
        </a:p>
      </dsp:txBody>
      <dsp:txXfrm>
        <a:off x="4" y="1392"/>
        <a:ext cx="2459316" cy="1475589"/>
      </dsp:txXfrm>
    </dsp:sp>
    <dsp:sp modelId="{67FF7561-D395-455D-BA9E-6FA0F77364F4}">
      <dsp:nvSpPr>
        <dsp:cNvPr id="0" name=""/>
        <dsp:cNvSpPr/>
      </dsp:nvSpPr>
      <dsp:spPr>
        <a:xfrm>
          <a:off x="1229662" y="1475181"/>
          <a:ext cx="3024958" cy="535042"/>
        </a:xfrm>
        <a:custGeom>
          <a:avLst/>
          <a:gdLst/>
          <a:ahLst/>
          <a:cxnLst/>
          <a:rect l="0" t="0" r="0" b="0"/>
          <a:pathLst>
            <a:path>
              <a:moveTo>
                <a:pt x="3024958" y="0"/>
              </a:moveTo>
              <a:lnTo>
                <a:pt x="3024958" y="284621"/>
              </a:lnTo>
              <a:lnTo>
                <a:pt x="0" y="284621"/>
              </a:lnTo>
              <a:lnTo>
                <a:pt x="0" y="535042"/>
              </a:lnTo>
            </a:path>
          </a:pathLst>
        </a:custGeom>
        <a:noFill/>
        <a:ln w="6350" cap="flat" cmpd="sng" algn="ctr">
          <a:solidFill>
            <a:schemeClr val="accent5">
              <a:hueOff val="-2252848"/>
              <a:satOff val="-5806"/>
              <a:lumOff val="-392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65207" y="1739875"/>
        <a:ext cx="153869" cy="5656"/>
      </dsp:txXfrm>
    </dsp:sp>
    <dsp:sp modelId="{9B852985-5C6A-4AF0-8DF4-06018CA9C6E8}">
      <dsp:nvSpPr>
        <dsp:cNvPr id="0" name=""/>
        <dsp:cNvSpPr/>
      </dsp:nvSpPr>
      <dsp:spPr>
        <a:xfrm>
          <a:off x="3024963" y="1392"/>
          <a:ext cx="2459316" cy="1475589"/>
        </a:xfrm>
        <a:prstGeom prst="rect">
          <a:avLst/>
        </a:prstGeom>
        <a:solidFill>
          <a:schemeClr val="accent5">
            <a:hueOff val="-1689636"/>
            <a:satOff val="-4355"/>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509" tIns="126495" rIns="120509" bIns="126495" numCol="1" spcCol="1270" anchor="ctr" anchorCtr="0">
          <a:noAutofit/>
        </a:bodyPr>
        <a:lstStyle/>
        <a:p>
          <a:pPr marL="0" lvl="0" indent="0" algn="ctr" defTabSz="889000">
            <a:lnSpc>
              <a:spcPct val="90000"/>
            </a:lnSpc>
            <a:spcBef>
              <a:spcPct val="0"/>
            </a:spcBef>
            <a:spcAft>
              <a:spcPct val="35000"/>
            </a:spcAft>
            <a:buNone/>
          </a:pPr>
          <a:r>
            <a:rPr lang="en-US" sz="2000" b="0" i="0" kern="1200" baseline="0"/>
            <a:t>Sigmoid SVC accuracy: 59.70% </a:t>
          </a:r>
          <a:endParaRPr lang="en-US" sz="2000" kern="1200"/>
        </a:p>
      </dsp:txBody>
      <dsp:txXfrm>
        <a:off x="3024963" y="1392"/>
        <a:ext cx="2459316" cy="1475589"/>
      </dsp:txXfrm>
    </dsp:sp>
    <dsp:sp modelId="{244ED9E8-5FA6-4AE6-9A43-D87E5A1A27F6}">
      <dsp:nvSpPr>
        <dsp:cNvPr id="0" name=""/>
        <dsp:cNvSpPr/>
      </dsp:nvSpPr>
      <dsp:spPr>
        <a:xfrm>
          <a:off x="2457521" y="2734699"/>
          <a:ext cx="535042" cy="91440"/>
        </a:xfrm>
        <a:custGeom>
          <a:avLst/>
          <a:gdLst/>
          <a:ahLst/>
          <a:cxnLst/>
          <a:rect l="0" t="0" r="0" b="0"/>
          <a:pathLst>
            <a:path>
              <a:moveTo>
                <a:pt x="0" y="45720"/>
              </a:moveTo>
              <a:lnTo>
                <a:pt x="535042" y="45720"/>
              </a:lnTo>
            </a:path>
          </a:pathLst>
        </a:custGeom>
        <a:noFill/>
        <a:ln w="6350" cap="flat" cmpd="sng" algn="ctr">
          <a:solidFill>
            <a:schemeClr val="accent5">
              <a:hueOff val="-4505695"/>
              <a:satOff val="-11613"/>
              <a:lumOff val="-7843"/>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710901" y="2777591"/>
        <a:ext cx="28282" cy="5656"/>
      </dsp:txXfrm>
    </dsp:sp>
    <dsp:sp modelId="{B0A13DB2-5004-4DEC-A955-547E13213697}">
      <dsp:nvSpPr>
        <dsp:cNvPr id="0" name=""/>
        <dsp:cNvSpPr/>
      </dsp:nvSpPr>
      <dsp:spPr>
        <a:xfrm>
          <a:off x="4" y="2042624"/>
          <a:ext cx="2459316" cy="1475589"/>
        </a:xfrm>
        <a:prstGeom prst="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509" tIns="126495" rIns="120509" bIns="126495" numCol="1" spcCol="1270" anchor="ctr" anchorCtr="0">
          <a:noAutofit/>
        </a:bodyPr>
        <a:lstStyle/>
        <a:p>
          <a:pPr marL="0" lvl="0" indent="0" algn="ctr" defTabSz="889000">
            <a:lnSpc>
              <a:spcPct val="90000"/>
            </a:lnSpc>
            <a:spcBef>
              <a:spcPct val="0"/>
            </a:spcBef>
            <a:spcAft>
              <a:spcPct val="35000"/>
            </a:spcAft>
            <a:buNone/>
          </a:pPr>
          <a:r>
            <a:rPr lang="en-US" sz="2000" b="0" i="0" kern="1200" baseline="0"/>
            <a:t>RBF SVC accuracy: 80.90% </a:t>
          </a:r>
          <a:endParaRPr lang="en-US" sz="2000" kern="1200"/>
        </a:p>
      </dsp:txBody>
      <dsp:txXfrm>
        <a:off x="4" y="2042624"/>
        <a:ext cx="2459316" cy="1475589"/>
      </dsp:txXfrm>
    </dsp:sp>
    <dsp:sp modelId="{F5CC0870-6134-4C87-95BF-D66A1A4FC9AD}">
      <dsp:nvSpPr>
        <dsp:cNvPr id="0" name=""/>
        <dsp:cNvSpPr/>
      </dsp:nvSpPr>
      <dsp:spPr>
        <a:xfrm>
          <a:off x="3151864" y="3516414"/>
          <a:ext cx="1102757" cy="535042"/>
        </a:xfrm>
        <a:custGeom>
          <a:avLst/>
          <a:gdLst/>
          <a:ahLst/>
          <a:cxnLst/>
          <a:rect l="0" t="0" r="0" b="0"/>
          <a:pathLst>
            <a:path>
              <a:moveTo>
                <a:pt x="1102757" y="0"/>
              </a:moveTo>
              <a:lnTo>
                <a:pt x="1102757" y="284621"/>
              </a:lnTo>
              <a:lnTo>
                <a:pt x="0" y="284621"/>
              </a:lnTo>
              <a:lnTo>
                <a:pt x="0" y="535042"/>
              </a:lnTo>
            </a:path>
          </a:pathLst>
        </a:custGeom>
        <a:noFill/>
        <a:ln w="6350" cap="flat" cmpd="sng" algn="ctr">
          <a:solidFill>
            <a:schemeClr val="accent5">
              <a:hueOff val="-6758543"/>
              <a:satOff val="-17419"/>
              <a:lumOff val="-1176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72259" y="3781107"/>
        <a:ext cx="61968" cy="5656"/>
      </dsp:txXfrm>
    </dsp:sp>
    <dsp:sp modelId="{ED3BADEB-3A8B-4B8C-9A38-006C536DAE44}">
      <dsp:nvSpPr>
        <dsp:cNvPr id="0" name=""/>
        <dsp:cNvSpPr/>
      </dsp:nvSpPr>
      <dsp:spPr>
        <a:xfrm>
          <a:off x="3024963" y="2042624"/>
          <a:ext cx="2459316" cy="1475589"/>
        </a:xfrm>
        <a:prstGeom prst="rect">
          <a:avLst/>
        </a:prstGeom>
        <a:solidFill>
          <a:schemeClr val="accent5">
            <a:hueOff val="-5068907"/>
            <a:satOff val="-13064"/>
            <a:lumOff val="-882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509" tIns="126495" rIns="120509" bIns="126495" numCol="1" spcCol="1270" anchor="ctr" anchorCtr="0">
          <a:noAutofit/>
        </a:bodyPr>
        <a:lstStyle/>
        <a:p>
          <a:pPr marL="0" lvl="0" indent="0" algn="ctr" defTabSz="889000">
            <a:lnSpc>
              <a:spcPct val="90000"/>
            </a:lnSpc>
            <a:spcBef>
              <a:spcPct val="0"/>
            </a:spcBef>
            <a:spcAft>
              <a:spcPct val="35000"/>
            </a:spcAft>
            <a:buNone/>
          </a:pPr>
          <a:r>
            <a:rPr lang="en-US" sz="2000" b="0" i="0" kern="1200" baseline="0"/>
            <a:t>Poly SVC accuracy: 69.40% </a:t>
          </a:r>
          <a:endParaRPr lang="en-US" sz="2000" kern="1200"/>
        </a:p>
      </dsp:txBody>
      <dsp:txXfrm>
        <a:off x="3024963" y="2042624"/>
        <a:ext cx="2459316" cy="1475589"/>
      </dsp:txXfrm>
    </dsp:sp>
    <dsp:sp modelId="{735F1439-55BE-45A1-9B03-F91DE059121B}">
      <dsp:nvSpPr>
        <dsp:cNvPr id="0" name=""/>
        <dsp:cNvSpPr/>
      </dsp:nvSpPr>
      <dsp:spPr>
        <a:xfrm>
          <a:off x="4" y="4083857"/>
          <a:ext cx="6303719" cy="1475589"/>
        </a:xfrm>
        <a:prstGeom prst="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509" tIns="126495" rIns="120509" bIns="126495" numCol="1" spcCol="1270" anchor="ctr" anchorCtr="0">
          <a:noAutofit/>
        </a:bodyPr>
        <a:lstStyle/>
        <a:p>
          <a:pPr marL="0" lvl="0" indent="0" algn="ctr" defTabSz="889000">
            <a:lnSpc>
              <a:spcPct val="90000"/>
            </a:lnSpc>
            <a:spcBef>
              <a:spcPct val="0"/>
            </a:spcBef>
            <a:spcAft>
              <a:spcPct val="35000"/>
            </a:spcAft>
            <a:buNone/>
          </a:pPr>
          <a:r>
            <a:rPr lang="en-US" sz="2000" b="0" i="0" kern="1200" baseline="0"/>
            <a:t>The RBF SVC model has the highest accuracy (80.90%).This shows that the RBF (Radial Basis Function) kernel may be a better fit for this dataset than the linear, sigmoid, and polynomial kernels.</a:t>
          </a:r>
          <a:endParaRPr lang="en-US" sz="2000" kern="1200"/>
        </a:p>
      </dsp:txBody>
      <dsp:txXfrm>
        <a:off x="4" y="4083857"/>
        <a:ext cx="6303719" cy="147558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F3DD31-4694-44BD-998D-CF9A6B6F2777}">
      <dsp:nvSpPr>
        <dsp:cNvPr id="0" name=""/>
        <dsp:cNvSpPr/>
      </dsp:nvSpPr>
      <dsp:spPr>
        <a:xfrm>
          <a:off x="0" y="878125"/>
          <a:ext cx="7516482" cy="1621155"/>
        </a:xfrm>
        <a:prstGeom prst="roundRect">
          <a:avLst>
            <a:gd name="adj" fmla="val 10000"/>
          </a:avLst>
        </a:prstGeom>
        <a:solidFill>
          <a:schemeClr val="accent5">
            <a:lumMod val="75000"/>
          </a:schemeClr>
        </a:solidFill>
        <a:ln>
          <a:noFill/>
        </a:ln>
        <a:effectLst/>
      </dsp:spPr>
      <dsp:style>
        <a:lnRef idx="0">
          <a:scrgbClr r="0" g="0" b="0"/>
        </a:lnRef>
        <a:fillRef idx="1">
          <a:scrgbClr r="0" g="0" b="0"/>
        </a:fillRef>
        <a:effectRef idx="0">
          <a:scrgbClr r="0" g="0" b="0"/>
        </a:effectRef>
        <a:fontRef idx="minor"/>
      </dsp:style>
    </dsp:sp>
    <dsp:sp modelId="{E50EB937-ECDA-4AD5-9096-9E51084CF609}">
      <dsp:nvSpPr>
        <dsp:cNvPr id="0" name=""/>
        <dsp:cNvSpPr/>
      </dsp:nvSpPr>
      <dsp:spPr>
        <a:xfrm>
          <a:off x="490399" y="1242885"/>
          <a:ext cx="891635" cy="89163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F04BC3-A655-46ED-B732-86C4F56A5B56}">
      <dsp:nvSpPr>
        <dsp:cNvPr id="0" name=""/>
        <dsp:cNvSpPr/>
      </dsp:nvSpPr>
      <dsp:spPr>
        <a:xfrm>
          <a:off x="1872434" y="878125"/>
          <a:ext cx="5644047" cy="16211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572" tIns="171572" rIns="171572" bIns="171572" numCol="1" spcCol="1270" anchor="ctr" anchorCtr="0">
          <a:noAutofit/>
        </a:bodyPr>
        <a:lstStyle/>
        <a:p>
          <a:pPr marL="0" lvl="0" indent="0" algn="l" defTabSz="533400">
            <a:lnSpc>
              <a:spcPct val="100000"/>
            </a:lnSpc>
            <a:spcBef>
              <a:spcPct val="0"/>
            </a:spcBef>
            <a:spcAft>
              <a:spcPct val="35000"/>
            </a:spcAft>
            <a:buNone/>
          </a:pPr>
          <a:r>
            <a:rPr lang="en-US" sz="1200" kern="1200" dirty="0"/>
            <a:t>A  Random Forest Classifier is an ensemble machine learning technique that creates several decision trees from random selections of data and features. It employs **bagging** (Bootstrap Aggregation) to provide variety to the trees and then combines their predictions using majority vote (for classification) or averaging (for regression). It is resilient, prevents overfitting, and works well with huge datasets. </a:t>
          </a:r>
        </a:p>
      </dsp:txBody>
      <dsp:txXfrm>
        <a:off x="1872434" y="878125"/>
        <a:ext cx="5644047" cy="1621155"/>
      </dsp:txXfrm>
    </dsp:sp>
    <dsp:sp modelId="{D4AA4AE4-06D4-4A1C-9373-95DA3B10B18F}">
      <dsp:nvSpPr>
        <dsp:cNvPr id="0" name=""/>
        <dsp:cNvSpPr/>
      </dsp:nvSpPr>
      <dsp:spPr>
        <a:xfrm>
          <a:off x="0" y="2904569"/>
          <a:ext cx="7516482" cy="1621155"/>
        </a:xfrm>
        <a:prstGeom prst="roundRect">
          <a:avLst>
            <a:gd name="adj" fmla="val 10000"/>
          </a:avLst>
        </a:prstGeom>
        <a:solidFill>
          <a:srgbClr val="00B050"/>
        </a:solidFill>
        <a:ln>
          <a:noFill/>
        </a:ln>
        <a:effectLst/>
      </dsp:spPr>
      <dsp:style>
        <a:lnRef idx="0">
          <a:scrgbClr r="0" g="0" b="0"/>
        </a:lnRef>
        <a:fillRef idx="1">
          <a:scrgbClr r="0" g="0" b="0"/>
        </a:fillRef>
        <a:effectRef idx="0">
          <a:scrgbClr r="0" g="0" b="0"/>
        </a:effectRef>
        <a:fontRef idx="minor"/>
      </dsp:style>
    </dsp:sp>
    <dsp:sp modelId="{8169D13D-FC22-408F-8D19-A90F5C19B0C8}">
      <dsp:nvSpPr>
        <dsp:cNvPr id="0" name=""/>
        <dsp:cNvSpPr/>
      </dsp:nvSpPr>
      <dsp:spPr>
        <a:xfrm>
          <a:off x="490399" y="3269329"/>
          <a:ext cx="891635" cy="89163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B9B611-8F4F-47B3-8C37-85550E4DF9B3}">
      <dsp:nvSpPr>
        <dsp:cNvPr id="0" name=""/>
        <dsp:cNvSpPr/>
      </dsp:nvSpPr>
      <dsp:spPr>
        <a:xfrm>
          <a:off x="1872434" y="2904569"/>
          <a:ext cx="5644047" cy="16211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572" tIns="171572" rIns="171572" bIns="171572" numCol="1" spcCol="1270" anchor="ctr" anchorCtr="0">
          <a:noAutofit/>
        </a:bodyPr>
        <a:lstStyle/>
        <a:p>
          <a:pPr marL="0" lvl="0" indent="0" algn="l" defTabSz="622300">
            <a:lnSpc>
              <a:spcPct val="100000"/>
            </a:lnSpc>
            <a:spcBef>
              <a:spcPct val="0"/>
            </a:spcBef>
            <a:spcAft>
              <a:spcPct val="35000"/>
            </a:spcAft>
            <a:buNone/>
          </a:pPr>
          <a:r>
            <a:rPr lang="en-US" sz="1400" kern="1200" dirty="0"/>
            <a:t>Key hyperparameters include the number of trees ('</a:t>
          </a:r>
          <a:r>
            <a:rPr lang="en-US" sz="1400" kern="1200" dirty="0" err="1"/>
            <a:t>n_estimators</a:t>
          </a:r>
          <a:r>
            <a:rPr lang="en-US" sz="1400" kern="1200" dirty="0"/>
            <a:t>'), the maximum tree depth ('</a:t>
          </a:r>
          <a:r>
            <a:rPr lang="en-US" sz="1400" kern="1200" dirty="0" err="1"/>
            <a:t>max_depth</a:t>
          </a:r>
          <a:r>
            <a:rPr lang="en-US" sz="1400" kern="1200" dirty="0"/>
            <a:t>'), and the number of features evaluated. Random Forest is widely applied in fields such as fraud detection, medical diagnosis, and customer segmentation.</a:t>
          </a:r>
        </a:p>
      </dsp:txBody>
      <dsp:txXfrm>
        <a:off x="1872434" y="2904569"/>
        <a:ext cx="5644047" cy="162115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6634B5-95FB-462F-8FA9-1590D753D15B}">
      <dsp:nvSpPr>
        <dsp:cNvPr id="0" name=""/>
        <dsp:cNvSpPr/>
      </dsp:nvSpPr>
      <dsp:spPr>
        <a:xfrm>
          <a:off x="0" y="594"/>
          <a:ext cx="6658004" cy="139212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FE6941-31E2-41CE-AB0A-337C7E7A35B2}">
      <dsp:nvSpPr>
        <dsp:cNvPr id="0" name=""/>
        <dsp:cNvSpPr/>
      </dsp:nvSpPr>
      <dsp:spPr>
        <a:xfrm>
          <a:off x="421117" y="313822"/>
          <a:ext cx="765668" cy="76566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123325-CE9B-49C3-9057-B64D076283A0}">
      <dsp:nvSpPr>
        <dsp:cNvPr id="0" name=""/>
        <dsp:cNvSpPr/>
      </dsp:nvSpPr>
      <dsp:spPr>
        <a:xfrm>
          <a:off x="1607903" y="594"/>
          <a:ext cx="5050100" cy="1392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333" tIns="147333" rIns="147333" bIns="147333" numCol="1" spcCol="1270" anchor="ctr" anchorCtr="0">
          <a:noAutofit/>
        </a:bodyPr>
        <a:lstStyle/>
        <a:p>
          <a:pPr marL="0" lvl="0" indent="0" algn="l" defTabSz="755650">
            <a:lnSpc>
              <a:spcPct val="100000"/>
            </a:lnSpc>
            <a:spcBef>
              <a:spcPct val="0"/>
            </a:spcBef>
            <a:spcAft>
              <a:spcPct val="35000"/>
            </a:spcAft>
            <a:buNone/>
          </a:pPr>
          <a:r>
            <a:rPr lang="en-US" sz="1700" kern="1200" dirty="0">
              <a:solidFill>
                <a:srgbClr val="0070C0"/>
              </a:solidFill>
            </a:rPr>
            <a:t>Addressing data imbalances and developing new features can improve model performance.</a:t>
          </a:r>
        </a:p>
      </dsp:txBody>
      <dsp:txXfrm>
        <a:off x="1607903" y="594"/>
        <a:ext cx="5050100" cy="1392124"/>
      </dsp:txXfrm>
    </dsp:sp>
    <dsp:sp modelId="{D9195AC4-EB4C-486B-8FD6-670466969540}">
      <dsp:nvSpPr>
        <dsp:cNvPr id="0" name=""/>
        <dsp:cNvSpPr/>
      </dsp:nvSpPr>
      <dsp:spPr>
        <a:xfrm>
          <a:off x="0" y="1740750"/>
          <a:ext cx="6658004" cy="139212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46FD97-5BE3-4D33-B091-3BA6322752D1}">
      <dsp:nvSpPr>
        <dsp:cNvPr id="0" name=""/>
        <dsp:cNvSpPr/>
      </dsp:nvSpPr>
      <dsp:spPr>
        <a:xfrm>
          <a:off x="421117" y="2053978"/>
          <a:ext cx="765668" cy="76566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4B832A-168A-4BCF-916C-913ABCF7A656}">
      <dsp:nvSpPr>
        <dsp:cNvPr id="0" name=""/>
        <dsp:cNvSpPr/>
      </dsp:nvSpPr>
      <dsp:spPr>
        <a:xfrm>
          <a:off x="1607903" y="1740750"/>
          <a:ext cx="5050100" cy="1392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333" tIns="147333" rIns="147333" bIns="147333" numCol="1" spcCol="1270" anchor="ctr" anchorCtr="0">
          <a:noAutofit/>
        </a:bodyPr>
        <a:lstStyle/>
        <a:p>
          <a:pPr marL="0" lvl="0" indent="0" algn="l" defTabSz="755650">
            <a:lnSpc>
              <a:spcPct val="100000"/>
            </a:lnSpc>
            <a:spcBef>
              <a:spcPct val="0"/>
            </a:spcBef>
            <a:spcAft>
              <a:spcPct val="35000"/>
            </a:spcAft>
            <a:buNone/>
          </a:pPr>
          <a:r>
            <a:rPr lang="en-US" sz="1700" kern="1200" dirty="0">
              <a:solidFill>
                <a:srgbClr val="0070C0"/>
              </a:solidFill>
            </a:rPr>
            <a:t>Exploring sophisticated ensemble approaches or deep learning may yield more robust results.</a:t>
          </a:r>
        </a:p>
      </dsp:txBody>
      <dsp:txXfrm>
        <a:off x="1607903" y="1740750"/>
        <a:ext cx="5050100" cy="1392124"/>
      </dsp:txXfrm>
    </dsp:sp>
    <dsp:sp modelId="{B2A73338-4A4D-4070-9E0E-301EFBF86707}">
      <dsp:nvSpPr>
        <dsp:cNvPr id="0" name=""/>
        <dsp:cNvSpPr/>
      </dsp:nvSpPr>
      <dsp:spPr>
        <a:xfrm>
          <a:off x="0" y="3480905"/>
          <a:ext cx="6658004" cy="139212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5DD451-D18C-4F2D-A56A-EAE55EF07639}">
      <dsp:nvSpPr>
        <dsp:cNvPr id="0" name=""/>
        <dsp:cNvSpPr/>
      </dsp:nvSpPr>
      <dsp:spPr>
        <a:xfrm>
          <a:off x="421117" y="3794133"/>
          <a:ext cx="765668" cy="76566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2E2ECD-0C52-48B0-B20F-6BCC4A51A6CC}">
      <dsp:nvSpPr>
        <dsp:cNvPr id="0" name=""/>
        <dsp:cNvSpPr/>
      </dsp:nvSpPr>
      <dsp:spPr>
        <a:xfrm>
          <a:off x="1607903" y="3480905"/>
          <a:ext cx="5050100" cy="1392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333" tIns="147333" rIns="147333" bIns="147333" numCol="1" spcCol="1270" anchor="ctr" anchorCtr="0">
          <a:noAutofit/>
        </a:bodyPr>
        <a:lstStyle/>
        <a:p>
          <a:pPr marL="0" lvl="0" indent="0" algn="l" defTabSz="755650">
            <a:lnSpc>
              <a:spcPct val="100000"/>
            </a:lnSpc>
            <a:spcBef>
              <a:spcPct val="0"/>
            </a:spcBef>
            <a:spcAft>
              <a:spcPct val="35000"/>
            </a:spcAft>
            <a:buNone/>
          </a:pPr>
          <a:r>
            <a:rPr lang="en-US" sz="1700" kern="1200" dirty="0">
              <a:solidFill>
                <a:srgbClr val="0070C0"/>
              </a:solidFill>
            </a:rPr>
            <a:t>This study emphasizes the relevance of accurate models in improving clinical decision-making and patient care by highlighting machine learning's potential for predicting health outcomes.</a:t>
          </a:r>
        </a:p>
      </dsp:txBody>
      <dsp:txXfrm>
        <a:off x="1607903" y="3480905"/>
        <a:ext cx="5050100" cy="139212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6/7/layout/ChevronBlockProcess">
  <dgm:title val="Chevron Block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28"/>
      <dgm:constr type="primFontSz" for="des" forName="desTx" refType="primFontSz" refFor="des" refForName="parTx" op="lte" fact="0.75"/>
      <dgm:constr type="h" for="des" forName="desTx" op="equ"/>
      <dgm:constr type="w" for="ch" forName="space" refType="w" op="equ" fact="-0.005"/>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91"/>
              <dgm:constr type="t" for="ch" forName="desTx" refType="h" refFor="ch" refForName="parTx"/>
            </dgm:constrLst>
          </dgm:if>
          <dgm:else name="Name9">
            <dgm:constrLst>
              <dgm:constr type="l" for="ch" forName="parTx"/>
              <dgm:constr type="w" for="ch" forName="parTx" refType="w"/>
              <dgm:constr type="t" for="ch" forName="parTx"/>
              <dgm:constr type="l" for="ch" forName="desTx" refType="w" fact="0.09"/>
              <dgm:constr type="w" for="ch" forName="desTx" refType="w" refFor="ch" refForName="parTx" fact="0.91"/>
              <dgm:constr type="t" for="ch" forName="desTx" refType="h" refFor="ch" refForName="parTx"/>
            </dgm:constrLst>
          </dgm:else>
        </dgm:choose>
        <dgm:ruleLst>
          <dgm:rule type="h" val="INF" fact="NaN" max="NaN"/>
        </dgm:ruleLst>
        <dgm:layoutNode name="parTx" styleLbl="alignNode1">
          <dgm:varLst>
            <dgm:chMax val="0"/>
            <dgm:chPref val="0"/>
          </dgm:varLst>
          <dgm:alg type="tx"/>
          <dgm:choose name="Name10">
            <dgm:if name="Name11" func="var" arg="dir" op="equ" val="norm">
              <dgm:shape xmlns:r="http://schemas.openxmlformats.org/officeDocument/2006/relationships" type="chevron" r:blip="">
                <dgm:adjLst>
                  <dgm:adj idx="1" val="0.3"/>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3"/>
                <dgm:constr type="h"/>
                <dgm:constr type="tMarg" refType="w" fact="0.105"/>
                <dgm:constr type="bMarg" refType="w" fact="0.105"/>
                <dgm:constr type="lMarg" refType="w" fact="0.105"/>
                <dgm:constr type="rMarg" refType="w" fact="0.105"/>
              </dgm:constrLst>
            </dgm:if>
            <dgm:else name="Name15">
              <dgm:constrLst>
                <dgm:constr type="h" refType="w" op="lte" fact="0.3"/>
                <dgm:constr type="h"/>
                <dgm:constr type="tMarg" refType="w" fact="0.105"/>
                <dgm:constr type="bMarg" refType="w" fact="0.105"/>
                <dgm:constr type="lMarg" refType="w" fact="0.105"/>
                <dgm:constr type="rMarg" refType="w" fact="0.105"/>
              </dgm:constrLst>
            </dgm:else>
          </dgm:choose>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0"/>
            <dgm:constr type="tMarg" refType="w" fact="0.224"/>
            <dgm:constr type="bMarg" refType="w" fact="0.448"/>
            <dgm:constr type="lMarg" refType="w" fact="0.224"/>
            <dgm:constr type="rMarg" refType="w" fact="0.224"/>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7.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48BC7A-CEB7-4E93-92ED-8934707EDACD}" type="datetimeFigureOut">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099166-880E-45C1-90DC-FA5777B2764C}" type="slidenum">
              <a:rPr lang="en-US" smtClean="0"/>
              <a:t>‹#›</a:t>
            </a:fld>
            <a:endParaRPr lang="en-US"/>
          </a:p>
        </p:txBody>
      </p:sp>
    </p:spTree>
    <p:extLst>
      <p:ext uri="{BB962C8B-B14F-4D97-AF65-F5344CB8AC3E}">
        <p14:creationId xmlns:p14="http://schemas.microsoft.com/office/powerpoint/2010/main" val="37219648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099166-880E-45C1-90DC-FA5777B2764C}" type="slidenum">
              <a:rPr lang="en-US" smtClean="0"/>
              <a:t>19</a:t>
            </a:fld>
            <a:endParaRPr lang="en-US"/>
          </a:p>
        </p:txBody>
      </p:sp>
    </p:spTree>
    <p:extLst>
      <p:ext uri="{BB962C8B-B14F-4D97-AF65-F5344CB8AC3E}">
        <p14:creationId xmlns:p14="http://schemas.microsoft.com/office/powerpoint/2010/main" val="37085335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C2B07E4-CDF9-4C88-A2F3-04620E58224D}"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872750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2B07E4-CDF9-4C88-A2F3-04620E58224D}"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1511137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2B07E4-CDF9-4C88-A2F3-04620E58224D}"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13526916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C2B07E4-CDF9-4C88-A2F3-04620E58224D}"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1183666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C2B07E4-CDF9-4C88-A2F3-04620E58224D}" type="datetimeFigureOut">
              <a:rPr lang="en-US" smtClean="0"/>
              <a:t>3/5/2026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2433751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C2B07E4-CDF9-4C88-A2F3-04620E58224D}" type="datetimeFigureOut">
              <a:rPr lang="en-US" smtClean="0"/>
              <a:t>3/5/2026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4190238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2B07E4-CDF9-4C88-A2F3-04620E58224D}" type="datetimeFigureOut">
              <a:rPr lang="en-US" smtClean="0"/>
              <a:t>3/5/2026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1208773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2B07E4-CDF9-4C88-A2F3-04620E58224D}"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2213836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2B07E4-CDF9-4C88-A2F3-04620E58224D}"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10024765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2B07E4-CDF9-4C88-A2F3-04620E58224D}"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2108999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2B07E4-CDF9-4C88-A2F3-04620E58224D}"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2239180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2B07E4-CDF9-4C88-A2F3-04620E58224D}" type="datetimeFigureOut">
              <a:rPr lang="en-US" smtClean="0"/>
              <a:pPr/>
              <a:t>3/5/2026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71E98-A417-4ECC-ACEB-C0490C20DB04}" type="slidenum">
              <a:rPr lang="en-US" smtClean="0"/>
              <a:pPr/>
              <a:t>‹#›</a:t>
            </a:fld>
            <a:endParaRPr lang="en-US"/>
          </a:p>
        </p:txBody>
      </p:sp>
    </p:spTree>
    <p:extLst>
      <p:ext uri="{BB962C8B-B14F-4D97-AF65-F5344CB8AC3E}">
        <p14:creationId xmlns:p14="http://schemas.microsoft.com/office/powerpoint/2010/main" val="4122102809"/>
      </p:ext>
    </p:extLst>
  </p:cSld>
  <p:clrMap bg1="dk1" tx1="lt1" bg2="dk2" tx2="lt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11.jpe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31.png"/><Relationship Id="rId1" Type="http://schemas.openxmlformats.org/officeDocument/2006/relationships/slideLayout" Target="../slideLayouts/slideLayout4.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4.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30.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8.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9.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40.xml.rels><?xml version="1.0" encoding="UTF-8" standalone="yes"?>
<Relationships xmlns="http://schemas.openxmlformats.org/package/2006/relationships"><Relationship Id="rId3" Type="http://schemas.openxmlformats.org/officeDocument/2006/relationships/hyperlink" Target="https://www.kaggle.com/datasets/mrsimple07/diabetes-prediction" TargetMode="External"/><Relationship Id="rId2" Type="http://schemas.openxmlformats.org/officeDocument/2006/relationships/hyperlink" Target="https://aws.amazon.com/what-is/logistic-regression/" TargetMode="External"/><Relationship Id="rId1" Type="http://schemas.openxmlformats.org/officeDocument/2006/relationships/slideLayout" Target="../slideLayouts/slideLayout2.xml"/><Relationship Id="rId4" Type="http://schemas.openxmlformats.org/officeDocument/2006/relationships/hyperlink" Target="https://www.datascienceinstitute.net/blog/binary-logistic-regression-an-introduction"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9B4C2-6285-85F7-9390-D644B50CA765}"/>
              </a:ext>
            </a:extLst>
          </p:cNvPr>
          <p:cNvSpPr>
            <a:spLocks noGrp="1"/>
          </p:cNvSpPr>
          <p:nvPr>
            <p:ph type="ctrTitle"/>
          </p:nvPr>
        </p:nvSpPr>
        <p:spPr>
          <a:xfrm>
            <a:off x="414068" y="640080"/>
            <a:ext cx="4897634" cy="3566160"/>
          </a:xfrm>
        </p:spPr>
        <p:txBody>
          <a:bodyPr anchor="b">
            <a:normAutofit/>
          </a:bodyPr>
          <a:lstStyle/>
          <a:p>
            <a:pPr algn="l"/>
            <a:r>
              <a:rPr lang="en-US" sz="5000">
                <a:solidFill>
                  <a:srgbClr val="0070C0"/>
                </a:solidFill>
                <a:latin typeface="Times New Roman" panose="02020603050405020304" pitchFamily="18" charset="0"/>
                <a:cs typeface="Times New Roman" panose="02020603050405020304" pitchFamily="18" charset="0"/>
              </a:rPr>
              <a:t>Early Detection of Gestational Diabetes Mellitus</a:t>
            </a:r>
          </a:p>
        </p:txBody>
      </p:sp>
      <p:sp>
        <p:nvSpPr>
          <p:cNvPr id="3" name="Subtitle 2">
            <a:extLst>
              <a:ext uri="{FF2B5EF4-FFF2-40B4-BE49-F238E27FC236}">
                <a16:creationId xmlns:a16="http://schemas.microsoft.com/office/drawing/2014/main" id="{98CFBEA9-3DCF-E90B-6E59-64B50FFA8DB7}"/>
              </a:ext>
            </a:extLst>
          </p:cNvPr>
          <p:cNvSpPr>
            <a:spLocks noGrp="1"/>
          </p:cNvSpPr>
          <p:nvPr>
            <p:ph type="subTitle" idx="1"/>
          </p:nvPr>
        </p:nvSpPr>
        <p:spPr>
          <a:xfrm>
            <a:off x="890339" y="4636007"/>
            <a:ext cx="4210748" cy="1931569"/>
          </a:xfrm>
        </p:spPr>
        <p:txBody>
          <a:bodyPr>
            <a:normAutofit fontScale="77500" lnSpcReduction="20000"/>
          </a:bodyPr>
          <a:lstStyle/>
          <a:p>
            <a:pPr algn="l"/>
            <a:r>
              <a:rPr lang="en-US" sz="2000" b="1">
                <a:latin typeface="Times New Roman" panose="02020603050405020304" pitchFamily="18" charset="0"/>
                <a:cs typeface="Times New Roman" panose="02020603050405020304" pitchFamily="18" charset="0"/>
              </a:rPr>
              <a:t>HDS-5330-01</a:t>
            </a:r>
          </a:p>
          <a:p>
            <a:pPr algn="l"/>
            <a:br>
              <a:rPr lang="en-US" sz="2000" b="1">
                <a:latin typeface="Times New Roman" panose="02020603050405020304" pitchFamily="18" charset="0"/>
                <a:cs typeface="Times New Roman" panose="02020603050405020304" pitchFamily="18" charset="0"/>
              </a:rPr>
            </a:br>
            <a:r>
              <a:rPr lang="en-US" sz="2000" b="1">
                <a:solidFill>
                  <a:schemeClr val="accent2"/>
                </a:solidFill>
                <a:latin typeface="Times New Roman" panose="02020603050405020304" pitchFamily="18" charset="0"/>
                <a:cs typeface="Times New Roman" panose="02020603050405020304" pitchFamily="18" charset="0"/>
              </a:rPr>
              <a:t>Neha Sri </a:t>
            </a:r>
            <a:r>
              <a:rPr lang="en-US" sz="2000" b="1" err="1">
                <a:solidFill>
                  <a:schemeClr val="accent2"/>
                </a:solidFill>
                <a:latin typeface="Times New Roman" panose="02020603050405020304" pitchFamily="18" charset="0"/>
                <a:cs typeface="Times New Roman" panose="02020603050405020304" pitchFamily="18" charset="0"/>
              </a:rPr>
              <a:t>Tella</a:t>
            </a:r>
            <a:endParaRPr lang="en-US" sz="2000" b="1">
              <a:solidFill>
                <a:schemeClr val="accent2"/>
              </a:solidFill>
              <a:latin typeface="Times New Roman" panose="02020603050405020304" pitchFamily="18" charset="0"/>
              <a:cs typeface="Times New Roman" panose="02020603050405020304" pitchFamily="18" charset="0"/>
            </a:endParaRPr>
          </a:p>
          <a:p>
            <a:pPr algn="l"/>
            <a:r>
              <a:rPr lang="en-US" sz="2000" b="1">
                <a:solidFill>
                  <a:schemeClr val="accent2"/>
                </a:solidFill>
                <a:latin typeface="Times New Roman" panose="02020603050405020304" pitchFamily="18" charset="0"/>
                <a:cs typeface="Times New Roman" panose="02020603050405020304" pitchFamily="18" charset="0"/>
              </a:rPr>
              <a:t>Rathnakar Rajanala </a:t>
            </a:r>
          </a:p>
          <a:p>
            <a:pPr algn="l"/>
            <a:r>
              <a:rPr lang="en-US" sz="2000" b="1">
                <a:solidFill>
                  <a:schemeClr val="accent2"/>
                </a:solidFill>
                <a:latin typeface="Times New Roman" panose="02020603050405020304" pitchFamily="18" charset="0"/>
                <a:cs typeface="Times New Roman" panose="02020603050405020304" pitchFamily="18" charset="0"/>
              </a:rPr>
              <a:t>Lakshmi Anusha </a:t>
            </a:r>
            <a:r>
              <a:rPr lang="en-US" sz="2000" b="1" err="1">
                <a:solidFill>
                  <a:schemeClr val="accent2"/>
                </a:solidFill>
                <a:latin typeface="Times New Roman" panose="02020603050405020304" pitchFamily="18" charset="0"/>
                <a:cs typeface="Times New Roman" panose="02020603050405020304" pitchFamily="18" charset="0"/>
              </a:rPr>
              <a:t>Tiyyala</a:t>
            </a:r>
            <a:r>
              <a:rPr lang="en-US" sz="2000" b="1">
                <a:solidFill>
                  <a:schemeClr val="accent2"/>
                </a:solidFill>
                <a:latin typeface="Times New Roman" panose="02020603050405020304" pitchFamily="18" charset="0"/>
                <a:cs typeface="Times New Roman" panose="02020603050405020304" pitchFamily="18" charset="0"/>
              </a:rPr>
              <a:t> </a:t>
            </a:r>
          </a:p>
          <a:p>
            <a:pPr algn="l"/>
            <a:r>
              <a:rPr lang="en-US" sz="2000" b="1">
                <a:solidFill>
                  <a:schemeClr val="accent2"/>
                </a:solidFill>
                <a:latin typeface="Times New Roman" panose="02020603050405020304" pitchFamily="18" charset="0"/>
                <a:cs typeface="Times New Roman" panose="02020603050405020304" pitchFamily="18" charset="0"/>
              </a:rPr>
              <a:t>Sai kumar chary </a:t>
            </a:r>
            <a:r>
              <a:rPr lang="en-US" sz="2000" b="1" err="1">
                <a:solidFill>
                  <a:schemeClr val="accent2"/>
                </a:solidFill>
                <a:latin typeface="Times New Roman" panose="02020603050405020304" pitchFamily="18" charset="0"/>
                <a:cs typeface="Times New Roman" panose="02020603050405020304" pitchFamily="18" charset="0"/>
              </a:rPr>
              <a:t>Sripathi</a:t>
            </a:r>
            <a:r>
              <a:rPr lang="en-US" sz="2000" b="1">
                <a:solidFill>
                  <a:schemeClr val="accent2"/>
                </a:solidFill>
                <a:latin typeface="Times New Roman" panose="02020603050405020304" pitchFamily="18" charset="0"/>
                <a:cs typeface="Times New Roman" panose="02020603050405020304" pitchFamily="18" charset="0"/>
              </a:rPr>
              <a:t> </a:t>
            </a:r>
          </a:p>
          <a:p>
            <a:pPr algn="l"/>
            <a:r>
              <a:rPr lang="en-US" sz="2000" b="1" err="1">
                <a:solidFill>
                  <a:schemeClr val="accent2"/>
                </a:solidFill>
                <a:latin typeface="Times New Roman" panose="02020603050405020304" pitchFamily="18" charset="0"/>
                <a:cs typeface="Times New Roman" panose="02020603050405020304" pitchFamily="18" charset="0"/>
              </a:rPr>
              <a:t>Roshini</a:t>
            </a:r>
            <a:r>
              <a:rPr lang="en-US" sz="2000" b="1">
                <a:solidFill>
                  <a:schemeClr val="accent2"/>
                </a:solidFill>
                <a:latin typeface="Times New Roman" panose="02020603050405020304" pitchFamily="18" charset="0"/>
                <a:cs typeface="Times New Roman" panose="02020603050405020304" pitchFamily="18" charset="0"/>
              </a:rPr>
              <a:t> </a:t>
            </a:r>
            <a:r>
              <a:rPr lang="en-US" sz="2000" b="1" err="1">
                <a:solidFill>
                  <a:schemeClr val="accent2"/>
                </a:solidFill>
                <a:latin typeface="Times New Roman" panose="02020603050405020304" pitchFamily="18" charset="0"/>
                <a:cs typeface="Times New Roman" panose="02020603050405020304" pitchFamily="18" charset="0"/>
              </a:rPr>
              <a:t>amulla</a:t>
            </a:r>
            <a:endParaRPr lang="en-US" sz="2000" b="1">
              <a:solidFill>
                <a:schemeClr val="accent2"/>
              </a:solidFill>
              <a:latin typeface="Times New Roman" panose="02020603050405020304" pitchFamily="18" charset="0"/>
              <a:cs typeface="Times New Roman" panose="02020603050405020304" pitchFamily="18" charset="0"/>
            </a:endParaRPr>
          </a:p>
          <a:p>
            <a:pPr algn="l"/>
            <a:endParaRPr lang="en-US" sz="2000" b="1">
              <a:latin typeface="Times New Roman" panose="02020603050405020304" pitchFamily="18" charset="0"/>
              <a:cs typeface="Times New Roman" panose="02020603050405020304" pitchFamily="18" charset="0"/>
            </a:endParaRPr>
          </a:p>
        </p:txBody>
      </p:sp>
      <p:pic>
        <p:nvPicPr>
          <p:cNvPr id="4" name="Picture 3" descr="A colorful light bulb with business icons">
            <a:extLst>
              <a:ext uri="{FF2B5EF4-FFF2-40B4-BE49-F238E27FC236}">
                <a16:creationId xmlns:a16="http://schemas.microsoft.com/office/drawing/2014/main" id="{5E1CC01E-3F4D-2962-2EF4-8408C360E388}"/>
              </a:ext>
            </a:extLst>
          </p:cNvPr>
          <p:cNvPicPr>
            <a:picLocks noChangeAspect="1"/>
          </p:cNvPicPr>
          <p:nvPr/>
        </p:nvPicPr>
        <p:blipFill>
          <a:blip r:embed="rId2"/>
          <a:srcRect l="5112" r="24676"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097991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400"/>
                                        <p:tgtEl>
                                          <p:spTgt spid="3">
                                            <p:txEl>
                                              <p:pRg st="1" end="1"/>
                                            </p:txEl>
                                          </p:spTgt>
                                        </p:tgtEl>
                                      </p:cBhvr>
                                    </p:animEffect>
                                  </p:childTnLst>
                                </p:cTn>
                              </p:par>
                              <p:par>
                                <p:cTn id="14" presetID="10" presetClass="entr" presetSubtype="0" fill="hold" grpId="0" nodeType="withEffect">
                                  <p:stCondLst>
                                    <p:cond delay="2000"/>
                                  </p:stCondLst>
                                  <p:iterate type="lt">
                                    <p:tmPct val="10000"/>
                                  </p:iterate>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400"/>
                                        <p:tgtEl>
                                          <p:spTgt spid="3">
                                            <p:txEl>
                                              <p:pRg st="2" end="2"/>
                                            </p:txEl>
                                          </p:spTgt>
                                        </p:tgtEl>
                                      </p:cBhvr>
                                    </p:animEffect>
                                  </p:childTnLst>
                                </p:cTn>
                              </p:par>
                              <p:par>
                                <p:cTn id="17" presetID="10" presetClass="entr" presetSubtype="0" fill="hold" grpId="0" nodeType="withEffect">
                                  <p:stCondLst>
                                    <p:cond delay="2000"/>
                                  </p:stCondLst>
                                  <p:iterate type="lt">
                                    <p:tmPct val="10000"/>
                                  </p:iterate>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400"/>
                                        <p:tgtEl>
                                          <p:spTgt spid="3">
                                            <p:txEl>
                                              <p:pRg st="3" end="3"/>
                                            </p:txEl>
                                          </p:spTgt>
                                        </p:tgtEl>
                                      </p:cBhvr>
                                    </p:animEffect>
                                  </p:childTnLst>
                                </p:cTn>
                              </p:par>
                              <p:par>
                                <p:cTn id="20" presetID="10" presetClass="entr" presetSubtype="0" fill="hold" grpId="0" nodeType="withEffect">
                                  <p:stCondLst>
                                    <p:cond delay="2000"/>
                                  </p:stCondLst>
                                  <p:iterate type="lt">
                                    <p:tmPct val="10000"/>
                                  </p:iterate>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400"/>
                                        <p:tgtEl>
                                          <p:spTgt spid="3">
                                            <p:txEl>
                                              <p:pRg st="4" end="4"/>
                                            </p:txEl>
                                          </p:spTgt>
                                        </p:tgtEl>
                                      </p:cBhvr>
                                    </p:animEffect>
                                  </p:childTnLst>
                                </p:cTn>
                              </p:par>
                              <p:par>
                                <p:cTn id="23" presetID="10" presetClass="entr" presetSubtype="0" fill="hold" grpId="0" nodeType="withEffect">
                                  <p:stCondLst>
                                    <p:cond delay="2000"/>
                                  </p:stCondLst>
                                  <p:iterate type="lt">
                                    <p:tmPct val="10000"/>
                                  </p:iterate>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4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1BC53F-C5BB-DA6E-75FD-106083D69DF5}"/>
              </a:ext>
            </a:extLst>
          </p:cNvPr>
          <p:cNvSpPr>
            <a:spLocks noGrp="1"/>
          </p:cNvSpPr>
          <p:nvPr>
            <p:ph type="title"/>
          </p:nvPr>
        </p:nvSpPr>
        <p:spPr>
          <a:xfrm>
            <a:off x="635000" y="640823"/>
            <a:ext cx="3418659" cy="5583148"/>
          </a:xfrm>
        </p:spPr>
        <p:txBody>
          <a:bodyPr anchor="ctr">
            <a:normAutofit/>
          </a:bodyPr>
          <a:lstStyle/>
          <a:p>
            <a:r>
              <a:rPr lang="en-US" sz="5400"/>
              <a:t>Table of contents</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3C0235DA-5104-21AC-911C-BC6E70905EA9}"/>
              </a:ext>
            </a:extLst>
          </p:cNvPr>
          <p:cNvGraphicFramePr>
            <a:graphicFrameLocks noGrp="1"/>
          </p:cNvGraphicFramePr>
          <p:nvPr>
            <p:ph idx="1"/>
            <p:extLst>
              <p:ext uri="{D42A27DB-BD31-4B8C-83A1-F6EECF244321}">
                <p14:modId xmlns:p14="http://schemas.microsoft.com/office/powerpoint/2010/main" val="4105703312"/>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25985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Vaccine storage and manufacturing">
            <a:extLst>
              <a:ext uri="{FF2B5EF4-FFF2-40B4-BE49-F238E27FC236}">
                <a16:creationId xmlns:a16="http://schemas.microsoft.com/office/drawing/2014/main" id="{6CFE92CA-7F5E-3835-46ED-C50C3D93B831}"/>
              </a:ext>
            </a:extLst>
          </p:cNvPr>
          <p:cNvPicPr>
            <a:picLocks noChangeAspect="1"/>
          </p:cNvPicPr>
          <p:nvPr/>
        </p:nvPicPr>
        <p:blipFill>
          <a:blip r:embed="rId2"/>
          <a:srcRect t="27202" b="27203"/>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22" name="TextBox 21">
            <a:extLst>
              <a:ext uri="{FF2B5EF4-FFF2-40B4-BE49-F238E27FC236}">
                <a16:creationId xmlns:a16="http://schemas.microsoft.com/office/drawing/2014/main" id="{1EB65B54-C8AC-A83C-DF57-4362472E185E}"/>
              </a:ext>
            </a:extLst>
          </p:cNvPr>
          <p:cNvSpPr txBox="1"/>
          <p:nvPr/>
        </p:nvSpPr>
        <p:spPr>
          <a:xfrm>
            <a:off x="1262246" y="3913877"/>
            <a:ext cx="7485413" cy="2452687"/>
          </a:xfrm>
          <a:prstGeom prst="rect">
            <a:avLst/>
          </a:prstGeom>
        </p:spPr>
        <p:txBody>
          <a:bodyPr vert="horz" lIns="91440" tIns="45720" rIns="91440" bIns="45720" rtlCol="0" anchor="ctr">
            <a:normAutofit/>
          </a:bodyPr>
          <a:lstStyle/>
          <a:p>
            <a:pPr defTabSz="914400">
              <a:lnSpc>
                <a:spcPct val="90000"/>
              </a:lnSpc>
              <a:spcAft>
                <a:spcPts val="600"/>
              </a:spcAft>
            </a:pPr>
            <a:r>
              <a:rPr lang="en-US" dirty="0"/>
              <a:t>Objective:</a:t>
            </a:r>
          </a:p>
          <a:p>
            <a:pPr defTabSz="914400">
              <a:lnSpc>
                <a:spcPct val="90000"/>
              </a:lnSpc>
              <a:spcAft>
                <a:spcPts val="600"/>
              </a:spcAft>
            </a:pPr>
            <a:r>
              <a:rPr lang="en-US" b="1" dirty="0">
                <a:solidFill>
                  <a:srgbClr val="00B0F0"/>
                </a:solidFill>
              </a:rPr>
              <a:t>To Develop a machine learning model to predict whether a pregnant women has diabetes based on various medical predictor variables. The goal is to create a model that can accurately identify patients at risk of diabetes, enabling early intervention and better management of the condition.</a:t>
            </a:r>
          </a:p>
        </p:txBody>
      </p:sp>
    </p:spTree>
    <p:extLst>
      <p:ext uri="{BB962C8B-B14F-4D97-AF65-F5344CB8AC3E}">
        <p14:creationId xmlns:p14="http://schemas.microsoft.com/office/powerpoint/2010/main" val="40207624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58F68C5-E6A9-4684-E728-320F65FCFB8D}"/>
              </a:ext>
            </a:extLst>
          </p:cNvPr>
          <p:cNvPicPr>
            <a:picLocks noChangeAspect="1"/>
          </p:cNvPicPr>
          <p:nvPr/>
        </p:nvPicPr>
        <p:blipFill>
          <a:blip r:embed="rId2">
            <a:duotone>
              <a:prstClr val="black"/>
              <a:schemeClr val="tx2">
                <a:tint val="45000"/>
                <a:satMod val="400000"/>
              </a:schemeClr>
            </a:duotone>
            <a:alphaModFix amt="25000"/>
          </a:blip>
          <a:srcRect t="25000"/>
          <a:stretch/>
        </p:blipFill>
        <p:spPr>
          <a:xfrm>
            <a:off x="20" y="10"/>
            <a:ext cx="12191980" cy="6857990"/>
          </a:xfrm>
          <a:prstGeom prst="rect">
            <a:avLst/>
          </a:prstGeom>
        </p:spPr>
      </p:pic>
      <p:sp>
        <p:nvSpPr>
          <p:cNvPr id="2" name="Title 1">
            <a:extLst>
              <a:ext uri="{FF2B5EF4-FFF2-40B4-BE49-F238E27FC236}">
                <a16:creationId xmlns:a16="http://schemas.microsoft.com/office/drawing/2014/main" id="{B0AFDCCE-2202-3D1F-9AA2-539CF663A422}"/>
              </a:ext>
            </a:extLst>
          </p:cNvPr>
          <p:cNvSpPr>
            <a:spLocks noGrp="1"/>
          </p:cNvSpPr>
          <p:nvPr>
            <p:ph type="title"/>
          </p:nvPr>
        </p:nvSpPr>
        <p:spPr/>
        <p:txBody>
          <a:bodyPr>
            <a:normAutofit/>
          </a:bodyPr>
          <a:lstStyle/>
          <a:p>
            <a:r>
              <a:rPr lang="en-US" b="1">
                <a:effectLst/>
                <a:latin typeface="Times New Roman" panose="02020603050405020304" pitchFamily="18" charset="0"/>
                <a:ea typeface="Times New Roman" panose="02020603050405020304" pitchFamily="18" charset="0"/>
                <a:cs typeface="Times New Roman" panose="02020603050405020304" pitchFamily="18" charset="0"/>
              </a:rPr>
              <a:t>Step 1: Data Collection</a:t>
            </a:r>
            <a:br>
              <a:rPr lang="en-US">
                <a:effectLst/>
                <a:latin typeface="Times New Roman" panose="02020603050405020304" pitchFamily="18" charset="0"/>
                <a:ea typeface="Times New Roman" panose="02020603050405020304" pitchFamily="18" charset="0"/>
                <a:cs typeface="Arial" panose="020B0604020202020204" pitchFamily="34" charset="0"/>
              </a:rPr>
            </a:br>
            <a:endParaRPr lang="en-US"/>
          </a:p>
        </p:txBody>
      </p:sp>
      <p:graphicFrame>
        <p:nvGraphicFramePr>
          <p:cNvPr id="13" name="Content Placeholder 2">
            <a:extLst>
              <a:ext uri="{FF2B5EF4-FFF2-40B4-BE49-F238E27FC236}">
                <a16:creationId xmlns:a16="http://schemas.microsoft.com/office/drawing/2014/main" id="{115BDAA6-0198-5631-A515-500CAFE3AEC9}"/>
              </a:ext>
            </a:extLst>
          </p:cNvPr>
          <p:cNvGraphicFramePr>
            <a:graphicFrameLocks noGrp="1"/>
          </p:cNvGraphicFramePr>
          <p:nvPr>
            <p:ph idx="1"/>
            <p:extLst>
              <p:ext uri="{D42A27DB-BD31-4B8C-83A1-F6EECF244321}">
                <p14:modId xmlns:p14="http://schemas.microsoft.com/office/powerpoint/2010/main" val="292344683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2312709"/>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623BB2D4-FCDD-4E95-A17D-B7E61B88AD66}"/>
              </a:ext>
            </a:extLst>
          </p:cNvPr>
          <p:cNvSpPr>
            <a:spLocks noGrp="1"/>
          </p:cNvSpPr>
          <p:nvPr>
            <p:ph type="title"/>
          </p:nvPr>
        </p:nvSpPr>
        <p:spPr>
          <a:xfrm>
            <a:off x="838200" y="365125"/>
            <a:ext cx="5393361" cy="1325563"/>
          </a:xfrm>
        </p:spPr>
        <p:txBody>
          <a:bodyPr>
            <a:normAutofit/>
          </a:bodyPr>
          <a:lstStyle/>
          <a:p>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Data Description</a:t>
            </a:r>
            <a:br>
              <a:rPr lang="en-US" dirty="0">
                <a:effectLst/>
                <a:latin typeface="Times New Roman" panose="02020603050405020304" pitchFamily="18" charset="0"/>
                <a:ea typeface="Times New Roman" panose="02020603050405020304" pitchFamily="18" charset="0"/>
                <a:cs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A62719DB-83A1-DEC7-2DB3-50F997826795}"/>
              </a:ext>
            </a:extLst>
          </p:cNvPr>
          <p:cNvSpPr>
            <a:spLocks noGrp="1"/>
          </p:cNvSpPr>
          <p:nvPr>
            <p:ph idx="1"/>
          </p:nvPr>
        </p:nvSpPr>
        <p:spPr>
          <a:xfrm>
            <a:off x="838200" y="1825625"/>
            <a:ext cx="5393361" cy="4351338"/>
          </a:xfrm>
        </p:spPr>
        <p:txBody>
          <a:bodyPr>
            <a:normAutofit/>
          </a:bodyPr>
          <a:lstStyle/>
          <a:p>
            <a:r>
              <a:rPr lang="en-US" sz="1800" b="1" dirty="0">
                <a:latin typeface="Times New Roman" panose="02020603050405020304" pitchFamily="18" charset="0"/>
                <a:cs typeface="Times New Roman" panose="02020603050405020304" pitchFamily="18" charset="0"/>
              </a:rPr>
              <a:t>Diabetes Prediction Dataset</a:t>
            </a:r>
            <a:endParaRPr 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Source</a:t>
            </a:r>
            <a:r>
              <a:rPr lang="en-US" sz="1800" dirty="0">
                <a:latin typeface="Times New Roman" panose="02020603050405020304" pitchFamily="18" charset="0"/>
                <a:cs typeface="Times New Roman" panose="02020603050405020304" pitchFamily="18" charset="0"/>
              </a:rPr>
              <a:t>: Kaggle (provided by user: mrsimple07)</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Dataset link</a:t>
            </a:r>
            <a:r>
              <a:rPr lang="en-US" sz="1800" dirty="0">
                <a:latin typeface="Times New Roman" panose="02020603050405020304" pitchFamily="18" charset="0"/>
                <a:cs typeface="Times New Roman" panose="02020603050405020304" pitchFamily="18" charset="0"/>
              </a:rPr>
              <a:t>:- https://www.kaggle.com/datasets/mrsimple07/diabetes-prediction?resource=download</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Description</a:t>
            </a:r>
            <a:r>
              <a:rPr lang="en-US" sz="1800" dirty="0">
                <a:latin typeface="Times New Roman" panose="02020603050405020304" pitchFamily="18" charset="0"/>
                <a:cs typeface="Times New Roman" panose="02020603050405020304" pitchFamily="18" charset="0"/>
              </a:rPr>
              <a:t>: This dataset is used for predicting whether a pregnant women has diabetes based on various health metrics.</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Number of Records</a:t>
            </a:r>
            <a:r>
              <a:rPr lang="en-US" sz="1800" dirty="0">
                <a:latin typeface="Times New Roman" panose="02020603050405020304" pitchFamily="18" charset="0"/>
                <a:cs typeface="Times New Roman" panose="02020603050405020304" pitchFamily="18" charset="0"/>
              </a:rPr>
              <a:t>: 768</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Features</a:t>
            </a:r>
            <a:r>
              <a:rPr lang="en-US" sz="1800" dirty="0">
                <a:latin typeface="Times New Roman" panose="02020603050405020304" pitchFamily="18" charset="0"/>
                <a:cs typeface="Times New Roman" panose="02020603050405020304" pitchFamily="18" charset="0"/>
              </a:rPr>
              <a:t>: Includes medical attributes such as glucose levels, blood pressure, skin thickness, insulin, BMI, age, and more.</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Objective</a:t>
            </a:r>
            <a:r>
              <a:rPr lang="en-US" sz="1800" dirty="0">
                <a:latin typeface="Times New Roman" panose="02020603050405020304" pitchFamily="18" charset="0"/>
                <a:cs typeface="Times New Roman" panose="02020603050405020304" pitchFamily="18" charset="0"/>
              </a:rPr>
              <a:t>: The primary goal is to predict diabetes presence in patients using these medical attributes.</a:t>
            </a:r>
          </a:p>
          <a:p>
            <a:endParaRPr lang="en-US" sz="1800" dirty="0"/>
          </a:p>
        </p:txBody>
      </p:sp>
      <p:pic>
        <p:nvPicPr>
          <p:cNvPr id="5" name="Picture 4">
            <a:extLst>
              <a:ext uri="{FF2B5EF4-FFF2-40B4-BE49-F238E27FC236}">
                <a16:creationId xmlns:a16="http://schemas.microsoft.com/office/drawing/2014/main" id="{3499A4B0-77A8-80EA-AAB2-D16DFC76C70C}"/>
              </a:ext>
            </a:extLst>
          </p:cNvPr>
          <p:cNvPicPr>
            <a:picLocks noChangeAspect="1"/>
          </p:cNvPicPr>
          <p:nvPr/>
        </p:nvPicPr>
        <p:blipFill>
          <a:blip r:embed="rId2"/>
          <a:srcRect l="10626" r="33125" b="2"/>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12"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0343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Colourful pills stacked to make a bar graph">
            <a:extLst>
              <a:ext uri="{FF2B5EF4-FFF2-40B4-BE49-F238E27FC236}">
                <a16:creationId xmlns:a16="http://schemas.microsoft.com/office/drawing/2014/main" id="{C21FA8E9-1E47-4977-A765-422431B80E72}"/>
              </a:ext>
            </a:extLst>
          </p:cNvPr>
          <p:cNvPicPr>
            <a:picLocks noChangeAspect="1"/>
          </p:cNvPicPr>
          <p:nvPr/>
        </p:nvPicPr>
        <p:blipFill>
          <a:blip r:embed="rId2"/>
          <a:srcRect l="6761" t="6484" r="11973" b="-1"/>
          <a:stretch/>
        </p:blipFill>
        <p:spPr>
          <a:xfrm>
            <a:off x="3523488" y="10"/>
            <a:ext cx="8668512" cy="6857990"/>
          </a:xfrm>
          <a:prstGeom prst="rect">
            <a:avLst/>
          </a:prstGeom>
        </p:spPr>
      </p:pic>
      <p:sp>
        <p:nvSpPr>
          <p:cNvPr id="25" name="Rectangle 24">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4" name="Rectangle 23">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C3EF7075-C2C3-E164-E699-D33DC484EB8C}"/>
              </a:ext>
            </a:extLst>
          </p:cNvPr>
          <p:cNvSpPr txBox="1"/>
          <p:nvPr/>
        </p:nvSpPr>
        <p:spPr>
          <a:xfrm>
            <a:off x="371094" y="2718054"/>
            <a:ext cx="6202234" cy="3207258"/>
          </a:xfrm>
          <a:prstGeom prst="rect">
            <a:avLst/>
          </a:prstGeom>
        </p:spPr>
        <p:txBody>
          <a:bodyPr vert="horz" lIns="91440" tIns="45720" rIns="91440" bIns="45720" rtlCol="0" anchor="t">
            <a:normAutofit/>
          </a:bodyPr>
          <a:lstStyle/>
          <a:p>
            <a:pPr defTabSz="914400" fontAlgn="base">
              <a:lnSpc>
                <a:spcPct val="90000"/>
              </a:lnSpc>
              <a:spcAft>
                <a:spcPts val="600"/>
              </a:spcAft>
            </a:pPr>
            <a:r>
              <a:rPr lang="en-US" sz="1300" b="1" i="0" dirty="0">
                <a:effectLst/>
              </a:rPr>
              <a:t>About Dataset</a:t>
            </a:r>
          </a:p>
          <a:p>
            <a:pPr algn="just" defTabSz="914400" fontAlgn="base">
              <a:lnSpc>
                <a:spcPct val="90000"/>
              </a:lnSpc>
              <a:spcAft>
                <a:spcPts val="600"/>
              </a:spcAft>
            </a:pPr>
            <a:r>
              <a:rPr lang="en-US" sz="1600" b="0" i="0" dirty="0">
                <a:solidFill>
                  <a:srgbClr val="0070C0"/>
                </a:solidFill>
                <a:effectLst/>
              </a:rPr>
              <a:t>The dataset generated for diabetes prediction purposes contains a range of features associated with diabetes risk factors. These features may include variables such as blood sugar levels, body mass index (BMI), age, family history, and other relevant health indicators. Each set of feature values is accompanied by a diagnosis label that indicates whether the individual has diabetes or not. This dataset is valuable for training machine learning models to predict the likelihood of diabetes based on the provided risk factors. It can be used for research, analysis, and the development of predictive models aimed at improving diabetes diagnosis and management.</a:t>
            </a:r>
          </a:p>
        </p:txBody>
      </p:sp>
    </p:spTree>
    <p:extLst>
      <p:ext uri="{BB962C8B-B14F-4D97-AF65-F5344CB8AC3E}">
        <p14:creationId xmlns:p14="http://schemas.microsoft.com/office/powerpoint/2010/main" val="1377338375"/>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D4602FC-E7AC-B520-9586-AE1322CB52DB}"/>
              </a:ext>
            </a:extLst>
          </p:cNvPr>
          <p:cNvPicPr>
            <a:picLocks noChangeAspect="1"/>
          </p:cNvPicPr>
          <p:nvPr/>
        </p:nvPicPr>
        <p:blipFill>
          <a:blip r:embed="rId2">
            <a:duotone>
              <a:schemeClr val="bg2">
                <a:shade val="45000"/>
                <a:satMod val="135000"/>
              </a:schemeClr>
              <a:prstClr val="white"/>
            </a:duotone>
          </a:blip>
          <a:srcRect t="15413"/>
          <a:stretch/>
        </p:blipFill>
        <p:spPr>
          <a:xfrm>
            <a:off x="20" y="10"/>
            <a:ext cx="12191980" cy="6857990"/>
          </a:xfrm>
          <a:prstGeom prst="rect">
            <a:avLst/>
          </a:prstGeom>
        </p:spPr>
      </p:pic>
      <p:sp>
        <p:nvSpPr>
          <p:cNvPr id="2" name="Title 1">
            <a:extLst>
              <a:ext uri="{FF2B5EF4-FFF2-40B4-BE49-F238E27FC236}">
                <a16:creationId xmlns:a16="http://schemas.microsoft.com/office/drawing/2014/main" id="{C111E697-E38A-E367-FACD-02D9C534887D}"/>
              </a:ext>
            </a:extLst>
          </p:cNvPr>
          <p:cNvSpPr>
            <a:spLocks noGrp="1"/>
          </p:cNvSpPr>
          <p:nvPr>
            <p:ph type="title"/>
          </p:nvPr>
        </p:nvSpPr>
        <p:spPr/>
        <p:txBody>
          <a:bodyPr>
            <a:normAutofit/>
          </a:bodyPr>
          <a:lstStyle/>
          <a:p>
            <a:r>
              <a:rPr lang="en-US">
                <a:solidFill>
                  <a:srgbClr val="FFFF00"/>
                </a:solidFill>
                <a:effectLst/>
                <a:latin typeface="Times New Roman" panose="02020603050405020304" pitchFamily="18" charset="0"/>
                <a:ea typeface="Times New Roman" panose="02020603050405020304" pitchFamily="18" charset="0"/>
                <a:cs typeface="Times New Roman" panose="02020603050405020304" pitchFamily="18" charset="0"/>
              </a:rPr>
              <a:t>Data attributes – Name of Columns </a:t>
            </a:r>
            <a:br>
              <a:rPr lang="en-US">
                <a:effectLst/>
                <a:latin typeface="Times New Roman" panose="02020603050405020304" pitchFamily="18" charset="0"/>
                <a:ea typeface="Times New Roman" panose="02020603050405020304" pitchFamily="18" charset="0"/>
                <a:cs typeface="Arial" panose="020B0604020202020204" pitchFamily="34" charset="0"/>
              </a:rPr>
            </a:br>
            <a:r>
              <a:rPr lang="en-US" sz="1800">
                <a:solidFill>
                  <a:srgbClr val="002060"/>
                </a:solidFill>
                <a:latin typeface="Times New Roman" panose="02020603050405020304" pitchFamily="18" charset="0"/>
                <a:ea typeface="Times New Roman" panose="02020603050405020304" pitchFamily="18" charset="0"/>
                <a:cs typeface="Arial" panose="020B0604020202020204" pitchFamily="34" charset="0"/>
              </a:rPr>
              <a:t>It has 7 Decimal value columns and 2 integer value columns</a:t>
            </a:r>
            <a:r>
              <a:rPr lang="en-US">
                <a:solidFill>
                  <a:srgbClr val="002060"/>
                </a:solidFill>
                <a:latin typeface="Times New Roman" panose="02020603050405020304" pitchFamily="18" charset="0"/>
                <a:ea typeface="Times New Roman" panose="02020603050405020304" pitchFamily="18" charset="0"/>
                <a:cs typeface="Arial" panose="020B0604020202020204" pitchFamily="34" charset="0"/>
              </a:rPr>
              <a:t>.</a:t>
            </a:r>
            <a:endParaRPr lang="en-US">
              <a:solidFill>
                <a:srgbClr val="002060"/>
              </a:solidFill>
            </a:endParaRPr>
          </a:p>
        </p:txBody>
      </p:sp>
      <p:graphicFrame>
        <p:nvGraphicFramePr>
          <p:cNvPr id="5" name="Content Placeholder 2">
            <a:extLst>
              <a:ext uri="{FF2B5EF4-FFF2-40B4-BE49-F238E27FC236}">
                <a16:creationId xmlns:a16="http://schemas.microsoft.com/office/drawing/2014/main" id="{E34EAB12-9087-A681-F4F5-F50AF64552BC}"/>
              </a:ext>
            </a:extLst>
          </p:cNvPr>
          <p:cNvGraphicFramePr>
            <a:graphicFrameLocks noGrp="1"/>
          </p:cNvGraphicFramePr>
          <p:nvPr>
            <p:ph idx="1"/>
            <p:extLst>
              <p:ext uri="{D42A27DB-BD31-4B8C-83A1-F6EECF244321}">
                <p14:modId xmlns:p14="http://schemas.microsoft.com/office/powerpoint/2010/main" val="419588020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4999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BE6BED-595C-1BA8-8A5F-B8FA481DA4E2}"/>
              </a:ext>
            </a:extLst>
          </p:cNvPr>
          <p:cNvSpPr>
            <a:spLocks noGrp="1"/>
          </p:cNvSpPr>
          <p:nvPr>
            <p:ph type="title"/>
          </p:nvPr>
        </p:nvSpPr>
        <p:spPr>
          <a:xfrm>
            <a:off x="686834" y="1153572"/>
            <a:ext cx="3200400" cy="4461163"/>
          </a:xfrm>
        </p:spPr>
        <p:txBody>
          <a:bodyPr>
            <a:normAutofit/>
          </a:bodyPr>
          <a:lstStyle/>
          <a:p>
            <a:r>
              <a:rPr lang="en-US">
                <a:solidFill>
                  <a:srgbClr val="FFFFFF"/>
                </a:solidFill>
              </a:rPr>
              <a:t>Step 2. Data Visualisation</a:t>
            </a:r>
          </a:p>
        </p:txBody>
      </p:sp>
      <p:sp>
        <p:nvSpPr>
          <p:cNvPr id="16" name="Arc 1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Rectangle 2">
            <a:extLst>
              <a:ext uri="{FF2B5EF4-FFF2-40B4-BE49-F238E27FC236}">
                <a16:creationId xmlns:a16="http://schemas.microsoft.com/office/drawing/2014/main" id="{2E915EBE-EE50-4CE2-8AE1-A739E8E091ED}"/>
              </a:ext>
            </a:extLst>
          </p:cNvPr>
          <p:cNvSpPr>
            <a:spLocks noGrp="1" noChangeArrowheads="1"/>
          </p:cNvSpPr>
          <p:nvPr>
            <p:ph idx="1"/>
          </p:nvPr>
        </p:nvSpPr>
        <p:spPr bwMode="auto">
          <a:xfrm>
            <a:off x="4447308" y="591344"/>
            <a:ext cx="6906491" cy="558561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r>
              <a:rPr kumimoji="0" lang="en-US" altLang="en-US" sz="1800" b="1" i="0" u="none" strike="noStrike" cap="none" normalizeH="0" baseline="0">
                <a:ln>
                  <a:noFill/>
                </a:ln>
                <a:solidFill>
                  <a:srgbClr val="0070C0"/>
                </a:solidFill>
                <a:effectLst/>
                <a:latin typeface="Arial" panose="020B0604020202020204" pitchFamily="34" charset="0"/>
              </a:rPr>
              <a:t>MAJOR DISCUSSION</a:t>
            </a:r>
            <a:r>
              <a:rPr kumimoji="0" lang="en-US" altLang="en-US" sz="1500" b="0" i="0" u="none" strike="noStrike" cap="none" normalizeH="0" baseline="0">
                <a:ln>
                  <a:noFill/>
                </a:ln>
                <a:effectLst/>
                <a:latin typeface="Arial" panose="020B0604020202020204" pitchFamily="34" charset="0"/>
              </a:rPr>
              <a:t>:</a:t>
            </a:r>
          </a:p>
          <a:p>
            <a:pPr marL="0" marR="0" lvl="0" indent="0" defTabSz="914400" rtl="0" eaLnBrk="0" fontAlgn="base" latinLnBrk="0" hangingPunct="0">
              <a:spcBef>
                <a:spcPct val="0"/>
              </a:spcBef>
              <a:spcAft>
                <a:spcPts val="600"/>
              </a:spcAft>
              <a:buClrTx/>
              <a:buSzTx/>
              <a:buFontTx/>
              <a:buNone/>
              <a:tabLst/>
            </a:pPr>
            <a:endParaRPr kumimoji="0" lang="en-US" altLang="en-US" sz="15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None/>
              <a:tabLst/>
            </a:pPr>
            <a:r>
              <a:rPr lang="en-US" altLang="en-US" sz="1500">
                <a:solidFill>
                  <a:schemeClr val="accent2"/>
                </a:solidFill>
                <a:latin typeface="Arial" panose="020B0604020202020204" pitchFamily="34" charset="0"/>
              </a:rPr>
              <a:t>FEATURE SELECTION</a:t>
            </a:r>
            <a:r>
              <a:rPr lang="en-US" altLang="en-US" sz="1500">
                <a:latin typeface="Arial" panose="020B0604020202020204" pitchFamily="34" charset="0"/>
              </a:rPr>
              <a:t>:-</a:t>
            </a:r>
          </a:p>
          <a:p>
            <a:pPr marL="0" marR="0" lvl="0" indent="0" defTabSz="914400" rtl="0" eaLnBrk="0" fontAlgn="base" latinLnBrk="0" hangingPunct="0">
              <a:spcBef>
                <a:spcPct val="0"/>
              </a:spcBef>
              <a:spcAft>
                <a:spcPts val="600"/>
              </a:spcAft>
              <a:buClrTx/>
              <a:buSzTx/>
              <a:buFontTx/>
              <a:buNone/>
              <a:tabLst/>
            </a:pPr>
            <a:endParaRPr lang="en-US" altLang="en-US" sz="1500">
              <a:latin typeface="Arial" panose="020B0604020202020204" pitchFamily="34" charset="0"/>
            </a:endParaRPr>
          </a:p>
          <a:p>
            <a:pPr marL="0" marR="0" lvl="0" indent="0" defTabSz="914400" rtl="0" eaLnBrk="0" fontAlgn="base" latinLnBrk="0" hangingPunct="0">
              <a:spcBef>
                <a:spcPct val="0"/>
              </a:spcBef>
              <a:spcAft>
                <a:spcPts val="600"/>
              </a:spcAft>
              <a:buClrTx/>
              <a:buSzTx/>
              <a:buFontTx/>
              <a:buNone/>
              <a:tabLst/>
            </a:pPr>
            <a:r>
              <a:rPr kumimoji="0" lang="en-US" altLang="en-US" sz="1500" b="0" i="0" u="none" strike="noStrike" cap="none" normalizeH="0" baseline="0">
                <a:ln>
                  <a:noFill/>
                </a:ln>
                <a:effectLst/>
                <a:latin typeface="Arial" panose="020B0604020202020204" pitchFamily="34" charset="0"/>
              </a:rPr>
              <a:t>The objective is to find appropriate characteristics for modeling and analysis. Making the appropriate feature selections enhances model performance and facilitates comprehension of the data's relationships.</a:t>
            </a:r>
          </a:p>
          <a:p>
            <a:pPr marL="0" marR="0" lvl="0" indent="0" defTabSz="914400" rtl="0" eaLnBrk="0" fontAlgn="base" latinLnBrk="0" hangingPunct="0">
              <a:spcBef>
                <a:spcPct val="0"/>
              </a:spcBef>
              <a:spcAft>
                <a:spcPts val="600"/>
              </a:spcAft>
              <a:buClrTx/>
              <a:buSzTx/>
              <a:buFontTx/>
              <a:buNone/>
              <a:tabLst/>
            </a:pPr>
            <a:endParaRPr kumimoji="0" lang="en-US" altLang="en-US" sz="1500" b="0" i="0" u="none" strike="noStrike" cap="none" normalizeH="0" baseline="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Ø"/>
              <a:tabLst/>
            </a:pPr>
            <a:r>
              <a:rPr kumimoji="0" lang="en-US" altLang="en-US" sz="1500" b="0" i="0" u="none" strike="noStrike" cap="none" normalizeH="0" baseline="0">
                <a:ln>
                  <a:noFill/>
                </a:ln>
                <a:effectLst/>
                <a:latin typeface="Arial" panose="020B0604020202020204" pitchFamily="34" charset="0"/>
              </a:rPr>
              <a:t>Criteria: For visualizations such as box plots, histograms, and scatter plots, numerical features are frequently chosen. Examples are blood pressure, age, and glucose.</a:t>
            </a:r>
          </a:p>
          <a:p>
            <a:pPr marL="0" marR="0" lvl="0" indent="0" defTabSz="914400" rtl="0" eaLnBrk="0" fontAlgn="base" latinLnBrk="0" hangingPunct="0">
              <a:spcBef>
                <a:spcPct val="0"/>
              </a:spcBef>
              <a:spcAft>
                <a:spcPts val="600"/>
              </a:spcAft>
              <a:buClrTx/>
              <a:buSzTx/>
              <a:buNone/>
              <a:tabLst/>
            </a:pPr>
            <a:endParaRPr kumimoji="0" lang="en-US" altLang="en-US" sz="1500" b="0" i="0" u="none" strike="noStrike" cap="none" normalizeH="0" baseline="0">
              <a:ln>
                <a:noFill/>
              </a:ln>
              <a:effectLst/>
              <a:latin typeface="Arial" panose="020B0604020202020204" pitchFamily="34" charset="0"/>
            </a:endParaRPr>
          </a:p>
          <a:p>
            <a:pPr eaLnBrk="0" fontAlgn="base" hangingPunct="0">
              <a:spcBef>
                <a:spcPct val="0"/>
              </a:spcBef>
              <a:spcAft>
                <a:spcPts val="600"/>
              </a:spcAft>
              <a:buFont typeface="Wingdings" panose="05000000000000000000" pitchFamily="2" charset="2"/>
              <a:buChar char="Ø"/>
            </a:pPr>
            <a:r>
              <a:rPr kumimoji="0" lang="en-US" altLang="en-US" sz="1500" b="0" i="0" u="none" strike="noStrike" cap="none" normalizeH="0" baseline="0">
                <a:ln>
                  <a:noFill/>
                </a:ln>
                <a:effectLst/>
                <a:latin typeface="Arial" panose="020B0604020202020204" pitchFamily="34" charset="0"/>
              </a:rPr>
              <a:t>Bar or pie charts are commonly used to illustrate categorical characteristics, showing the distribution of categories. An illustration would be a diagnosis (diabetes or not).</a:t>
            </a:r>
          </a:p>
          <a:p>
            <a:pPr marL="0" indent="0" eaLnBrk="0" fontAlgn="base" hangingPunct="0">
              <a:spcBef>
                <a:spcPct val="0"/>
              </a:spcBef>
              <a:spcAft>
                <a:spcPts val="600"/>
              </a:spcAft>
              <a:buNone/>
            </a:pPr>
            <a:endParaRPr kumimoji="0" lang="en-US" altLang="en-US" sz="1500" b="0" i="0" u="none" strike="noStrike" cap="none" normalizeH="0" baseline="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Ø"/>
              <a:tabLst/>
            </a:pPr>
            <a:r>
              <a:rPr kumimoji="0" lang="en-US" altLang="en-US" sz="1500" b="0" i="0" u="none" strike="noStrike" cap="none" normalizeH="0" baseline="0">
                <a:ln>
                  <a:noFill/>
                </a:ln>
                <a:effectLst/>
                <a:latin typeface="Arial" panose="020B0604020202020204" pitchFamily="34" charset="0"/>
              </a:rPr>
              <a:t>Significance of the feature: To determine which aspects are more predictive for the issue, use correlation matrices or alternative methods (such as feature importance from models).</a:t>
            </a:r>
          </a:p>
        </p:txBody>
      </p:sp>
    </p:spTree>
    <p:extLst>
      <p:ext uri="{BB962C8B-B14F-4D97-AF65-F5344CB8AC3E}">
        <p14:creationId xmlns:p14="http://schemas.microsoft.com/office/powerpoint/2010/main" val="3917393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B304A14-32D0-4873-B914-423ED7B8D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aphicFrame>
        <p:nvGraphicFramePr>
          <p:cNvPr id="22" name="Content Placeholder 2">
            <a:extLst>
              <a:ext uri="{FF2B5EF4-FFF2-40B4-BE49-F238E27FC236}">
                <a16:creationId xmlns:a16="http://schemas.microsoft.com/office/drawing/2014/main" id="{70F04369-566A-3DF4-F3B3-095304895629}"/>
              </a:ext>
            </a:extLst>
          </p:cNvPr>
          <p:cNvGraphicFramePr>
            <a:graphicFrameLocks noGrp="1"/>
          </p:cNvGraphicFramePr>
          <p:nvPr>
            <p:ph idx="1"/>
            <p:extLst>
              <p:ext uri="{D42A27DB-BD31-4B8C-83A1-F6EECF244321}">
                <p14:modId xmlns:p14="http://schemas.microsoft.com/office/powerpoint/2010/main" val="2237225777"/>
              </p:ext>
            </p:extLst>
          </p:nvPr>
        </p:nvGraphicFramePr>
        <p:xfrm>
          <a:off x="838200" y="1825625"/>
          <a:ext cx="5387502"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descr="A close-up of a network&#10;&#10;Description automatically generated">
            <a:extLst>
              <a:ext uri="{FF2B5EF4-FFF2-40B4-BE49-F238E27FC236}">
                <a16:creationId xmlns:a16="http://schemas.microsoft.com/office/drawing/2014/main" id="{2ACAD943-CCDD-607C-3645-0AA0C2F8A009}"/>
              </a:ext>
            </a:extLst>
          </p:cNvPr>
          <p:cNvPicPr>
            <a:picLocks noChangeAspect="1"/>
          </p:cNvPicPr>
          <p:nvPr/>
        </p:nvPicPr>
        <p:blipFill>
          <a:blip r:embed="rId7"/>
          <a:srcRect l="13737" r="18915" b="1"/>
          <a:stretch/>
        </p:blipFill>
        <p:spPr>
          <a:xfrm>
            <a:off x="6621294" y="1295416"/>
            <a:ext cx="5570706" cy="5562584"/>
          </a:xfrm>
          <a:custGeom>
            <a:avLst/>
            <a:gdLst/>
            <a:ahLst/>
            <a:cxnLst/>
            <a:rect l="l" t="t" r="r" b="b"/>
            <a:pathLst>
              <a:path w="5570706" h="5562584">
                <a:moveTo>
                  <a:pt x="3374687" y="0"/>
                </a:moveTo>
                <a:cubicBezTo>
                  <a:pt x="4190094" y="0"/>
                  <a:pt x="4937956" y="289196"/>
                  <a:pt x="5521301" y="770615"/>
                </a:cubicBezTo>
                <a:lnTo>
                  <a:pt x="5570706" y="815517"/>
                </a:lnTo>
                <a:lnTo>
                  <a:pt x="5570706" y="5562584"/>
                </a:lnTo>
                <a:lnTo>
                  <a:pt x="808135" y="5562584"/>
                </a:lnTo>
                <a:lnTo>
                  <a:pt x="770615" y="5521302"/>
                </a:lnTo>
                <a:cubicBezTo>
                  <a:pt x="289196" y="4937957"/>
                  <a:pt x="0" y="4190095"/>
                  <a:pt x="0" y="3374687"/>
                </a:cubicBezTo>
                <a:cubicBezTo>
                  <a:pt x="0" y="1510899"/>
                  <a:pt x="1510899" y="0"/>
                  <a:pt x="3374687" y="0"/>
                </a:cubicBezTo>
                <a:close/>
              </a:path>
            </a:pathLst>
          </a:custGeom>
        </p:spPr>
      </p:pic>
      <p:sp>
        <p:nvSpPr>
          <p:cNvPr id="18" name="!!Oval">
            <a:extLst>
              <a:ext uri="{FF2B5EF4-FFF2-40B4-BE49-F238E27FC236}">
                <a16:creationId xmlns:a16="http://schemas.microsoft.com/office/drawing/2014/main" id="{1D460C86-854F-4FB3-ABC2-E823D8FEB9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43451" y="1656147"/>
            <a:ext cx="546100" cy="5461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0" name="!!Arc">
            <a:extLst>
              <a:ext uri="{FF2B5EF4-FFF2-40B4-BE49-F238E27FC236}">
                <a16:creationId xmlns:a16="http://schemas.microsoft.com/office/drawing/2014/main" id="{BB48116A-278A-4CC5-89D3-9DE8E8FF12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4739" y="587516"/>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77734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0AC0B0-4A48-E1A4-55B8-524B4C7A44B6}"/>
              </a:ext>
            </a:extLst>
          </p:cNvPr>
          <p:cNvSpPr>
            <a:spLocks noGrp="1"/>
          </p:cNvSpPr>
          <p:nvPr>
            <p:ph idx="1"/>
          </p:nvPr>
        </p:nvSpPr>
        <p:spPr>
          <a:xfrm>
            <a:off x="838200" y="611746"/>
            <a:ext cx="11002992" cy="5565217"/>
          </a:xfrm>
        </p:spPr>
        <p:txBody>
          <a:bodyPr/>
          <a:lstStyle/>
          <a:p>
            <a:r>
              <a:rPr lang="en-US" b="0" i="0" dirty="0">
                <a:solidFill>
                  <a:schemeClr val="accent2">
                    <a:lumMod val="75000"/>
                  </a:schemeClr>
                </a:solidFill>
                <a:effectLst/>
                <a:latin typeface="Arial" panose="020B0604020202020204" pitchFamily="34" charset="0"/>
              </a:rPr>
              <a:t>Scatter plot of all features</a:t>
            </a:r>
          </a:p>
          <a:p>
            <a:pPr marL="0" indent="0">
              <a:buNone/>
            </a:pPr>
            <a:r>
              <a:rPr lang="en-US" sz="2000" b="0" i="0" dirty="0">
                <a:effectLst/>
                <a:latin typeface="system-ui"/>
              </a:rPr>
              <a:t>The scatter plot matrix displays the pairwise relationships between all numerical features, helping to identify correlations or trends between features</a:t>
            </a:r>
            <a:endParaRPr lang="en-US" sz="2000" b="0" i="0" dirty="0">
              <a:effectLst/>
              <a:latin typeface="Arial" panose="020B0604020202020204" pitchFamily="34" charset="0"/>
            </a:endParaRPr>
          </a:p>
          <a:p>
            <a:endParaRPr lang="en-US" b="0" i="0" dirty="0">
              <a:effectLst/>
              <a:latin typeface="Arial" panose="020B0604020202020204" pitchFamily="34" charset="0"/>
            </a:endParaRPr>
          </a:p>
          <a:p>
            <a:pPr marL="0" indent="0">
              <a:buNone/>
            </a:pPr>
            <a:endParaRPr lang="en-US" dirty="0"/>
          </a:p>
        </p:txBody>
      </p:sp>
      <p:pic>
        <p:nvPicPr>
          <p:cNvPr id="2050" name="Picture 2" descr="User uploaded image">
            <a:extLst>
              <a:ext uri="{FF2B5EF4-FFF2-40B4-BE49-F238E27FC236}">
                <a16:creationId xmlns:a16="http://schemas.microsoft.com/office/drawing/2014/main" id="{FA4FEB0D-AEB5-F9AF-B12D-B48A9B97C4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872" y="2007079"/>
            <a:ext cx="10662249" cy="4239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228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57959-500F-B84F-F024-A04A1249BA08}"/>
              </a:ext>
            </a:extLst>
          </p:cNvPr>
          <p:cNvSpPr>
            <a:spLocks noGrp="1"/>
          </p:cNvSpPr>
          <p:nvPr>
            <p:ph type="ctrTitle"/>
          </p:nvPr>
        </p:nvSpPr>
        <p:spPr/>
        <p:txBody>
          <a:bodyPr/>
          <a:lstStyle/>
          <a:p>
            <a:r>
              <a:rPr lang="en-US" b="0" i="0">
                <a:solidFill>
                  <a:schemeClr val="accent2"/>
                </a:solidFill>
                <a:effectLst/>
                <a:latin typeface="Arial" panose="020B0604020202020204" pitchFamily="34" charset="0"/>
              </a:rPr>
              <a:t>What features do you select? Why?</a:t>
            </a:r>
            <a:endParaRPr lang="en-US">
              <a:solidFill>
                <a:schemeClr val="accent2"/>
              </a:solidFill>
            </a:endParaRPr>
          </a:p>
        </p:txBody>
      </p:sp>
    </p:spTree>
    <p:extLst>
      <p:ext uri="{BB962C8B-B14F-4D97-AF65-F5344CB8AC3E}">
        <p14:creationId xmlns:p14="http://schemas.microsoft.com/office/powerpoint/2010/main" val="2941246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DA1F35B-C8F7-4A5A-9339-7DA4D785B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c 11">
            <a:extLst>
              <a:ext uri="{FF2B5EF4-FFF2-40B4-BE49-F238E27FC236}">
                <a16:creationId xmlns:a16="http://schemas.microsoft.com/office/drawing/2014/main" id="{B2D4AD41-40DA-4A81-92F5-B6E3BA1ED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8175088" y="457951"/>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aphicFrame>
        <p:nvGraphicFramePr>
          <p:cNvPr id="6" name="Rectangle 1">
            <a:extLst>
              <a:ext uri="{FF2B5EF4-FFF2-40B4-BE49-F238E27FC236}">
                <a16:creationId xmlns:a16="http://schemas.microsoft.com/office/drawing/2014/main" id="{5ABF26D2-3430-7DE8-09FC-D78606583762}"/>
              </a:ext>
            </a:extLst>
          </p:cNvPr>
          <p:cNvGraphicFramePr>
            <a:graphicFrameLocks noGrp="1"/>
          </p:cNvGraphicFramePr>
          <p:nvPr>
            <p:ph idx="1"/>
            <p:extLst>
              <p:ext uri="{D42A27DB-BD31-4B8C-83A1-F6EECF244321}">
                <p14:modId xmlns:p14="http://schemas.microsoft.com/office/powerpoint/2010/main" val="1989176882"/>
              </p:ext>
            </p:extLst>
          </p:nvPr>
        </p:nvGraphicFramePr>
        <p:xfrm>
          <a:off x="838200" y="1495245"/>
          <a:ext cx="10515600" cy="46817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777145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9AA270-1AF3-D14B-D9F6-77995A62C121}"/>
              </a:ext>
            </a:extLst>
          </p:cNvPr>
          <p:cNvSpPr>
            <a:spLocks noGrp="1"/>
          </p:cNvSpPr>
          <p:nvPr>
            <p:ph type="title"/>
          </p:nvPr>
        </p:nvSpPr>
        <p:spPr>
          <a:xfrm>
            <a:off x="838200" y="459863"/>
            <a:ext cx="10515600" cy="1004594"/>
          </a:xfrm>
        </p:spPr>
        <p:txBody>
          <a:bodyPr>
            <a:normAutofit/>
          </a:bodyPr>
          <a:lstStyle/>
          <a:p>
            <a:pPr algn="ctr"/>
            <a:r>
              <a:rPr kumimoji="0" lang="en-US" altLang="en-US" b="0" i="0" u="none" strike="noStrike" cap="none" normalizeH="0" baseline="0">
                <a:ln>
                  <a:noFill/>
                </a:ln>
                <a:solidFill>
                  <a:srgbClr val="FFFFFF"/>
                </a:solidFill>
                <a:effectLst/>
                <a:latin typeface="Arial" panose="020B0604020202020204" pitchFamily="34" charset="0"/>
              </a:rPr>
              <a:t>Why  These Features ?</a:t>
            </a:r>
            <a:endParaRPr lang="en-US">
              <a:solidFill>
                <a:srgbClr val="FFFFFF"/>
              </a:solidFill>
            </a:endParaRPr>
          </a:p>
        </p:txBody>
      </p:sp>
      <p:sp>
        <p:nvSpPr>
          <p:cNvPr id="12" name="Rectangle: Rounded Corners 11">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Rectangle 1">
            <a:extLst>
              <a:ext uri="{FF2B5EF4-FFF2-40B4-BE49-F238E27FC236}">
                <a16:creationId xmlns:a16="http://schemas.microsoft.com/office/drawing/2014/main" id="{AB087ABF-66CF-511A-F12C-E4E4EBA995AF}"/>
              </a:ext>
            </a:extLst>
          </p:cNvPr>
          <p:cNvGraphicFramePr>
            <a:graphicFrameLocks noGrp="1"/>
          </p:cNvGraphicFramePr>
          <p:nvPr>
            <p:ph idx="1"/>
            <p:extLst>
              <p:ext uri="{D42A27DB-BD31-4B8C-83A1-F6EECF244321}">
                <p14:modId xmlns:p14="http://schemas.microsoft.com/office/powerpoint/2010/main" val="1936555770"/>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988112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31" name="Rectangle 5130">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133" name="Freeform: Shape 5132">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126" name="Picture 6" descr="Uploaded image">
            <a:extLst>
              <a:ext uri="{FF2B5EF4-FFF2-40B4-BE49-F238E27FC236}">
                <a16:creationId xmlns:a16="http://schemas.microsoft.com/office/drawing/2014/main" id="{31C0DFD7-5DAB-923A-EC30-AE74C7A3427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541053" y="851140"/>
            <a:ext cx="5121860" cy="4692769"/>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5135" name="Arc 5134">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15AC756-32BD-8E53-22F1-8A03DB13F1A9}"/>
              </a:ext>
            </a:extLst>
          </p:cNvPr>
          <p:cNvSpPr>
            <a:spLocks noGrp="1"/>
          </p:cNvSpPr>
          <p:nvPr>
            <p:ph type="title"/>
          </p:nvPr>
        </p:nvSpPr>
        <p:spPr>
          <a:xfrm>
            <a:off x="838201" y="479493"/>
            <a:ext cx="5257800" cy="1325563"/>
          </a:xfrm>
        </p:spPr>
        <p:txBody>
          <a:bodyPr>
            <a:normAutofit/>
          </a:bodyPr>
          <a:lstStyle/>
          <a:p>
            <a:r>
              <a:rPr lang="en-US"/>
              <a:t>HISTOGRAM OF GLUCOSE</a:t>
            </a:r>
          </a:p>
        </p:txBody>
      </p:sp>
      <p:sp>
        <p:nvSpPr>
          <p:cNvPr id="3" name="Content Placeholder 2">
            <a:extLst>
              <a:ext uri="{FF2B5EF4-FFF2-40B4-BE49-F238E27FC236}">
                <a16:creationId xmlns:a16="http://schemas.microsoft.com/office/drawing/2014/main" id="{86F791F8-772F-F320-3961-CBE3C2370FFF}"/>
              </a:ext>
            </a:extLst>
          </p:cNvPr>
          <p:cNvSpPr>
            <a:spLocks noGrp="1"/>
          </p:cNvSpPr>
          <p:nvPr>
            <p:ph idx="1"/>
          </p:nvPr>
        </p:nvSpPr>
        <p:spPr>
          <a:xfrm>
            <a:off x="838201" y="650160"/>
            <a:ext cx="5257800" cy="4209387"/>
          </a:xfrm>
        </p:spPr>
        <p:txBody>
          <a:bodyPr>
            <a:normAutofit/>
          </a:bodyPr>
          <a:lstStyle/>
          <a:p>
            <a:endParaRPr lang="en-US" sz="1300" dirty="0"/>
          </a:p>
          <a:p>
            <a:endParaRPr lang="en-US" sz="1300" dirty="0"/>
          </a:p>
          <a:p>
            <a:endParaRPr lang="en-US" sz="1300" dirty="0"/>
          </a:p>
          <a:p>
            <a:pPr marL="0" indent="0">
              <a:buNone/>
            </a:pPr>
            <a:endParaRPr lang="en-US" sz="1300" dirty="0"/>
          </a:p>
          <a:p>
            <a:endParaRPr lang="en-US" sz="1300" dirty="0"/>
          </a:p>
          <a:p>
            <a:endParaRPr lang="en-US" sz="1300" dirty="0"/>
          </a:p>
          <a:p>
            <a:pPr algn="just"/>
            <a:r>
              <a:rPr lang="en-US" sz="1600" dirty="0">
                <a:solidFill>
                  <a:srgbClr val="00B0F0"/>
                </a:solidFill>
              </a:rPr>
              <a:t>The histogram shows, the majority of the dataset's glucose levels are clustered between 0.3 and 0.7, with 0.4 and 0.6 having the largest frequency. A normal-like distribution of glucose levels is indicated by the distribution's moderate balance and lack of excessive skewness. In this sample, extreme low and high glucose levels are uncommon</a:t>
            </a:r>
            <a:r>
              <a:rPr lang="en-US" sz="1300" dirty="0">
                <a:solidFill>
                  <a:srgbClr val="00B0F0"/>
                </a:solidFill>
              </a:rPr>
              <a:t>.</a:t>
            </a:r>
          </a:p>
        </p:txBody>
      </p:sp>
    </p:spTree>
    <p:extLst>
      <p:ext uri="{BB962C8B-B14F-4D97-AF65-F5344CB8AC3E}">
        <p14:creationId xmlns:p14="http://schemas.microsoft.com/office/powerpoint/2010/main" val="23934521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153" name="Freeform: Shape 6152">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559FEE03-DCF7-0603-C9D7-46253871F3A7}"/>
              </a:ext>
            </a:extLst>
          </p:cNvPr>
          <p:cNvSpPr>
            <a:spLocks noGrp="1"/>
          </p:cNvSpPr>
          <p:nvPr>
            <p:ph idx="1"/>
          </p:nvPr>
        </p:nvSpPr>
        <p:spPr>
          <a:xfrm>
            <a:off x="838200" y="1825625"/>
            <a:ext cx="6057181" cy="4351338"/>
          </a:xfrm>
        </p:spPr>
        <p:txBody>
          <a:bodyPr>
            <a:normAutofit/>
          </a:bodyPr>
          <a:lstStyle/>
          <a:p>
            <a:pPr marL="0" indent="0" algn="just">
              <a:buNone/>
            </a:pPr>
            <a:endParaRPr lang="en-US" sz="1800" dirty="0"/>
          </a:p>
          <a:p>
            <a:pPr marL="0" indent="0" algn="just">
              <a:buNone/>
            </a:pPr>
            <a:endParaRPr lang="en-US" sz="1800" dirty="0"/>
          </a:p>
          <a:p>
            <a:pPr algn="just"/>
            <a:r>
              <a:rPr lang="en-US" sz="1800" dirty="0"/>
              <a:t>HISTOGRAM OF BMI:-</a:t>
            </a:r>
          </a:p>
          <a:p>
            <a:pPr algn="just"/>
            <a:endParaRPr lang="en-US" sz="1800" dirty="0"/>
          </a:p>
          <a:p>
            <a:pPr marL="0" indent="0" algn="just">
              <a:buNone/>
            </a:pPr>
            <a:r>
              <a:rPr lang="en-US" sz="1800" dirty="0">
                <a:solidFill>
                  <a:srgbClr val="00B0F0"/>
                </a:solidFill>
              </a:rPr>
              <a:t>Based on the histogram, the majority of BMI readings fall within the range of 0.3 to 0.7, with a peak observed at 0.5. With few extreme values at the low and high ends, the distribution is approximately normal.</a:t>
            </a:r>
          </a:p>
        </p:txBody>
      </p:sp>
      <p:sp>
        <p:nvSpPr>
          <p:cNvPr id="6155" name="Oval 6154">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descr="Uploaded image">
            <a:extLst>
              <a:ext uri="{FF2B5EF4-FFF2-40B4-BE49-F238E27FC236}">
                <a16:creationId xmlns:a16="http://schemas.microsoft.com/office/drawing/2014/main" id="{9FF71A47-1E9F-FA37-3876-E21EBAACC9E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470474" y="1027906"/>
            <a:ext cx="4615015" cy="4520672"/>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a:noFill/>
          <a:extLst>
            <a:ext uri="{909E8E84-426E-40DD-AFC4-6F175D3DCCD1}">
              <a14:hiddenFill xmlns:a14="http://schemas.microsoft.com/office/drawing/2010/main">
                <a:solidFill>
                  <a:srgbClr val="FFFFFF"/>
                </a:solidFill>
              </a14:hiddenFill>
            </a:ext>
          </a:extLst>
        </p:spPr>
      </p:pic>
      <p:sp>
        <p:nvSpPr>
          <p:cNvPr id="6157" name="Freeform: Shape 6156">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6159" name="Straight Connector 6158">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6161" name="Freeform: Shape 6160">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6163" name="Freeform: Shape 6162">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165" name="Freeform: Shape 6164">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15858470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7C59BEC-C4CC-4741-B975-08C543178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9" name="Arc 18">
            <a:extLst>
              <a:ext uri="{FF2B5EF4-FFF2-40B4-BE49-F238E27FC236}">
                <a16:creationId xmlns:a16="http://schemas.microsoft.com/office/drawing/2014/main" id="{72DEF309-605D-4117-9340-6D589B6C3A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986173" flipV="1">
            <a:off x="3930947" y="651615"/>
            <a:ext cx="4083433" cy="408343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 name="Title 1">
            <a:extLst>
              <a:ext uri="{FF2B5EF4-FFF2-40B4-BE49-F238E27FC236}">
                <a16:creationId xmlns:a16="http://schemas.microsoft.com/office/drawing/2014/main" id="{ABA3929B-E4DF-924C-07B1-406E62E5A2F9}"/>
              </a:ext>
            </a:extLst>
          </p:cNvPr>
          <p:cNvSpPr>
            <a:spLocks noGrp="1"/>
          </p:cNvSpPr>
          <p:nvPr>
            <p:ph type="title"/>
          </p:nvPr>
        </p:nvSpPr>
        <p:spPr>
          <a:xfrm>
            <a:off x="838200" y="365125"/>
            <a:ext cx="10515599" cy="1325563"/>
          </a:xfrm>
        </p:spPr>
        <p:txBody>
          <a:bodyPr>
            <a:normAutofit/>
          </a:bodyPr>
          <a:lstStyle/>
          <a:p>
            <a:r>
              <a:rPr lang="en-US"/>
              <a:t>BOX PLOT OF GLUCOSE</a:t>
            </a:r>
          </a:p>
        </p:txBody>
      </p:sp>
      <p:sp>
        <p:nvSpPr>
          <p:cNvPr id="3" name="Content Placeholder 2">
            <a:extLst>
              <a:ext uri="{FF2B5EF4-FFF2-40B4-BE49-F238E27FC236}">
                <a16:creationId xmlns:a16="http://schemas.microsoft.com/office/drawing/2014/main" id="{3CF4DC75-D09E-1ACF-2C94-614E5C2C3528}"/>
              </a:ext>
            </a:extLst>
          </p:cNvPr>
          <p:cNvSpPr>
            <a:spLocks noGrp="1"/>
          </p:cNvSpPr>
          <p:nvPr>
            <p:ph idx="1"/>
          </p:nvPr>
        </p:nvSpPr>
        <p:spPr>
          <a:xfrm>
            <a:off x="838200" y="1825625"/>
            <a:ext cx="6097438" cy="4351338"/>
          </a:xfrm>
        </p:spPr>
        <p:txBody>
          <a:bodyPr>
            <a:normAutofit/>
          </a:bodyPr>
          <a:lstStyle/>
          <a:p>
            <a:endParaRPr lang="en-US" sz="1800" dirty="0"/>
          </a:p>
          <a:p>
            <a:pPr marL="0" indent="0">
              <a:buNone/>
            </a:pPr>
            <a:endParaRPr lang="en-US" sz="1800" dirty="0"/>
          </a:p>
          <a:p>
            <a:pPr marL="0" indent="0">
              <a:buNone/>
            </a:pPr>
            <a:endParaRPr lang="en-US" sz="1800" dirty="0"/>
          </a:p>
          <a:p>
            <a:endParaRPr lang="en-US" sz="1800" dirty="0"/>
          </a:p>
          <a:p>
            <a:pPr marL="0" indent="0">
              <a:buNone/>
            </a:pPr>
            <a:endParaRPr lang="en-US" sz="1800" dirty="0"/>
          </a:p>
          <a:p>
            <a:pPr marL="0" indent="0" algn="just">
              <a:buNone/>
            </a:pPr>
            <a:r>
              <a:rPr lang="en-US" sz="1800" dirty="0">
                <a:solidFill>
                  <a:srgbClr val="FFFF00"/>
                </a:solidFill>
              </a:rPr>
              <a:t>According to the box plot, the majority of glucose readings fall between 0.4 and 0.6, with 0.5 serving as the median. The distribution is pretty balanced overall, with the exception of a little outlier close to 1.0.</a:t>
            </a:r>
          </a:p>
        </p:txBody>
      </p:sp>
      <p:sp>
        <p:nvSpPr>
          <p:cNvPr id="21" name="Oval 20">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77008" y="5228027"/>
            <a:ext cx="1107241" cy="10772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12" name="Picture 11" descr="A diagram of a box plot of glucose&#10;&#10;Description automatically generated">
            <a:extLst>
              <a:ext uri="{FF2B5EF4-FFF2-40B4-BE49-F238E27FC236}">
                <a16:creationId xmlns:a16="http://schemas.microsoft.com/office/drawing/2014/main" id="{45DC537B-C158-BC75-E29F-80D3F0313F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09962" y="2150854"/>
            <a:ext cx="4501193" cy="4000564"/>
          </a:xfrm>
          <a:custGeom>
            <a:avLst/>
            <a:gdLst/>
            <a:ahLst/>
            <a:cxnLst/>
            <a:rect l="l" t="t" r="r" b="b"/>
            <a:pathLst>
              <a:path w="4221597" h="4303912">
                <a:moveTo>
                  <a:pt x="126986" y="0"/>
                </a:moveTo>
                <a:lnTo>
                  <a:pt x="4094611" y="0"/>
                </a:lnTo>
                <a:cubicBezTo>
                  <a:pt x="4164743" y="0"/>
                  <a:pt x="4221597" y="56854"/>
                  <a:pt x="4221597" y="126986"/>
                </a:cubicBezTo>
                <a:lnTo>
                  <a:pt x="4221597" y="4176926"/>
                </a:lnTo>
                <a:cubicBezTo>
                  <a:pt x="4221597" y="4247058"/>
                  <a:pt x="4164743" y="4303912"/>
                  <a:pt x="4094611" y="4303912"/>
                </a:cubicBezTo>
                <a:lnTo>
                  <a:pt x="126986" y="4303912"/>
                </a:lnTo>
                <a:cubicBezTo>
                  <a:pt x="56854" y="4303912"/>
                  <a:pt x="0" y="4247058"/>
                  <a:pt x="0" y="4176926"/>
                </a:cubicBezTo>
                <a:lnTo>
                  <a:pt x="0" y="126986"/>
                </a:lnTo>
                <a:cubicBezTo>
                  <a:pt x="0" y="56854"/>
                  <a:pt x="56854" y="0"/>
                  <a:pt x="126986" y="0"/>
                </a:cubicBezTo>
                <a:close/>
              </a:path>
            </a:pathLst>
          </a:custGeom>
        </p:spPr>
      </p:pic>
    </p:spTree>
    <p:extLst>
      <p:ext uri="{BB962C8B-B14F-4D97-AF65-F5344CB8AC3E}">
        <p14:creationId xmlns:p14="http://schemas.microsoft.com/office/powerpoint/2010/main" val="40840408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Freeform: Shape 13">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Picture 6" descr="A blue rectangular object with black lines&#10;&#10;Description automatically generated">
            <a:extLst>
              <a:ext uri="{FF2B5EF4-FFF2-40B4-BE49-F238E27FC236}">
                <a16:creationId xmlns:a16="http://schemas.microsoft.com/office/drawing/2014/main" id="{3A71A16F-895A-598A-CE1B-B4D72E3C59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41053" y="1563072"/>
            <a:ext cx="4777381" cy="3559148"/>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16" name="Arc 15">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DEB814A-D5C9-078C-114C-0028DBCE2F76}"/>
              </a:ext>
            </a:extLst>
          </p:cNvPr>
          <p:cNvSpPr>
            <a:spLocks noGrp="1"/>
          </p:cNvSpPr>
          <p:nvPr>
            <p:ph type="title"/>
          </p:nvPr>
        </p:nvSpPr>
        <p:spPr>
          <a:xfrm>
            <a:off x="838201" y="479493"/>
            <a:ext cx="5257800" cy="1325563"/>
          </a:xfrm>
        </p:spPr>
        <p:txBody>
          <a:bodyPr>
            <a:normAutofit/>
          </a:bodyPr>
          <a:lstStyle/>
          <a:p>
            <a:r>
              <a:rPr lang="en-US"/>
              <a:t>BOX PLOT OF BMI</a:t>
            </a:r>
          </a:p>
        </p:txBody>
      </p:sp>
      <p:sp>
        <p:nvSpPr>
          <p:cNvPr id="3" name="Content Placeholder 2">
            <a:extLst>
              <a:ext uri="{FF2B5EF4-FFF2-40B4-BE49-F238E27FC236}">
                <a16:creationId xmlns:a16="http://schemas.microsoft.com/office/drawing/2014/main" id="{64E31A3E-A3E1-F92E-16A8-2545F705B54E}"/>
              </a:ext>
            </a:extLst>
          </p:cNvPr>
          <p:cNvSpPr>
            <a:spLocks noGrp="1"/>
          </p:cNvSpPr>
          <p:nvPr>
            <p:ph idx="1"/>
          </p:nvPr>
        </p:nvSpPr>
        <p:spPr>
          <a:xfrm>
            <a:off x="838201" y="2104845"/>
            <a:ext cx="5257800" cy="2948100"/>
          </a:xfrm>
        </p:spPr>
        <p:txBody>
          <a:bodyPr>
            <a:normAutofit/>
          </a:bodyPr>
          <a:lstStyle/>
          <a:p>
            <a:pPr marL="0" indent="0">
              <a:buNone/>
            </a:pPr>
            <a:endParaRPr lang="en-US" sz="1500" dirty="0"/>
          </a:p>
          <a:p>
            <a:pPr marL="0" indent="0">
              <a:buNone/>
            </a:pPr>
            <a:endParaRPr lang="en-US" sz="1500" dirty="0"/>
          </a:p>
          <a:p>
            <a:pPr algn="just"/>
            <a:r>
              <a:rPr lang="en-US" sz="1500" dirty="0">
                <a:solidFill>
                  <a:schemeClr val="accent2">
                    <a:lumMod val="40000"/>
                    <a:lumOff val="60000"/>
                  </a:schemeClr>
                </a:solidFill>
              </a:rPr>
              <a:t>The box plot shows that the BMI values are concentrated between 0.4 and 0.7, with a median around 0.55. There are a few outliers both below 0.2 and above 0.85. The interquartile range (IQR) covers most of the data, and the distribution seems symmetric. The presence of outliers indicates some individuals with unusually low or high BMI values.</a:t>
            </a:r>
          </a:p>
        </p:txBody>
      </p:sp>
    </p:spTree>
    <p:extLst>
      <p:ext uri="{BB962C8B-B14F-4D97-AF65-F5344CB8AC3E}">
        <p14:creationId xmlns:p14="http://schemas.microsoft.com/office/powerpoint/2010/main" val="4070389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CA8E3-A616-2A73-66FC-4D7D580C2A85}"/>
              </a:ext>
            </a:extLst>
          </p:cNvPr>
          <p:cNvSpPr>
            <a:spLocks noGrp="1"/>
          </p:cNvSpPr>
          <p:nvPr>
            <p:ph type="title"/>
          </p:nvPr>
        </p:nvSpPr>
        <p:spPr>
          <a:xfrm>
            <a:off x="838200" y="365125"/>
            <a:ext cx="10515600" cy="888581"/>
          </a:xfrm>
        </p:spPr>
        <p:txBody>
          <a:bodyPr/>
          <a:lstStyle/>
          <a:p>
            <a:r>
              <a:rPr lang="en-US" kern="1200">
                <a:solidFill>
                  <a:schemeClr val="tx1"/>
                </a:solidFill>
                <a:latin typeface="+mj-lt"/>
                <a:ea typeface="+mj-ea"/>
                <a:cs typeface="+mj-cs"/>
              </a:rPr>
              <a:t>Step 3 - Regression</a:t>
            </a:r>
            <a:endParaRPr lang="en-US"/>
          </a:p>
        </p:txBody>
      </p:sp>
      <p:pic>
        <p:nvPicPr>
          <p:cNvPr id="6" name="Content Placeholder 5">
            <a:extLst>
              <a:ext uri="{FF2B5EF4-FFF2-40B4-BE49-F238E27FC236}">
                <a16:creationId xmlns:a16="http://schemas.microsoft.com/office/drawing/2014/main" id="{12DF8033-97E5-725A-1AEC-734ED80BFD6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54326" y="1662024"/>
            <a:ext cx="5423138" cy="1696528"/>
          </a:xfrm>
        </p:spPr>
      </p:pic>
      <p:graphicFrame>
        <p:nvGraphicFramePr>
          <p:cNvPr id="15" name="Content Placeholder 3">
            <a:extLst>
              <a:ext uri="{FF2B5EF4-FFF2-40B4-BE49-F238E27FC236}">
                <a16:creationId xmlns:a16="http://schemas.microsoft.com/office/drawing/2014/main" id="{35A0CCD3-D02E-3A60-F63E-8BF844DDE554}"/>
              </a:ext>
            </a:extLst>
          </p:cNvPr>
          <p:cNvGraphicFramePr>
            <a:graphicFrameLocks noGrp="1"/>
          </p:cNvGraphicFramePr>
          <p:nvPr>
            <p:ph sz="half" idx="2"/>
            <p:extLst>
              <p:ext uri="{D42A27DB-BD31-4B8C-83A1-F6EECF244321}">
                <p14:modId xmlns:p14="http://schemas.microsoft.com/office/powerpoint/2010/main" val="1939172444"/>
              </p:ext>
            </p:extLst>
          </p:nvPr>
        </p:nvGraphicFramePr>
        <p:xfrm>
          <a:off x="6172200" y="1825625"/>
          <a:ext cx="5680494"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a:extLst>
              <a:ext uri="{FF2B5EF4-FFF2-40B4-BE49-F238E27FC236}">
                <a16:creationId xmlns:a16="http://schemas.microsoft.com/office/drawing/2014/main" id="{E42E9729-8817-D843-1A97-29163654CB08}"/>
              </a:ext>
            </a:extLst>
          </p:cNvPr>
          <p:cNvSpPr txBox="1"/>
          <p:nvPr/>
        </p:nvSpPr>
        <p:spPr>
          <a:xfrm>
            <a:off x="339306" y="3499449"/>
            <a:ext cx="5618671" cy="3139321"/>
          </a:xfrm>
          <a:prstGeom prst="rect">
            <a:avLst/>
          </a:prstGeom>
          <a:noFill/>
        </p:spPr>
        <p:txBody>
          <a:bodyPr wrap="square">
            <a:spAutoFit/>
          </a:bodyPr>
          <a:lstStyle/>
          <a:p>
            <a:r>
              <a:rPr lang="en-US" b="0" i="0" dirty="0">
                <a:effectLst/>
                <a:latin typeface="system-ui"/>
              </a:rPr>
              <a:t>&gt;The model exhibits severe bias since it solely predicts the negative class in every situation. </a:t>
            </a:r>
          </a:p>
          <a:p>
            <a:r>
              <a:rPr lang="en-US" b="0" i="0" dirty="0">
                <a:effectLst/>
                <a:latin typeface="system-ui"/>
              </a:rPr>
              <a:t>-&gt;The model performs poorly because it is completely unable to identify affirmative cases, even with an accuracy of 68.50%.</a:t>
            </a:r>
          </a:p>
          <a:p>
            <a:r>
              <a:rPr lang="en-US" b="0" i="0" dirty="0">
                <a:effectLst/>
                <a:latin typeface="system-ui"/>
              </a:rPr>
              <a:t> -&gt;With 137 negative and 63 positive cases in the test set, there's probably a class imbalance problem. </a:t>
            </a:r>
          </a:p>
          <a:p>
            <a:r>
              <a:rPr lang="en-US" b="0" i="0" dirty="0">
                <a:effectLst/>
                <a:latin typeface="system-ui"/>
              </a:rPr>
              <a:t>-&gt;The model misses all 63 positive examples and obtains 0% recall for the positive class.</a:t>
            </a:r>
          </a:p>
          <a:p>
            <a:r>
              <a:rPr lang="en-US" b="0" i="0" dirty="0">
                <a:effectLst/>
                <a:latin typeface="system-ui"/>
              </a:rPr>
              <a:t> -&gt;To effectively handle both classes, this model needs major modifications and is not fit for deployment.</a:t>
            </a:r>
            <a:endParaRPr lang="en-US" dirty="0"/>
          </a:p>
        </p:txBody>
      </p:sp>
    </p:spTree>
    <p:extLst>
      <p:ext uri="{BB962C8B-B14F-4D97-AF65-F5344CB8AC3E}">
        <p14:creationId xmlns:p14="http://schemas.microsoft.com/office/powerpoint/2010/main" val="11365640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5" name="Arc 24">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6" name="Freeform: Shape 25">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092121C2-4259-4DB8-9709-4C6A6359FA7A}"/>
              </a:ext>
            </a:extLst>
          </p:cNvPr>
          <p:cNvSpPr>
            <a:spLocks noGrp="1"/>
          </p:cNvSpPr>
          <p:nvPr>
            <p:ph sz="half" idx="1"/>
          </p:nvPr>
        </p:nvSpPr>
        <p:spPr>
          <a:xfrm>
            <a:off x="6642340" y="1575758"/>
            <a:ext cx="5256362" cy="4601205"/>
          </a:xfrm>
        </p:spPr>
        <p:txBody>
          <a:bodyPr vert="horz" lIns="91440" tIns="45720" rIns="91440" bIns="45720" rtlCol="0">
            <a:normAutofit/>
          </a:bodyPr>
          <a:lstStyle/>
          <a:p>
            <a:pPr marL="0" indent="0">
              <a:buNone/>
            </a:pPr>
            <a:r>
              <a:rPr lang="en-US" sz="3200" b="1" dirty="0">
                <a:solidFill>
                  <a:schemeClr val="accent2"/>
                </a:solidFill>
              </a:rPr>
              <a:t># Confusion Matrix</a:t>
            </a:r>
          </a:p>
          <a:p>
            <a:pPr marL="0" indent="0">
              <a:buNone/>
            </a:pPr>
            <a:r>
              <a:rPr lang="en-US" sz="2000" dirty="0" err="1"/>
              <a:t>conf_matrix</a:t>
            </a:r>
            <a:r>
              <a:rPr lang="en-US" sz="2000" dirty="0"/>
              <a:t> = </a:t>
            </a:r>
            <a:r>
              <a:rPr lang="en-US" sz="2000" dirty="0" err="1"/>
              <a:t>confusion_matrix</a:t>
            </a:r>
            <a:r>
              <a:rPr lang="en-US" sz="2000" dirty="0"/>
              <a:t>(</a:t>
            </a:r>
            <a:r>
              <a:rPr lang="en-US" sz="2000" dirty="0" err="1"/>
              <a:t>y_test</a:t>
            </a:r>
            <a:r>
              <a:rPr lang="en-US" sz="2000" dirty="0"/>
              <a:t>, </a:t>
            </a:r>
            <a:r>
              <a:rPr lang="en-US" sz="2000" dirty="0" err="1"/>
              <a:t>y_pred</a:t>
            </a:r>
            <a:r>
              <a:rPr lang="en-US" sz="2000" dirty="0"/>
              <a:t>)</a:t>
            </a:r>
          </a:p>
          <a:p>
            <a:pPr marL="0" indent="0">
              <a:buNone/>
            </a:pPr>
            <a:r>
              <a:rPr lang="en-US" sz="2000" dirty="0"/>
              <a:t>print("Confusion Matrix:\n", </a:t>
            </a:r>
            <a:r>
              <a:rPr lang="en-US" sz="2000" dirty="0" err="1"/>
              <a:t>conf_matrix</a:t>
            </a:r>
            <a:r>
              <a:rPr lang="en-US" sz="2000" dirty="0"/>
              <a:t>)</a:t>
            </a:r>
          </a:p>
          <a:p>
            <a:pPr marL="0" indent="0">
              <a:buNone/>
            </a:pPr>
            <a:r>
              <a:rPr lang="en-US" sz="2000" dirty="0"/>
              <a:t># Calculate Accuracy</a:t>
            </a:r>
          </a:p>
          <a:p>
            <a:pPr marL="0" indent="0">
              <a:buNone/>
            </a:pPr>
            <a:r>
              <a:rPr lang="en-US" sz="2000" dirty="0"/>
              <a:t>accuracy = </a:t>
            </a:r>
            <a:r>
              <a:rPr lang="en-US" sz="2000" dirty="0" err="1"/>
              <a:t>accuracy_score</a:t>
            </a:r>
            <a:r>
              <a:rPr lang="en-US" sz="2000" dirty="0"/>
              <a:t>(</a:t>
            </a:r>
            <a:r>
              <a:rPr lang="en-US" sz="2000" dirty="0" err="1"/>
              <a:t>y_test</a:t>
            </a:r>
            <a:r>
              <a:rPr lang="en-US" sz="2000" dirty="0"/>
              <a:t>, </a:t>
            </a:r>
            <a:r>
              <a:rPr lang="en-US" sz="2000" dirty="0" err="1"/>
              <a:t>y_pred</a:t>
            </a:r>
            <a:r>
              <a:rPr lang="en-US" sz="2000" dirty="0"/>
              <a:t>)</a:t>
            </a:r>
          </a:p>
          <a:p>
            <a:pPr marL="0" indent="0">
              <a:buNone/>
            </a:pPr>
            <a:r>
              <a:rPr lang="en-US" sz="2000" dirty="0"/>
              <a:t>print("Accuracy of the model: {:.2f}%".format(accuracy * 100))</a:t>
            </a:r>
          </a:p>
          <a:p>
            <a:pPr marL="0"/>
            <a:endParaRPr lang="en-US" sz="1200" dirty="0"/>
          </a:p>
          <a:p>
            <a:pPr marL="0" indent="0">
              <a:buNone/>
            </a:pPr>
            <a:r>
              <a:rPr lang="en-US" sz="2400" b="1" dirty="0">
                <a:solidFill>
                  <a:srgbClr val="00B0F0"/>
                </a:solidFill>
              </a:rPr>
              <a:t>Coefficients (y = </a:t>
            </a:r>
            <a:r>
              <a:rPr lang="en-US" sz="2400" b="1" dirty="0" err="1">
                <a:solidFill>
                  <a:srgbClr val="00B0F0"/>
                </a:solidFill>
              </a:rPr>
              <a:t>aX</a:t>
            </a:r>
            <a:r>
              <a:rPr lang="en-US" sz="2400" b="1" dirty="0">
                <a:solidFill>
                  <a:srgbClr val="00B0F0"/>
                </a:solidFill>
              </a:rPr>
              <a:t> + b)</a:t>
            </a:r>
          </a:p>
          <a:p>
            <a:pPr marL="0" indent="0">
              <a:buNone/>
            </a:pPr>
            <a:r>
              <a:rPr lang="en-US" sz="2000" dirty="0"/>
              <a:t>a = [-0.00406224, -0.01342934]</a:t>
            </a:r>
          </a:p>
          <a:p>
            <a:pPr marL="0" indent="0">
              <a:buNone/>
            </a:pPr>
            <a:r>
              <a:rPr lang="en-US" sz="2000" dirty="0"/>
              <a:t>b = 0.14941842</a:t>
            </a:r>
          </a:p>
          <a:p>
            <a:pPr marL="0"/>
            <a:endParaRPr lang="en-US" sz="900" dirty="0"/>
          </a:p>
          <a:p>
            <a:pPr marL="0" indent="0">
              <a:buNone/>
            </a:pPr>
            <a:endParaRPr lang="en-US" sz="900" dirty="0"/>
          </a:p>
        </p:txBody>
      </p:sp>
      <p:pic>
        <p:nvPicPr>
          <p:cNvPr id="8" name="Content Placeholder 7">
            <a:extLst>
              <a:ext uri="{FF2B5EF4-FFF2-40B4-BE49-F238E27FC236}">
                <a16:creationId xmlns:a16="http://schemas.microsoft.com/office/drawing/2014/main" id="{20DD4A98-F6FA-7DA8-6624-ECDFF0F3A0B3}"/>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293298" y="400753"/>
            <a:ext cx="5891719" cy="1911927"/>
          </a:xfrm>
        </p:spPr>
      </p:pic>
      <p:sp>
        <p:nvSpPr>
          <p:cNvPr id="10" name="TextBox 9">
            <a:extLst>
              <a:ext uri="{FF2B5EF4-FFF2-40B4-BE49-F238E27FC236}">
                <a16:creationId xmlns:a16="http://schemas.microsoft.com/office/drawing/2014/main" id="{9C59C037-840D-499E-4AEE-05B556100394}"/>
              </a:ext>
            </a:extLst>
          </p:cNvPr>
          <p:cNvSpPr txBox="1"/>
          <p:nvPr/>
        </p:nvSpPr>
        <p:spPr>
          <a:xfrm>
            <a:off x="253042" y="2713433"/>
            <a:ext cx="6096000" cy="3693319"/>
          </a:xfrm>
          <a:prstGeom prst="rect">
            <a:avLst/>
          </a:prstGeom>
          <a:noFill/>
        </p:spPr>
        <p:txBody>
          <a:bodyPr wrap="square">
            <a:spAutoFit/>
          </a:bodyPr>
          <a:lstStyle/>
          <a:p>
            <a:pPr marL="285750" indent="-285750" algn="just">
              <a:buFont typeface="Arial" panose="020B0604020202020204" pitchFamily="34" charset="0"/>
              <a:buChar char="•"/>
            </a:pPr>
            <a:r>
              <a:rPr lang="en-US" b="0" i="0" dirty="0">
                <a:solidFill>
                  <a:srgbClr val="00B0F0"/>
                </a:solidFill>
                <a:effectLst/>
                <a:latin typeface="system-ui"/>
              </a:rPr>
              <a:t>Small negative coefficients in the logistic regression model (-0.00406224 and -0.01342934) for both features indicate weak inverse correlations with the likelihood of the positive class. Because its absolute coefficient is bigger, the second feature has a marginally stronger influence. </a:t>
            </a:r>
          </a:p>
          <a:p>
            <a:pPr marL="285750" indent="-285750" algn="just">
              <a:buFont typeface="Arial" panose="020B0604020202020204" pitchFamily="34" charset="0"/>
              <a:buChar char="•"/>
            </a:pPr>
            <a:endParaRPr lang="en-US" b="0" i="0" dirty="0">
              <a:solidFill>
                <a:srgbClr val="00B0F0"/>
              </a:solidFill>
              <a:effectLst/>
              <a:latin typeface="system-ui"/>
            </a:endParaRPr>
          </a:p>
          <a:p>
            <a:pPr marL="285750" indent="-285750" algn="just">
              <a:buFont typeface="Wingdings" panose="05000000000000000000" pitchFamily="2" charset="2"/>
              <a:buChar char="§"/>
            </a:pPr>
            <a:r>
              <a:rPr lang="en-US" b="0" i="0" dirty="0">
                <a:solidFill>
                  <a:schemeClr val="accent2">
                    <a:lumMod val="50000"/>
                  </a:schemeClr>
                </a:solidFill>
                <a:effectLst/>
                <a:latin typeface="system-ui"/>
              </a:rPr>
              <a:t>When all characteristics are zero, the positive intercept (0.14941842) indicates a little bias towards the positive class. The minimal size of these coefficients, however, suggests that the characteristics may not have much predictive potential or that the model may be underfit, which could account for the earlier observed poor performance.</a:t>
            </a:r>
            <a:endParaRPr lang="en-US" dirty="0">
              <a:solidFill>
                <a:schemeClr val="accent2">
                  <a:lumMod val="50000"/>
                </a:schemeClr>
              </a:solidFill>
            </a:endParaRPr>
          </a:p>
        </p:txBody>
      </p:sp>
    </p:spTree>
    <p:extLst>
      <p:ext uri="{BB962C8B-B14F-4D97-AF65-F5344CB8AC3E}">
        <p14:creationId xmlns:p14="http://schemas.microsoft.com/office/powerpoint/2010/main" val="1201393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5" name="Rectangle 144">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A51912-942E-5AC7-2D87-243E18C3B15D}"/>
              </a:ext>
            </a:extLst>
          </p:cNvPr>
          <p:cNvSpPr>
            <a:spLocks noGrp="1"/>
          </p:cNvSpPr>
          <p:nvPr>
            <p:ph type="title"/>
          </p:nvPr>
        </p:nvSpPr>
        <p:spPr>
          <a:xfrm>
            <a:off x="589560" y="856179"/>
            <a:ext cx="4560584" cy="1346107"/>
          </a:xfrm>
        </p:spPr>
        <p:txBody>
          <a:bodyPr vert="horz" lIns="91440" tIns="45720" rIns="91440" bIns="45720" rtlCol="0" anchor="ctr">
            <a:normAutofit fontScale="90000"/>
          </a:bodyPr>
          <a:lstStyle/>
          <a:p>
            <a:r>
              <a:rPr lang="en-US" sz="1200" b="1"/>
              <a:t># Plot the Confusion Matrix</a:t>
            </a:r>
            <a:br>
              <a:rPr lang="en-US" sz="1200"/>
            </a:br>
            <a:r>
              <a:rPr lang="en-US" sz="1200" err="1"/>
              <a:t>plt.figure</a:t>
            </a:r>
            <a:r>
              <a:rPr lang="en-US" sz="1200"/>
              <a:t>(</a:t>
            </a:r>
            <a:r>
              <a:rPr lang="en-US" sz="1200" err="1"/>
              <a:t>figsize</a:t>
            </a:r>
            <a:r>
              <a:rPr lang="en-US" sz="1200"/>
              <a:t>=(5,4))</a:t>
            </a:r>
            <a:br>
              <a:rPr lang="en-US" sz="1200"/>
            </a:br>
            <a:r>
              <a:rPr lang="en-US" sz="1200" err="1"/>
              <a:t>sns.heatmap</a:t>
            </a:r>
            <a:r>
              <a:rPr lang="en-US" sz="1200"/>
              <a:t>(</a:t>
            </a:r>
            <a:r>
              <a:rPr lang="en-US" sz="1200" err="1"/>
              <a:t>conf_matrix</a:t>
            </a:r>
            <a:r>
              <a:rPr lang="en-US" sz="1200"/>
              <a:t>, </a:t>
            </a:r>
            <a:r>
              <a:rPr lang="en-US" sz="1200" err="1"/>
              <a:t>annot</a:t>
            </a:r>
            <a:r>
              <a:rPr lang="en-US" sz="1200"/>
              <a:t>=True, </a:t>
            </a:r>
            <a:r>
              <a:rPr lang="en-US" sz="1200" err="1"/>
              <a:t>fmt</a:t>
            </a:r>
            <a:r>
              <a:rPr lang="en-US" sz="1200"/>
              <a:t>="d", </a:t>
            </a:r>
            <a:r>
              <a:rPr lang="en-US" sz="1200" err="1"/>
              <a:t>cmap</a:t>
            </a:r>
            <a:r>
              <a:rPr lang="en-US" sz="1200"/>
              <a:t>="Blues", cbar=False)</a:t>
            </a:r>
            <a:br>
              <a:rPr lang="en-US" sz="1200"/>
            </a:br>
            <a:r>
              <a:rPr lang="en-US" sz="1200" err="1"/>
              <a:t>plt.title</a:t>
            </a:r>
            <a:r>
              <a:rPr lang="en-US" sz="1200"/>
              <a:t>('Confusion Matrix')</a:t>
            </a:r>
            <a:br>
              <a:rPr lang="en-US" sz="1200"/>
            </a:br>
            <a:r>
              <a:rPr lang="en-US" sz="1200" err="1"/>
              <a:t>plt.ylabel</a:t>
            </a:r>
            <a:r>
              <a:rPr lang="en-US" sz="1200"/>
              <a:t>('Actual Diagnosis')</a:t>
            </a:r>
            <a:br>
              <a:rPr lang="en-US" sz="1200"/>
            </a:br>
            <a:r>
              <a:rPr lang="en-US" sz="1200" err="1"/>
              <a:t>plt.xlabel</a:t>
            </a:r>
            <a:r>
              <a:rPr lang="en-US" sz="1200"/>
              <a:t>('Predicted Diagnosis')</a:t>
            </a:r>
            <a:br>
              <a:rPr lang="en-US" sz="1200"/>
            </a:br>
            <a:r>
              <a:rPr lang="en-US" sz="1200" err="1"/>
              <a:t>plt.show</a:t>
            </a:r>
            <a:r>
              <a:rPr lang="en-US" sz="1200"/>
              <a:t>()</a:t>
            </a:r>
          </a:p>
        </p:txBody>
      </p:sp>
      <p:grpSp>
        <p:nvGrpSpPr>
          <p:cNvPr id="147" name="Group 146">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48" name="Rectangle 147">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1" name="Rectangle 150">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3A46B66-4F14-47FF-AB73-6FCCB147CF9C}"/>
              </a:ext>
            </a:extLst>
          </p:cNvPr>
          <p:cNvSpPr txBox="1"/>
          <p:nvPr/>
        </p:nvSpPr>
        <p:spPr>
          <a:xfrm>
            <a:off x="590719" y="2330505"/>
            <a:ext cx="5172577" cy="3979585"/>
          </a:xfrm>
          <a:prstGeom prst="rect">
            <a:avLst/>
          </a:prstGeom>
        </p:spPr>
        <p:txBody>
          <a:bodyPr vert="horz" lIns="91440" tIns="45720" rIns="91440" bIns="45720" rtlCol="0" anchor="ctr">
            <a:normAutofit lnSpcReduction="10000"/>
          </a:bodyPr>
          <a:lstStyle/>
          <a:p>
            <a:pPr indent="-228600" defTabSz="914400">
              <a:lnSpc>
                <a:spcPct val="90000"/>
              </a:lnSpc>
              <a:spcAft>
                <a:spcPts val="600"/>
              </a:spcAft>
              <a:buFont typeface="Arial" panose="020B0604020202020204" pitchFamily="34" charset="0"/>
              <a:buChar char="•"/>
            </a:pPr>
            <a:r>
              <a:rPr lang="en-US" sz="1100" b="1" i="0" dirty="0">
                <a:effectLst/>
              </a:rPr>
              <a:t>INTERPRETATION:</a:t>
            </a:r>
            <a:r>
              <a:rPr lang="en-US" sz="1100" b="0" i="0" dirty="0">
                <a:effectLst/>
              </a:rPr>
              <a:t>-</a:t>
            </a:r>
          </a:p>
          <a:p>
            <a:pPr defTabSz="914400">
              <a:lnSpc>
                <a:spcPct val="90000"/>
              </a:lnSpc>
              <a:spcAft>
                <a:spcPts val="600"/>
              </a:spcAft>
            </a:pPr>
            <a:r>
              <a:rPr lang="en-US" sz="1400" b="0" i="0" dirty="0">
                <a:effectLst/>
              </a:rPr>
              <a:t>This representation of the confusion matrix gives a clear sense of the model's performance:</a:t>
            </a:r>
          </a:p>
          <a:p>
            <a:pPr indent="-228600" defTabSz="914400">
              <a:lnSpc>
                <a:spcPct val="90000"/>
              </a:lnSpc>
              <a:spcAft>
                <a:spcPts val="600"/>
              </a:spcAft>
              <a:buFont typeface="Arial" panose="020B0604020202020204" pitchFamily="34" charset="0"/>
              <a:buChar char="•"/>
            </a:pPr>
            <a:r>
              <a:rPr lang="en-US" sz="1400" b="0" i="0" dirty="0">
                <a:effectLst/>
              </a:rPr>
              <a:t>Model Bias: There is a strong bias towards the negative class as the model only predicts one class (class 0) in every occurrence.</a:t>
            </a:r>
          </a:p>
          <a:p>
            <a:pPr defTabSz="914400">
              <a:lnSpc>
                <a:spcPct val="90000"/>
              </a:lnSpc>
              <a:spcAft>
                <a:spcPts val="600"/>
              </a:spcAft>
            </a:pPr>
            <a:r>
              <a:rPr lang="en-US" sz="1400" b="0" i="0" dirty="0">
                <a:effectLst/>
              </a:rPr>
              <a:t>True Negatives: The top-left cell contains 137 true negatives, or negative cases that were accurately predicted. 3. False Negatives: The model misclassified 63 positive cases as negative, as evidenced by the 63 false negatives displayed in the bottom-left cell. 4.No Positive Predictions: The model did not predict any positive cases, as seen by the zeros in the right-side cells (0, 1) and (1, 1).</a:t>
            </a:r>
          </a:p>
          <a:p>
            <a:pPr marL="285750" indent="-285750" defTabSz="914400">
              <a:lnSpc>
                <a:spcPct val="90000"/>
              </a:lnSpc>
              <a:spcAft>
                <a:spcPts val="600"/>
              </a:spcAft>
              <a:buFont typeface="Arial" panose="020B0604020202020204" pitchFamily="34" charset="0"/>
              <a:buChar char="•"/>
            </a:pPr>
            <a:r>
              <a:rPr lang="en-US" sz="1400" b="0" i="0" dirty="0">
                <a:effectLst/>
              </a:rPr>
              <a:t>The model performs poorly, as this picture demonstrates, especially in its total inability to find any positive situations. With its constant output of the negative class, the model is effectively acting as a constant predictor, independent of the input. This implies that there are significant problems with the model itself, the training procedure, or perhaps the caliber or distribution of the training data. This model needs to be significantly improved before it can be used in any real-world situation.</a:t>
            </a:r>
          </a:p>
        </p:txBody>
      </p:sp>
      <p:sp>
        <p:nvSpPr>
          <p:cNvPr id="153" name="Rectangle 152">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D4841FC7-FDB2-C58E-62C3-887D2F1C8C4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10253" b="1"/>
          <a:stretch/>
        </p:blipFill>
        <p:spPr>
          <a:xfrm>
            <a:off x="5977788" y="799352"/>
            <a:ext cx="5425410" cy="5259296"/>
          </a:xfrm>
          <a:prstGeom prst="rect">
            <a:avLst/>
          </a:prstGeom>
        </p:spPr>
      </p:pic>
    </p:spTree>
    <p:extLst>
      <p:ext uri="{BB962C8B-B14F-4D97-AF65-F5344CB8AC3E}">
        <p14:creationId xmlns:p14="http://schemas.microsoft.com/office/powerpoint/2010/main" val="16424833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226A79-ADE7-C373-B7F9-084C6FB50446}"/>
              </a:ext>
            </a:extLst>
          </p:cNvPr>
          <p:cNvSpPr>
            <a:spLocks noGrp="1"/>
          </p:cNvSpPr>
          <p:nvPr>
            <p:ph type="title"/>
          </p:nvPr>
        </p:nvSpPr>
        <p:spPr>
          <a:xfrm>
            <a:off x="109268" y="586855"/>
            <a:ext cx="3558820" cy="3387497"/>
          </a:xfrm>
        </p:spPr>
        <p:txBody>
          <a:bodyPr anchor="b">
            <a:normAutofit/>
          </a:bodyPr>
          <a:lstStyle/>
          <a:p>
            <a:pPr algn="r"/>
            <a:r>
              <a:rPr lang="en-US" sz="2800" b="0" i="0">
                <a:solidFill>
                  <a:srgbClr val="FFFFFF"/>
                </a:solidFill>
                <a:effectLst/>
                <a:latin typeface="Arial" panose="020B0604020202020204" pitchFamily="34" charset="0"/>
              </a:rPr>
              <a:t>Step 4: KNN &amp; Naïve Bayes</a:t>
            </a:r>
            <a:br>
              <a:rPr lang="en-US" sz="2800" b="0" i="0">
                <a:solidFill>
                  <a:srgbClr val="FFFFFF"/>
                </a:solidFill>
                <a:effectLst/>
                <a:latin typeface="Arial" panose="020B0604020202020204" pitchFamily="34" charset="0"/>
              </a:rPr>
            </a:br>
            <a:br>
              <a:rPr lang="en-US" sz="2800">
                <a:solidFill>
                  <a:srgbClr val="FFFFFF"/>
                </a:solidFill>
              </a:rPr>
            </a:br>
            <a:r>
              <a:rPr lang="en-US" sz="2800" b="0" i="0">
                <a:solidFill>
                  <a:srgbClr val="FFFFFF"/>
                </a:solidFill>
                <a:effectLst/>
                <a:latin typeface="Arial" panose="020B0604020202020204" pitchFamily="34" charset="0"/>
              </a:rPr>
              <a:t>❖ Major Discussion</a:t>
            </a:r>
            <a:br>
              <a:rPr lang="en-US" sz="2800" b="0" i="0">
                <a:solidFill>
                  <a:srgbClr val="FFFFFF"/>
                </a:solidFill>
                <a:effectLst/>
                <a:latin typeface="Arial" panose="020B0604020202020204" pitchFamily="34" charset="0"/>
              </a:rPr>
            </a:br>
            <a:br>
              <a:rPr lang="en-US" sz="2800">
                <a:solidFill>
                  <a:srgbClr val="FFFFFF"/>
                </a:solidFill>
              </a:rPr>
            </a:br>
            <a:r>
              <a:rPr lang="en-US" sz="2800" b="0" i="0">
                <a:solidFill>
                  <a:srgbClr val="FFFFFF"/>
                </a:solidFill>
                <a:effectLst/>
                <a:latin typeface="Arial" panose="020B0604020202020204" pitchFamily="34" charset="0"/>
              </a:rPr>
              <a:t> </a:t>
            </a:r>
            <a:r>
              <a:rPr lang="en-US" sz="2000" b="0" i="0">
                <a:solidFill>
                  <a:schemeClr val="accent1"/>
                </a:solidFill>
                <a:effectLst/>
                <a:latin typeface="Arial" panose="020B0604020202020204" pitchFamily="34" charset="0"/>
              </a:rPr>
              <a:t>K Nearest Neighbor</a:t>
            </a:r>
            <a:br>
              <a:rPr lang="en-US" sz="2000" b="0" i="0">
                <a:solidFill>
                  <a:schemeClr val="accent1"/>
                </a:solidFill>
                <a:effectLst/>
                <a:latin typeface="Arial" panose="020B0604020202020204" pitchFamily="34" charset="0"/>
              </a:rPr>
            </a:br>
            <a:br>
              <a:rPr lang="en-US" sz="2000">
                <a:solidFill>
                  <a:schemeClr val="accent1"/>
                </a:solidFill>
                <a:latin typeface="Arial" panose="020B0604020202020204" pitchFamily="34" charset="0"/>
              </a:rPr>
            </a:br>
            <a:r>
              <a:rPr lang="en-US" sz="2000" b="0" i="0">
                <a:solidFill>
                  <a:schemeClr val="accent1"/>
                </a:solidFill>
                <a:effectLst/>
                <a:latin typeface="Arial" panose="020B0604020202020204" pitchFamily="34" charset="0"/>
              </a:rPr>
              <a:t>Naïve Bayes</a:t>
            </a:r>
            <a:endParaRPr lang="en-US" sz="2800">
              <a:solidFill>
                <a:schemeClr val="accent1"/>
              </a:solidFill>
            </a:endParaRPr>
          </a:p>
        </p:txBody>
      </p:sp>
      <p:sp>
        <p:nvSpPr>
          <p:cNvPr id="3" name="Content Placeholder 2">
            <a:extLst>
              <a:ext uri="{FF2B5EF4-FFF2-40B4-BE49-F238E27FC236}">
                <a16:creationId xmlns:a16="http://schemas.microsoft.com/office/drawing/2014/main" id="{F3C3C57B-6B72-598F-CB61-F54A87F5010A}"/>
              </a:ext>
            </a:extLst>
          </p:cNvPr>
          <p:cNvSpPr>
            <a:spLocks noGrp="1"/>
          </p:cNvSpPr>
          <p:nvPr>
            <p:ph idx="1"/>
          </p:nvPr>
        </p:nvSpPr>
        <p:spPr>
          <a:xfrm>
            <a:off x="4810259" y="649480"/>
            <a:ext cx="6555347" cy="5546047"/>
          </a:xfrm>
        </p:spPr>
        <p:txBody>
          <a:bodyPr anchor="ctr">
            <a:normAutofit/>
          </a:bodyPr>
          <a:lstStyle/>
          <a:p>
            <a:r>
              <a:rPr lang="en-US" sz="1300" b="1"/>
              <a:t>CODE </a:t>
            </a:r>
          </a:p>
          <a:p>
            <a:pPr marL="0" indent="0">
              <a:buNone/>
            </a:pPr>
            <a:r>
              <a:rPr lang="en-US" sz="1300"/>
              <a:t># Plottingplt.figure(figsize=(12, 5))</a:t>
            </a:r>
          </a:p>
          <a:p>
            <a:pPr marL="0" indent="0">
              <a:buNone/>
            </a:pPr>
            <a:r>
              <a:rPr lang="en-US" sz="1300" b="1"/>
              <a:t># KNN plot</a:t>
            </a:r>
          </a:p>
          <a:p>
            <a:pPr marL="0" indent="0">
              <a:buNone/>
            </a:pPr>
            <a:r>
              <a:rPr lang="en-US" sz="1300" b="1"/>
              <a:t>plt.subplot(1, 2, 1)</a:t>
            </a:r>
          </a:p>
          <a:p>
            <a:pPr marL="0" indent="0">
              <a:buNone/>
            </a:pPr>
            <a:r>
              <a:rPr lang="en-US" sz="1300"/>
              <a:t>plt.scatter(X_test['Glucose'], X_test['BMI'], c=knn_pred, cmap='coolwarm', edgecolor='k', s=100)</a:t>
            </a:r>
          </a:p>
          <a:p>
            <a:pPr marL="0" indent="0">
              <a:buNone/>
            </a:pPr>
            <a:r>
              <a:rPr lang="en-US" sz="1300"/>
              <a:t>plt.title('KNN Predictions’)</a:t>
            </a:r>
          </a:p>
          <a:p>
            <a:pPr marL="0" indent="0">
              <a:buNone/>
            </a:pPr>
            <a:r>
              <a:rPr lang="en-US" sz="1300"/>
              <a:t>plt.xlabel('Glucose’)</a:t>
            </a:r>
          </a:p>
          <a:p>
            <a:pPr marL="0" indent="0">
              <a:buNone/>
            </a:pPr>
            <a:r>
              <a:rPr lang="en-US" sz="1300"/>
              <a:t>plt.ylabel('BMI’)</a:t>
            </a:r>
          </a:p>
          <a:p>
            <a:endParaRPr lang="en-US" sz="1300"/>
          </a:p>
          <a:p>
            <a:r>
              <a:rPr lang="en-US" sz="1300" b="1"/>
              <a:t># Naive Bayes plot</a:t>
            </a:r>
          </a:p>
          <a:p>
            <a:pPr marL="0" indent="0">
              <a:buNone/>
            </a:pPr>
            <a:r>
              <a:rPr lang="en-US" sz="1300"/>
              <a:t>plt.subplot(1, 2, 2)</a:t>
            </a:r>
          </a:p>
          <a:p>
            <a:pPr marL="0" indent="0">
              <a:buNone/>
            </a:pPr>
            <a:r>
              <a:rPr lang="en-US" sz="1300"/>
              <a:t>plt.scatter(X_test['Glucose'], X_test['BMI'], c=nb_pred, cmap='coolwarm', edgecolor='k', s=100)</a:t>
            </a:r>
          </a:p>
          <a:p>
            <a:pPr marL="0" indent="0">
              <a:buNone/>
            </a:pPr>
            <a:r>
              <a:rPr lang="en-US" sz="1300"/>
              <a:t>plt.title('Naive Bayes Predictions’)</a:t>
            </a:r>
          </a:p>
          <a:p>
            <a:pPr marL="0" indent="0">
              <a:buNone/>
            </a:pPr>
            <a:r>
              <a:rPr lang="en-US" sz="1300"/>
              <a:t>plt.xlabel('Glucose’)</a:t>
            </a:r>
          </a:p>
          <a:p>
            <a:pPr marL="0" indent="0">
              <a:buNone/>
            </a:pPr>
            <a:r>
              <a:rPr lang="en-US" sz="1300"/>
              <a:t>plt.ylabel('BMI’)</a:t>
            </a:r>
          </a:p>
          <a:p>
            <a:pPr marL="0" indent="0">
              <a:buNone/>
            </a:pPr>
            <a:r>
              <a:rPr lang="en-US" sz="1300"/>
              <a:t>plt.tight_layout()</a:t>
            </a:r>
          </a:p>
          <a:p>
            <a:pPr marL="0" indent="0">
              <a:buNone/>
            </a:pPr>
            <a:r>
              <a:rPr lang="en-US" sz="1300"/>
              <a:t>plt.show()</a:t>
            </a:r>
          </a:p>
        </p:txBody>
      </p:sp>
    </p:spTree>
    <p:extLst>
      <p:ext uri="{BB962C8B-B14F-4D97-AF65-F5344CB8AC3E}">
        <p14:creationId xmlns:p14="http://schemas.microsoft.com/office/powerpoint/2010/main" val="21772380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B4035-5092-EA57-6E7C-078A1192DD05}"/>
              </a:ext>
            </a:extLst>
          </p:cNvPr>
          <p:cNvSpPr>
            <a:spLocks noGrp="1"/>
          </p:cNvSpPr>
          <p:nvPr>
            <p:ph type="title"/>
          </p:nvPr>
        </p:nvSpPr>
        <p:spPr>
          <a:xfrm>
            <a:off x="640080" y="5576887"/>
            <a:ext cx="10911840" cy="640081"/>
          </a:xfrm>
        </p:spPr>
        <p:txBody>
          <a:bodyPr vert="horz" lIns="91440" tIns="45720" rIns="91440" bIns="45720" rtlCol="0">
            <a:normAutofit/>
          </a:bodyPr>
          <a:lstStyle/>
          <a:p>
            <a:pPr algn="ctr"/>
            <a:r>
              <a:rPr lang="en-US" sz="3200" kern="1200">
                <a:latin typeface="+mj-lt"/>
                <a:ea typeface="+mj-ea"/>
                <a:cs typeface="+mj-cs"/>
              </a:rPr>
              <a:t>GRAPHS OF KNN AND NAÏVE BAYES</a:t>
            </a:r>
          </a:p>
        </p:txBody>
      </p:sp>
      <p:pic>
        <p:nvPicPr>
          <p:cNvPr id="4" name="Picture 3" descr="A group of blue and red dots&#10;&#10;Description automatically generated">
            <a:extLst>
              <a:ext uri="{FF2B5EF4-FFF2-40B4-BE49-F238E27FC236}">
                <a16:creationId xmlns:a16="http://schemas.microsoft.com/office/drawing/2014/main" id="{757E1219-38FF-B392-C64B-742C7566F06B}"/>
              </a:ext>
            </a:extLst>
          </p:cNvPr>
          <p:cNvPicPr>
            <a:picLocks noChangeAspect="1"/>
          </p:cNvPicPr>
          <p:nvPr/>
        </p:nvPicPr>
        <p:blipFill>
          <a:blip r:embed="rId2">
            <a:extLst>
              <a:ext uri="{28A0092B-C50C-407E-A947-70E740481C1C}">
                <a14:useLocalDpi xmlns:a14="http://schemas.microsoft.com/office/drawing/2010/main" val="0"/>
              </a:ext>
            </a:extLst>
          </a:blip>
          <a:srcRect l="4684" t="1629"/>
          <a:stretch/>
        </p:blipFill>
        <p:spPr>
          <a:xfrm>
            <a:off x="640080" y="718868"/>
            <a:ext cx="10911840" cy="4758007"/>
          </a:xfrm>
          <a:prstGeom prst="rect">
            <a:avLst/>
          </a:prstGeom>
          <a:ln w="19050">
            <a:solidFill>
              <a:schemeClr val="tx1"/>
            </a:solidFill>
            <a:miter lim="800000"/>
          </a:ln>
        </p:spPr>
      </p:pic>
    </p:spTree>
    <p:extLst>
      <p:ext uri="{BB962C8B-B14F-4D97-AF65-F5344CB8AC3E}">
        <p14:creationId xmlns:p14="http://schemas.microsoft.com/office/powerpoint/2010/main" val="2183491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4B8FC1E-9557-5AEE-2042-CA319389293B}"/>
              </a:ext>
            </a:extLst>
          </p:cNvPr>
          <p:cNvSpPr>
            <a:spLocks noGrp="1"/>
          </p:cNvSpPr>
          <p:nvPr>
            <p:ph type="title"/>
          </p:nvPr>
        </p:nvSpPr>
        <p:spPr>
          <a:xfrm>
            <a:off x="479394" y="1070800"/>
            <a:ext cx="3939688" cy="5583126"/>
          </a:xfrm>
        </p:spPr>
        <p:txBody>
          <a:bodyPr>
            <a:normAutofit/>
          </a:bodyPr>
          <a:lstStyle/>
          <a:p>
            <a:pPr algn="r"/>
            <a:r>
              <a:rPr lang="en-US" sz="5000" b="0" i="0">
                <a:effectLst/>
                <a:latin typeface="Arial" panose="020B0604020202020204" pitchFamily="34" charset="0"/>
              </a:rPr>
              <a:t>Report the accuracies:-</a:t>
            </a:r>
            <a:endParaRPr lang="en-US" sz="5000"/>
          </a:p>
        </p:txBody>
      </p:sp>
      <p:cxnSp>
        <p:nvCxnSpPr>
          <p:cNvPr id="37" name="Straight Connector 36">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38" name="Content Placeholder 2">
            <a:extLst>
              <a:ext uri="{FF2B5EF4-FFF2-40B4-BE49-F238E27FC236}">
                <a16:creationId xmlns:a16="http://schemas.microsoft.com/office/drawing/2014/main" id="{AD811F57-1536-BBB2-F660-FC769EB05500}"/>
              </a:ext>
            </a:extLst>
          </p:cNvPr>
          <p:cNvGraphicFramePr>
            <a:graphicFrameLocks noGrp="1"/>
          </p:cNvGraphicFramePr>
          <p:nvPr>
            <p:ph idx="1"/>
            <p:extLst>
              <p:ext uri="{D42A27DB-BD31-4B8C-83A1-F6EECF244321}">
                <p14:modId xmlns:p14="http://schemas.microsoft.com/office/powerpoint/2010/main" val="2148044878"/>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924840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AC4B-AD88-84F4-280C-B17EF06C868B}"/>
              </a:ext>
            </a:extLst>
          </p:cNvPr>
          <p:cNvSpPr>
            <a:spLocks noGrp="1"/>
          </p:cNvSpPr>
          <p:nvPr>
            <p:ph type="title"/>
          </p:nvPr>
        </p:nvSpPr>
        <p:spPr>
          <a:xfrm>
            <a:off x="876693" y="741391"/>
            <a:ext cx="4597747" cy="1087409"/>
          </a:xfrm>
        </p:spPr>
        <p:txBody>
          <a:bodyPr anchor="b">
            <a:normAutofit/>
          </a:bodyPr>
          <a:lstStyle/>
          <a:p>
            <a:r>
              <a:rPr lang="en-US" sz="3200" b="0" i="0">
                <a:solidFill>
                  <a:schemeClr val="accent1"/>
                </a:solidFill>
                <a:effectLst/>
                <a:latin typeface="Arial" panose="020B0604020202020204" pitchFamily="34" charset="0"/>
              </a:rPr>
              <a:t>What model works better for this data?</a:t>
            </a:r>
            <a:endParaRPr lang="en-US" sz="3200">
              <a:solidFill>
                <a:schemeClr val="accent1"/>
              </a:solidFill>
            </a:endParaRPr>
          </a:p>
        </p:txBody>
      </p:sp>
      <p:sp>
        <p:nvSpPr>
          <p:cNvPr id="3" name="Content Placeholder 2">
            <a:extLst>
              <a:ext uri="{FF2B5EF4-FFF2-40B4-BE49-F238E27FC236}">
                <a16:creationId xmlns:a16="http://schemas.microsoft.com/office/drawing/2014/main" id="{98AD4E9D-46F8-30C4-2323-C022ADC0FCC7}"/>
              </a:ext>
            </a:extLst>
          </p:cNvPr>
          <p:cNvSpPr>
            <a:spLocks noGrp="1"/>
          </p:cNvSpPr>
          <p:nvPr>
            <p:ph idx="1"/>
          </p:nvPr>
        </p:nvSpPr>
        <p:spPr>
          <a:xfrm>
            <a:off x="876692" y="2060620"/>
            <a:ext cx="6019945" cy="3920688"/>
          </a:xfrm>
        </p:spPr>
        <p:txBody>
          <a:bodyPr anchor="t">
            <a:normAutofit fontScale="92500" lnSpcReduction="10000"/>
          </a:bodyPr>
          <a:lstStyle/>
          <a:p>
            <a:r>
              <a:rPr lang="en-US" sz="1600">
                <a:solidFill>
                  <a:schemeClr val="accent4"/>
                </a:solidFill>
              </a:rPr>
              <a:t>For this dataset, Naive Bayes performs better because of greater accuracy of 69.33% as opposed to 62.00% for KNN .</a:t>
            </a:r>
          </a:p>
          <a:p>
            <a:r>
              <a:rPr lang="en-US" sz="1600">
                <a:solidFill>
                  <a:schemeClr val="accent4"/>
                </a:solidFill>
              </a:rPr>
              <a:t>Though the decision boundary is simpler, it is more efficient.</a:t>
            </a:r>
          </a:p>
          <a:p>
            <a:r>
              <a:rPr lang="en-US" sz="1600">
                <a:solidFill>
                  <a:schemeClr val="accent4"/>
                </a:solidFill>
              </a:rPr>
              <a:t>Improved generality in spite of cautious forecasts.</a:t>
            </a:r>
          </a:p>
          <a:p>
            <a:r>
              <a:rPr lang="en-US" sz="1600">
                <a:solidFill>
                  <a:schemeClr val="accent4"/>
                </a:solidFill>
              </a:rPr>
              <a:t>However, crucial factors should take into </a:t>
            </a:r>
            <a:r>
              <a:rPr lang="en-US" sz="1600" err="1">
                <a:solidFill>
                  <a:schemeClr val="accent4"/>
                </a:solidFill>
              </a:rPr>
              <a:t>account:The</a:t>
            </a:r>
            <a:r>
              <a:rPr lang="en-US" sz="1600">
                <a:solidFill>
                  <a:schemeClr val="accent4"/>
                </a:solidFill>
              </a:rPr>
              <a:t> accuracy of both is moderate (less than 70%).</a:t>
            </a:r>
          </a:p>
          <a:p>
            <a:r>
              <a:rPr lang="en-US" sz="1600">
                <a:solidFill>
                  <a:schemeClr val="accent4"/>
                </a:solidFill>
              </a:rPr>
              <a:t>Results could be enhanced by using different algorithms or feature engineering.</a:t>
            </a:r>
          </a:p>
          <a:p>
            <a:r>
              <a:rPr lang="en-US" sz="1600">
                <a:solidFill>
                  <a:schemeClr val="accent4"/>
                </a:solidFill>
              </a:rPr>
              <a:t>Whether reducing false positives or false negatives is more crucial for the particular application may determine the final model selection.</a:t>
            </a:r>
          </a:p>
          <a:p>
            <a:pPr marL="0" indent="0">
              <a:buNone/>
            </a:pPr>
            <a:endParaRPr lang="en-US" sz="1100"/>
          </a:p>
          <a:p>
            <a:pPr marL="0" indent="0">
              <a:buNone/>
            </a:pPr>
            <a:r>
              <a:rPr lang="en-US" sz="1100"/>
              <a:t> </a:t>
            </a:r>
            <a:r>
              <a:rPr lang="en-US" sz="2000">
                <a:solidFill>
                  <a:schemeClr val="accent1">
                    <a:lumMod val="20000"/>
                    <a:lumOff val="80000"/>
                  </a:schemeClr>
                </a:solidFill>
              </a:rPr>
              <a:t>CONCLUSION:-</a:t>
            </a:r>
          </a:p>
          <a:p>
            <a:pPr marL="0" indent="0">
              <a:buNone/>
            </a:pPr>
            <a:r>
              <a:rPr lang="en-US" sz="1100"/>
              <a:t> </a:t>
            </a:r>
            <a:r>
              <a:rPr lang="en-US" sz="1500">
                <a:solidFill>
                  <a:srgbClr val="00B0F0"/>
                </a:solidFill>
              </a:rPr>
              <a:t>Based on accuracy, Naive Bayes is the superior option in this case; however, total model performance might be enhanced.</a:t>
            </a:r>
            <a:endParaRPr lang="en-US" sz="1100">
              <a:solidFill>
                <a:srgbClr val="00B0F0"/>
              </a:solidFill>
            </a:endParaRPr>
          </a:p>
        </p:txBody>
      </p:sp>
      <p:pic>
        <p:nvPicPr>
          <p:cNvPr id="5" name="Picture 4" descr="Desk with productivity items">
            <a:extLst>
              <a:ext uri="{FF2B5EF4-FFF2-40B4-BE49-F238E27FC236}">
                <a16:creationId xmlns:a16="http://schemas.microsoft.com/office/drawing/2014/main" id="{8017F403-5F1A-22DF-AA52-E6769F833399}"/>
              </a:ext>
            </a:extLst>
          </p:cNvPr>
          <p:cNvPicPr>
            <a:picLocks noChangeAspect="1"/>
          </p:cNvPicPr>
          <p:nvPr/>
        </p:nvPicPr>
        <p:blipFill>
          <a:blip r:embed="rId2"/>
          <a:srcRect l="27992" r="12742" b="-1"/>
          <a:stretch/>
        </p:blipFill>
        <p:spPr>
          <a:xfrm>
            <a:off x="7038304" y="867064"/>
            <a:ext cx="3958565" cy="5048790"/>
          </a:xfrm>
          <a:prstGeom prst="rect">
            <a:avLst/>
          </a:prstGeom>
        </p:spPr>
      </p:pic>
      <p:grpSp>
        <p:nvGrpSpPr>
          <p:cNvPr id="18" name="Group 17">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9" name="Rectangle 18">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8829401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7C95EA-A4AA-B957-A1F2-8F764D9BA88F}"/>
              </a:ext>
            </a:extLst>
          </p:cNvPr>
          <p:cNvSpPr>
            <a:spLocks noGrp="1"/>
          </p:cNvSpPr>
          <p:nvPr>
            <p:ph type="title"/>
          </p:nvPr>
        </p:nvSpPr>
        <p:spPr>
          <a:xfrm>
            <a:off x="635000" y="640823"/>
            <a:ext cx="3418659" cy="5583148"/>
          </a:xfrm>
        </p:spPr>
        <p:txBody>
          <a:bodyPr anchor="ctr">
            <a:normAutofit/>
          </a:bodyPr>
          <a:lstStyle/>
          <a:p>
            <a:r>
              <a:rPr lang="en-US" sz="5400" b="0" i="0">
                <a:effectLst/>
                <a:latin typeface="Arial" panose="020B0604020202020204" pitchFamily="34" charset="0"/>
              </a:rPr>
              <a:t>Step 5: SVM</a:t>
            </a:r>
            <a:endParaRPr lang="en-US" sz="5400"/>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0EA911D1-69CE-1BC4-89CF-9D9F9F48F63A}"/>
              </a:ext>
            </a:extLst>
          </p:cNvPr>
          <p:cNvGraphicFramePr>
            <a:graphicFrameLocks noGrp="1"/>
          </p:cNvGraphicFramePr>
          <p:nvPr>
            <p:ph idx="1"/>
            <p:extLst>
              <p:ext uri="{D42A27DB-BD31-4B8C-83A1-F6EECF244321}">
                <p14:modId xmlns:p14="http://schemas.microsoft.com/office/powerpoint/2010/main" val="2746643250"/>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730956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BCC81228-CEA3-402B-B8E5-688F5BFA7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8" name="Arc 47">
            <a:extLst>
              <a:ext uri="{FF2B5EF4-FFF2-40B4-BE49-F238E27FC236}">
                <a16:creationId xmlns:a16="http://schemas.microsoft.com/office/drawing/2014/main" id="{BC0916B8-FF7A-4ECB-9FD7-C7668658D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011959" flipH="1">
            <a:off x="548353" y="314719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D8ACDBB-D428-F640-A345-5EC2552748D7}"/>
              </a:ext>
            </a:extLst>
          </p:cNvPr>
          <p:cNvSpPr>
            <a:spLocks noGrp="1"/>
          </p:cNvSpPr>
          <p:nvPr>
            <p:ph type="title"/>
          </p:nvPr>
        </p:nvSpPr>
        <p:spPr>
          <a:xfrm>
            <a:off x="874815" y="2322864"/>
            <a:ext cx="5491090" cy="2387600"/>
          </a:xfrm>
        </p:spPr>
        <p:txBody>
          <a:bodyPr vert="horz" lIns="91440" tIns="45720" rIns="91440" bIns="45720" rtlCol="0" anchor="b">
            <a:normAutofit/>
          </a:bodyPr>
          <a:lstStyle/>
          <a:p>
            <a:r>
              <a:rPr lang="en-US" sz="6000" kern="1200">
                <a:solidFill>
                  <a:schemeClr val="tx1"/>
                </a:solidFill>
                <a:latin typeface="+mj-lt"/>
                <a:ea typeface="+mj-ea"/>
                <a:cs typeface="+mj-cs"/>
              </a:rPr>
              <a:t>Codes</a:t>
            </a:r>
          </a:p>
        </p:txBody>
      </p:sp>
      <p:pic>
        <p:nvPicPr>
          <p:cNvPr id="5" name="Content Placeholder 4" descr="A screenshot of a computer&#10;&#10;Description automatically generated">
            <a:extLst>
              <a:ext uri="{FF2B5EF4-FFF2-40B4-BE49-F238E27FC236}">
                <a16:creationId xmlns:a16="http://schemas.microsoft.com/office/drawing/2014/main" id="{04F9C6E1-86D9-7C5B-BA6C-7B1160D4A6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4394" y="654567"/>
            <a:ext cx="8502621" cy="5896358"/>
          </a:xfrm>
          <a:custGeom>
            <a:avLst/>
            <a:gdLst/>
            <a:ahLst/>
            <a:cxnLst/>
            <a:rect l="l" t="t" r="r" b="b"/>
            <a:pathLst>
              <a:path w="4579832" h="5347063">
                <a:moveTo>
                  <a:pt x="106985" y="0"/>
                </a:moveTo>
                <a:lnTo>
                  <a:pt x="4472847" y="0"/>
                </a:lnTo>
                <a:cubicBezTo>
                  <a:pt x="4531933" y="0"/>
                  <a:pt x="4579832" y="47899"/>
                  <a:pt x="4579832" y="106985"/>
                </a:cubicBezTo>
                <a:lnTo>
                  <a:pt x="4579832" y="5240078"/>
                </a:lnTo>
                <a:cubicBezTo>
                  <a:pt x="4579832" y="5299164"/>
                  <a:pt x="4531933" y="5347063"/>
                  <a:pt x="4472847" y="5347063"/>
                </a:cubicBezTo>
                <a:lnTo>
                  <a:pt x="106985" y="5347063"/>
                </a:lnTo>
                <a:cubicBezTo>
                  <a:pt x="47899" y="5347063"/>
                  <a:pt x="0" y="5299164"/>
                  <a:pt x="0" y="5240078"/>
                </a:cubicBezTo>
                <a:lnTo>
                  <a:pt x="0" y="106985"/>
                </a:lnTo>
                <a:cubicBezTo>
                  <a:pt x="0" y="47899"/>
                  <a:pt x="47899" y="0"/>
                  <a:pt x="106985" y="0"/>
                </a:cubicBezTo>
                <a:close/>
              </a:path>
            </a:pathLst>
          </a:custGeom>
        </p:spPr>
      </p:pic>
      <p:sp>
        <p:nvSpPr>
          <p:cNvPr id="50" name="Rectangle 49">
            <a:extLst>
              <a:ext uri="{FF2B5EF4-FFF2-40B4-BE49-F238E27FC236}">
                <a16:creationId xmlns:a16="http://schemas.microsoft.com/office/drawing/2014/main" id="{9DC011D4-C95F-4B2E-9A3C-A46DCDE956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38584" y="447363"/>
            <a:ext cx="734141" cy="734141"/>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242701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0BDF11-7C61-5D1F-620E-815DE9BB2E43}"/>
              </a:ext>
            </a:extLst>
          </p:cNvPr>
          <p:cNvSpPr>
            <a:spLocks noGrp="1"/>
          </p:cNvSpPr>
          <p:nvPr>
            <p:ph type="title"/>
          </p:nvPr>
        </p:nvSpPr>
        <p:spPr>
          <a:xfrm>
            <a:off x="1524000" y="1293338"/>
            <a:ext cx="9144000" cy="3274592"/>
          </a:xfrm>
        </p:spPr>
        <p:txBody>
          <a:bodyPr vert="horz" lIns="91440" tIns="45720" rIns="91440" bIns="45720" rtlCol="0" anchor="ctr">
            <a:normAutofit/>
          </a:bodyPr>
          <a:lstStyle/>
          <a:p>
            <a:pPr algn="ctr"/>
            <a:r>
              <a:rPr lang="en-US" sz="7200">
                <a:solidFill>
                  <a:srgbClr val="FFC000"/>
                </a:solidFill>
              </a:rPr>
              <a:t>GRAPHS</a:t>
            </a:r>
            <a:endParaRPr lang="en-US" sz="7200" kern="1200">
              <a:solidFill>
                <a:srgbClr val="FFC000"/>
              </a:solidFill>
              <a:latin typeface="+mj-lt"/>
              <a:ea typeface="+mj-ea"/>
              <a:cs typeface="+mj-cs"/>
            </a:endParaRPr>
          </a:p>
        </p:txBody>
      </p:sp>
      <p:cxnSp>
        <p:nvCxnSpPr>
          <p:cNvPr id="13" name="Straight Connector 12">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15366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79" name="Rectangle 2078">
            <a:extLst>
              <a:ext uri="{FF2B5EF4-FFF2-40B4-BE49-F238E27FC236}">
                <a16:creationId xmlns:a16="http://schemas.microsoft.com/office/drawing/2014/main" id="{2D2B266D-3625-4584-A5C3-7D3F672CF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1" name="Rectangle 2080">
            <a:extLst>
              <a:ext uri="{FF2B5EF4-FFF2-40B4-BE49-F238E27FC236}">
                <a16:creationId xmlns:a16="http://schemas.microsoft.com/office/drawing/2014/main" id="{C463B99A-73EE-4FBB-B7C4-F9F9BCC25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3" name="Freeform: Shape 2082">
            <a:extLst>
              <a:ext uri="{FF2B5EF4-FFF2-40B4-BE49-F238E27FC236}">
                <a16:creationId xmlns:a16="http://schemas.microsoft.com/office/drawing/2014/main" id="{A5D2A5D1-BA0D-47D3-B051-DA7743C46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219825"/>
          </a:xfrm>
          <a:custGeom>
            <a:avLst/>
            <a:gdLst>
              <a:gd name="connsiteX0" fmla="*/ 6789701 w 12192000"/>
              <a:gd name="connsiteY0" fmla="*/ 6151588 h 6219825"/>
              <a:gd name="connsiteX1" fmla="*/ 6788702 w 12192000"/>
              <a:gd name="connsiteY1" fmla="*/ 6151666 h 6219825"/>
              <a:gd name="connsiteX2" fmla="*/ 6788476 w 12192000"/>
              <a:gd name="connsiteY2" fmla="*/ 6152200 h 6219825"/>
              <a:gd name="connsiteX3" fmla="*/ 9834 w 12192000"/>
              <a:gd name="connsiteY3" fmla="*/ 0 h 6219825"/>
              <a:gd name="connsiteX4" fmla="*/ 12357 w 12192000"/>
              <a:gd name="connsiteY4" fmla="*/ 1 h 6219825"/>
              <a:gd name="connsiteX5" fmla="*/ 12192000 w 12192000"/>
              <a:gd name="connsiteY5" fmla="*/ 1 h 6219825"/>
              <a:gd name="connsiteX6" fmla="*/ 12192000 w 12192000"/>
              <a:gd name="connsiteY6" fmla="*/ 5105401 h 6219825"/>
              <a:gd name="connsiteX7" fmla="*/ 12191716 w 12192000"/>
              <a:gd name="connsiteY7" fmla="*/ 5105401 h 6219825"/>
              <a:gd name="connsiteX8" fmla="*/ 12192000 w 12192000"/>
              <a:gd name="connsiteY8" fmla="*/ 5256977 h 6219825"/>
              <a:gd name="connsiteX9" fmla="*/ 12061096 w 12192000"/>
              <a:gd name="connsiteY9" fmla="*/ 5296034 h 6219825"/>
              <a:gd name="connsiteX10" fmla="*/ 11676800 w 12192000"/>
              <a:gd name="connsiteY10" fmla="*/ 5399652 h 6219825"/>
              <a:gd name="connsiteX11" fmla="*/ 10425355 w 12192000"/>
              <a:gd name="connsiteY11" fmla="*/ 5683310 h 6219825"/>
              <a:gd name="connsiteX12" fmla="*/ 9424022 w 12192000"/>
              <a:gd name="connsiteY12" fmla="*/ 5858546 h 6219825"/>
              <a:gd name="connsiteX13" fmla="*/ 8458419 w 12192000"/>
              <a:gd name="connsiteY13" fmla="*/ 5992303 h 6219825"/>
              <a:gd name="connsiteX14" fmla="*/ 7715970 w 12192000"/>
              <a:gd name="connsiteY14" fmla="*/ 6072283 h 6219825"/>
              <a:gd name="connsiteX15" fmla="*/ 6951716 w 12192000"/>
              <a:gd name="connsiteY15" fmla="*/ 6138091 h 6219825"/>
              <a:gd name="connsiteX16" fmla="*/ 6936303 w 12192000"/>
              <a:gd name="connsiteY16" fmla="*/ 6140163 h 6219825"/>
              <a:gd name="connsiteX17" fmla="*/ 6790448 w 12192000"/>
              <a:gd name="connsiteY17" fmla="*/ 6151529 h 6219825"/>
              <a:gd name="connsiteX18" fmla="*/ 6799941 w 12192000"/>
              <a:gd name="connsiteY18" fmla="*/ 6153349 h 6219825"/>
              <a:gd name="connsiteX19" fmla="*/ 6835432 w 12192000"/>
              <a:gd name="connsiteY19" fmla="*/ 6151642 h 6219825"/>
              <a:gd name="connsiteX20" fmla="*/ 6884003 w 12192000"/>
              <a:gd name="connsiteY20" fmla="*/ 6148662 h 6219825"/>
              <a:gd name="connsiteX21" fmla="*/ 7578771 w 12192000"/>
              <a:gd name="connsiteY21" fmla="*/ 6116122 h 6219825"/>
              <a:gd name="connsiteX22" fmla="*/ 8623845 w 12192000"/>
              <a:gd name="connsiteY22" fmla="*/ 6029188 h 6219825"/>
              <a:gd name="connsiteX23" fmla="*/ 9479970 w 12192000"/>
              <a:gd name="connsiteY23" fmla="*/ 5925239 h 6219825"/>
              <a:gd name="connsiteX24" fmla="*/ 10629308 w 12192000"/>
              <a:gd name="connsiteY24" fmla="*/ 5731000 h 6219825"/>
              <a:gd name="connsiteX25" fmla="*/ 11998498 w 12192000"/>
              <a:gd name="connsiteY25" fmla="*/ 5404869 h 6219825"/>
              <a:gd name="connsiteX26" fmla="*/ 12192000 w 12192000"/>
              <a:gd name="connsiteY26" fmla="*/ 5347846 h 6219825"/>
              <a:gd name="connsiteX27" fmla="*/ 12192000 w 12192000"/>
              <a:gd name="connsiteY27" fmla="*/ 5402606 h 6219825"/>
              <a:gd name="connsiteX28" fmla="*/ 11829257 w 12192000"/>
              <a:gd name="connsiteY28" fmla="*/ 5507950 h 6219825"/>
              <a:gd name="connsiteX29" fmla="*/ 10939183 w 12192000"/>
              <a:gd name="connsiteY29" fmla="*/ 5722555 h 6219825"/>
              <a:gd name="connsiteX30" fmla="*/ 9985530 w 12192000"/>
              <a:gd name="connsiteY30" fmla="*/ 5902635 h 6219825"/>
              <a:gd name="connsiteX31" fmla="*/ 9186882 w 12192000"/>
              <a:gd name="connsiteY31" fmla="*/ 6018631 h 6219825"/>
              <a:gd name="connsiteX32" fmla="*/ 8578198 w 12192000"/>
              <a:gd name="connsiteY32" fmla="*/ 6088179 h 6219825"/>
              <a:gd name="connsiteX33" fmla="*/ 7864358 w 12192000"/>
              <a:gd name="connsiteY33" fmla="*/ 6149656 h 6219825"/>
              <a:gd name="connsiteX34" fmla="*/ 6935502 w 12192000"/>
              <a:gd name="connsiteY34" fmla="*/ 6201071 h 6219825"/>
              <a:gd name="connsiteX35" fmla="*/ 6477750 w 12192000"/>
              <a:gd name="connsiteY35" fmla="*/ 6214980 h 6219825"/>
              <a:gd name="connsiteX36" fmla="*/ 6362294 w 12192000"/>
              <a:gd name="connsiteY36" fmla="*/ 6219825 h 6219825"/>
              <a:gd name="connsiteX37" fmla="*/ 6057129 w 12192000"/>
              <a:gd name="connsiteY37" fmla="*/ 6219825 h 6219825"/>
              <a:gd name="connsiteX38" fmla="*/ 5977784 w 12192000"/>
              <a:gd name="connsiteY38" fmla="*/ 6215229 h 6219825"/>
              <a:gd name="connsiteX39" fmla="*/ 5265087 w 12192000"/>
              <a:gd name="connsiteY39" fmla="*/ 6178965 h 6219825"/>
              <a:gd name="connsiteX40" fmla="*/ 4346277 w 12192000"/>
              <a:gd name="connsiteY40" fmla="*/ 6116869 h 6219825"/>
              <a:gd name="connsiteX41" fmla="*/ 3373045 w 12192000"/>
              <a:gd name="connsiteY41" fmla="*/ 6018259 h 6219825"/>
              <a:gd name="connsiteX42" fmla="*/ 2362173 w 12192000"/>
              <a:gd name="connsiteY42" fmla="*/ 5899282 h 6219825"/>
              <a:gd name="connsiteX43" fmla="*/ 1233178 w 12192000"/>
              <a:gd name="connsiteY43" fmla="*/ 5726033 h 6219825"/>
              <a:gd name="connsiteX44" fmla="*/ 68500 w 12192000"/>
              <a:gd name="connsiteY44" fmla="*/ 5486226 h 6219825"/>
              <a:gd name="connsiteX45" fmla="*/ 0 w 12192000"/>
              <a:gd name="connsiteY45" fmla="*/ 5468863 h 6219825"/>
              <a:gd name="connsiteX46" fmla="*/ 0 w 12192000"/>
              <a:gd name="connsiteY46" fmla="*/ 5412351 h 6219825"/>
              <a:gd name="connsiteX47" fmla="*/ 72441 w 12192000"/>
              <a:gd name="connsiteY47" fmla="*/ 5431135 h 6219825"/>
              <a:gd name="connsiteX48" fmla="*/ 600716 w 12192000"/>
              <a:gd name="connsiteY48" fmla="*/ 5549555 h 6219825"/>
              <a:gd name="connsiteX49" fmla="*/ 1769512 w 12192000"/>
              <a:gd name="connsiteY49" fmla="*/ 5759811 h 6219825"/>
              <a:gd name="connsiteX50" fmla="*/ 2613554 w 12192000"/>
              <a:gd name="connsiteY50" fmla="*/ 5876802 h 6219825"/>
              <a:gd name="connsiteX51" fmla="*/ 2581134 w 12192000"/>
              <a:gd name="connsiteY51" fmla="*/ 5866867 h 6219825"/>
              <a:gd name="connsiteX52" fmla="*/ 1112635 w 12192000"/>
              <a:gd name="connsiteY52" fmla="*/ 5534031 h 6219825"/>
              <a:gd name="connsiteX53" fmla="*/ 420412 w 12192000"/>
              <a:gd name="connsiteY53" fmla="*/ 5334514 h 6219825"/>
              <a:gd name="connsiteX54" fmla="*/ 0 w 12192000"/>
              <a:gd name="connsiteY54" fmla="*/ 5195539 h 6219825"/>
              <a:gd name="connsiteX55" fmla="*/ 60 w 12192000"/>
              <a:gd name="connsiteY55" fmla="*/ 5105401 h 6219825"/>
              <a:gd name="connsiteX56" fmla="*/ 0 w 12192000"/>
              <a:gd name="connsiteY56" fmla="*/ 5105401 h 6219825"/>
              <a:gd name="connsiteX57" fmla="*/ 0 w 12192000"/>
              <a:gd name="connsiteY57" fmla="*/ 1 h 6219825"/>
              <a:gd name="connsiteX58" fmla="*/ 9834 w 12192000"/>
              <a:gd name="connsiteY58" fmla="*/ 1 h 621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2192000" h="6219825">
                <a:moveTo>
                  <a:pt x="6789701" y="6151588"/>
                </a:moveTo>
                <a:lnTo>
                  <a:pt x="6788702" y="6151666"/>
                </a:lnTo>
                <a:cubicBezTo>
                  <a:pt x="6788627" y="6151844"/>
                  <a:pt x="6788551" y="6152022"/>
                  <a:pt x="6788476" y="6152200"/>
                </a:cubicBezTo>
                <a:close/>
                <a:moveTo>
                  <a:pt x="9834" y="0"/>
                </a:moveTo>
                <a:lnTo>
                  <a:pt x="12357" y="1"/>
                </a:lnTo>
                <a:lnTo>
                  <a:pt x="12192000" y="1"/>
                </a:lnTo>
                <a:lnTo>
                  <a:pt x="12192000" y="5105401"/>
                </a:lnTo>
                <a:lnTo>
                  <a:pt x="12191716" y="5105401"/>
                </a:lnTo>
                <a:lnTo>
                  <a:pt x="12192000" y="5256977"/>
                </a:lnTo>
                <a:lnTo>
                  <a:pt x="12061096" y="5296034"/>
                </a:lnTo>
                <a:cubicBezTo>
                  <a:pt x="11933500" y="5332263"/>
                  <a:pt x="11805390" y="5366806"/>
                  <a:pt x="11676800" y="5399652"/>
                </a:cubicBezTo>
                <a:cubicBezTo>
                  <a:pt x="11262789" y="5507204"/>
                  <a:pt x="10845343" y="5600846"/>
                  <a:pt x="10425355" y="5683310"/>
                </a:cubicBezTo>
                <a:cubicBezTo>
                  <a:pt x="10092810" y="5748549"/>
                  <a:pt x="9759033" y="5806970"/>
                  <a:pt x="9424022" y="5858546"/>
                </a:cubicBezTo>
                <a:cubicBezTo>
                  <a:pt x="9102997" y="5908224"/>
                  <a:pt x="8781133" y="5952809"/>
                  <a:pt x="8458419" y="5992303"/>
                </a:cubicBezTo>
                <a:cubicBezTo>
                  <a:pt x="8211360" y="6022481"/>
                  <a:pt x="7963792" y="6048065"/>
                  <a:pt x="7715970" y="6072283"/>
                </a:cubicBezTo>
                <a:lnTo>
                  <a:pt x="6951716" y="6138091"/>
                </a:lnTo>
                <a:lnTo>
                  <a:pt x="6936303" y="6140163"/>
                </a:lnTo>
                <a:lnTo>
                  <a:pt x="6790448" y="6151529"/>
                </a:lnTo>
                <a:lnTo>
                  <a:pt x="6799941" y="6153349"/>
                </a:lnTo>
                <a:cubicBezTo>
                  <a:pt x="6811623" y="6153816"/>
                  <a:pt x="6823734" y="6151642"/>
                  <a:pt x="6835432" y="6151642"/>
                </a:cubicBezTo>
                <a:cubicBezTo>
                  <a:pt x="6851580" y="6151642"/>
                  <a:pt x="6867729" y="6149034"/>
                  <a:pt x="6884003" y="6148662"/>
                </a:cubicBezTo>
                <a:cubicBezTo>
                  <a:pt x="7115805" y="6143198"/>
                  <a:pt x="7347351" y="6131026"/>
                  <a:pt x="7578771" y="6116122"/>
                </a:cubicBezTo>
                <a:cubicBezTo>
                  <a:pt x="7927552" y="6093644"/>
                  <a:pt x="8276080" y="6065453"/>
                  <a:pt x="8623845" y="6029188"/>
                </a:cubicBezTo>
                <a:cubicBezTo>
                  <a:pt x="8909939" y="5999878"/>
                  <a:pt x="9195310" y="5965228"/>
                  <a:pt x="9479970" y="5925239"/>
                </a:cubicBezTo>
                <a:cubicBezTo>
                  <a:pt x="9864901" y="5870842"/>
                  <a:pt x="10248014" y="5806101"/>
                  <a:pt x="10629308" y="5731000"/>
                </a:cubicBezTo>
                <a:cubicBezTo>
                  <a:pt x="11090114" y="5639842"/>
                  <a:pt x="11546975" y="5532291"/>
                  <a:pt x="11998498" y="5404869"/>
                </a:cubicBezTo>
                <a:lnTo>
                  <a:pt x="12192000" y="5347846"/>
                </a:lnTo>
                <a:lnTo>
                  <a:pt x="12192000" y="5402606"/>
                </a:lnTo>
                <a:lnTo>
                  <a:pt x="11829257" y="5507950"/>
                </a:lnTo>
                <a:cubicBezTo>
                  <a:pt x="11534769" y="5587680"/>
                  <a:pt x="11238120" y="5658596"/>
                  <a:pt x="10939183" y="5722555"/>
                </a:cubicBezTo>
                <a:cubicBezTo>
                  <a:pt x="10622824" y="5790365"/>
                  <a:pt x="10304941" y="5850387"/>
                  <a:pt x="9985530" y="5902635"/>
                </a:cubicBezTo>
                <a:cubicBezTo>
                  <a:pt x="9720036" y="5946102"/>
                  <a:pt x="9453814" y="5984764"/>
                  <a:pt x="9186882" y="6018631"/>
                </a:cubicBezTo>
                <a:cubicBezTo>
                  <a:pt x="8984197" y="6044216"/>
                  <a:pt x="8781514" y="6068309"/>
                  <a:pt x="8578198" y="6088179"/>
                </a:cubicBezTo>
                <a:lnTo>
                  <a:pt x="7864358" y="6149656"/>
                </a:lnTo>
                <a:cubicBezTo>
                  <a:pt x="7554994" y="6172009"/>
                  <a:pt x="7245502" y="6189895"/>
                  <a:pt x="6935502" y="6201071"/>
                </a:cubicBezTo>
                <a:lnTo>
                  <a:pt x="6477750" y="6214980"/>
                </a:lnTo>
                <a:cubicBezTo>
                  <a:pt x="6439195" y="6212895"/>
                  <a:pt x="6400529" y="6214521"/>
                  <a:pt x="6362294" y="6219825"/>
                </a:cubicBezTo>
                <a:lnTo>
                  <a:pt x="6057129" y="6219825"/>
                </a:lnTo>
                <a:lnTo>
                  <a:pt x="5977784" y="6215229"/>
                </a:lnTo>
                <a:lnTo>
                  <a:pt x="5265087" y="6178965"/>
                </a:lnTo>
                <a:cubicBezTo>
                  <a:pt x="4958267" y="6166544"/>
                  <a:pt x="4651826" y="6146055"/>
                  <a:pt x="4346277" y="6116869"/>
                </a:cubicBezTo>
                <a:lnTo>
                  <a:pt x="3373045" y="6018259"/>
                </a:lnTo>
                <a:cubicBezTo>
                  <a:pt x="3035412" y="5983982"/>
                  <a:pt x="2698456" y="5944327"/>
                  <a:pt x="2362173" y="5899282"/>
                </a:cubicBezTo>
                <a:cubicBezTo>
                  <a:pt x="1984692" y="5849108"/>
                  <a:pt x="1608364" y="5791358"/>
                  <a:pt x="1233178" y="5726033"/>
                </a:cubicBezTo>
                <a:cubicBezTo>
                  <a:pt x="842181" y="5657291"/>
                  <a:pt x="453758" y="5578770"/>
                  <a:pt x="68500" y="5486226"/>
                </a:cubicBezTo>
                <a:lnTo>
                  <a:pt x="0" y="5468863"/>
                </a:lnTo>
                <a:lnTo>
                  <a:pt x="0" y="5412351"/>
                </a:lnTo>
                <a:lnTo>
                  <a:pt x="72441" y="5431135"/>
                </a:lnTo>
                <a:cubicBezTo>
                  <a:pt x="247961" y="5473331"/>
                  <a:pt x="424164" y="5512608"/>
                  <a:pt x="600716" y="5549555"/>
                </a:cubicBezTo>
                <a:cubicBezTo>
                  <a:pt x="988279" y="5630403"/>
                  <a:pt x="1378133" y="5699330"/>
                  <a:pt x="1769512" y="5759811"/>
                </a:cubicBezTo>
                <a:cubicBezTo>
                  <a:pt x="2052426" y="5803406"/>
                  <a:pt x="2335725" y="5843519"/>
                  <a:pt x="2613554" y="5876802"/>
                </a:cubicBezTo>
                <a:cubicBezTo>
                  <a:pt x="2605544" y="5879410"/>
                  <a:pt x="2594611" y="5869350"/>
                  <a:pt x="2581134" y="5866867"/>
                </a:cubicBezTo>
                <a:cubicBezTo>
                  <a:pt x="2087178" y="5774877"/>
                  <a:pt x="1597684" y="5663937"/>
                  <a:pt x="1112635" y="5534031"/>
                </a:cubicBezTo>
                <a:cubicBezTo>
                  <a:pt x="880453" y="5471934"/>
                  <a:pt x="649713" y="5405428"/>
                  <a:pt x="420412" y="5334514"/>
                </a:cubicBezTo>
                <a:lnTo>
                  <a:pt x="0" y="5195539"/>
                </a:lnTo>
                <a:lnTo>
                  <a:pt x="60" y="5105401"/>
                </a:lnTo>
                <a:lnTo>
                  <a:pt x="0" y="5105401"/>
                </a:lnTo>
                <a:lnTo>
                  <a:pt x="0" y="1"/>
                </a:lnTo>
                <a:lnTo>
                  <a:pt x="9834" y="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050" name="Picture 2">
            <a:extLst>
              <a:ext uri="{FF2B5EF4-FFF2-40B4-BE49-F238E27FC236}">
                <a16:creationId xmlns:a16="http://schemas.microsoft.com/office/drawing/2014/main" id="{D0AE7B79-2B68-1348-6930-A67667B0F9E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589964" y="228600"/>
            <a:ext cx="9164471" cy="5482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23368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545D489D-16E1-484D-867B-144368D74B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49A496F5-B01E-4BF8-9D1E-C4E53B6F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2257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Arc 40">
            <a:extLst>
              <a:ext uri="{FF2B5EF4-FFF2-40B4-BE49-F238E27FC236}">
                <a16:creationId xmlns:a16="http://schemas.microsoft.com/office/drawing/2014/main" id="{6E895C8D-1379-40B8-8B1B-B6F5AEAF0A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2906963" y="1348064"/>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DF63B01-7577-C914-7B86-408E99341423}"/>
              </a:ext>
            </a:extLst>
          </p:cNvPr>
          <p:cNvSpPr>
            <a:spLocks noGrp="1"/>
          </p:cNvSpPr>
          <p:nvPr>
            <p:ph type="title"/>
          </p:nvPr>
        </p:nvSpPr>
        <p:spPr>
          <a:xfrm>
            <a:off x="838200" y="643467"/>
            <a:ext cx="2951205" cy="5571066"/>
          </a:xfrm>
        </p:spPr>
        <p:txBody>
          <a:bodyPr>
            <a:normAutofit/>
          </a:bodyPr>
          <a:lstStyle/>
          <a:p>
            <a:r>
              <a:rPr lang="en-US" sz="4100">
                <a:solidFill>
                  <a:srgbClr val="FFFFFF"/>
                </a:solidFill>
              </a:rPr>
              <a:t>ACCURACIES</a:t>
            </a:r>
          </a:p>
        </p:txBody>
      </p:sp>
      <p:graphicFrame>
        <p:nvGraphicFramePr>
          <p:cNvPr id="23" name="Rectangle 1">
            <a:extLst>
              <a:ext uri="{FF2B5EF4-FFF2-40B4-BE49-F238E27FC236}">
                <a16:creationId xmlns:a16="http://schemas.microsoft.com/office/drawing/2014/main" id="{3B3A6B1A-9CD1-DA12-B075-2797D7D10CB9}"/>
              </a:ext>
            </a:extLst>
          </p:cNvPr>
          <p:cNvGraphicFramePr>
            <a:graphicFrameLocks noGrp="1"/>
          </p:cNvGraphicFramePr>
          <p:nvPr>
            <p:ph idx="1"/>
            <p:extLst>
              <p:ext uri="{D42A27DB-BD31-4B8C-83A1-F6EECF244321}">
                <p14:modId xmlns:p14="http://schemas.microsoft.com/office/powerpoint/2010/main" val="700361248"/>
              </p:ext>
            </p:extLst>
          </p:nvPr>
        </p:nvGraphicFramePr>
        <p:xfrm>
          <a:off x="5237018" y="653693"/>
          <a:ext cx="6303729" cy="55608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753771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361DC183-07AE-409A-AB63-34A0C77B60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90464369-70FA-42AF-948F-80664CA7B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146816"/>
          </a:xfrm>
          <a:prstGeom prst="rect">
            <a:avLst/>
          </a:prstGeom>
          <a:solidFill>
            <a:schemeClr val="bg1">
              <a:lumMod val="8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14E9D2-3704-B017-0F12-C490B4918271}"/>
              </a:ext>
            </a:extLst>
          </p:cNvPr>
          <p:cNvSpPr>
            <a:spLocks noGrp="1"/>
          </p:cNvSpPr>
          <p:nvPr>
            <p:ph type="title"/>
          </p:nvPr>
        </p:nvSpPr>
        <p:spPr>
          <a:xfrm>
            <a:off x="581646" y="349664"/>
            <a:ext cx="5845571" cy="1638377"/>
          </a:xfrm>
        </p:spPr>
        <p:txBody>
          <a:bodyPr anchor="b">
            <a:normAutofit/>
          </a:bodyPr>
          <a:lstStyle/>
          <a:p>
            <a:r>
              <a:rPr lang="en-US" sz="4800" dirty="0"/>
              <a:t>INTERPRETATION OF RESULTS</a:t>
            </a:r>
          </a:p>
        </p:txBody>
      </p:sp>
      <p:sp>
        <p:nvSpPr>
          <p:cNvPr id="43" name="Content Placeholder 2">
            <a:extLst>
              <a:ext uri="{FF2B5EF4-FFF2-40B4-BE49-F238E27FC236}">
                <a16:creationId xmlns:a16="http://schemas.microsoft.com/office/drawing/2014/main" id="{6AC9E097-E368-340E-101C-EFF7C48D9AD7}"/>
              </a:ext>
            </a:extLst>
          </p:cNvPr>
          <p:cNvSpPr>
            <a:spLocks noGrp="1"/>
          </p:cNvSpPr>
          <p:nvPr>
            <p:ph idx="1"/>
          </p:nvPr>
        </p:nvSpPr>
        <p:spPr>
          <a:xfrm>
            <a:off x="587988" y="2620641"/>
            <a:ext cx="5837750" cy="3023702"/>
          </a:xfrm>
        </p:spPr>
        <p:txBody>
          <a:bodyPr anchor="ctr">
            <a:normAutofit/>
          </a:bodyPr>
          <a:lstStyle/>
          <a:p>
            <a:r>
              <a:rPr lang="en-US" sz="1400" dirty="0"/>
              <a:t>The RBF kernel achieves the maximum accuracy (80.9%) and has the most accurate classification boundary. This suggests that the data has a complex structure that necessitates a flexible, nonlinear decision boundary.</a:t>
            </a:r>
          </a:p>
          <a:p>
            <a:r>
              <a:rPr lang="en-US" sz="1400" dirty="0"/>
              <a:t>The Sigmoid kernel aims to generate non-linearity but performs poorly owing to </a:t>
            </a:r>
            <a:r>
              <a:rPr lang="en-US" sz="1400" dirty="0" err="1"/>
              <a:t>simplicity.Linear</a:t>
            </a:r>
            <a:r>
              <a:rPr lang="en-US" sz="1400" dirty="0"/>
              <a:t> and polynomial kernels struggle to represent the classes' overlapping nature, resulting in lesser accuracy.</a:t>
            </a:r>
          </a:p>
          <a:p>
            <a:endParaRPr lang="en-US" sz="1400" dirty="0"/>
          </a:p>
          <a:p>
            <a:r>
              <a:rPr lang="en-US" sz="1400" dirty="0"/>
              <a:t>In conclusion, for this dataset, the RBF kernel is the most effective choice among the four since it can describe non-linear patterns and adapt to the underlying data structure.</a:t>
            </a:r>
          </a:p>
        </p:txBody>
      </p:sp>
      <p:sp>
        <p:nvSpPr>
          <p:cNvPr id="52" name="Rectangle 5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669568"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CC552A98-EF7D-4D42-AB69-066B786AB5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447" y="399675"/>
            <a:ext cx="4647368" cy="580993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Graphic 31" descr="Optical disc">
            <a:extLst>
              <a:ext uri="{FF2B5EF4-FFF2-40B4-BE49-F238E27FC236}">
                <a16:creationId xmlns:a16="http://schemas.microsoft.com/office/drawing/2014/main" id="{DED4B825-6B2E-0095-F472-4317F1CEECB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21373" y="1186882"/>
            <a:ext cx="4235516" cy="4235516"/>
          </a:xfrm>
          <a:prstGeom prst="rect">
            <a:avLst/>
          </a:prstGeom>
        </p:spPr>
      </p:pic>
      <p:sp>
        <p:nvSpPr>
          <p:cNvPr id="56" name="Rectangle 55">
            <a:extLst>
              <a:ext uri="{FF2B5EF4-FFF2-40B4-BE49-F238E27FC236}">
                <a16:creationId xmlns:a16="http://schemas.microsoft.com/office/drawing/2014/main" id="{A648176E-454C-437C-B0FC-9B82FCF32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774185"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755311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0E72E-9B0F-2F5F-C8FB-3DE5787BC485}"/>
              </a:ext>
            </a:extLst>
          </p:cNvPr>
          <p:cNvSpPr>
            <a:spLocks noGrp="1"/>
          </p:cNvSpPr>
          <p:nvPr>
            <p:ph type="title"/>
          </p:nvPr>
        </p:nvSpPr>
        <p:spPr>
          <a:xfrm>
            <a:off x="839789" y="457200"/>
            <a:ext cx="3571186" cy="1600200"/>
          </a:xfrm>
        </p:spPr>
        <p:txBody>
          <a:bodyPr>
            <a:normAutofit fontScale="90000"/>
          </a:bodyPr>
          <a:lstStyle/>
          <a:p>
            <a:r>
              <a:rPr lang="en-US" b="0" i="0" dirty="0">
                <a:effectLst/>
                <a:highlight>
                  <a:srgbClr val="800080"/>
                </a:highlight>
                <a:latin typeface="Arial" panose="020B0604020202020204" pitchFamily="34" charset="0"/>
              </a:rPr>
              <a:t>Step 6:</a:t>
            </a:r>
            <a:br>
              <a:rPr lang="en-US" b="0" i="0" dirty="0">
                <a:effectLst/>
                <a:latin typeface="Arial" panose="020B0604020202020204" pitchFamily="34" charset="0"/>
              </a:rPr>
            </a:br>
            <a:br>
              <a:rPr lang="en-US" dirty="0"/>
            </a:br>
            <a:r>
              <a:rPr lang="en-US" b="0" i="0" dirty="0">
                <a:effectLst/>
                <a:latin typeface="Arial" panose="020B0604020202020204" pitchFamily="34" charset="0"/>
              </a:rPr>
              <a:t>❖ </a:t>
            </a:r>
            <a:r>
              <a:rPr lang="en-US" b="0" i="0" dirty="0">
                <a:solidFill>
                  <a:schemeClr val="accent5"/>
                </a:solidFill>
                <a:effectLst/>
                <a:latin typeface="Arial" panose="020B0604020202020204" pitchFamily="34" charset="0"/>
              </a:rPr>
              <a:t>Major Discussion</a:t>
            </a:r>
            <a:endParaRPr lang="en-US" dirty="0">
              <a:solidFill>
                <a:schemeClr val="accent5"/>
              </a:solidFill>
            </a:endParaRPr>
          </a:p>
        </p:txBody>
      </p:sp>
      <p:sp>
        <p:nvSpPr>
          <p:cNvPr id="4" name="Text Placeholder 3">
            <a:extLst>
              <a:ext uri="{FF2B5EF4-FFF2-40B4-BE49-F238E27FC236}">
                <a16:creationId xmlns:a16="http://schemas.microsoft.com/office/drawing/2014/main" id="{07F9A62E-D4AA-85C6-C6D0-208B1FDFF400}"/>
              </a:ext>
            </a:extLst>
          </p:cNvPr>
          <p:cNvSpPr>
            <a:spLocks noGrp="1"/>
          </p:cNvSpPr>
          <p:nvPr>
            <p:ph type="body" sz="half" idx="2"/>
          </p:nvPr>
        </p:nvSpPr>
        <p:spPr>
          <a:xfrm>
            <a:off x="839788" y="3289540"/>
            <a:ext cx="3456167" cy="1288211"/>
          </a:xfrm>
        </p:spPr>
        <p:txBody>
          <a:bodyPr>
            <a:normAutofit/>
          </a:bodyPr>
          <a:lstStyle/>
          <a:p>
            <a:r>
              <a:rPr lang="en-US" sz="4000" b="0" i="0" dirty="0">
                <a:solidFill>
                  <a:schemeClr val="accent2"/>
                </a:solidFill>
                <a:effectLst/>
                <a:latin typeface="Arial" panose="020B0604020202020204" pitchFamily="34" charset="0"/>
              </a:rPr>
              <a:t>Random Forest</a:t>
            </a:r>
            <a:endParaRPr lang="en-US" sz="4000" dirty="0">
              <a:solidFill>
                <a:schemeClr val="accent2"/>
              </a:solidFill>
            </a:endParaRPr>
          </a:p>
        </p:txBody>
      </p:sp>
      <p:graphicFrame>
        <p:nvGraphicFramePr>
          <p:cNvPr id="8" name="Content Placeholder 5">
            <a:extLst>
              <a:ext uri="{FF2B5EF4-FFF2-40B4-BE49-F238E27FC236}">
                <a16:creationId xmlns:a16="http://schemas.microsoft.com/office/drawing/2014/main" id="{5499A0B6-5190-9988-0A20-23044993E15A}"/>
              </a:ext>
            </a:extLst>
          </p:cNvPr>
          <p:cNvGraphicFramePr>
            <a:graphicFrameLocks noGrp="1"/>
          </p:cNvGraphicFramePr>
          <p:nvPr>
            <p:ph idx="1"/>
            <p:extLst>
              <p:ext uri="{D42A27DB-BD31-4B8C-83A1-F6EECF244321}">
                <p14:modId xmlns:p14="http://schemas.microsoft.com/office/powerpoint/2010/main" val="459558614"/>
              </p:ext>
            </p:extLst>
          </p:nvPr>
        </p:nvGraphicFramePr>
        <p:xfrm>
          <a:off x="4410975" y="457201"/>
          <a:ext cx="7516482" cy="5403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140850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3B337C2F-F4B9-764C-45E5-86A1306E17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176" y="5338644"/>
            <a:ext cx="12202176" cy="1519355"/>
            <a:chOff x="-10176" y="5338644"/>
            <a:chExt cx="12202176" cy="1519355"/>
          </a:xfrm>
        </p:grpSpPr>
        <p:sp>
          <p:nvSpPr>
            <p:cNvPr id="49" name="Rectangle 48">
              <a:extLst>
                <a:ext uri="{FF2B5EF4-FFF2-40B4-BE49-F238E27FC236}">
                  <a16:creationId xmlns:a16="http://schemas.microsoft.com/office/drawing/2014/main" id="{DE1E11FF-4A87-A65F-DAEC-E20057A3F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V="1">
              <a:off x="5331238" y="-2767"/>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1719AAC3-64F6-CEDF-0B56-5C0C6BD3C6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V="1">
              <a:off x="8906919" y="3566802"/>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BA0DE637-E8FB-63A7-A5E2-E28DBE1A41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V="1">
              <a:off x="3921534" y="1406934"/>
              <a:ext cx="1519355" cy="9382775"/>
            </a:xfrm>
            <a:prstGeom prst="rect">
              <a:avLst/>
            </a:prstGeom>
            <a:gradFill>
              <a:gsLst>
                <a:gs pos="29000">
                  <a:schemeClr val="accent5">
                    <a:lumMod val="60000"/>
                    <a:lumOff val="40000"/>
                    <a:alpha val="0"/>
                  </a:schemeClr>
                </a:gs>
                <a:gs pos="100000">
                  <a:schemeClr val="accent5">
                    <a:lumMod val="7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1821E80A-B4A8-10B2-38F9-0903435429D2}"/>
              </a:ext>
            </a:extLst>
          </p:cNvPr>
          <p:cNvSpPr>
            <a:spLocks noGrp="1"/>
          </p:cNvSpPr>
          <p:nvPr>
            <p:ph type="title"/>
          </p:nvPr>
        </p:nvSpPr>
        <p:spPr>
          <a:xfrm>
            <a:off x="838200" y="5595614"/>
            <a:ext cx="6850488" cy="913975"/>
          </a:xfrm>
        </p:spPr>
        <p:txBody>
          <a:bodyPr vert="horz" lIns="91440" tIns="45720" rIns="91440" bIns="45720" rtlCol="0" anchor="ctr">
            <a:normAutofit/>
          </a:bodyPr>
          <a:lstStyle/>
          <a:p>
            <a:br>
              <a:rPr lang="en-US" sz="1800">
                <a:solidFill>
                  <a:srgbClr val="FFFFFF"/>
                </a:solidFill>
              </a:rPr>
            </a:br>
            <a:br>
              <a:rPr lang="en-US" sz="1800">
                <a:solidFill>
                  <a:srgbClr val="FFFFFF"/>
                </a:solidFill>
              </a:rPr>
            </a:br>
            <a:r>
              <a:rPr lang="en-US" sz="1800">
                <a:solidFill>
                  <a:srgbClr val="FFFFFF"/>
                </a:solidFill>
              </a:rPr>
              <a:t>CODES:-</a:t>
            </a:r>
          </a:p>
        </p:txBody>
      </p:sp>
      <p:pic>
        <p:nvPicPr>
          <p:cNvPr id="7" name="Picture 6" descr="A computer code with text&#10;&#10;Description automatically generated with medium confidence">
            <a:extLst>
              <a:ext uri="{FF2B5EF4-FFF2-40B4-BE49-F238E27FC236}">
                <a16:creationId xmlns:a16="http://schemas.microsoft.com/office/drawing/2014/main" id="{4A59EAB5-E858-FDCA-BCD5-9AC1247C07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9124" y="1009934"/>
            <a:ext cx="5082847" cy="3411941"/>
          </a:xfrm>
          <a:prstGeom prst="rect">
            <a:avLst/>
          </a:prstGeom>
        </p:spPr>
      </p:pic>
      <p:pic>
        <p:nvPicPr>
          <p:cNvPr id="5" name="Content Placeholder 4" descr="A screenshot of a computer program&#10;&#10;Description automatically generated">
            <a:extLst>
              <a:ext uri="{FF2B5EF4-FFF2-40B4-BE49-F238E27FC236}">
                <a16:creationId xmlns:a16="http://schemas.microsoft.com/office/drawing/2014/main" id="{38913A79-DB96-546A-01D1-86EC6180D3CD}"/>
              </a:ext>
            </a:extLst>
          </p:cNvPr>
          <p:cNvPicPr>
            <a:picLocks noChangeAspect="1"/>
          </p:cNvPicPr>
          <p:nvPr/>
        </p:nvPicPr>
        <p:blipFill>
          <a:blip r:embed="rId3">
            <a:extLst>
              <a:ext uri="{28A0092B-C50C-407E-A947-70E740481C1C}">
                <a14:useLocalDpi xmlns:a14="http://schemas.microsoft.com/office/drawing/2010/main" val="0"/>
              </a:ext>
            </a:extLst>
          </a:blip>
          <a:srcRect r="1923" b="2"/>
          <a:stretch/>
        </p:blipFill>
        <p:spPr>
          <a:xfrm>
            <a:off x="747784" y="228030"/>
            <a:ext cx="5516538" cy="4762205"/>
          </a:xfrm>
          <a:prstGeom prst="rect">
            <a:avLst/>
          </a:prstGeom>
        </p:spPr>
      </p:pic>
    </p:spTree>
    <p:extLst>
      <p:ext uri="{BB962C8B-B14F-4D97-AF65-F5344CB8AC3E}">
        <p14:creationId xmlns:p14="http://schemas.microsoft.com/office/powerpoint/2010/main" val="28365658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607EF3-1F51-2200-E4F3-44B47DA3CC4D}"/>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GRAPHS</a:t>
            </a:r>
          </a:p>
        </p:txBody>
      </p:sp>
      <p:pic>
        <p:nvPicPr>
          <p:cNvPr id="5" name="Content Placeholder 4" descr="A diagram of a network&#10;&#10;Description automatically generated">
            <a:extLst>
              <a:ext uri="{FF2B5EF4-FFF2-40B4-BE49-F238E27FC236}">
                <a16:creationId xmlns:a16="http://schemas.microsoft.com/office/drawing/2014/main" id="{8841E398-1DDF-CD0B-C300-2451D1FCF48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6728" y="1675227"/>
            <a:ext cx="11068335" cy="4394199"/>
          </a:xfrm>
          <a:prstGeom prst="rect">
            <a:avLst/>
          </a:prstGeom>
        </p:spPr>
      </p:pic>
    </p:spTree>
    <p:extLst>
      <p:ext uri="{BB962C8B-B14F-4D97-AF65-F5344CB8AC3E}">
        <p14:creationId xmlns:p14="http://schemas.microsoft.com/office/powerpoint/2010/main" val="24791878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network&#10;&#10;Description automatically generated">
            <a:extLst>
              <a:ext uri="{FF2B5EF4-FFF2-40B4-BE49-F238E27FC236}">
                <a16:creationId xmlns:a16="http://schemas.microsoft.com/office/drawing/2014/main" id="{120068D6-7A43-8998-394E-B95A3A3DAA5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0849" y="266131"/>
            <a:ext cx="11136572" cy="5910832"/>
          </a:xfrm>
        </p:spPr>
      </p:pic>
    </p:spTree>
    <p:extLst>
      <p:ext uri="{BB962C8B-B14F-4D97-AF65-F5344CB8AC3E}">
        <p14:creationId xmlns:p14="http://schemas.microsoft.com/office/powerpoint/2010/main" val="41188341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bicycle&#10;&#10;Description automatically generated">
            <a:extLst>
              <a:ext uri="{FF2B5EF4-FFF2-40B4-BE49-F238E27FC236}">
                <a16:creationId xmlns:a16="http://schemas.microsoft.com/office/drawing/2014/main" id="{EE0A3A0F-2D28-4B96-C8F3-80A3BAE97B2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9558" y="457200"/>
            <a:ext cx="11307169" cy="5719763"/>
          </a:xfrm>
        </p:spPr>
      </p:pic>
    </p:spTree>
    <p:extLst>
      <p:ext uri="{BB962C8B-B14F-4D97-AF65-F5344CB8AC3E}">
        <p14:creationId xmlns:p14="http://schemas.microsoft.com/office/powerpoint/2010/main" val="19506706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715-8AC3-1449-C690-F5409F2105B6}"/>
              </a:ext>
            </a:extLst>
          </p:cNvPr>
          <p:cNvSpPr>
            <a:spLocks noGrp="1"/>
          </p:cNvSpPr>
          <p:nvPr>
            <p:ph type="title"/>
          </p:nvPr>
        </p:nvSpPr>
        <p:spPr>
          <a:xfrm>
            <a:off x="878457" y="310535"/>
            <a:ext cx="10515600" cy="1325563"/>
          </a:xfrm>
        </p:spPr>
        <p:txBody>
          <a:bodyPr/>
          <a:lstStyle/>
          <a:p>
            <a:r>
              <a:rPr lang="en-US" dirty="0"/>
              <a:t>INTERPRETATION:-</a:t>
            </a:r>
          </a:p>
        </p:txBody>
      </p:sp>
      <p:sp>
        <p:nvSpPr>
          <p:cNvPr id="3" name="Content Placeholder 2">
            <a:extLst>
              <a:ext uri="{FF2B5EF4-FFF2-40B4-BE49-F238E27FC236}">
                <a16:creationId xmlns:a16="http://schemas.microsoft.com/office/drawing/2014/main" id="{6614A223-A904-CA73-E478-4CF94B64A5E5}"/>
              </a:ext>
            </a:extLst>
          </p:cNvPr>
          <p:cNvSpPr>
            <a:spLocks noGrp="1"/>
          </p:cNvSpPr>
          <p:nvPr>
            <p:ph idx="1"/>
          </p:nvPr>
        </p:nvSpPr>
        <p:spPr>
          <a:xfrm>
            <a:off x="878457" y="2255786"/>
            <a:ext cx="5501185" cy="3163469"/>
          </a:xfrm>
        </p:spPr>
        <p:txBody>
          <a:bodyPr>
            <a:normAutofit fontScale="70000" lnSpcReduction="20000"/>
          </a:bodyPr>
          <a:lstStyle/>
          <a:p>
            <a:pPr marL="0" indent="0">
              <a:buNone/>
            </a:pPr>
            <a:endParaRPr lang="en-US" dirty="0"/>
          </a:p>
          <a:p>
            <a:pPr marL="0" indent="0">
              <a:buNone/>
            </a:pPr>
            <a:r>
              <a:rPr lang="en-US" b="1" dirty="0">
                <a:solidFill>
                  <a:schemeClr val="accent5"/>
                </a:solidFill>
              </a:rPr>
              <a:t>Classification Report: </a:t>
            </a:r>
          </a:p>
          <a:p>
            <a:pPr marL="0" indent="0">
              <a:buNone/>
            </a:pPr>
            <a:r>
              <a:rPr lang="en-US" b="1" dirty="0">
                <a:solidFill>
                  <a:schemeClr val="accent5"/>
                </a:solidFill>
              </a:rPr>
              <a:t> </a:t>
            </a:r>
          </a:p>
          <a:p>
            <a:pPr marL="0" indent="0">
              <a:buNone/>
            </a:pPr>
            <a:endParaRPr lang="en-US" dirty="0">
              <a:solidFill>
                <a:schemeClr val="accent2"/>
              </a:solidFill>
            </a:endParaRPr>
          </a:p>
          <a:p>
            <a:pPr marL="0" indent="0">
              <a:buNone/>
            </a:pPr>
            <a:r>
              <a:rPr lang="en-US" dirty="0">
                <a:solidFill>
                  <a:schemeClr val="accent2"/>
                </a:solidFill>
              </a:rPr>
              <a:t>Class 0 (No Diabetes):   </a:t>
            </a:r>
            <a:endParaRPr lang="en-US" dirty="0">
              <a:solidFill>
                <a:schemeClr val="accent2"/>
              </a:solidFill>
              <a:highlight>
                <a:srgbClr val="800080"/>
              </a:highlight>
            </a:endParaRPr>
          </a:p>
          <a:p>
            <a:pPr marL="0" indent="0">
              <a:buNone/>
            </a:pPr>
            <a:r>
              <a:rPr lang="en-US" dirty="0"/>
              <a:t>   Precision: 0.68    </a:t>
            </a:r>
          </a:p>
          <a:p>
            <a:pPr marL="0" indent="0">
              <a:buNone/>
            </a:pPr>
            <a:r>
              <a:rPr lang="en-US" dirty="0"/>
              <a:t>   Recall: 0.85    </a:t>
            </a:r>
          </a:p>
          <a:p>
            <a:pPr marL="0" indent="0">
              <a:buNone/>
            </a:pPr>
            <a:r>
              <a:rPr lang="en-US" dirty="0"/>
              <a:t>   F1-Score: 0.76</a:t>
            </a:r>
          </a:p>
          <a:p>
            <a:pPr marL="0" indent="0">
              <a:buNone/>
            </a:pPr>
            <a:r>
              <a:rPr lang="en-US" dirty="0"/>
              <a:t>   </a:t>
            </a:r>
          </a:p>
        </p:txBody>
      </p:sp>
      <p:sp>
        <p:nvSpPr>
          <p:cNvPr id="4" name="TextBox 3">
            <a:extLst>
              <a:ext uri="{FF2B5EF4-FFF2-40B4-BE49-F238E27FC236}">
                <a16:creationId xmlns:a16="http://schemas.microsoft.com/office/drawing/2014/main" id="{0EF5E6AD-4B33-8551-B268-E6740EBB8FAF}"/>
              </a:ext>
            </a:extLst>
          </p:cNvPr>
          <p:cNvSpPr txBox="1"/>
          <p:nvPr/>
        </p:nvSpPr>
        <p:spPr>
          <a:xfrm>
            <a:off x="6590582" y="3479232"/>
            <a:ext cx="4414621" cy="2185214"/>
          </a:xfrm>
          <a:prstGeom prst="rect">
            <a:avLst/>
          </a:prstGeom>
          <a:noFill/>
        </p:spPr>
        <p:txBody>
          <a:bodyPr wrap="square" rtlCol="0">
            <a:spAutoFit/>
          </a:bodyPr>
          <a:lstStyle/>
          <a:p>
            <a:pPr marL="0" indent="0">
              <a:buNone/>
            </a:pPr>
            <a:r>
              <a:rPr lang="en-US" sz="2000" b="1" dirty="0">
                <a:solidFill>
                  <a:schemeClr val="accent2"/>
                </a:solidFill>
              </a:rPr>
              <a:t>Class 1 (Diabetes):    </a:t>
            </a:r>
          </a:p>
          <a:p>
            <a:pPr marL="0" indent="0">
              <a:buNone/>
            </a:pPr>
            <a:r>
              <a:rPr lang="en-US" sz="2000" dirty="0"/>
              <a:t>     Precision: 0.23    </a:t>
            </a:r>
          </a:p>
          <a:p>
            <a:pPr marL="0" indent="0">
              <a:buNone/>
            </a:pPr>
            <a:r>
              <a:rPr lang="en-US" sz="2000" dirty="0"/>
              <a:t>     Recall: 0.10    </a:t>
            </a:r>
          </a:p>
          <a:p>
            <a:pPr marL="0" indent="0">
              <a:buNone/>
            </a:pPr>
            <a:r>
              <a:rPr lang="en-US" sz="2000" dirty="0"/>
              <a:t>      F1-Score: 0.14   </a:t>
            </a:r>
          </a:p>
          <a:p>
            <a:pPr marL="0" indent="0">
              <a:buNone/>
            </a:pPr>
            <a:endParaRPr lang="en-US" sz="2800" dirty="0"/>
          </a:p>
          <a:p>
            <a:pPr marL="0" indent="0">
              <a:buNone/>
            </a:pPr>
            <a:r>
              <a:rPr lang="en-US" sz="2800" dirty="0"/>
              <a:t>  </a:t>
            </a:r>
            <a:endParaRPr lang="en-US" dirty="0"/>
          </a:p>
        </p:txBody>
      </p:sp>
      <p:sp>
        <p:nvSpPr>
          <p:cNvPr id="7" name="TextBox 6">
            <a:extLst>
              <a:ext uri="{FF2B5EF4-FFF2-40B4-BE49-F238E27FC236}">
                <a16:creationId xmlns:a16="http://schemas.microsoft.com/office/drawing/2014/main" id="{DEDD5D8A-811B-FA3F-1675-B1FC691002DE}"/>
              </a:ext>
            </a:extLst>
          </p:cNvPr>
          <p:cNvSpPr txBox="1"/>
          <p:nvPr/>
        </p:nvSpPr>
        <p:spPr>
          <a:xfrm>
            <a:off x="3347049" y="5910667"/>
            <a:ext cx="7464725" cy="738664"/>
          </a:xfrm>
          <a:prstGeom prst="rect">
            <a:avLst/>
          </a:prstGeom>
          <a:noFill/>
        </p:spPr>
        <p:txBody>
          <a:bodyPr wrap="square" rtlCol="0">
            <a:spAutoFit/>
          </a:bodyPr>
          <a:lstStyle/>
          <a:p>
            <a:r>
              <a:rPr lang="en-US" sz="2400" dirty="0">
                <a:solidFill>
                  <a:srgbClr val="7030A0"/>
                </a:solidFill>
              </a:rPr>
              <a:t>Weighted Avg F1-Score: 0.57</a:t>
            </a:r>
          </a:p>
          <a:p>
            <a:endParaRPr lang="en-US" dirty="0"/>
          </a:p>
        </p:txBody>
      </p:sp>
      <p:sp>
        <p:nvSpPr>
          <p:cNvPr id="8" name="TextBox 7">
            <a:extLst>
              <a:ext uri="{FF2B5EF4-FFF2-40B4-BE49-F238E27FC236}">
                <a16:creationId xmlns:a16="http://schemas.microsoft.com/office/drawing/2014/main" id="{8A3CC862-7F0F-67CA-1999-2A676045A015}"/>
              </a:ext>
            </a:extLst>
          </p:cNvPr>
          <p:cNvSpPr txBox="1"/>
          <p:nvPr/>
        </p:nvSpPr>
        <p:spPr>
          <a:xfrm>
            <a:off x="878457" y="1609455"/>
            <a:ext cx="8312774" cy="1661993"/>
          </a:xfrm>
          <a:prstGeom prst="rect">
            <a:avLst/>
          </a:prstGeom>
          <a:noFill/>
        </p:spPr>
        <p:txBody>
          <a:bodyPr wrap="square" rtlCol="0">
            <a:spAutoFit/>
          </a:bodyPr>
          <a:lstStyle/>
          <a:p>
            <a:r>
              <a:rPr lang="en-US" sz="2800" dirty="0"/>
              <a:t>Accuracy: 0.62   - 62% of predictions were correct overall.</a:t>
            </a:r>
          </a:p>
          <a:p>
            <a:endParaRPr lang="en-US" sz="2800" dirty="0"/>
          </a:p>
          <a:p>
            <a:endParaRPr lang="en-US" dirty="0"/>
          </a:p>
        </p:txBody>
      </p:sp>
    </p:spTree>
    <p:extLst>
      <p:ext uri="{BB962C8B-B14F-4D97-AF65-F5344CB8AC3E}">
        <p14:creationId xmlns:p14="http://schemas.microsoft.com/office/powerpoint/2010/main" val="773143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Wooden robot over white background">
            <a:extLst>
              <a:ext uri="{FF2B5EF4-FFF2-40B4-BE49-F238E27FC236}">
                <a16:creationId xmlns:a16="http://schemas.microsoft.com/office/drawing/2014/main" id="{027A0462-B8A0-EA05-EA81-AE9A0411831B}"/>
              </a:ext>
            </a:extLst>
          </p:cNvPr>
          <p:cNvPicPr>
            <a:picLocks noChangeAspect="1"/>
          </p:cNvPicPr>
          <p:nvPr/>
        </p:nvPicPr>
        <p:blipFill>
          <a:blip r:embed="rId2"/>
          <a:srcRect l="3316" r="44025" b="-2"/>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62C3CB-2F6A-830C-9C5C-7CBB2BA5519A}"/>
              </a:ext>
            </a:extLst>
          </p:cNvPr>
          <p:cNvSpPr>
            <a:spLocks noGrp="1"/>
          </p:cNvSpPr>
          <p:nvPr>
            <p:ph type="title"/>
          </p:nvPr>
        </p:nvSpPr>
        <p:spPr>
          <a:xfrm>
            <a:off x="6115317" y="405685"/>
            <a:ext cx="5464968" cy="1559301"/>
          </a:xfrm>
        </p:spPr>
        <p:txBody>
          <a:bodyPr>
            <a:normAutofit/>
          </a:bodyPr>
          <a:lstStyle/>
          <a:p>
            <a:r>
              <a:rPr lang="en-US" sz="3200" dirty="0">
                <a:highlight>
                  <a:srgbClr val="800080"/>
                </a:highlight>
                <a:latin typeface="Arial" panose="020B0604020202020204" pitchFamily="34" charset="0"/>
              </a:rPr>
              <a:t>R</a:t>
            </a:r>
            <a:r>
              <a:rPr lang="en-US" sz="3200" b="0" i="0" dirty="0">
                <a:effectLst/>
                <a:highlight>
                  <a:srgbClr val="800080"/>
                </a:highlight>
                <a:latin typeface="Arial" panose="020B0604020202020204" pitchFamily="34" charset="0"/>
              </a:rPr>
              <a:t>esults based on accuracy</a:t>
            </a:r>
            <a:endParaRPr lang="en-US" sz="3200" dirty="0">
              <a:highlight>
                <a:srgbClr val="800080"/>
              </a:highlight>
            </a:endParaRPr>
          </a:p>
        </p:txBody>
      </p:sp>
      <p:sp>
        <p:nvSpPr>
          <p:cNvPr id="3" name="Content Placeholder 2">
            <a:extLst>
              <a:ext uri="{FF2B5EF4-FFF2-40B4-BE49-F238E27FC236}">
                <a16:creationId xmlns:a16="http://schemas.microsoft.com/office/drawing/2014/main" id="{F8D8523F-C5FD-33ED-E936-E928CBF932C3}"/>
              </a:ext>
            </a:extLst>
          </p:cNvPr>
          <p:cNvSpPr>
            <a:spLocks noGrp="1"/>
          </p:cNvSpPr>
          <p:nvPr>
            <p:ph idx="1"/>
          </p:nvPr>
        </p:nvSpPr>
        <p:spPr>
          <a:xfrm>
            <a:off x="6177428" y="1680560"/>
            <a:ext cx="5247340" cy="3496878"/>
          </a:xfrm>
        </p:spPr>
        <p:txBody>
          <a:bodyPr anchor="ctr">
            <a:normAutofit/>
          </a:bodyPr>
          <a:lstStyle/>
          <a:p>
            <a:pPr marL="0" indent="0">
              <a:buNone/>
            </a:pPr>
            <a:r>
              <a:rPr lang="en-US" sz="1900" dirty="0">
                <a:solidFill>
                  <a:srgbClr val="00B0F0"/>
                </a:solidFill>
              </a:rPr>
              <a:t>Model Performance: The model performs well in predicting non-diabetic cases (class 0), with high recall and precision. However, it performs badly in diabetes patients (class 1), most likely because to unbalanced data or inadequate feature representation.</a:t>
            </a:r>
          </a:p>
          <a:p>
            <a:endParaRPr lang="en-US" sz="1900" dirty="0"/>
          </a:p>
          <a:p>
            <a:endParaRPr lang="en-US" sz="1900" dirty="0"/>
          </a:p>
          <a:p>
            <a:r>
              <a:rPr lang="en-US" sz="1900" dirty="0">
                <a:solidFill>
                  <a:srgbClr val="FFC000"/>
                </a:solidFill>
              </a:rPr>
              <a:t>While the accuracy is moderate (62%), it is exaggerated by the class imbalance, since most forecasts favor the majority class (class 0).</a:t>
            </a:r>
          </a:p>
        </p:txBody>
      </p:sp>
    </p:spTree>
    <p:extLst>
      <p:ext uri="{BB962C8B-B14F-4D97-AF65-F5344CB8AC3E}">
        <p14:creationId xmlns:p14="http://schemas.microsoft.com/office/powerpoint/2010/main" val="22744463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Rectangle 5">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F4D7126-0D41-41A4-A097-3B64F1D1CB57}"/>
              </a:ext>
            </a:extLst>
          </p:cNvPr>
          <p:cNvSpPr>
            <a:spLocks noGrp="1"/>
          </p:cNvSpPr>
          <p:nvPr>
            <p:ph type="title"/>
          </p:nvPr>
        </p:nvSpPr>
        <p:spPr>
          <a:xfrm>
            <a:off x="1115568" y="548640"/>
            <a:ext cx="10168128" cy="1179576"/>
          </a:xfrm>
        </p:spPr>
        <p:txBody>
          <a:bodyPr>
            <a:normAutofit/>
          </a:bodyPr>
          <a:lstStyle/>
          <a:p>
            <a:r>
              <a:rPr lang="en-US" sz="4000"/>
              <a:t>CONCLUSION:-</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297AAFD8-5A36-C2C5-419F-1BA29D3D04DB}"/>
              </a:ext>
            </a:extLst>
          </p:cNvPr>
          <p:cNvSpPr>
            <a:spLocks noGrp="1"/>
          </p:cNvSpPr>
          <p:nvPr>
            <p:ph idx="1"/>
          </p:nvPr>
        </p:nvSpPr>
        <p:spPr>
          <a:xfrm>
            <a:off x="1011936" y="2395679"/>
            <a:ext cx="10168128" cy="3695020"/>
          </a:xfrm>
        </p:spPr>
        <p:txBody>
          <a:bodyPr>
            <a:normAutofit/>
          </a:bodyPr>
          <a:lstStyle/>
          <a:p>
            <a:pPr marL="0" indent="0">
              <a:buNone/>
            </a:pPr>
            <a:r>
              <a:rPr lang="en-US" sz="1700" dirty="0"/>
              <a:t>The goal of this study was to create a prediction model for early detection of gestational diabetes mellitus utilizing a variety of machine learning approaches. </a:t>
            </a:r>
          </a:p>
          <a:p>
            <a:pPr marL="0" indent="0">
              <a:buNone/>
            </a:pPr>
            <a:r>
              <a:rPr lang="en-US" sz="1700" dirty="0"/>
              <a:t>The analysis showed that:</a:t>
            </a:r>
          </a:p>
          <a:p>
            <a:pPr>
              <a:buFont typeface="Wingdings" panose="05000000000000000000" pitchFamily="2" charset="2"/>
              <a:buChar char="§"/>
            </a:pPr>
            <a:r>
              <a:rPr lang="en-US" sz="1700" b="1" dirty="0"/>
              <a:t>Feature Selection and Visualization</a:t>
            </a:r>
            <a:r>
              <a:rPr lang="en-US" sz="1700" dirty="0"/>
              <a:t>: Critical predictors such as glucose and BMI were identified, providing information about their influence on diabetes risk.</a:t>
            </a:r>
          </a:p>
          <a:p>
            <a:r>
              <a:rPr lang="en-US" sz="1700" dirty="0"/>
              <a:t>Among examined models, Naïve Bayes performed the best with a reasonable accuracy of 69.33%. However, there is opportunity for improvement with advanced approaches.</a:t>
            </a:r>
          </a:p>
          <a:p>
            <a:r>
              <a:rPr lang="en-US" sz="1700" dirty="0"/>
              <a:t>The RBF kernel of the SVM model had the best accuracy of 80.9%, demonstrating that it is well-suited to capture complicated patterns in the dataset.</a:t>
            </a:r>
          </a:p>
          <a:p>
            <a:endParaRPr lang="en-US" sz="1700" dirty="0"/>
          </a:p>
          <a:p>
            <a:pPr marL="0" indent="0">
              <a:buNone/>
            </a:pPr>
            <a:r>
              <a:rPr lang="en-US" sz="1700" b="1" dirty="0">
                <a:highlight>
                  <a:srgbClr val="0000FF"/>
                </a:highlight>
              </a:rPr>
              <a:t>Challenges</a:t>
            </a:r>
            <a:r>
              <a:rPr lang="en-US" sz="1700" dirty="0"/>
              <a:t>: Models such as logistic regression and random forests had limitations due to class imbalance and potential underfitting.</a:t>
            </a:r>
          </a:p>
        </p:txBody>
      </p:sp>
    </p:spTree>
    <p:extLst>
      <p:ext uri="{BB962C8B-B14F-4D97-AF65-F5344CB8AC3E}">
        <p14:creationId xmlns:p14="http://schemas.microsoft.com/office/powerpoint/2010/main" val="4540778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0CFE249-F414-9E59-5176-8FE9E9D6BABF}"/>
              </a:ext>
            </a:extLst>
          </p:cNvPr>
          <p:cNvSpPr>
            <a:spLocks noGrp="1"/>
          </p:cNvSpPr>
          <p:nvPr>
            <p:ph type="body" sz="half" idx="2"/>
          </p:nvPr>
        </p:nvSpPr>
        <p:spPr/>
        <p:txBody>
          <a:bodyPr>
            <a:normAutofit/>
          </a:bodyPr>
          <a:lstStyle/>
          <a:p>
            <a:r>
              <a:rPr lang="en-US" sz="3600" dirty="0">
                <a:highlight>
                  <a:srgbClr val="0000FF"/>
                </a:highlight>
              </a:rPr>
              <a:t>Future recommendations</a:t>
            </a:r>
          </a:p>
          <a:p>
            <a:endParaRPr lang="en-US" dirty="0"/>
          </a:p>
        </p:txBody>
      </p:sp>
      <p:graphicFrame>
        <p:nvGraphicFramePr>
          <p:cNvPr id="6" name="Picture Placeholder 2">
            <a:extLst>
              <a:ext uri="{FF2B5EF4-FFF2-40B4-BE49-F238E27FC236}">
                <a16:creationId xmlns:a16="http://schemas.microsoft.com/office/drawing/2014/main" id="{15387F0E-8F53-D048-7145-4082EEF794F6}"/>
              </a:ext>
            </a:extLst>
          </p:cNvPr>
          <p:cNvGraphicFramePr/>
          <p:nvPr>
            <p:extLst>
              <p:ext uri="{D42A27DB-BD31-4B8C-83A1-F6EECF244321}">
                <p14:modId xmlns:p14="http://schemas.microsoft.com/office/powerpoint/2010/main" val="1174908497"/>
              </p:ext>
            </p:extLst>
          </p:nvPr>
        </p:nvGraphicFramePr>
        <p:xfrm>
          <a:off x="5183188" y="987425"/>
          <a:ext cx="6658004" cy="4873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291464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4E962-9E74-419A-97C0-506455315396}"/>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4549E0C7-5286-F9C5-CCF7-7B3B23B2D4BA}"/>
              </a:ext>
            </a:extLst>
          </p:cNvPr>
          <p:cNvSpPr>
            <a:spLocks noGrp="1"/>
          </p:cNvSpPr>
          <p:nvPr>
            <p:ph idx="1"/>
          </p:nvPr>
        </p:nvSpPr>
        <p:spPr/>
        <p:txBody>
          <a:bodyPr>
            <a:normAutofit/>
          </a:bodyPr>
          <a:lstStyle/>
          <a:p>
            <a:r>
              <a:rPr lang="en-US" sz="1800" dirty="0"/>
              <a:t>Amazon Web Services. (n.d.). </a:t>
            </a:r>
            <a:r>
              <a:rPr lang="en-US" sz="1800" i="1" dirty="0"/>
              <a:t>What is logistic regression?</a:t>
            </a:r>
            <a:r>
              <a:rPr lang="en-US" sz="1800" dirty="0"/>
              <a:t> Retrieved December 1, 2024, from </a:t>
            </a:r>
            <a:r>
              <a:rPr lang="en-US" sz="1800" dirty="0">
                <a:hlinkClick r:id="rId2"/>
              </a:rPr>
              <a:t>https://aws.amazon.com/what-is/logistic-regression/</a:t>
            </a:r>
            <a:endParaRPr lang="en-US" sz="1800" dirty="0"/>
          </a:p>
          <a:p>
            <a:r>
              <a:rPr lang="en-US" sz="1800" dirty="0"/>
              <a:t>mrsimple07. (n.d.). </a:t>
            </a:r>
            <a:r>
              <a:rPr lang="en-US" sz="1800" i="1" dirty="0"/>
              <a:t>Diabetes prediction dataset</a:t>
            </a:r>
            <a:r>
              <a:rPr lang="en-US" sz="1800" dirty="0"/>
              <a:t>. Kaggle. Retrieved December 1, 2024, from </a:t>
            </a:r>
            <a:r>
              <a:rPr lang="en-US" sz="1800" dirty="0">
                <a:hlinkClick r:id="rId3"/>
              </a:rPr>
              <a:t>https://www.kaggle.com/datasets/mrsimple07/diabetes-prediction</a:t>
            </a:r>
            <a:endParaRPr lang="en-US" sz="1800" dirty="0"/>
          </a:p>
          <a:p>
            <a:r>
              <a:rPr lang="en-US" sz="1600" dirty="0"/>
              <a:t>Data Science Institute. (n.d.). </a:t>
            </a:r>
            <a:r>
              <a:rPr lang="en-US" sz="1600" i="1" dirty="0"/>
              <a:t>Binary logistic regression: An introduction</a:t>
            </a:r>
            <a:r>
              <a:rPr lang="en-US" sz="1600" dirty="0"/>
              <a:t>. Retrieved December 1, 2024, from </a:t>
            </a:r>
            <a:r>
              <a:rPr lang="en-US" sz="1600" dirty="0">
                <a:hlinkClick r:id="rId4"/>
              </a:rPr>
              <a:t>https://www.datascienceinstitute.net/blog/binary-logistic-regression-an-introduction</a:t>
            </a:r>
            <a:endParaRPr lang="en-US" sz="2400" dirty="0"/>
          </a:p>
        </p:txBody>
      </p:sp>
    </p:spTree>
    <p:extLst>
      <p:ext uri="{BB962C8B-B14F-4D97-AF65-F5344CB8AC3E}">
        <p14:creationId xmlns:p14="http://schemas.microsoft.com/office/powerpoint/2010/main" val="33808628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FA2FF-4EE7-12B7-1E54-B28361D22173}"/>
              </a:ext>
            </a:extLst>
          </p:cNvPr>
          <p:cNvSpPr>
            <a:spLocks noGrp="1"/>
          </p:cNvSpPr>
          <p:nvPr>
            <p:ph type="title"/>
          </p:nvPr>
        </p:nvSpPr>
        <p:spPr/>
        <p:txBody>
          <a:bodyPr/>
          <a:lstStyle/>
          <a:p>
            <a:r>
              <a:rPr lang="en-US" dirty="0"/>
              <a:t>CONTRIBUTION:-</a:t>
            </a:r>
          </a:p>
        </p:txBody>
      </p:sp>
      <p:sp>
        <p:nvSpPr>
          <p:cNvPr id="3" name="Content Placeholder 2">
            <a:extLst>
              <a:ext uri="{FF2B5EF4-FFF2-40B4-BE49-F238E27FC236}">
                <a16:creationId xmlns:a16="http://schemas.microsoft.com/office/drawing/2014/main" id="{C45A810D-D285-6275-431F-0D7A6C0EC889}"/>
              </a:ext>
            </a:extLst>
          </p:cNvPr>
          <p:cNvSpPr>
            <a:spLocks noGrp="1"/>
          </p:cNvSpPr>
          <p:nvPr>
            <p:ph idx="1"/>
          </p:nvPr>
        </p:nvSpPr>
        <p:spPr/>
        <p:txBody>
          <a:bodyPr/>
          <a:lstStyle/>
          <a:p>
            <a:r>
              <a:rPr lang="en-US" dirty="0"/>
              <a:t>Rathnakar Rajanala- Data collection, Data description ,project 1.</a:t>
            </a:r>
          </a:p>
          <a:p>
            <a:r>
              <a:rPr lang="en-US" dirty="0"/>
              <a:t>Sai </a:t>
            </a:r>
            <a:r>
              <a:rPr lang="en-US" dirty="0" err="1"/>
              <a:t>kumar</a:t>
            </a:r>
            <a:r>
              <a:rPr lang="en-US" dirty="0"/>
              <a:t> chary </a:t>
            </a:r>
            <a:r>
              <a:rPr lang="en-US" dirty="0" err="1"/>
              <a:t>sripathi</a:t>
            </a:r>
            <a:r>
              <a:rPr lang="en-US" dirty="0"/>
              <a:t> – project 2 to 3 , coding.</a:t>
            </a:r>
          </a:p>
          <a:p>
            <a:r>
              <a:rPr lang="en-US" dirty="0"/>
              <a:t>Neha </a:t>
            </a:r>
            <a:r>
              <a:rPr lang="en-US" dirty="0" err="1"/>
              <a:t>sri</a:t>
            </a:r>
            <a:r>
              <a:rPr lang="en-US" dirty="0"/>
              <a:t> Tella – project 4 and 5 ,coding .</a:t>
            </a:r>
          </a:p>
          <a:p>
            <a:r>
              <a:rPr lang="en-US" dirty="0" err="1"/>
              <a:t>Roshini</a:t>
            </a:r>
            <a:r>
              <a:rPr lang="en-US" dirty="0"/>
              <a:t> </a:t>
            </a:r>
            <a:r>
              <a:rPr lang="en-US" dirty="0" err="1"/>
              <a:t>amulla</a:t>
            </a:r>
            <a:r>
              <a:rPr lang="en-US" dirty="0"/>
              <a:t> – project </a:t>
            </a:r>
            <a:r>
              <a:rPr lang="en-US"/>
              <a:t>6 , </a:t>
            </a:r>
            <a:r>
              <a:rPr lang="en-US" dirty="0"/>
              <a:t>data collection and coding.</a:t>
            </a:r>
          </a:p>
          <a:p>
            <a:r>
              <a:rPr lang="en-US" dirty="0"/>
              <a:t>Lakshmi Anusha – project 6 , logistic regression</a:t>
            </a:r>
          </a:p>
        </p:txBody>
      </p:sp>
    </p:spTree>
    <p:extLst>
      <p:ext uri="{BB962C8B-B14F-4D97-AF65-F5344CB8AC3E}">
        <p14:creationId xmlns:p14="http://schemas.microsoft.com/office/powerpoint/2010/main" val="859044313"/>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58</TotalTime>
  <Words>3055</Words>
  <Application>Microsoft Office PowerPoint</Application>
  <PresentationFormat>Widescreen</PresentationFormat>
  <Paragraphs>221</Paragraphs>
  <Slides>41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41</vt:i4>
      </vt:variant>
    </vt:vector>
  </HeadingPairs>
  <TitlesOfParts>
    <vt:vector size="49" baseType="lpstr">
      <vt:lpstr>Aptos</vt:lpstr>
      <vt:lpstr>Arial</vt:lpstr>
      <vt:lpstr>Calibri</vt:lpstr>
      <vt:lpstr>Calibri Light</vt:lpstr>
      <vt:lpstr>system-ui</vt:lpstr>
      <vt:lpstr>Times New Roman</vt:lpstr>
      <vt:lpstr>Wingdings</vt:lpstr>
      <vt:lpstr>Office 2013 - 2022 Theme</vt:lpstr>
      <vt:lpstr>Early Detection of Gestational Diabetes Mellitus</vt:lpstr>
      <vt:lpstr>Table of contents</vt:lpstr>
      <vt:lpstr>PowerPoint Presentation</vt:lpstr>
      <vt:lpstr>Step 1: Data Collection </vt:lpstr>
      <vt:lpstr>Data Description </vt:lpstr>
      <vt:lpstr>PowerPoint Presentation</vt:lpstr>
      <vt:lpstr>Data attributes – Name of Columns  It has 7 Decimal value columns and 2 integer value columns.</vt:lpstr>
      <vt:lpstr>Step 2. Data Visualisation</vt:lpstr>
      <vt:lpstr>PowerPoint Presentation</vt:lpstr>
      <vt:lpstr>PowerPoint Presentation</vt:lpstr>
      <vt:lpstr>What features do you select? Why?</vt:lpstr>
      <vt:lpstr>PowerPoint Presentation</vt:lpstr>
      <vt:lpstr>Why  These Features ?</vt:lpstr>
      <vt:lpstr>HISTOGRAM OF GLUCOSE</vt:lpstr>
      <vt:lpstr>PowerPoint Presentation</vt:lpstr>
      <vt:lpstr>BOX PLOT OF GLUCOSE</vt:lpstr>
      <vt:lpstr>BOX PLOT OF BMI</vt:lpstr>
      <vt:lpstr>Step 3 - Regression</vt:lpstr>
      <vt:lpstr>PowerPoint Presentation</vt:lpstr>
      <vt:lpstr># Plot the Confusion Matrix plt.figure(figsize=(5,4)) sns.heatmap(conf_matrix, annot=True, fmt="d", cmap="Blues", cbar=False) plt.title('Confusion Matrix') plt.ylabel('Actual Diagnosis') plt.xlabel('Predicted Diagnosis') plt.show()</vt:lpstr>
      <vt:lpstr>Step 4: KNN &amp; Naïve Bayes  ❖ Major Discussion   K Nearest Neighbor  Naïve Bayes</vt:lpstr>
      <vt:lpstr>GRAPHS OF KNN AND NAÏVE BAYES</vt:lpstr>
      <vt:lpstr>Report the accuracies:-</vt:lpstr>
      <vt:lpstr>What model works better for this data?</vt:lpstr>
      <vt:lpstr>Step 5: SVM</vt:lpstr>
      <vt:lpstr>Codes</vt:lpstr>
      <vt:lpstr>GRAPHS</vt:lpstr>
      <vt:lpstr>PowerPoint Presentation</vt:lpstr>
      <vt:lpstr>ACCURACIES</vt:lpstr>
      <vt:lpstr>INTERPRETATION OF RESULTS</vt:lpstr>
      <vt:lpstr>Step 6:  ❖ Major Discussion</vt:lpstr>
      <vt:lpstr>  CODES:-</vt:lpstr>
      <vt:lpstr>GRAPHS</vt:lpstr>
      <vt:lpstr>PowerPoint Presentation</vt:lpstr>
      <vt:lpstr>PowerPoint Presentation</vt:lpstr>
      <vt:lpstr>INTERPRETATION:-</vt:lpstr>
      <vt:lpstr>Results based on accuracy</vt:lpstr>
      <vt:lpstr>CONCLUSION:-</vt:lpstr>
      <vt:lpstr>PowerPoint Presentation</vt:lpstr>
      <vt:lpstr>REFERENCES:-</vt:lpstr>
      <vt:lpstr>CONTRIBUTION:-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Neha Tella</dc:creator>
  <cp:lastModifiedBy>Rathnakar Rajanala</cp:lastModifiedBy>
  <cp:revision>4</cp:revision>
  <dcterms:created xsi:type="dcterms:W3CDTF">2024-09-03T05:14:57Z</dcterms:created>
  <dcterms:modified xsi:type="dcterms:W3CDTF">2026-03-05T19:26:06Z</dcterms:modified>
</cp:coreProperties>
</file>