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  <p:sldId id="266" r:id="rId10"/>
    <p:sldId id="267" r:id="rId11"/>
    <p:sldId id="268" r:id="rId12"/>
    <p:sldId id="260" r:id="rId13"/>
    <p:sldId id="265" r:id="rId14"/>
    <p:sldId id="270" r:id="rId15"/>
    <p:sldId id="271" r:id="rId16"/>
    <p:sldId id="274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nakar Rajanala" userId="9017f8e93c7a39dc" providerId="LiveId" clId="{E47FF6C6-6C9C-4A62-9E66-6DAC4312EACB}"/>
    <pc:docChg chg="undo custSel modSld">
      <pc:chgData name="Rathnakar Rajanala" userId="9017f8e93c7a39dc" providerId="LiveId" clId="{E47FF6C6-6C9C-4A62-9E66-6DAC4312EACB}" dt="2024-05-06T04:53:31.839" v="14" actId="20577"/>
      <pc:docMkLst>
        <pc:docMk/>
      </pc:docMkLst>
      <pc:sldChg chg="modSp mod">
        <pc:chgData name="Rathnakar Rajanala" userId="9017f8e93c7a39dc" providerId="LiveId" clId="{E47FF6C6-6C9C-4A62-9E66-6DAC4312EACB}" dt="2024-05-06T04:53:31.839" v="14" actId="20577"/>
        <pc:sldMkLst>
          <pc:docMk/>
          <pc:sldMk cId="4169212976" sldId="256"/>
        </pc:sldMkLst>
        <pc:spChg chg="mod">
          <ac:chgData name="Rathnakar Rajanala" userId="9017f8e93c7a39dc" providerId="LiveId" clId="{E47FF6C6-6C9C-4A62-9E66-6DAC4312EACB}" dt="2024-05-06T04:53:31.839" v="14" actId="20577"/>
          <ac:spMkLst>
            <pc:docMk/>
            <pc:sldMk cId="4169212976" sldId="256"/>
            <ac:spMk id="2" creationId="{4D246D41-6E73-B154-3748-D8D9A6D798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474C-8DA1-28A1-D990-F2364BF00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168B-914F-1184-2FCD-C1C31031E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479F2-EEB4-CD76-9937-A9521467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92EBF-7E9C-ED60-E954-5558B2DC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E7DEA-743A-5D1E-9591-5BCFD365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5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C8DD-4715-B16F-B1AA-7D0E4BE8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4908-2C83-C215-59D2-D15A22496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CF3AA-D4F5-5A7C-EF61-65431D21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7A26D-6C71-30E1-BD00-E58A4E161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78E55-7177-3A90-311F-C1EA3E23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3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7DCA-7436-185E-FA81-5B5C2F14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B090-7B60-180A-658E-C125D7F51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02508-757B-EEA4-C191-756C2196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22D9-9FDD-A7F1-39E0-23B0FF46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0670F-FC57-20B3-EBCE-E21ABE27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4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B611-0BE0-2C10-4065-3BC53A5A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77DE5-07E9-24EC-EDFE-D01C7FE72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569E5-BDA4-69BA-F6ED-A9A14DF4E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D88E2-539A-A610-13D4-718477C6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525C2-A186-4E30-CB3D-DBB2DD44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963C8-49CB-9011-EDE1-5201F980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1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199E-5DDC-D3A8-9351-786BA75B8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83EE6-5A5E-DBD3-B479-5F99DF300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9FC57-D9C8-E53B-9E79-2D1811871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C9FE7-D07B-1705-2033-E5A7901A4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D5B5F9-B362-7DE4-C118-4EC1CDF89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BD0B9-EE48-0DAE-90E3-E6CDDF01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B6CDC-DD65-BB5E-C61B-3C3CA3ECA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731872-F940-8A03-1B23-E18B4691F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26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CB90-AB35-4D9C-A95C-E5007084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884E3-715F-D479-130A-C8166B3C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D25D8-FB89-3B8B-DF24-56ED4E4D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830AB-475D-733D-1C22-6B9B920E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7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D36FF-EECB-5FD9-8CC9-F406B5E7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2DCB3-4AA2-1C30-27BD-3798155E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447CE-4764-C2ED-7E94-F74920AF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6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4BBA-E6CE-50B0-2F82-FC3005EB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68137-6B29-0249-B29B-8A48252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CD2B9-4977-B367-3BFE-52821710A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0503-54AD-2ED8-92BD-DFBED67B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53BD-B12D-92DC-8522-ACE6F320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058B6-156A-3DF1-307E-FF15AFD3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1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9C0A-E2EC-D362-ABB5-EC613F04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CEAE01-C50D-CEBE-7238-81E676550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3D431-AEE8-E435-8205-502448FEC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5E1A1-3628-F221-95CB-1331FC96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68926-E62A-4093-9BDB-0CE1E209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F7D1A-A674-9E76-3190-2573CE30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6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3FA3-410E-8943-6491-18973D95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BFCEC-C3F9-8DBC-0424-464B83F74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FFC70-CA93-623E-EB51-F7166FB15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7ACA2-4594-E166-B3E5-EE0B48EED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3ED48-E8A6-5726-845D-0C2AFBF3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0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1D64F-8C3D-9E45-0988-D4D51E94B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D7FD4-A459-2A55-A1C3-33CAD6E78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B2952-4C68-89F0-5451-38BD209E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3F04F-D881-5046-293B-31E2DD16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F1188-D564-C1C3-2C40-5DA92C5A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6786F-41AE-3874-A652-68D62775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84130-3A0A-3BCF-C365-0370C9B56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7F2E-930A-7F45-3820-595EDF2D9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3741A-CD7C-40D5-AE30-858A6068EA03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40773-0EE4-0218-FFAB-D66A3226D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5DF5-8640-06E6-A27A-77750B17E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CA65E-DB71-4233-B7C8-D9C3B6DE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1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imapourmoradi/heart-failure-clinical-record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6D41-6E73-B154-3748-D8D9A6D79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7384" y="592347"/>
            <a:ext cx="7538224" cy="6119003"/>
          </a:xfrm>
        </p:spPr>
        <p:txBody>
          <a:bodyPr>
            <a:normAutofit fontScale="90000"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of Clinical Factors with Heart </a:t>
            </a:r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Failure Mortality</a:t>
            </a:r>
            <a:b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TEAM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MEMBERS: -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PRATHIMA BURRI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RATHNAKAR RAJANALA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ROSHINI AMULLA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SABA AMREEN MOHAMMAD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SAI KUMAR CHARY SRIPATHI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of an electromagnetic radiation">
            <a:extLst>
              <a:ext uri="{FF2B5EF4-FFF2-40B4-BE49-F238E27FC236}">
                <a16:creationId xmlns:a16="http://schemas.microsoft.com/office/drawing/2014/main" id="{560F9224-FBEA-7826-0805-AE233D56E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507" t="9091" r="-2" b="-2"/>
          <a:stretch/>
        </p:blipFill>
        <p:spPr>
          <a:xfrm>
            <a:off x="-96711" y="0"/>
            <a:ext cx="3476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1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2C3F-F0FC-6D68-D970-5A74E2E9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C19C-39D6-3933-D614-76836F41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aim: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correlation between various clinical factors (age, anemia, high blood pressure, CPK levels, diabetes, ejection fraction, platelet count, sex, serum creatinine, serum sodium, smoking status, follow-up period) and mortality in heart failure patients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failure affects millions globally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mortality rate, major public health concern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high-risk heart failure patients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factor-mortality relationships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therapy based on findings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risk factors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monitoring and treatment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patient outcomes</a:t>
            </a:r>
          </a:p>
        </p:txBody>
      </p:sp>
    </p:spTree>
    <p:extLst>
      <p:ext uri="{BB962C8B-B14F-4D97-AF65-F5344CB8AC3E}">
        <p14:creationId xmlns:p14="http://schemas.microsoft.com/office/powerpoint/2010/main" val="21658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AF56-BA54-8511-45F7-2E54C69C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42D2-8B6E-A15C-44B1-56AFBF52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Faisalabad Institute of Cardiology and the Allied Hospital in Faisalabad, Pakistan299 heart failure patients (105 women, 194 men), ages 40-95All had left ventricular systolic dysfunction and previous heart failures in NYHA classes III or IV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Death event (binary)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Age, anemia, high blood pressure, CPK levels, diabetes, ejection fraction, platelet count, sex, serum creatinine, serum sodium, smoking status, follow-up period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Link: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https://www.kaggle.com/datasets/nimapourmoradi/heart-failure-clinical-records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42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532-670C-7885-DE36-E6DD43DEB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DB4B-7A4C-7475-0AD3-A5782437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741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/>
              <a:t>Converting categorical variables to factors</a:t>
            </a:r>
          </a:p>
          <a:p>
            <a:pPr marL="514350" indent="-514350">
              <a:buAutoNum type="arabicPeriod"/>
            </a:pPr>
            <a:r>
              <a:rPr lang="en-US" b="1" dirty="0"/>
              <a:t>Check form Missing Values – </a:t>
            </a:r>
            <a:r>
              <a:rPr lang="en-US" dirty="0"/>
              <a:t>No missing values found</a:t>
            </a:r>
          </a:p>
          <a:p>
            <a:pPr marL="514350" indent="-514350">
              <a:buAutoNum type="arabicPeriod"/>
            </a:pPr>
            <a:r>
              <a:rPr lang="en-US" b="1" dirty="0"/>
              <a:t>Standardization of continuous variables</a:t>
            </a:r>
          </a:p>
          <a:p>
            <a:pPr marL="514350" indent="-514350">
              <a:buAutoNum type="arabicPeriod"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B28C6-F83E-C3CA-3EF2-A3026E2C1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610" y="1469935"/>
            <a:ext cx="5671484" cy="1509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7B258B-30F6-E844-C8EF-3891BAB6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10" y="3067026"/>
            <a:ext cx="5671484" cy="310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2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ABE1108-6423-4E53-85A1-81768304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CB8554-70AB-EFDE-F884-8C0B3680A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97" r="600" b="-4045"/>
          <a:stretch/>
        </p:blipFill>
        <p:spPr>
          <a:xfrm>
            <a:off x="4169754" y="3969721"/>
            <a:ext cx="3849442" cy="24732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84EAE2-D20F-9375-E313-4BA1E6D6C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-4352" r="4" b="4"/>
          <a:stretch/>
        </p:blipFill>
        <p:spPr>
          <a:xfrm>
            <a:off x="8081632" y="3871399"/>
            <a:ext cx="3838256" cy="2473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F394BB-6792-419D-3F6C-DC0F180CF5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" t="-1695" r="5" b="4"/>
          <a:stretch/>
        </p:blipFill>
        <p:spPr>
          <a:xfrm>
            <a:off x="5632359" y="1071716"/>
            <a:ext cx="4187091" cy="2629345"/>
          </a:xfrm>
          <a:prstGeom prst="rect">
            <a:avLst/>
          </a:prstGeom>
        </p:spPr>
      </p:pic>
      <p:sp>
        <p:nvSpPr>
          <p:cNvPr id="23" name="Rectangle 23">
            <a:extLst>
              <a:ext uri="{FF2B5EF4-FFF2-40B4-BE49-F238E27FC236}">
                <a16:creationId xmlns:a16="http://schemas.microsoft.com/office/drawing/2014/main" id="{4D1CF836-3F55-C6DD-F162-EC196E8D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28" y="2294993"/>
            <a:ext cx="4207239" cy="37365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Symmetric distribution, median 60 years, interquartile range 51-70 years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CPK levels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Right-skewed distribution, median 250, mean 581.8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Ejection fraction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Symmetric distribution, median 38%, interquartile range 30-45% 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65DC3DB-6F6F-A1E8-EB80-CDDC4DAF843F}"/>
              </a:ext>
            </a:extLst>
          </p:cNvPr>
          <p:cNvSpPr txBox="1">
            <a:spLocks/>
          </p:cNvSpPr>
          <p:nvPr/>
        </p:nvSpPr>
        <p:spPr>
          <a:xfrm>
            <a:off x="511828" y="604305"/>
            <a:ext cx="5262025" cy="12791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EDA - Distribution Plots</a:t>
            </a:r>
          </a:p>
        </p:txBody>
      </p:sp>
    </p:spTree>
    <p:extLst>
      <p:ext uri="{BB962C8B-B14F-4D97-AF65-F5344CB8AC3E}">
        <p14:creationId xmlns:p14="http://schemas.microsoft.com/office/powerpoint/2010/main" val="4128703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9E115D7-68EB-4590-9BD1-A56D94144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4D1CF836-3F55-C6DD-F162-EC196E8D7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90" y="2045758"/>
            <a:ext cx="5344742" cy="37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Serum creatinine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platelets, follow-up time: Right-skewed distributions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Serum sodium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Approximately symmetric distribution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Platelets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Median 262,000, mean 263,358, right-skewed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/>
              <a:t>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: Median 115 days, mean 130.3 days, right-skewed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9E659B7-4304-6A88-E271-6349AF2EA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13" y="1297321"/>
            <a:ext cx="3318689" cy="20492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3624402-44C0-8E46-E96A-9D108DDDC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402" y="1412713"/>
            <a:ext cx="3073478" cy="18978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4F090E-20B7-B23C-5583-1A9FDED00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713" y="3508873"/>
            <a:ext cx="3330428" cy="20565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B1AFF5-46F7-D0E2-936F-AA1BF1359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402" y="3627055"/>
            <a:ext cx="3073478" cy="189787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BFFE46-E7DF-1A48-CE26-5DD703B84C56}"/>
              </a:ext>
            </a:extLst>
          </p:cNvPr>
          <p:cNvSpPr txBox="1">
            <a:spLocks/>
          </p:cNvSpPr>
          <p:nvPr/>
        </p:nvSpPr>
        <p:spPr>
          <a:xfrm>
            <a:off x="511828" y="604305"/>
            <a:ext cx="5262025" cy="12791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/>
              <a:t>EDA - Distribution Plots</a:t>
            </a:r>
          </a:p>
        </p:txBody>
      </p:sp>
    </p:spTree>
    <p:extLst>
      <p:ext uri="{BB962C8B-B14F-4D97-AF65-F5344CB8AC3E}">
        <p14:creationId xmlns:p14="http://schemas.microsoft.com/office/powerpoint/2010/main" val="3342110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DC09A0A-5EF7-45F4-B8EE-54903540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FCC72-D3EE-9101-7DCA-20139D10C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29" y="343336"/>
            <a:ext cx="6017562" cy="15440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EDA - Categorical Variables</a:t>
            </a:r>
          </a:p>
        </p:txBody>
      </p:sp>
      <p:pic>
        <p:nvPicPr>
          <p:cNvPr id="6" name="Picture 5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705BCE24-44B2-6EE1-BAC7-34CD4D978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465" y="3727401"/>
            <a:ext cx="4795285" cy="2961087"/>
          </a:xfrm>
          <a:prstGeom prst="rect">
            <a:avLst/>
          </a:prstGeom>
        </p:spPr>
      </p:pic>
      <p:pic>
        <p:nvPicPr>
          <p:cNvPr id="10" name="Picture 9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0F7CDEFC-DCA6-1D70-6B1B-C4AC9DCC2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976" y="924905"/>
            <a:ext cx="3492501" cy="2156618"/>
          </a:xfrm>
          <a:prstGeom prst="rect">
            <a:avLst/>
          </a:prstGeom>
        </p:spPr>
      </p:pic>
      <p:pic>
        <p:nvPicPr>
          <p:cNvPr id="8" name="Picture 7" descr="A graph of diabetes&#10;&#10;Description automatically generated">
            <a:extLst>
              <a:ext uri="{FF2B5EF4-FFF2-40B4-BE49-F238E27FC236}">
                <a16:creationId xmlns:a16="http://schemas.microsoft.com/office/drawing/2014/main" id="{28B4FB0C-BB8D-B040-91FD-0DB843C29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477" y="911627"/>
            <a:ext cx="3454610" cy="21332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B72D9A-1759-2EF6-AA54-8B8AB2A71A03}"/>
              </a:ext>
            </a:extLst>
          </p:cNvPr>
          <p:cNvSpPr txBox="1"/>
          <p:nvPr/>
        </p:nvSpPr>
        <p:spPr>
          <a:xfrm>
            <a:off x="579988" y="2037508"/>
            <a:ext cx="4616140" cy="3803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Anemia</a:t>
            </a:r>
            <a:r>
              <a:rPr lang="en-US" sz="2000" dirty="0"/>
              <a:t>: Lower survival rate (64.34%) compared to non-anemic patients (70.59%), associated with increased death risk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Diabetes</a:t>
            </a:r>
            <a:r>
              <a:rPr lang="en-US" sz="2000" dirty="0"/>
              <a:t>: Survival rates comparable between diabetic (68%) and non-diabetic (67.82%) patients, minimal impact on mortality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High Blood Pressure</a:t>
            </a:r>
            <a:r>
              <a:rPr lang="en-US" sz="2000" dirty="0"/>
              <a:t>: Lower survival rate (62.86%) compared to patients without high blood pressure (70.62%), related to increased mortality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2BAFDD-A03C-F5BC-8E66-F798E5D8C91E}"/>
              </a:ext>
            </a:extLst>
          </p:cNvPr>
          <p:cNvSpPr txBox="1"/>
          <p:nvPr/>
        </p:nvSpPr>
        <p:spPr>
          <a:xfrm>
            <a:off x="5544679" y="3219796"/>
            <a:ext cx="5548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Distribution of Categorical Variables by Death Event</a:t>
            </a:r>
          </a:p>
        </p:txBody>
      </p:sp>
    </p:spTree>
    <p:extLst>
      <p:ext uri="{BB962C8B-B14F-4D97-AF65-F5344CB8AC3E}">
        <p14:creationId xmlns:p14="http://schemas.microsoft.com/office/powerpoint/2010/main" val="318918629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221AA6A-14A3-4CB1-A46D-4BBC72A28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F29590E9-420C-EA90-62AA-E7B638F1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989" y="1125349"/>
            <a:ext cx="3822757" cy="2360552"/>
          </a:xfrm>
          <a:prstGeom prst="rect">
            <a:avLst/>
          </a:prstGeom>
        </p:spPr>
      </p:pic>
      <p:pic>
        <p:nvPicPr>
          <p:cNvPr id="14" name="Picture 13" descr="A graph of smoking and smoking&#10;&#10;Description automatically generated">
            <a:extLst>
              <a:ext uri="{FF2B5EF4-FFF2-40B4-BE49-F238E27FC236}">
                <a16:creationId xmlns:a16="http://schemas.microsoft.com/office/drawing/2014/main" id="{852EF0BE-F58B-B54E-3F25-9E79FF1BC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629" y="1125349"/>
            <a:ext cx="3680927" cy="2272972"/>
          </a:xfrm>
          <a:prstGeom prst="rect">
            <a:avLst/>
          </a:prstGeom>
        </p:spPr>
      </p:pic>
      <p:pic>
        <p:nvPicPr>
          <p:cNvPr id="16" name="Picture 1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868BD81-86F3-A1A9-EC63-EDF42CDBB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616" y="3892589"/>
            <a:ext cx="4111647" cy="253894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EB72D9A-1759-2EF6-AA54-8B8AB2A71A03}"/>
              </a:ext>
            </a:extLst>
          </p:cNvPr>
          <p:cNvSpPr txBox="1"/>
          <p:nvPr/>
        </p:nvSpPr>
        <p:spPr>
          <a:xfrm>
            <a:off x="670585" y="2117617"/>
            <a:ext cx="3822758" cy="39462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Sex</a:t>
            </a:r>
            <a:r>
              <a:rPr lang="en-US" sz="2000" dirty="0"/>
              <a:t>: Modest difference in survival rates between males (68.04%) and females (67.62%)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Smoking</a:t>
            </a:r>
            <a:r>
              <a:rPr lang="en-US" sz="2000" dirty="0"/>
              <a:t>: Minimal difference in survival rates between smokers (68.75%) and non-smokers (67.49%)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Dataset imbalance: </a:t>
            </a:r>
            <a:r>
              <a:rPr lang="en-US" sz="2000" dirty="0"/>
              <a:t>Majority class is death event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• </a:t>
            </a:r>
            <a:r>
              <a:rPr lang="en-US" sz="2000" b="1" dirty="0"/>
              <a:t>Key</a:t>
            </a:r>
            <a:r>
              <a:rPr lang="en-US" sz="2000" dirty="0"/>
              <a:t> </a:t>
            </a:r>
            <a:r>
              <a:rPr lang="en-US" sz="2000" b="1" dirty="0"/>
              <a:t>Factors</a:t>
            </a:r>
            <a:r>
              <a:rPr lang="en-US" sz="2000" dirty="0"/>
              <a:t>: High Blood Pressure and Anemia are highly affecting patient survival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45FD65-3240-B6FC-69F1-2798FEC92BFB}"/>
              </a:ext>
            </a:extLst>
          </p:cNvPr>
          <p:cNvSpPr txBox="1">
            <a:spLocks/>
          </p:cNvSpPr>
          <p:nvPr/>
        </p:nvSpPr>
        <p:spPr>
          <a:xfrm>
            <a:off x="547929" y="343336"/>
            <a:ext cx="6017562" cy="1544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EDA - Categorical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57B4C-8576-BD3B-1BDB-90789FEBEF81}"/>
              </a:ext>
            </a:extLst>
          </p:cNvPr>
          <p:cNvSpPr txBox="1"/>
          <p:nvPr/>
        </p:nvSpPr>
        <p:spPr>
          <a:xfrm>
            <a:off x="5253593" y="3466120"/>
            <a:ext cx="5548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Distribution of Categorical Variables by Death Event</a:t>
            </a:r>
          </a:p>
        </p:txBody>
      </p:sp>
    </p:spTree>
    <p:extLst>
      <p:ext uri="{BB962C8B-B14F-4D97-AF65-F5344CB8AC3E}">
        <p14:creationId xmlns:p14="http://schemas.microsoft.com/office/powerpoint/2010/main" val="303279346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CE8BB-34A5-5CBF-3270-B9CAA7BDB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34" r="-1" b="-1"/>
          <a:stretch/>
        </p:blipFill>
        <p:spPr>
          <a:xfrm>
            <a:off x="676901" y="1516454"/>
            <a:ext cx="5815657" cy="41246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937AE-0314-2901-448D-8D67A652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13" y="0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/>
              <a:t>EDA - Correlation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44B2D-1499-A28C-696D-180AB4DD1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0" y="2876653"/>
            <a:ext cx="5149476" cy="2196792"/>
          </a:xfrm>
        </p:spPr>
        <p:txBody>
          <a:bodyPr>
            <a:normAutofit/>
          </a:bodyPr>
          <a:lstStyle/>
          <a:p>
            <a:r>
              <a:rPr lang="en-US" sz="2000" dirty="0"/>
              <a:t>Largely weak relationships between the numerical variables</a:t>
            </a:r>
          </a:p>
          <a:p>
            <a:r>
              <a:rPr lang="en-US" sz="2000" dirty="0"/>
              <a:t>Largest positive connection between ejection fraction and serum sodium (0.18) </a:t>
            </a:r>
          </a:p>
          <a:p>
            <a:r>
              <a:rPr lang="en-US" sz="2000" dirty="0"/>
              <a:t>Strongest negative correlation between age and time (-0.22).</a:t>
            </a:r>
          </a:p>
        </p:txBody>
      </p:sp>
    </p:spTree>
    <p:extLst>
      <p:ext uri="{BB962C8B-B14F-4D97-AF65-F5344CB8AC3E}">
        <p14:creationId xmlns:p14="http://schemas.microsoft.com/office/powerpoint/2010/main" val="1768383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DF46-05F8-5E2A-A930-BD2E1972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EDA – Scatter Plots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8BB3A7-A24B-E56B-CFC8-E566D765E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8824"/>
            <a:ext cx="5360349" cy="3314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22479-5EC2-C4F5-8EA3-6CA2C98D4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719" y="675655"/>
            <a:ext cx="4189244" cy="2590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85509B-9045-0932-3DF1-4A01ABC9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549" y="3547622"/>
            <a:ext cx="4724009" cy="292109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5938957-49CD-1C58-6FB4-EA554ACB3C1F}"/>
              </a:ext>
            </a:extLst>
          </p:cNvPr>
          <p:cNvSpPr txBox="1"/>
          <p:nvPr/>
        </p:nvSpPr>
        <p:spPr>
          <a:xfrm>
            <a:off x="1269442" y="5067127"/>
            <a:ext cx="40553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significant difference has been found in the features with respect to the death event.</a:t>
            </a:r>
          </a:p>
        </p:txBody>
      </p:sp>
    </p:spTree>
    <p:extLst>
      <p:ext uri="{BB962C8B-B14F-4D97-AF65-F5344CB8AC3E}">
        <p14:creationId xmlns:p14="http://schemas.microsoft.com/office/powerpoint/2010/main" val="5671647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DF46-05F8-5E2A-A930-BD2E1972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EDA – Scatter Plots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29D049-1238-7D34-987A-E136D6B3B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83" y="1585982"/>
            <a:ext cx="3331667" cy="20601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2C30EF-EC94-9E54-798D-480724DA4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66" y="1690986"/>
            <a:ext cx="3409340" cy="21081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EF8A5C-C4B7-4474-5813-456A874A9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258" y="1854548"/>
            <a:ext cx="3144828" cy="19446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80122A-D699-068F-461F-49A2DEF66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83" y="4164736"/>
            <a:ext cx="3581400" cy="2214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C3BC40-49D4-405F-4C69-E7A75C0DB34B}"/>
              </a:ext>
            </a:extLst>
          </p:cNvPr>
          <p:cNvSpPr txBox="1"/>
          <p:nvPr/>
        </p:nvSpPr>
        <p:spPr>
          <a:xfrm>
            <a:off x="5046784" y="4375115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significant difference has been found in the features with respect to the death event.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9AE06-DD4F-15ED-6EEB-EF3511BABA47}"/>
              </a:ext>
            </a:extLst>
          </p:cNvPr>
          <p:cNvSpPr txBox="1"/>
          <p:nvPr/>
        </p:nvSpPr>
        <p:spPr>
          <a:xfrm>
            <a:off x="5046784" y="5248755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comparing time distribution with respect to death event, the death patients has tendency to have time below 0 and survival patients has higher time when compared.</a:t>
            </a:r>
          </a:p>
        </p:txBody>
      </p:sp>
    </p:spTree>
    <p:extLst>
      <p:ext uri="{BB962C8B-B14F-4D97-AF65-F5344CB8AC3E}">
        <p14:creationId xmlns:p14="http://schemas.microsoft.com/office/powerpoint/2010/main" val="112170591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D456-4FC7-253B-A564-C57009069D8D}"/>
              </a:ext>
            </a:extLst>
          </p:cNvPr>
          <p:cNvSpPr>
            <a:spLocks/>
          </p:cNvSpPr>
          <p:nvPr/>
        </p:nvSpPr>
        <p:spPr>
          <a:xfrm>
            <a:off x="848032" y="492495"/>
            <a:ext cx="10350910" cy="3512608"/>
          </a:xfrm>
          <a:prstGeom prst="rect">
            <a:avLst/>
          </a:prstGeom>
        </p:spPr>
        <p:txBody>
          <a:bodyPr/>
          <a:lstStyle/>
          <a:p>
            <a:pPr defTabSz="731520"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Outliers Detection using Standard Residuals</a:t>
            </a:r>
            <a:endParaRPr lang="en-US" altLang="en-US" sz="4400" kern="12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lvl="1" defTabSz="73152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4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Handled outliers using standardized residuals </a:t>
            </a:r>
          </a:p>
          <a:p>
            <a:pPr lvl="1" defTabSz="73152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4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Filtered out observations with |standardized residual| &gt; 1.96 </a:t>
            </a:r>
          </a:p>
          <a:p>
            <a:pPr lvl="1" defTabSz="73152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44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Created a cleaned dataset by removing outliers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731520">
              <a:spcAft>
                <a:spcPts val="600"/>
              </a:spcAft>
            </a:pPr>
            <a:endParaRPr lang="en-US" sz="144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77AF1B-32EA-6FC1-EF1F-F34716075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1" y="3027973"/>
            <a:ext cx="5506299" cy="3498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2B56BA-F1EC-5873-7BC4-0CE9F474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529" y="1633759"/>
            <a:ext cx="4031695" cy="8165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7056D6-EB46-F892-2AD2-646B4CB7C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445" y="2534356"/>
            <a:ext cx="4187779" cy="4936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824BCB-24BE-E7FD-692B-2047DA821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337" y="3299344"/>
            <a:ext cx="4958609" cy="30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8971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6982-C9E3-7335-E683-0DC6B130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Tests - Categorical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6441-71DB-BCA8-BF07-03399CFD1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36"/>
            <a:ext cx="10515600" cy="686463"/>
          </a:xfrm>
        </p:spPr>
        <p:txBody>
          <a:bodyPr/>
          <a:lstStyle/>
          <a:p>
            <a:r>
              <a:rPr lang="en-US" b="1" dirty="0"/>
              <a:t>Chi-Square  and Fishers Test for Categorical Variables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423514-FE3E-824B-2491-4DA79F256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102581"/>
              </p:ext>
            </p:extLst>
          </p:nvPr>
        </p:nvGraphicFramePr>
        <p:xfrm>
          <a:off x="1637882" y="2110154"/>
          <a:ext cx="4927904" cy="4099978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714831">
                  <a:extLst>
                    <a:ext uri="{9D8B030D-6E8A-4147-A177-3AD203B41FA5}">
                      <a16:colId xmlns:a16="http://schemas.microsoft.com/office/drawing/2014/main" val="1078357547"/>
                    </a:ext>
                  </a:extLst>
                </a:gridCol>
                <a:gridCol w="948972">
                  <a:extLst>
                    <a:ext uri="{9D8B030D-6E8A-4147-A177-3AD203B41FA5}">
                      <a16:colId xmlns:a16="http://schemas.microsoft.com/office/drawing/2014/main" val="3054071893"/>
                    </a:ext>
                  </a:extLst>
                </a:gridCol>
                <a:gridCol w="2264101">
                  <a:extLst>
                    <a:ext uri="{9D8B030D-6E8A-4147-A177-3AD203B41FA5}">
                      <a16:colId xmlns:a16="http://schemas.microsoft.com/office/drawing/2014/main" val="2522930640"/>
                    </a:ext>
                  </a:extLst>
                </a:gridCol>
              </a:tblGrid>
              <a:tr h="461954">
                <a:tc>
                  <a:txBody>
                    <a:bodyPr/>
                    <a:lstStyle/>
                    <a:p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Variable Name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P-value</a:t>
                      </a:r>
                    </a:p>
                  </a:txBody>
                  <a:tcPr marL="125782" marR="96756" marT="96756" marB="9675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cap="none" spc="0" dirty="0">
                          <a:solidFill>
                            <a:schemeClr val="bg1"/>
                          </a:solidFill>
                        </a:rPr>
                        <a:t>Result</a:t>
                      </a:r>
                    </a:p>
                  </a:txBody>
                  <a:tcPr marL="125782" marR="96756" marT="96756" marB="9675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701349"/>
                  </a:ext>
                </a:extLst>
              </a:tr>
              <a:tr h="689678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Anemia (Chi Square)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0.4042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No significant link with death event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191682"/>
                  </a:ext>
                </a:extLst>
              </a:tr>
              <a:tr h="689678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High Blood Pressure (Chi Square)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0.1077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No significant link with death event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433510"/>
                  </a:ext>
                </a:extLst>
              </a:tr>
              <a:tr h="689678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Diabetes (Chi Square)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1.0000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No significant link with death event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028739"/>
                  </a:ext>
                </a:extLst>
              </a:tr>
              <a:tr h="689678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Sex (Fisher’s)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No significant link with death event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90389"/>
                  </a:ext>
                </a:extLst>
              </a:tr>
              <a:tr h="689678"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Smoking Status (Fisher’s)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1.0000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No significant link with death event</a:t>
                      </a:r>
                    </a:p>
                  </a:txBody>
                  <a:tcPr marL="125782" marR="96756" marT="96756" marB="9675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0346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B785A9-76D1-5567-0210-D13A7CE817A3}"/>
              </a:ext>
            </a:extLst>
          </p:cNvPr>
          <p:cNvSpPr txBox="1"/>
          <p:nvPr/>
        </p:nvSpPr>
        <p:spPr>
          <a:xfrm>
            <a:off x="6762567" y="2541842"/>
            <a:ext cx="47026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Findings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chi-square tests did not find a statistically significant association between anemia, high blood pressure, diabetes, sex, and smoking status with the death event in this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Diabetes, sex and smoking status has p-values of 1 indicates no relation with death.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69801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A565BD-C733-E3CC-557E-9EF82ADD898C}"/>
              </a:ext>
            </a:extLst>
          </p:cNvPr>
          <p:cNvSpPr txBox="1">
            <a:spLocks/>
          </p:cNvSpPr>
          <p:nvPr/>
        </p:nvSpPr>
        <p:spPr>
          <a:xfrm>
            <a:off x="838200" y="4442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100" b="1" dirty="0"/>
              <a:t>Logistic Regression Test for Continuous Variables</a:t>
            </a:r>
            <a:br>
              <a:rPr lang="en-US" sz="3100" dirty="0"/>
            </a:br>
            <a:endParaRPr lang="en-US" sz="3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75614-DC92-55E3-BDED-24923DF95D8E}"/>
              </a:ext>
            </a:extLst>
          </p:cNvPr>
          <p:cNvSpPr txBox="1"/>
          <p:nvPr/>
        </p:nvSpPr>
        <p:spPr>
          <a:xfrm>
            <a:off x="838200" y="5718036"/>
            <a:ext cx="109928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Age, Ejection Fraction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Serum Creatinine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Serum Sodium, Follow-up Time are </a:t>
            </a:r>
            <a:r>
              <a:rPr lang="en-US" dirty="0"/>
              <a:t>potentially important predictors of mortality in heart failure patients.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368AFA-2F60-E7E0-4DA2-B227BE7CC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685385"/>
              </p:ext>
            </p:extLst>
          </p:nvPr>
        </p:nvGraphicFramePr>
        <p:xfrm>
          <a:off x="3341575" y="1415850"/>
          <a:ext cx="5986145" cy="4026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6462">
                  <a:extLst>
                    <a:ext uri="{9D8B030D-6E8A-4147-A177-3AD203B41FA5}">
                      <a16:colId xmlns:a16="http://schemas.microsoft.com/office/drawing/2014/main" val="3361439927"/>
                    </a:ext>
                  </a:extLst>
                </a:gridCol>
                <a:gridCol w="2336652">
                  <a:extLst>
                    <a:ext uri="{9D8B030D-6E8A-4147-A177-3AD203B41FA5}">
                      <a16:colId xmlns:a16="http://schemas.microsoft.com/office/drawing/2014/main" val="2128271187"/>
                    </a:ext>
                  </a:extLst>
                </a:gridCol>
                <a:gridCol w="1983031">
                  <a:extLst>
                    <a:ext uri="{9D8B030D-6E8A-4147-A177-3AD203B41FA5}">
                      <a16:colId xmlns:a16="http://schemas.microsoft.com/office/drawing/2014/main" val="2664093493"/>
                    </a:ext>
                  </a:extLst>
                </a:gridCol>
              </a:tblGrid>
              <a:tr h="493088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Feature Name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 value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Result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28952"/>
                  </a:ext>
                </a:extLst>
              </a:tr>
              <a:tr h="49308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Age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8.92e-06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650796"/>
                  </a:ext>
                </a:extLst>
              </a:tr>
              <a:tr h="49308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Creatinine Phosphokinase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0.684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26371"/>
                  </a:ext>
                </a:extLst>
              </a:tr>
              <a:tr h="50803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Ejection Fraction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2.45e-06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690817"/>
                  </a:ext>
                </a:extLst>
              </a:tr>
              <a:tr h="49308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Platelets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0.426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 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034868"/>
                  </a:ext>
                </a:extLst>
              </a:tr>
              <a:tr h="493088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Serum Creatinine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1.58e-10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3643"/>
                  </a:ext>
                </a:extLst>
              </a:tr>
              <a:tr h="50803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Serum Sodium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0.00069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410801"/>
                  </a:ext>
                </a:extLst>
              </a:tr>
              <a:tr h="49308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6.85e-21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Significant difference found</a:t>
                      </a:r>
                    </a:p>
                  </a:txBody>
                  <a:tcPr marL="153054" marR="91832" marT="91832" marB="91832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198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55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BD2C-73F8-F811-C6F3-604A689C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Model with One Variable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7B2BA-9F38-3A65-4836-ACED0B9817E1}"/>
              </a:ext>
            </a:extLst>
          </p:cNvPr>
          <p:cNvSpPr txBox="1"/>
          <p:nvPr/>
        </p:nvSpPr>
        <p:spPr>
          <a:xfrm>
            <a:off x="1034980" y="1584144"/>
            <a:ext cx="44514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X = [age  or  </a:t>
            </a:r>
            <a:r>
              <a:rPr lang="en-US" dirty="0" err="1"/>
              <a:t>ejection_fraction</a:t>
            </a:r>
            <a:r>
              <a:rPr lang="en-US" dirty="0"/>
              <a:t> or  serum_creatinine or serum_sodium or time] and Y = Death_Event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Splitting Data into Train and Test Data 75% Training Data and 25% Test Data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 the model using Train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65E1B-A854-026E-5FC9-65FCDBA5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128" y="1690688"/>
            <a:ext cx="4451420" cy="3772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B68EB-857F-4F83-DCCB-3813F3DC402D}"/>
              </a:ext>
            </a:extLst>
          </p:cNvPr>
          <p:cNvSpPr txBox="1"/>
          <p:nvPr/>
        </p:nvSpPr>
        <p:spPr>
          <a:xfrm>
            <a:off x="1545479" y="4438413"/>
            <a:ext cx="283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 is the best predictor</a:t>
            </a:r>
          </a:p>
        </p:txBody>
      </p:sp>
    </p:spTree>
    <p:extLst>
      <p:ext uri="{BB962C8B-B14F-4D97-AF65-F5344CB8AC3E}">
        <p14:creationId xmlns:p14="http://schemas.microsoft.com/office/powerpoint/2010/main" val="2913334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BD2C-73F8-F811-C6F3-604A689C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Logistic Regression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BBD42-40F3-8E66-3B65-48342C0FF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017" y="1495521"/>
            <a:ext cx="5788724" cy="4997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7B2BA-9F38-3A65-4836-ACED0B9817E1}"/>
              </a:ext>
            </a:extLst>
          </p:cNvPr>
          <p:cNvSpPr txBox="1"/>
          <p:nvPr/>
        </p:nvSpPr>
        <p:spPr>
          <a:xfrm>
            <a:off x="1034980" y="1584144"/>
            <a:ext cx="44514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X = [age  +  </a:t>
            </a:r>
            <a:r>
              <a:rPr lang="en-US" dirty="0" err="1"/>
              <a:t>ejection_fraction</a:t>
            </a:r>
            <a:r>
              <a:rPr lang="en-US" dirty="0"/>
              <a:t> + serum_creatinine + serum_sodium + time] and Y = Death_Event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Splitting Data into Train and Test Data 75% Training Data and 25% Test Data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Train the model using Train Data</a:t>
            </a:r>
          </a:p>
        </p:txBody>
      </p:sp>
    </p:spTree>
    <p:extLst>
      <p:ext uri="{BB962C8B-B14F-4D97-AF65-F5344CB8AC3E}">
        <p14:creationId xmlns:p14="http://schemas.microsoft.com/office/powerpoint/2010/main" val="348809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7" name="Rectangle 12296">
            <a:extLst>
              <a:ext uri="{FF2B5EF4-FFF2-40B4-BE49-F238E27FC236}">
                <a16:creationId xmlns:a16="http://schemas.microsoft.com/office/drawing/2014/main" id="{ADC09A0A-5EF7-45F4-B8EE-54903540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346F8-8D92-4891-524D-A61A6F69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13" y="-50477"/>
            <a:ext cx="6017562" cy="1544062"/>
          </a:xfrm>
        </p:spPr>
        <p:txBody>
          <a:bodyPr>
            <a:normAutofit/>
          </a:bodyPr>
          <a:lstStyle/>
          <a:p>
            <a:r>
              <a:rPr lang="en-US" sz="4000" b="1" dirty="0"/>
              <a:t>Performance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FA5D50-8539-B3F8-247A-1893C0F0E118}"/>
              </a:ext>
            </a:extLst>
          </p:cNvPr>
          <p:cNvSpPr txBox="1"/>
          <p:nvPr/>
        </p:nvSpPr>
        <p:spPr>
          <a:xfrm>
            <a:off x="5599396" y="4425276"/>
            <a:ext cx="53724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 AUC ROC Curve </a:t>
            </a:r>
            <a:r>
              <a:rPr lang="en-US"/>
              <a:t>- trade-off between the true positive rate (TPR) and the false positive rate (FPR) for different probability thresholds.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B7892A-E480-55C3-47F8-4AD2273AFF5D}"/>
              </a:ext>
            </a:extLst>
          </p:cNvPr>
          <p:cNvSpPr txBox="1"/>
          <p:nvPr/>
        </p:nvSpPr>
        <p:spPr>
          <a:xfrm>
            <a:off x="868442" y="6031103"/>
            <a:ext cx="3884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Accuracy Achieved: </a:t>
            </a:r>
            <a:r>
              <a:rPr lang="en-US" dirty="0"/>
              <a:t>88.89%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0210E3-7840-7989-D56A-DD0EDD00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47" y="1371661"/>
            <a:ext cx="3440890" cy="43211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0802C6-F079-9763-32EA-F57176B74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783" y="1235947"/>
            <a:ext cx="4950482" cy="306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7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674C-47DA-EF4D-D47D-9B498F42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C347-35AE-9013-59B4-D8482EEE1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0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Age, ejection fraction, serum creatinine, serum sodium, and follow-up period (time) emerged as significant predictors of mortality, indicating a strong correlation between these factors and mortality in heart failure patients</a:t>
            </a:r>
            <a:endParaRPr lang="en-US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findings highlight the importance of considering these clinical factors, particularly age, ejection fraction, serum creatinine, serum sodium, and follow-up period, in assessing mortality risk and developing predictive models for heart failure patients.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b="1" dirty="0"/>
              <a:t>Key predictors</a:t>
            </a:r>
            <a:r>
              <a:rPr lang="en-US" sz="2000" dirty="0"/>
              <a:t>: Age, ejection fraction, serum creatinine, serum sodium, and follow-up period are identified as significant predictors of mortality in heart failure patients.</a:t>
            </a:r>
          </a:p>
          <a:p>
            <a:endParaRPr lang="en-US" sz="2000" dirty="0"/>
          </a:p>
          <a:p>
            <a:endParaRPr lang="en-US" sz="3200" dirty="0"/>
          </a:p>
          <a:p>
            <a:endParaRPr lang="en-US" sz="2000" dirty="0"/>
          </a:p>
        </p:txBody>
      </p:sp>
      <p:pic>
        <p:nvPicPr>
          <p:cNvPr id="4" name="Graphic 3" descr="Protecting Hand">
            <a:extLst>
              <a:ext uri="{FF2B5EF4-FFF2-40B4-BE49-F238E27FC236}">
                <a16:creationId xmlns:a16="http://schemas.microsoft.com/office/drawing/2014/main" id="{CC83F931-783B-5434-41C2-CE9B96856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301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0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1065</Words>
  <Application>Microsoft Office PowerPoint</Application>
  <PresentationFormat>Widescreen</PresentationFormat>
  <Paragraphs>132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Correlation of Clinical Factors with Heart Failure Mortality  TEAM MEMBERS: - PRATHIMA BURRI RATHNAKAR RAJANALA ROSHINI AMULLA SABA AMREEN MOHAMMAD SAI KUMAR CHARY SRIPATHI </vt:lpstr>
      <vt:lpstr>Introduction</vt:lpstr>
      <vt:lpstr>Data Set Description</vt:lpstr>
      <vt:lpstr>Data Preprocessing Steps</vt:lpstr>
      <vt:lpstr>PowerPoint Presentation</vt:lpstr>
      <vt:lpstr>PowerPoint Presentation</vt:lpstr>
      <vt:lpstr>EDA - Categorical Variables</vt:lpstr>
      <vt:lpstr>PowerPoint Presentation</vt:lpstr>
      <vt:lpstr>EDA - Correlation</vt:lpstr>
      <vt:lpstr>EDA – Scatter Plots</vt:lpstr>
      <vt:lpstr>EDA – Scatter Plots</vt:lpstr>
      <vt:lpstr>PowerPoint Presentation</vt:lpstr>
      <vt:lpstr>Statistical Tests - Categorical Variables</vt:lpstr>
      <vt:lpstr>PowerPoint Presentation</vt:lpstr>
      <vt:lpstr>Logistic Regression Model with One Variable</vt:lpstr>
      <vt:lpstr>Logistic Regression Model</vt:lpstr>
      <vt:lpstr>Performance Metrics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of Clinical Factors with Heart Failure Mortality</dc:title>
  <dc:creator>Shiva Sai Sankoju</dc:creator>
  <cp:lastModifiedBy>Rathnakar Rajanala</cp:lastModifiedBy>
  <cp:revision>40</cp:revision>
  <dcterms:created xsi:type="dcterms:W3CDTF">2024-05-02T20:08:35Z</dcterms:created>
  <dcterms:modified xsi:type="dcterms:W3CDTF">2024-05-06T16:13:14Z</dcterms:modified>
</cp:coreProperties>
</file>