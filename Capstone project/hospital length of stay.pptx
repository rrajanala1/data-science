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83"/>
    <p:restoredTop sz="94700"/>
  </p:normalViewPr>
  <p:slideViewPr>
    <p:cSldViewPr snapToGrid="0">
      <p:cViewPr varScale="1">
        <p:scale>
          <a:sx n="89" d="100"/>
          <a:sy n="89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893D5-CBFB-E14E-B7FA-58A9D68F5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F1536-12FB-FA4B-6454-E1594347D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D7B99-0187-82DD-F55E-A6F99AB5D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E5E2-4329-9847-8868-B192E7124C9C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6D6FB-7EAB-F34D-CA2F-EA04A835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D5517-6A52-45B1-E322-9E7EC787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64E6-5B41-9C44-8ACF-0912C1D9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16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FC93F-B8B2-67B9-D988-E3ABAECED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E404C-ACC1-EE2D-7CBD-3010B986A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58D33-F40E-AD4D-28FC-4DBFBB33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E5E2-4329-9847-8868-B192E7124C9C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43505-5640-2178-BF4C-3DC49BAF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FAD1D-16C1-36B4-DE77-09E66F118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64E6-5B41-9C44-8ACF-0912C1D9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95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00A4-23DC-9617-33D2-8A6F077E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49DCA-BE1A-C635-A984-3FD8A40BA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F361A-B446-8193-427F-0558B3EC0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E5E2-4329-9847-8868-B192E7124C9C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1FDE5-33D0-DCDC-9DBF-3FDED3C2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590DE-FB07-25C1-D639-5C7C42547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64E6-5B41-9C44-8ACF-0912C1D9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4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846A4-EA17-0790-9AED-039EB354E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86E3D-1D99-DABA-74D8-72EB338599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76CDE-6D06-F018-6CFB-CCF3E2E05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1F508-C7D7-A418-A8AE-6FA3BD43C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E5E2-4329-9847-8868-B192E7124C9C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F6585-BC00-FADF-33D6-6F4F7809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7765C-3107-0EAC-5971-87AEEA18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64E6-5B41-9C44-8ACF-0912C1D9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62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60EDB-6F02-4AA6-AF5B-723E2AD55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0EC53-363E-7445-F35D-5BD553290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95159-1F03-F4A9-1B87-6809AD198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099CE-E888-5C6D-8919-3D3CADCF8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3976DB-8EB8-2C31-FC21-D332A01F9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2C0DFB-2952-455B-B513-0EB125ACC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E5E2-4329-9847-8868-B192E7124C9C}" type="datetimeFigureOut">
              <a:rPr lang="en-US" smtClean="0"/>
              <a:t>8/6/25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20A038-C54E-F02D-BE89-9FB653B8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139DF7-5359-3F69-F1FF-62D8A569A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64E6-5B41-9C44-8ACF-0912C1D9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88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988C-F6E9-EAA9-0EFC-DF21FD7B5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CFF8AC-4731-EBF6-1BE8-20A861521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E5E2-4329-9847-8868-B192E7124C9C}" type="datetimeFigureOut">
              <a:rPr lang="en-US" smtClean="0"/>
              <a:t>8/6/25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6D160-0C70-BB76-E32A-2A9C3064C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AFF28-F1CB-0CE7-FC76-B0D4543DC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64E6-5B41-9C44-8ACF-0912C1D9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612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55651-3A8B-F631-31E7-38ED2AD9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E5E2-4329-9847-8868-B192E7124C9C}" type="datetimeFigureOut">
              <a:rPr lang="en-US" smtClean="0"/>
              <a:t>8/6/25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88CA2-E384-283F-7FFE-66F64EEB6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4B4F0-44EE-CA22-DF33-FCD3250C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64E6-5B41-9C44-8ACF-0912C1D9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22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2D4D2-1376-C87A-15A1-6E61A8D11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D02D0-2E9F-407E-3F14-E9FD0B6B7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1F532-0972-0214-6A85-71530CD5E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7A098-3A54-9FFE-EBF0-C29233829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E5E2-4329-9847-8868-B192E7124C9C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A2671-3C86-84DD-F914-A8B6B8381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DBF7D-1F45-8A4D-BEEA-9828A9AE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64E6-5B41-9C44-8ACF-0912C1D9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77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8EDD-5769-875E-97ED-F45050214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4A6561-4E04-544E-507B-4A706DC7C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9B8EA-82E9-F341-4521-D356050A9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974E0-54B8-3345-122E-723040DB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E5E2-4329-9847-8868-B192E7124C9C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3AECE-573A-6593-9254-2A407F81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880AA-52D8-3044-686B-8A7A47C0F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64E6-5B41-9C44-8ACF-0912C1D9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75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3D8A1-2323-3314-05DB-FB9842BE2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29029-A0A5-2051-5E8B-6FBE82651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4D628-F7BD-9FB7-0AF6-05BBC1613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E5E2-4329-9847-8868-B192E7124C9C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EC21B-C18A-AC90-125E-15223E35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E9260-4C38-2177-EC3D-67A4D5C7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64E6-5B41-9C44-8ACF-0912C1D9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52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7AF8E2-E889-5887-CA47-9963AFEB79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B77BA-D61C-1636-02F2-E4A8FBDF6D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938CF-76E4-FAC4-8DE2-09ABA908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E5E2-4329-9847-8868-B192E7124C9C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6F8C8-85E7-D812-32BE-78139B2D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EA376-D983-9ED7-7854-167DA28A9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64E6-5B41-9C44-8ACF-0912C1D9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87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B7843B-C08E-0ED4-B451-62B812681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9561E-7407-8D0D-4BFD-E98768B03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D2B72-0969-4C68-32F4-81E13D792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88E5E2-4329-9847-8868-B192E7124C9C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F934D-EF4A-234C-2C61-6E8B3A5C9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D1401-A31F-B24D-17DA-7A4F0F664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64E6-5B41-9C44-8ACF-0912C1D9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117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E259-8C49-FD0C-B4CE-DBA365547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388" y="1862051"/>
            <a:ext cx="8778238" cy="2072499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PREDICTIVE MODELING FOR LENGTH OF STAY USINGMACHINE LEARNING</a:t>
            </a:r>
            <a:endParaRPr lang="en-US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C674C-F1C4-0DE9-FE14-EBEF1E06E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388" y="4100804"/>
            <a:ext cx="8445731" cy="787080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Varun Ravichandran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Dedeepya</a:t>
            </a: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Ravipati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Sai Krupa </a:t>
            </a:r>
            <a:r>
              <a:rPr lang="en-US" sz="18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Chinthakunta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</a:p>
          <a:p>
            <a:r>
              <a:rPr lang="en-US" sz="18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Rathnakar</a:t>
            </a: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Rajanala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151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F089A8-C7BB-56F5-9F24-E0456E17371D}"/>
              </a:ext>
            </a:extLst>
          </p:cNvPr>
          <p:cNvSpPr txBox="1"/>
          <p:nvPr/>
        </p:nvSpPr>
        <p:spPr>
          <a:xfrm>
            <a:off x="3325092" y="698270"/>
            <a:ext cx="1903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C843AE-0E7A-EB53-4E7E-1E5E1751D695}"/>
              </a:ext>
            </a:extLst>
          </p:cNvPr>
          <p:cNvSpPr txBox="1"/>
          <p:nvPr/>
        </p:nvSpPr>
        <p:spPr>
          <a:xfrm>
            <a:off x="2493818" y="1928553"/>
            <a:ext cx="819634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authors declare no conflicts of interest.</a:t>
            </a:r>
          </a:p>
        </p:txBody>
      </p:sp>
    </p:spTree>
    <p:extLst>
      <p:ext uri="{BB962C8B-B14F-4D97-AF65-F5344CB8AC3E}">
        <p14:creationId xmlns:p14="http://schemas.microsoft.com/office/powerpoint/2010/main" val="2030246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5E815B-FD82-B760-6B25-AD12BF3F2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FCB51E-9EB6-47EB-0F6A-64027DEBBC0E}"/>
              </a:ext>
            </a:extLst>
          </p:cNvPr>
          <p:cNvSpPr txBox="1"/>
          <p:nvPr/>
        </p:nvSpPr>
        <p:spPr>
          <a:xfrm>
            <a:off x="3325092" y="698270"/>
            <a:ext cx="6160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&amp; Background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ADC39-C626-6B19-F083-A047751173E0}"/>
              </a:ext>
            </a:extLst>
          </p:cNvPr>
          <p:cNvSpPr txBox="1"/>
          <p:nvPr/>
        </p:nvSpPr>
        <p:spPr>
          <a:xfrm>
            <a:off x="2493817" y="1928553"/>
            <a:ext cx="9360131" cy="2705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impacts hospital efficiency, cost, bed utilization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Traditional statistical models miss nonlinear patterns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Machine learning offers complex interaction modeling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Aim: develop &amp; compare ML models for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prediction</a:t>
            </a:r>
          </a:p>
        </p:txBody>
      </p:sp>
    </p:spTree>
    <p:extLst>
      <p:ext uri="{BB962C8B-B14F-4D97-AF65-F5344CB8AC3E}">
        <p14:creationId xmlns:p14="http://schemas.microsoft.com/office/powerpoint/2010/main" val="3648660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2D438-A579-682C-E57D-CAB2FD666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7188AC-4FF4-1BDC-BFEB-3B0263D54079}"/>
              </a:ext>
            </a:extLst>
          </p:cNvPr>
          <p:cNvSpPr txBox="1"/>
          <p:nvPr/>
        </p:nvSpPr>
        <p:spPr>
          <a:xfrm>
            <a:off x="3325092" y="698270"/>
            <a:ext cx="2082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73035-0ADA-5768-B8FB-97B193379177}"/>
              </a:ext>
            </a:extLst>
          </p:cNvPr>
          <p:cNvSpPr txBox="1"/>
          <p:nvPr/>
        </p:nvSpPr>
        <p:spPr>
          <a:xfrm>
            <a:off x="2111433" y="1474731"/>
            <a:ext cx="9443258" cy="5383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Data source: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Kaggle (demographics, clinical, billing)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Preprocessing: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Impute missing (median/mode), encode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categoricals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Log-transform billing, scale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numerics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Modeling: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Algorithms: LR, DT, RF,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NN, KNN, SVR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GA for feature selection + SHAP for interpretation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Validation: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80/20 split, 3-fold CV</a:t>
            </a:r>
          </a:p>
        </p:txBody>
      </p:sp>
    </p:spTree>
    <p:extLst>
      <p:ext uri="{BB962C8B-B14F-4D97-AF65-F5344CB8AC3E}">
        <p14:creationId xmlns:p14="http://schemas.microsoft.com/office/powerpoint/2010/main" val="3904715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465FC6-D90F-56CB-D1F3-DF74C2BC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BD5A30-D4F1-AA36-DE69-2F9E5BDD340A}"/>
              </a:ext>
            </a:extLst>
          </p:cNvPr>
          <p:cNvSpPr txBox="1"/>
          <p:nvPr/>
        </p:nvSpPr>
        <p:spPr>
          <a:xfrm>
            <a:off x="3325092" y="698270"/>
            <a:ext cx="6417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(Exploratory &amp; EDA)</a:t>
            </a:r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AAB7D17E-ED9F-8E38-AAE2-18E239D0903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6521" y="1890584"/>
            <a:ext cx="5101543" cy="40777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0C956-6E31-B57C-5BBA-A97B12AA6821}"/>
              </a:ext>
            </a:extLst>
          </p:cNvPr>
          <p:cNvSpPr txBox="1"/>
          <p:nvPr/>
        </p:nvSpPr>
        <p:spPr>
          <a:xfrm>
            <a:off x="7068064" y="1742303"/>
            <a:ext cx="5270605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Bulk of patients stay ≤ 10 days, showing a strong left concentration.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Right-skewed tail (up to ~30 days) highlights a subset of long-stay outliers.</a:t>
            </a:r>
          </a:p>
        </p:txBody>
      </p:sp>
    </p:spTree>
    <p:extLst>
      <p:ext uri="{BB962C8B-B14F-4D97-AF65-F5344CB8AC3E}">
        <p14:creationId xmlns:p14="http://schemas.microsoft.com/office/powerpoint/2010/main" val="1078981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D6232D-5B69-7323-7AFC-6A656CB36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B7B630-D18F-1B5C-6EE9-C0F61EAC7342}"/>
              </a:ext>
            </a:extLst>
          </p:cNvPr>
          <p:cNvSpPr txBox="1"/>
          <p:nvPr/>
        </p:nvSpPr>
        <p:spPr>
          <a:xfrm>
            <a:off x="3325092" y="698270"/>
            <a:ext cx="6417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(Exploratory &amp; EDA)</a:t>
            </a:r>
          </a:p>
        </p:txBody>
      </p:sp>
      <p:pic>
        <p:nvPicPr>
          <p:cNvPr id="2" name="Image 8">
            <a:extLst>
              <a:ext uri="{FF2B5EF4-FFF2-40B4-BE49-F238E27FC236}">
                <a16:creationId xmlns:a16="http://schemas.microsoft.com/office/drawing/2014/main" id="{D18A6D8D-B32D-9C66-7E4F-7C6B235EB3C8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18636" y="1695796"/>
            <a:ext cx="4988792" cy="44639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9571DE-4138-0A5D-9AF7-F545EEA5FBDF}"/>
              </a:ext>
            </a:extLst>
          </p:cNvPr>
          <p:cNvSpPr txBox="1"/>
          <p:nvPr/>
        </p:nvSpPr>
        <p:spPr>
          <a:xfrm>
            <a:off x="6882714" y="1695797"/>
            <a:ext cx="5284572" cy="3908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Emergency admissions average ~12 days vs. ~9 days for elective (~30% longer).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Urgent admissions fall between, demonstrating clear ordering by severity.</a:t>
            </a:r>
          </a:p>
        </p:txBody>
      </p:sp>
    </p:spTree>
    <p:extLst>
      <p:ext uri="{BB962C8B-B14F-4D97-AF65-F5344CB8AC3E}">
        <p14:creationId xmlns:p14="http://schemas.microsoft.com/office/powerpoint/2010/main" val="2806623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68F15C-7BFD-DBCA-5929-38F27E4D1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9AB20-4434-D987-8A49-58A4BBCAFA01}"/>
              </a:ext>
            </a:extLst>
          </p:cNvPr>
          <p:cNvSpPr txBox="1"/>
          <p:nvPr/>
        </p:nvSpPr>
        <p:spPr>
          <a:xfrm>
            <a:off x="3259183" y="660428"/>
            <a:ext cx="60172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Feature Relationships (Heatmap)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DBC8C9-7296-96E5-6A2C-EA54EB04CA0A}"/>
              </a:ext>
            </a:extLst>
          </p:cNvPr>
          <p:cNvSpPr txBox="1"/>
          <p:nvPr/>
        </p:nvSpPr>
        <p:spPr>
          <a:xfrm>
            <a:off x="6517707" y="1865552"/>
            <a:ext cx="5485872" cy="403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900" b="1" dirty="0" err="1">
                <a:latin typeface="Calibri" panose="020F0502020204030204" pitchFamily="34" charset="0"/>
                <a:cs typeface="Calibri" panose="020F0502020204030204" pitchFamily="34" charset="0"/>
              </a:rPr>
              <a:t>Billing_Amount_Log</a:t>
            </a:r>
            <a:r>
              <a:rPr 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900" b="1" dirty="0">
                <a:latin typeface="Calibri" panose="020F0502020204030204" pitchFamily="34" charset="0"/>
                <a:cs typeface="Calibri" panose="020F0502020204030204" pitchFamily="34" charset="0"/>
              </a:rPr>
              <a:t>Age</a:t>
            </a:r>
            <a:r>
              <a:rPr 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 show strongest positive correlations (darker cells).</a:t>
            </a:r>
          </a:p>
          <a:p>
            <a:pPr>
              <a:lnSpc>
                <a:spcPct val="150000"/>
              </a:lnSpc>
            </a:pPr>
            <a:r>
              <a:rPr lang="en-US" sz="2900" b="1" dirty="0">
                <a:latin typeface="Calibri" panose="020F0502020204030204" pitchFamily="34" charset="0"/>
                <a:cs typeface="Calibri" panose="020F0502020204030204" pitchFamily="34" charset="0"/>
              </a:rPr>
              <a:t>Gender</a:t>
            </a:r>
            <a:r>
              <a:rPr 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900" b="1" dirty="0" err="1">
                <a:latin typeface="Calibri" panose="020F0502020204030204" pitchFamily="34" charset="0"/>
                <a:cs typeface="Calibri" panose="020F0502020204030204" pitchFamily="34" charset="0"/>
              </a:rPr>
              <a:t>Blood_Type</a:t>
            </a:r>
            <a:r>
              <a:rPr 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 near-zero correlation (light cells), indicating low predictive value.</a:t>
            </a:r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DC6BFE80-0D99-CEB1-7597-A901604B0EFB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28834" y="1770611"/>
            <a:ext cx="4238962" cy="403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95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0F409-9FA0-1EF8-81B6-07EF01FA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1DBF8F-D9F5-6D05-38C4-1D5E3911C11E}"/>
              </a:ext>
            </a:extLst>
          </p:cNvPr>
          <p:cNvSpPr txBox="1"/>
          <p:nvPr/>
        </p:nvSpPr>
        <p:spPr>
          <a:xfrm>
            <a:off x="3325092" y="698270"/>
            <a:ext cx="6571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(Model Performance)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537C05-9A9E-9106-7123-89D723F23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481405"/>
              </p:ext>
            </p:extLst>
          </p:nvPr>
        </p:nvGraphicFramePr>
        <p:xfrm>
          <a:off x="2094808" y="1645920"/>
          <a:ext cx="9410007" cy="5181600"/>
        </p:xfrm>
        <a:graphic>
          <a:graphicData uri="http://schemas.openxmlformats.org/drawingml/2006/table">
            <a:tbl>
              <a:tblPr/>
              <a:tblGrid>
                <a:gridCol w="3136669">
                  <a:extLst>
                    <a:ext uri="{9D8B030D-6E8A-4147-A177-3AD203B41FA5}">
                      <a16:colId xmlns:a16="http://schemas.microsoft.com/office/drawing/2014/main" val="2529968398"/>
                    </a:ext>
                  </a:extLst>
                </a:gridCol>
                <a:gridCol w="3136669">
                  <a:extLst>
                    <a:ext uri="{9D8B030D-6E8A-4147-A177-3AD203B41FA5}">
                      <a16:colId xmlns:a16="http://schemas.microsoft.com/office/drawing/2014/main" val="1927476878"/>
                    </a:ext>
                  </a:extLst>
                </a:gridCol>
                <a:gridCol w="3136669">
                  <a:extLst>
                    <a:ext uri="{9D8B030D-6E8A-4147-A177-3AD203B41FA5}">
                      <a16:colId xmlns:a16="http://schemas.microsoft.com/office/drawing/2014/main" val="3233863738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sz="2000" dirty="0"/>
                        <a:t>Model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RMSE (days)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R²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90192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2000" dirty="0"/>
                        <a:t>Random Forest (RF)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8.36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0.07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6466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2000" dirty="0" err="1"/>
                        <a:t>XGBoost</a:t>
                      </a:r>
                      <a:r>
                        <a:rPr lang="en-US" sz="2000" dirty="0"/>
                        <a:t> (XGB)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8.79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–0.03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47479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2000" dirty="0"/>
                        <a:t>Linear Regression (LR)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8.66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0.00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3174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2000"/>
                        <a:t>Decision Tree (DT)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11.79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–0.85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09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2000"/>
                        <a:t>Neural Network (NN)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8.68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–0.00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8429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2000"/>
                        <a:t>K-Nearest Neighbors (KNN)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9.37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–0.17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7138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2000"/>
                        <a:t>Support Vector Regression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8.67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–0.00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207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49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EFDCAA-7642-FD6F-E34A-F04A64693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413B8F-A0B6-BED2-9791-3223A9241120}"/>
              </a:ext>
            </a:extLst>
          </p:cNvPr>
          <p:cNvSpPr txBox="1"/>
          <p:nvPr/>
        </p:nvSpPr>
        <p:spPr>
          <a:xfrm>
            <a:off x="3325092" y="698270"/>
            <a:ext cx="6571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(Model Performance)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111952-88B8-0DA6-E5C4-2A9E5657298F}"/>
              </a:ext>
            </a:extLst>
          </p:cNvPr>
          <p:cNvSpPr txBox="1"/>
          <p:nvPr/>
        </p:nvSpPr>
        <p:spPr>
          <a:xfrm>
            <a:off x="2512432" y="2227810"/>
            <a:ext cx="8196349" cy="1969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RF lowest error (8.36 days)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DT worst (~11.8 days)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Ensemble methods cluster 8.3–8.8 days</a:t>
            </a:r>
          </a:p>
        </p:txBody>
      </p:sp>
    </p:spTree>
    <p:extLst>
      <p:ext uri="{BB962C8B-B14F-4D97-AF65-F5344CB8AC3E}">
        <p14:creationId xmlns:p14="http://schemas.microsoft.com/office/powerpoint/2010/main" val="1177885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C4CBE-BD98-43EA-9BB3-9E0BE06F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40414E-4115-57C6-E906-F1FC16A8CC60}"/>
              </a:ext>
            </a:extLst>
          </p:cNvPr>
          <p:cNvSpPr txBox="1"/>
          <p:nvPr/>
        </p:nvSpPr>
        <p:spPr>
          <a:xfrm>
            <a:off x="3325092" y="698270"/>
            <a:ext cx="88793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(Interpretability &amp; Optimization)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9830F-EB34-39AE-79D1-76EC6473E6B0}"/>
              </a:ext>
            </a:extLst>
          </p:cNvPr>
          <p:cNvSpPr txBox="1"/>
          <p:nvPr/>
        </p:nvSpPr>
        <p:spPr>
          <a:xfrm>
            <a:off x="7670443" y="2161309"/>
            <a:ext cx="57191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High billing pushes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↑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Low billing pulls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↓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Age &amp; month secondary</a:t>
            </a:r>
          </a:p>
        </p:txBody>
      </p:sp>
      <p:pic>
        <p:nvPicPr>
          <p:cNvPr id="2" name="Image 10">
            <a:extLst>
              <a:ext uri="{FF2B5EF4-FFF2-40B4-BE49-F238E27FC236}">
                <a16:creationId xmlns:a16="http://schemas.microsoft.com/office/drawing/2014/main" id="{C7A6092D-0050-7ACC-724B-BA48802A4AB3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99986" y="1787585"/>
            <a:ext cx="5015461" cy="492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26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2F9C0B-A10C-912B-6874-51BFC31A1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4B1A65-E5FA-5458-FCA8-92060694B992}"/>
              </a:ext>
            </a:extLst>
          </p:cNvPr>
          <p:cNvSpPr txBox="1"/>
          <p:nvPr/>
        </p:nvSpPr>
        <p:spPr>
          <a:xfrm>
            <a:off x="3325092" y="698270"/>
            <a:ext cx="88793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(Interpretability &amp; Optimization)</a:t>
            </a:r>
          </a:p>
        </p:txBody>
      </p:sp>
      <p:pic>
        <p:nvPicPr>
          <p:cNvPr id="6" name="Image 12">
            <a:extLst>
              <a:ext uri="{FF2B5EF4-FFF2-40B4-BE49-F238E27FC236}">
                <a16:creationId xmlns:a16="http://schemas.microsoft.com/office/drawing/2014/main" id="{D5E6BFEC-9032-CCEF-6D21-7C3EACDB0776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52366" y="2124529"/>
            <a:ext cx="5226909" cy="32318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3AF16B-B164-33A9-F1F4-25EA9C9ECE41}"/>
              </a:ext>
            </a:extLst>
          </p:cNvPr>
          <p:cNvSpPr txBox="1"/>
          <p:nvPr/>
        </p:nvSpPr>
        <p:spPr>
          <a:xfrm>
            <a:off x="7154560" y="2740655"/>
            <a:ext cx="5349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Converged by gen 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Only “Medical Condition” retained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Suggest larger GA runs needed</a:t>
            </a:r>
          </a:p>
        </p:txBody>
      </p:sp>
    </p:spTree>
    <p:extLst>
      <p:ext uri="{BB962C8B-B14F-4D97-AF65-F5344CB8AC3E}">
        <p14:creationId xmlns:p14="http://schemas.microsoft.com/office/powerpoint/2010/main" val="4242171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95A14-E4AE-FA9E-05B1-9D35F226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C2AC5E-52D9-9121-062C-A92CC304CA99}"/>
              </a:ext>
            </a:extLst>
          </p:cNvPr>
          <p:cNvSpPr txBox="1"/>
          <p:nvPr/>
        </p:nvSpPr>
        <p:spPr>
          <a:xfrm>
            <a:off x="3325092" y="698270"/>
            <a:ext cx="2646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35A809-BC3B-731B-68D3-DEBEA744FCC9}"/>
              </a:ext>
            </a:extLst>
          </p:cNvPr>
          <p:cNvSpPr txBox="1"/>
          <p:nvPr/>
        </p:nvSpPr>
        <p:spPr>
          <a:xfrm>
            <a:off x="2244436" y="2802577"/>
            <a:ext cx="9264716" cy="1964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Limited clinical/lab variables → weak signal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Billing linked to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may leak information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Small GA population &amp; generations → suboptimal selection</a:t>
            </a:r>
          </a:p>
        </p:txBody>
      </p:sp>
    </p:spTree>
    <p:extLst>
      <p:ext uri="{BB962C8B-B14F-4D97-AF65-F5344CB8AC3E}">
        <p14:creationId xmlns:p14="http://schemas.microsoft.com/office/powerpoint/2010/main" val="4188574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E95BB9-F9C2-5AB4-7741-4F17E530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1C887F-74FD-9ED6-A7D9-87ED32EF4914}"/>
              </a:ext>
            </a:extLst>
          </p:cNvPr>
          <p:cNvSpPr txBox="1"/>
          <p:nvPr/>
        </p:nvSpPr>
        <p:spPr>
          <a:xfrm>
            <a:off x="3325092" y="698270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68A460-2CCA-A973-8C34-733BDF1900D1}"/>
              </a:ext>
            </a:extLst>
          </p:cNvPr>
          <p:cNvSpPr txBox="1"/>
          <p:nvPr/>
        </p:nvSpPr>
        <p:spPr>
          <a:xfrm>
            <a:off x="2660073" y="2778826"/>
            <a:ext cx="8856655" cy="1964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RF best but explains only ~7% variance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Key drivers: billing, age, admission timing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SHAP &amp; GA workflows useful to validate &amp; highlight gaps</a:t>
            </a:r>
          </a:p>
        </p:txBody>
      </p:sp>
    </p:spTree>
    <p:extLst>
      <p:ext uri="{BB962C8B-B14F-4D97-AF65-F5344CB8AC3E}">
        <p14:creationId xmlns:p14="http://schemas.microsoft.com/office/powerpoint/2010/main" val="3255915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D72A9-853A-1039-66E6-69E22AAFE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FA9BD-E470-B9D6-FCDB-66ACA5187199}"/>
              </a:ext>
            </a:extLst>
          </p:cNvPr>
          <p:cNvSpPr txBox="1"/>
          <p:nvPr/>
        </p:nvSpPr>
        <p:spPr>
          <a:xfrm>
            <a:off x="3325092" y="698270"/>
            <a:ext cx="4519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E38F54-859C-1879-D72D-70C3D4237513}"/>
              </a:ext>
            </a:extLst>
          </p:cNvPr>
          <p:cNvSpPr txBox="1"/>
          <p:nvPr/>
        </p:nvSpPr>
        <p:spPr>
          <a:xfrm>
            <a:off x="1935678" y="2814879"/>
            <a:ext cx="9860135" cy="1964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Thanks to Dr. Divya S. Subramaniam &amp; Dr. Dipti P. Subramaniam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Data source: Kaggle Healthcare dataset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Any funding or institutional support</a:t>
            </a:r>
          </a:p>
        </p:txBody>
      </p:sp>
    </p:spTree>
    <p:extLst>
      <p:ext uri="{BB962C8B-B14F-4D97-AF65-F5344CB8AC3E}">
        <p14:creationId xmlns:p14="http://schemas.microsoft.com/office/powerpoint/2010/main" val="3764036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oster with text and diagrams&#10;&#10;Description automatically generated">
            <a:extLst>
              <a:ext uri="{FF2B5EF4-FFF2-40B4-BE49-F238E27FC236}">
                <a16:creationId xmlns:a16="http://schemas.microsoft.com/office/drawing/2014/main" id="{E84ED65A-D9A1-2C78-B546-B775213AD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93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436</Words>
  <Application>Microsoft Macintosh PowerPoint</Application>
  <PresentationFormat>Widescreen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PREDICTIVE MODELING FOR LENGTH OF STAY USINGMACHINE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Yaswanth Reddy Ubbara</dc:creator>
  <cp:lastModifiedBy>Yaswanth Reddy Ubbara</cp:lastModifiedBy>
  <cp:revision>7</cp:revision>
  <dcterms:created xsi:type="dcterms:W3CDTF">2025-08-05T09:15:40Z</dcterms:created>
  <dcterms:modified xsi:type="dcterms:W3CDTF">2025-08-06T16:06:58Z</dcterms:modified>
</cp:coreProperties>
</file>