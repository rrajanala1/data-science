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charts/chart1.xml" ContentType="application/vnd.openxmlformats-officedocument.drawingml.chart+xml"/>
  <Override PartName="/ppt/charts/chart2.xml" ContentType="application/vnd.openxmlformats-officedocument.drawingml.chart+xml"/>
  <Override PartName="/ppt/charts/style1.xml" ContentType="application/vnd.ms-office.chartstyle+xml"/>
  <Override PartName="/ppt/charts/colors1.xml" ContentType="application/vnd.ms-office.chartcolorstyle+xml"/>
  <Override PartName="/ppt/charts/chart3.xml" ContentType="application/vnd.openxmlformats-officedocument.drawingml.chart+xml"/>
  <Override PartName="/ppt/charts/style2.xml" ContentType="application/vnd.ms-office.chartstyle+xml"/>
  <Override PartName="/ppt/charts/colors2.xml" ContentType="application/vnd.ms-office.chartcolorstyle+xml"/>
  <Override PartName="/ppt/charts/chart4.xml" ContentType="application/vnd.openxmlformats-officedocument.drawingml.chart+xml"/>
  <Override PartName="/ppt/charts/style3.xml" ContentType="application/vnd.ms-office.chartstyle+xml"/>
  <Override PartName="/ppt/charts/colors3.xml" ContentType="application/vnd.ms-office.chartcolorstyle+xml"/>
  <Override PartName="/ppt/charts/chart5.xml" ContentType="application/vnd.openxmlformats-officedocument.drawingml.chart+xml"/>
  <Override PartName="/ppt/charts/style4.xml" ContentType="application/vnd.ms-office.chartstyle+xml"/>
  <Override PartName="/ppt/charts/colors4.xml" ContentType="application/vnd.ms-office.chartcolorstyle+xml"/>
  <Override PartName="/ppt/charts/chart6.xml" ContentType="application/vnd.openxmlformats-officedocument.drawingml.chart+xml"/>
  <Override PartName="/ppt/charts/style5.xml" ContentType="application/vnd.ms-office.chartstyle+xml"/>
  <Override PartName="/ppt/charts/colors5.xml" ContentType="application/vnd.ms-office.chartcolorstyle+xml"/>
  <Override PartName="/ppt/charts/chart7.xml" ContentType="application/vnd.openxmlformats-officedocument.drawingml.chart+xml"/>
  <Override PartName="/ppt/charts/style6.xml" ContentType="application/vnd.ms-office.chartstyle+xml"/>
  <Override PartName="/ppt/charts/colors6.xml" ContentType="application/vnd.ms-office.chartcolorstyle+xml"/>
  <Override PartName="/ppt/charts/chart8.xml" ContentType="application/vnd.openxmlformats-officedocument.drawingml.chart+xml"/>
  <Override PartName="/ppt/charts/style7.xml" ContentType="application/vnd.ms-office.chartstyle+xml"/>
  <Override PartName="/ppt/charts/colors7.xml" ContentType="application/vnd.ms-office.chartcolorstyle+xml"/>
  <Override PartName="/ppt/charts/chart9.xml" ContentType="application/vnd.openxmlformats-officedocument.drawingml.chart+xml"/>
  <Override PartName="/ppt/charts/style8.xml" ContentType="application/vnd.ms-office.chartstyle+xml"/>
  <Override PartName="/ppt/charts/colors8.xml" ContentType="application/vnd.ms-office.chartcolorstyle+xml"/>
  <Override PartName="/ppt/charts/chart10.xml" ContentType="application/vnd.openxmlformats-officedocument.drawingml.chart+xml"/>
  <Override PartName="/ppt/charts/style9.xml" ContentType="application/vnd.ms-office.chartstyle+xml"/>
  <Override PartName="/ppt/charts/colors9.xml" ContentType="application/vnd.ms-office.chartcolorstyle+xml"/>
  <Override PartName="/ppt/charts/chart11.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2.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3.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4.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5.xml" ContentType="application/vnd.openxmlformats-officedocument.drawingml.chart+xml"/>
  <Override PartName="/ppt/charts/style14.xml" ContentType="application/vnd.ms-office.chartstyle+xml"/>
  <Override PartName="/ppt/charts/colors14.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5" r:id="rId1"/>
  </p:sldMasterIdLst>
  <p:sldIdLst>
    <p:sldId id="256" r:id="rId2"/>
    <p:sldId id="314" r:id="rId3"/>
    <p:sldId id="323" r:id="rId4"/>
    <p:sldId id="257" r:id="rId5"/>
    <p:sldId id="258" r:id="rId6"/>
    <p:sldId id="337" r:id="rId7"/>
    <p:sldId id="260" r:id="rId8"/>
    <p:sldId id="261" r:id="rId9"/>
    <p:sldId id="333" r:id="rId10"/>
    <p:sldId id="265" r:id="rId11"/>
    <p:sldId id="338" r:id="rId12"/>
    <p:sldId id="324" r:id="rId13"/>
    <p:sldId id="307" r:id="rId14"/>
    <p:sldId id="308" r:id="rId15"/>
    <p:sldId id="309" r:id="rId16"/>
    <p:sldId id="310" r:id="rId17"/>
    <p:sldId id="311" r:id="rId18"/>
    <p:sldId id="325" r:id="rId19"/>
    <p:sldId id="266" r:id="rId20"/>
    <p:sldId id="326" r:id="rId21"/>
    <p:sldId id="318" r:id="rId22"/>
    <p:sldId id="327" r:id="rId23"/>
    <p:sldId id="267" r:id="rId24"/>
    <p:sldId id="268" r:id="rId25"/>
    <p:sldId id="270" r:id="rId26"/>
    <p:sldId id="271" r:id="rId27"/>
    <p:sldId id="334" r:id="rId28"/>
    <p:sldId id="336" r:id="rId29"/>
    <p:sldId id="328" r:id="rId30"/>
    <p:sldId id="272" r:id="rId31"/>
    <p:sldId id="273" r:id="rId32"/>
    <p:sldId id="274" r:id="rId33"/>
    <p:sldId id="275" r:id="rId34"/>
    <p:sldId id="276" r:id="rId35"/>
    <p:sldId id="277" r:id="rId36"/>
    <p:sldId id="278" r:id="rId37"/>
    <p:sldId id="288" r:id="rId38"/>
    <p:sldId id="280" r:id="rId39"/>
    <p:sldId id="281" r:id="rId40"/>
    <p:sldId id="282" r:id="rId41"/>
    <p:sldId id="283" r:id="rId42"/>
    <p:sldId id="284" r:id="rId43"/>
    <p:sldId id="285" r:id="rId44"/>
    <p:sldId id="286" r:id="rId45"/>
    <p:sldId id="340" r:id="rId46"/>
    <p:sldId id="329" r:id="rId47"/>
    <p:sldId id="287" r:id="rId48"/>
    <p:sldId id="290" r:id="rId49"/>
    <p:sldId id="293" r:id="rId50"/>
    <p:sldId id="294" r:id="rId51"/>
    <p:sldId id="295" r:id="rId52"/>
    <p:sldId id="297" r:id="rId53"/>
    <p:sldId id="299" r:id="rId54"/>
    <p:sldId id="300" r:id="rId55"/>
    <p:sldId id="330" r:id="rId56"/>
    <p:sldId id="301" r:id="rId57"/>
    <p:sldId id="331" r:id="rId58"/>
    <p:sldId id="302" r:id="rId59"/>
    <p:sldId id="332" r:id="rId60"/>
    <p:sldId id="339" r:id="rId61"/>
    <p:sldId id="303" r:id="rId62"/>
    <p:sldId id="305" r:id="rId63"/>
    <p:sldId id="306" r:id="rId6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9" Type="http://schemas.openxmlformats.org/officeDocument/2006/relationships/slide" Target="slides/slide38.xml" /><Relationship Id="rId21" Type="http://schemas.openxmlformats.org/officeDocument/2006/relationships/slide" Target="slides/slide20.xml" /><Relationship Id="rId34" Type="http://schemas.openxmlformats.org/officeDocument/2006/relationships/slide" Target="slides/slide33.xml" /><Relationship Id="rId42" Type="http://schemas.openxmlformats.org/officeDocument/2006/relationships/slide" Target="slides/slide41.xml" /><Relationship Id="rId47" Type="http://schemas.openxmlformats.org/officeDocument/2006/relationships/slide" Target="slides/slide46.xml" /><Relationship Id="rId50" Type="http://schemas.openxmlformats.org/officeDocument/2006/relationships/slide" Target="slides/slide49.xml" /><Relationship Id="rId55" Type="http://schemas.openxmlformats.org/officeDocument/2006/relationships/slide" Target="slides/slide54.xml" /><Relationship Id="rId63" Type="http://schemas.openxmlformats.org/officeDocument/2006/relationships/slide" Target="slides/slide62.xml" /><Relationship Id="rId68" Type="http://schemas.openxmlformats.org/officeDocument/2006/relationships/tableStyles" Target="tableStyles.xml" /><Relationship Id="rId7" Type="http://schemas.openxmlformats.org/officeDocument/2006/relationships/slide" Target="slides/slide6.xml" /><Relationship Id="rId2" Type="http://schemas.openxmlformats.org/officeDocument/2006/relationships/slide" Target="slides/slide1.xml" /><Relationship Id="rId16" Type="http://schemas.openxmlformats.org/officeDocument/2006/relationships/slide" Target="slides/slide15.xml" /><Relationship Id="rId29" Type="http://schemas.openxmlformats.org/officeDocument/2006/relationships/slide" Target="slides/slide28.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slide" Target="slides/slide31.xml" /><Relationship Id="rId37" Type="http://schemas.openxmlformats.org/officeDocument/2006/relationships/slide" Target="slides/slide36.xml" /><Relationship Id="rId40" Type="http://schemas.openxmlformats.org/officeDocument/2006/relationships/slide" Target="slides/slide39.xml" /><Relationship Id="rId45" Type="http://schemas.openxmlformats.org/officeDocument/2006/relationships/slide" Target="slides/slide44.xml" /><Relationship Id="rId53" Type="http://schemas.openxmlformats.org/officeDocument/2006/relationships/slide" Target="slides/slide52.xml" /><Relationship Id="rId58" Type="http://schemas.openxmlformats.org/officeDocument/2006/relationships/slide" Target="slides/slide57.xml" /><Relationship Id="rId66" Type="http://schemas.openxmlformats.org/officeDocument/2006/relationships/viewProps" Target="viewProp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36" Type="http://schemas.openxmlformats.org/officeDocument/2006/relationships/slide" Target="slides/slide35.xml" /><Relationship Id="rId49" Type="http://schemas.openxmlformats.org/officeDocument/2006/relationships/slide" Target="slides/slide48.xml" /><Relationship Id="rId57" Type="http://schemas.openxmlformats.org/officeDocument/2006/relationships/slide" Target="slides/slide56.xml" /><Relationship Id="rId61" Type="http://schemas.openxmlformats.org/officeDocument/2006/relationships/slide" Target="slides/slide60.xml"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slide" Target="slides/slide30.xml" /><Relationship Id="rId44" Type="http://schemas.openxmlformats.org/officeDocument/2006/relationships/slide" Target="slides/slide43.xml" /><Relationship Id="rId52" Type="http://schemas.openxmlformats.org/officeDocument/2006/relationships/slide" Target="slides/slide51.xml" /><Relationship Id="rId60" Type="http://schemas.openxmlformats.org/officeDocument/2006/relationships/slide" Target="slides/slide59.xml" /><Relationship Id="rId65" Type="http://schemas.openxmlformats.org/officeDocument/2006/relationships/presProps" Target="presProps.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slide" Target="slides/slide29.xml" /><Relationship Id="rId35" Type="http://schemas.openxmlformats.org/officeDocument/2006/relationships/slide" Target="slides/slide34.xml" /><Relationship Id="rId43" Type="http://schemas.openxmlformats.org/officeDocument/2006/relationships/slide" Target="slides/slide42.xml" /><Relationship Id="rId48" Type="http://schemas.openxmlformats.org/officeDocument/2006/relationships/slide" Target="slides/slide47.xml" /><Relationship Id="rId56" Type="http://schemas.openxmlformats.org/officeDocument/2006/relationships/slide" Target="slides/slide55.xml" /><Relationship Id="rId64" Type="http://schemas.openxmlformats.org/officeDocument/2006/relationships/slide" Target="slides/slide63.xml" /><Relationship Id="rId8" Type="http://schemas.openxmlformats.org/officeDocument/2006/relationships/slide" Target="slides/slide7.xml" /><Relationship Id="rId51" Type="http://schemas.openxmlformats.org/officeDocument/2006/relationships/slide" Target="slides/slide50.xml" /><Relationship Id="rId3" Type="http://schemas.openxmlformats.org/officeDocument/2006/relationships/slide" Target="slides/slide2.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slide" Target="slides/slide32.xml" /><Relationship Id="rId38" Type="http://schemas.openxmlformats.org/officeDocument/2006/relationships/slide" Target="slides/slide37.xml" /><Relationship Id="rId46" Type="http://schemas.openxmlformats.org/officeDocument/2006/relationships/slide" Target="slides/slide45.xml" /><Relationship Id="rId59" Type="http://schemas.openxmlformats.org/officeDocument/2006/relationships/slide" Target="slides/slide58.xml" /><Relationship Id="rId67" Type="http://schemas.openxmlformats.org/officeDocument/2006/relationships/theme" Target="theme/theme1.xml" /><Relationship Id="rId20" Type="http://schemas.openxmlformats.org/officeDocument/2006/relationships/slide" Target="slides/slide19.xml" /><Relationship Id="rId41" Type="http://schemas.openxmlformats.org/officeDocument/2006/relationships/slide" Target="slides/slide40.xml" /><Relationship Id="rId54" Type="http://schemas.openxmlformats.org/officeDocument/2006/relationships/slide" Target="slides/slide53.xml" /><Relationship Id="rId62" Type="http://schemas.openxmlformats.org/officeDocument/2006/relationships/slide" Target="slides/slide61.xml" /></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 /></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 /><Relationship Id="rId2" Type="http://schemas.microsoft.com/office/2011/relationships/chartColorStyle" Target="colors1.xml" /><Relationship Id="rId1" Type="http://schemas.microsoft.com/office/2011/relationships/chartStyle" Target="style1.xml" /></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 /><Relationship Id="rId2" Type="http://schemas.microsoft.com/office/2011/relationships/chartColorStyle" Target="colors2.xml" /><Relationship Id="rId1" Type="http://schemas.microsoft.com/office/2011/relationships/chartStyle" Target="style2.xml" /></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 /><Relationship Id="rId2" Type="http://schemas.microsoft.com/office/2011/relationships/chartColorStyle" Target="colors3.xml" /><Relationship Id="rId1" Type="http://schemas.microsoft.com/office/2011/relationships/chartStyle" Target="style3.xml" /></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 /><Relationship Id="rId2" Type="http://schemas.microsoft.com/office/2011/relationships/chartColorStyle" Target="colors4.xml" /><Relationship Id="rId1" Type="http://schemas.microsoft.com/office/2011/relationships/chartStyle" Target="style4.xml" /></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 /><Relationship Id="rId2" Type="http://schemas.microsoft.com/office/2011/relationships/chartColorStyle" Target="colors5.xml" /><Relationship Id="rId1" Type="http://schemas.microsoft.com/office/2011/relationships/chartStyle" Target="style5.xml" /></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 /><Relationship Id="rId2" Type="http://schemas.microsoft.com/office/2011/relationships/chartColorStyle" Target="colors6.xml" /><Relationship Id="rId1" Type="http://schemas.microsoft.com/office/2011/relationships/chartStyle" Target="style6.xml" /></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 /><Relationship Id="rId2" Type="http://schemas.microsoft.com/office/2011/relationships/chartColorStyle" Target="colors7.xml" /><Relationship Id="rId1" Type="http://schemas.microsoft.com/office/2011/relationships/chartStyle" Target="style7.xml" /></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 /><Relationship Id="rId2" Type="http://schemas.microsoft.com/office/2011/relationships/chartColorStyle" Target="colors8.xml" /><Relationship Id="rId1" Type="http://schemas.microsoft.com/office/2011/relationships/chartStyle" Target="style8.xml" /></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9.xlsx" /><Relationship Id="rId2" Type="http://schemas.microsoft.com/office/2011/relationships/chartColorStyle" Target="colors9.xml" /><Relationship Id="rId1" Type="http://schemas.microsoft.com/office/2011/relationships/chartStyle" Target="style9.xml" /></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10.xlsx" /><Relationship Id="rId2" Type="http://schemas.microsoft.com/office/2011/relationships/chartColorStyle" Target="colors10.xml" /><Relationship Id="rId1" Type="http://schemas.microsoft.com/office/2011/relationships/chartStyle" Target="style10.xml" /></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11.xlsx" /><Relationship Id="rId2" Type="http://schemas.microsoft.com/office/2011/relationships/chartColorStyle" Target="colors11.xml" /><Relationship Id="rId1" Type="http://schemas.microsoft.com/office/2011/relationships/chartStyle" Target="style11.xml" /></Relationships>
</file>

<file path=ppt/charts/_rels/chart13.xml.rels><?xml version="1.0" encoding="UTF-8" standalone="yes"?>
<Relationships xmlns="http://schemas.openxmlformats.org/package/2006/relationships"><Relationship Id="rId3" Type="http://schemas.openxmlformats.org/officeDocument/2006/relationships/package" Target="../embeddings/Microsoft_Excel_Worksheet12.xlsx" /><Relationship Id="rId2" Type="http://schemas.microsoft.com/office/2011/relationships/chartColorStyle" Target="colors12.xml" /><Relationship Id="rId1" Type="http://schemas.microsoft.com/office/2011/relationships/chartStyle" Target="style12.xml" /></Relationships>
</file>

<file path=ppt/charts/_rels/chart14.xml.rels><?xml version="1.0" encoding="UTF-8" standalone="yes"?>
<Relationships xmlns="http://schemas.openxmlformats.org/package/2006/relationships"><Relationship Id="rId3" Type="http://schemas.openxmlformats.org/officeDocument/2006/relationships/package" Target="../embeddings/Microsoft_Excel_Worksheet13.xlsx" /><Relationship Id="rId2" Type="http://schemas.microsoft.com/office/2011/relationships/chartColorStyle" Target="colors13.xml" /><Relationship Id="rId1" Type="http://schemas.microsoft.com/office/2011/relationships/chartStyle" Target="style13.xml" /></Relationships>
</file>

<file path=ppt/charts/_rels/chart15.xml.rels><?xml version="1.0" encoding="UTF-8" standalone="yes"?>
<Relationships xmlns="http://schemas.openxmlformats.org/package/2006/relationships"><Relationship Id="rId3" Type="http://schemas.openxmlformats.org/officeDocument/2006/relationships/package" Target="../embeddings/Microsoft_Excel_Worksheet14.xlsx" /><Relationship Id="rId2" Type="http://schemas.microsoft.com/office/2011/relationships/chartColorStyle" Target="colors14.xml" /><Relationship Id="rId1" Type="http://schemas.microsoft.com/office/2011/relationships/chartStyle" Target="style14.xml" /></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clustered"/>
        <c:varyColors val="0"/>
        <c:ser>
          <c:idx val="0"/>
          <c:order val="0"/>
          <c:tx>
            <c:strRef>
              <c:f>Sheet1!$B$1</c:f>
              <c:strCache>
                <c:ptCount val="1"/>
                <c:pt idx="0">
                  <c:v>FREQUENCY</c:v>
                </c:pt>
              </c:strCache>
            </c:strRef>
          </c:tx>
          <c:spPr>
            <a:solidFill>
              <a:schemeClr val="accent2">
                <a:lumMod val="40000"/>
                <a:lumOff val="60000"/>
              </a:schemeClr>
            </a:solidFill>
            <a:ln>
              <a:noFill/>
            </a:ln>
            <a:effectLst/>
            <a:sp3d/>
          </c:spPr>
          <c:invertIfNegative val="0"/>
          <c:dLbls>
            <c:dLbl>
              <c:idx val="0"/>
              <c:tx>
                <c:rich>
                  <a:bodyPr/>
                  <a:lstStyle/>
                  <a:p>
                    <a:fld id="{C17A0CC4-62B1-47B0-AAD0-1ECBBB7573E8}" type="VALUE">
                      <a:rPr lang="en-US" sz="1400" b="1">
                        <a:solidFill>
                          <a:schemeClr val="tx1"/>
                        </a:solidFill>
                      </a:rPr>
                      <a:pPr/>
                      <a:t>[VALUE]</a:t>
                    </a:fld>
                    <a:endParaRPr lang="en-US"/>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F1DA-4C39-8DD1-EB321B2C9E28}"/>
                </c:ext>
              </c:extLst>
            </c:dLbl>
            <c:dLbl>
              <c:idx val="1"/>
              <c:tx>
                <c:rich>
                  <a:bodyPr/>
                  <a:lstStyle/>
                  <a:p>
                    <a:fld id="{D84DCA9F-6BEC-4AF5-B151-52A2F47EF783}" type="VALUE">
                      <a:rPr lang="en-US" sz="1400" b="1">
                        <a:solidFill>
                          <a:schemeClr val="tx1"/>
                        </a:solidFill>
                      </a:rPr>
                      <a:pPr/>
                      <a:t>[VALUE]</a:t>
                    </a:fld>
                    <a:endParaRPr lang="en-US"/>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F1DA-4C39-8DD1-EB321B2C9E28}"/>
                </c:ext>
              </c:extLst>
            </c:dLbl>
            <c:dLbl>
              <c:idx val="2"/>
              <c:tx>
                <c:rich>
                  <a:bodyPr/>
                  <a:lstStyle/>
                  <a:p>
                    <a:fld id="{D40A1F84-0BBE-4417-B186-A1F19C28763E}" type="VALUE">
                      <a:rPr lang="en-US" sz="1400" b="1">
                        <a:solidFill>
                          <a:schemeClr val="tx1"/>
                        </a:solidFill>
                      </a:rPr>
                      <a:pPr/>
                      <a:t>[VALUE]</a:t>
                    </a:fld>
                    <a:endParaRPr lang="en-US"/>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F1DA-4C39-8DD1-EB321B2C9E28}"/>
                </c:ext>
              </c:extLst>
            </c:dLbl>
            <c:dLbl>
              <c:idx val="3"/>
              <c:tx>
                <c:rich>
                  <a:bodyPr/>
                  <a:lstStyle/>
                  <a:p>
                    <a:fld id="{6701DB38-D5BD-4EE3-9A53-0CEE7BEA9566}" type="VALUE">
                      <a:rPr lang="en-US" sz="1400" b="1"/>
                      <a:pPr/>
                      <a:t>[VALUE]</a:t>
                    </a:fld>
                    <a:endParaRPr lang="en-US"/>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F1DA-4C39-8DD1-EB321B2C9E28}"/>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c15:spPr>
                <c15:showLeaderLines val="1"/>
                <c15:leaderLines>
                  <c:spPr>
                    <a:ln w="9525">
                      <a:solidFill>
                        <a:schemeClr val="tx1">
                          <a:lumMod val="35000"/>
                          <a:lumOff val="65000"/>
                        </a:schemeClr>
                      </a:solidFill>
                    </a:ln>
                    <a:effectLst/>
                  </c:spPr>
                </c15:leaderLines>
              </c:ext>
            </c:extLst>
          </c:dLbls>
          <c:cat>
            <c:strRef>
              <c:f>Sheet1!$A$2:$A$6</c:f>
              <c:strCache>
                <c:ptCount val="4"/>
                <c:pt idx="0">
                  <c:v>20-24</c:v>
                </c:pt>
                <c:pt idx="1">
                  <c:v>25-29</c:v>
                </c:pt>
                <c:pt idx="2">
                  <c:v>30-34</c:v>
                </c:pt>
                <c:pt idx="3">
                  <c:v>35-39</c:v>
                </c:pt>
              </c:strCache>
            </c:strRef>
          </c:cat>
          <c:val>
            <c:numRef>
              <c:f>Sheet1!$B$2:$B$6</c:f>
              <c:numCache>
                <c:formatCode>General</c:formatCode>
                <c:ptCount val="5"/>
                <c:pt idx="0">
                  <c:v>23</c:v>
                </c:pt>
                <c:pt idx="1">
                  <c:v>43</c:v>
                </c:pt>
                <c:pt idx="2">
                  <c:v>21</c:v>
                </c:pt>
                <c:pt idx="3">
                  <c:v>8</c:v>
                </c:pt>
              </c:numCache>
            </c:numRef>
          </c:val>
          <c:extLst>
            <c:ext xmlns:c16="http://schemas.microsoft.com/office/drawing/2014/chart" uri="{C3380CC4-5D6E-409C-BE32-E72D297353CC}">
              <c16:uniqueId val="{00000000-5B22-44D4-A20A-C025BDAA58D0}"/>
            </c:ext>
          </c:extLst>
        </c:ser>
        <c:ser>
          <c:idx val="1"/>
          <c:order val="1"/>
          <c:tx>
            <c:strRef>
              <c:f>Sheet1!$C$1</c:f>
              <c:strCache>
                <c:ptCount val="1"/>
                <c:pt idx="0">
                  <c:v>PERCENTAGE</c:v>
                </c:pt>
              </c:strCache>
            </c:strRef>
          </c:tx>
          <c:spPr>
            <a:solidFill>
              <a:schemeClr val="accent1">
                <a:shade val="76000"/>
              </a:schemeClr>
            </a:solidFill>
            <a:ln>
              <a:noFill/>
            </a:ln>
            <a:effectLst/>
            <a:sp3d/>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Sheet1!$A$2:$A$6</c:f>
              <c:strCache>
                <c:ptCount val="4"/>
                <c:pt idx="0">
                  <c:v>20-24</c:v>
                </c:pt>
                <c:pt idx="1">
                  <c:v>25-29</c:v>
                </c:pt>
                <c:pt idx="2">
                  <c:v>30-34</c:v>
                </c:pt>
                <c:pt idx="3">
                  <c:v>35-39</c:v>
                </c:pt>
              </c:strCache>
            </c:strRef>
          </c:cat>
          <c:val>
            <c:numRef>
              <c:f>Sheet1!$C$2:$C$6</c:f>
              <c:numCache>
                <c:formatCode>General</c:formatCode>
                <c:ptCount val="5"/>
              </c:numCache>
            </c:numRef>
          </c:val>
          <c:extLst>
            <c:ext xmlns:c16="http://schemas.microsoft.com/office/drawing/2014/chart" uri="{C3380CC4-5D6E-409C-BE32-E72D297353CC}">
              <c16:uniqueId val="{00000001-5B22-44D4-A20A-C025BDAA58D0}"/>
            </c:ext>
          </c:extLst>
        </c:ser>
        <c:dLbls>
          <c:showLegendKey val="0"/>
          <c:showVal val="1"/>
          <c:showCatName val="0"/>
          <c:showSerName val="0"/>
          <c:showPercent val="0"/>
          <c:showBubbleSize val="0"/>
        </c:dLbls>
        <c:gapWidth val="150"/>
        <c:shape val="box"/>
        <c:axId val="542566015"/>
        <c:axId val="542566431"/>
        <c:axId val="0"/>
      </c:bar3DChart>
      <c:catAx>
        <c:axId val="542566015"/>
        <c:scaling>
          <c:orientation val="minMax"/>
        </c:scaling>
        <c:delete val="0"/>
        <c:axPos val="b"/>
        <c:title>
          <c:tx>
            <c:rich>
              <a:bodyPr rot="0" spcFirstLastPara="1" vertOverflow="ellipsis" vert="horz" wrap="square" anchor="ctr" anchorCtr="1"/>
              <a:lstStyle/>
              <a:p>
                <a:pPr>
                  <a:defRPr sz="1197" b="0" i="0" u="none" strike="noStrike" kern="1200" cap="all" baseline="0">
                    <a:solidFill>
                      <a:schemeClr val="tx1">
                        <a:lumMod val="65000"/>
                        <a:lumOff val="35000"/>
                      </a:schemeClr>
                    </a:solidFill>
                    <a:latin typeface="+mn-lt"/>
                    <a:ea typeface="+mn-ea"/>
                    <a:cs typeface="+mn-cs"/>
                  </a:defRPr>
                </a:pPr>
                <a:r>
                  <a:rPr lang="en-US"/>
                  <a:t>Age</a:t>
                </a:r>
              </a:p>
            </c:rich>
          </c:tx>
          <c:overlay val="0"/>
          <c:spPr>
            <a:noFill/>
            <a:ln>
              <a:noFill/>
            </a:ln>
            <a:effectLst/>
          </c:sp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cap="none" spc="0" normalizeH="0" baseline="0">
                <a:solidFill>
                  <a:schemeClr val="tx1">
                    <a:lumMod val="65000"/>
                    <a:lumOff val="35000"/>
                  </a:schemeClr>
                </a:solidFill>
                <a:latin typeface="+mn-lt"/>
                <a:ea typeface="+mn-ea"/>
                <a:cs typeface="+mn-cs"/>
              </a:defRPr>
            </a:pPr>
            <a:endParaRPr lang="en-US"/>
          </a:p>
        </c:txPr>
        <c:crossAx val="542566431"/>
        <c:crosses val="autoZero"/>
        <c:auto val="1"/>
        <c:lblAlgn val="ctr"/>
        <c:lblOffset val="100"/>
        <c:noMultiLvlLbl val="0"/>
      </c:catAx>
      <c:valAx>
        <c:axId val="542566431"/>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sz="1197" b="0" i="0" u="none" strike="noStrike" kern="1200" cap="all" baseline="0">
                    <a:solidFill>
                      <a:schemeClr val="tx1">
                        <a:lumMod val="65000"/>
                        <a:lumOff val="35000"/>
                      </a:schemeClr>
                    </a:solidFill>
                    <a:latin typeface="+mn-lt"/>
                    <a:ea typeface="+mn-ea"/>
                    <a:cs typeface="+mn-cs"/>
                  </a:defRPr>
                </a:pPr>
                <a:r>
                  <a:rPr lang="en-US"/>
                  <a:t>Number of subjects</a:t>
                </a:r>
              </a:p>
            </c:rich>
          </c:tx>
          <c:overlay val="0"/>
          <c:spPr>
            <a:noFill/>
            <a:ln>
              <a:noFill/>
            </a:ln>
            <a:effectLst/>
          </c:sp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542566015"/>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1" i="0" u="none" strike="noStrike" kern="1200" cap="all" spc="50" baseline="0">
              <a:solidFill>
                <a:schemeClr val="tx1">
                  <a:lumMod val="65000"/>
                  <a:lumOff val="35000"/>
                </a:schemeClr>
              </a:solidFill>
              <a:latin typeface="+mn-lt"/>
              <a:ea typeface="+mn-ea"/>
              <a:cs typeface="+mn-cs"/>
            </a:defRPr>
          </a:pPr>
          <a:endParaRPr lang="en-US"/>
        </a:p>
      </c:txPr>
    </c:title>
    <c:autoTitleDeleted val="0"/>
    <c:plotArea>
      <c:layout/>
      <c:doughnutChart>
        <c:varyColors val="0"/>
        <c:ser>
          <c:idx val="0"/>
          <c:order val="0"/>
          <c:tx>
            <c:strRef>
              <c:f>Sheet1!$B$1</c:f>
              <c:strCache>
                <c:ptCount val="1"/>
                <c:pt idx="0">
                  <c:v>SEX</c:v>
                </c:pt>
              </c:strCache>
            </c:strRef>
          </c:tx>
          <c:spPr>
            <a:solidFill>
              <a:schemeClr val="accent1"/>
            </a:solidFill>
            <a:ln>
              <a:noFill/>
            </a:ln>
            <a:effectLst/>
            <a:scene3d>
              <a:camera prst="orthographicFront"/>
              <a:lightRig rig="brightRoom" dir="t"/>
            </a:scene3d>
            <a:sp3d prstMaterial="flat">
              <a:bevelT w="50800" h="101600" prst="angle"/>
              <a:contourClr>
                <a:srgbClr val="000000"/>
              </a:contourClr>
            </a:sp3d>
          </c:spPr>
          <c:dPt>
            <c:idx val="0"/>
            <c:bubble3D val="0"/>
            <c:spPr>
              <a:solidFill>
                <a:schemeClr val="accent2">
                  <a:lumMod val="60000"/>
                  <a:lumOff val="40000"/>
                </a:schemeClr>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1-7522-47E5-AF61-EDB9B0AC7005}"/>
              </c:ext>
            </c:extLst>
          </c:dPt>
          <c:dPt>
            <c:idx val="1"/>
            <c:bubble3D val="0"/>
            <c:spPr>
              <a:solidFill>
                <a:srgbClr val="002060"/>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3-7522-47E5-AF61-EDB9B0AC7005}"/>
              </c:ext>
            </c:extLst>
          </c:dPt>
          <c:dPt>
            <c:idx val="2"/>
            <c:bubble3D val="0"/>
            <c:extLst>
              <c:ext xmlns:c16="http://schemas.microsoft.com/office/drawing/2014/chart" uri="{C3380CC4-5D6E-409C-BE32-E72D297353CC}">
                <c16:uniqueId val="{00000005-7522-47E5-AF61-EDB9B0AC7005}"/>
              </c:ext>
            </c:extLst>
          </c:dPt>
          <c:dPt>
            <c:idx val="3"/>
            <c:bubble3D val="0"/>
            <c:extLst>
              <c:ext xmlns:c16="http://schemas.microsoft.com/office/drawing/2014/chart" uri="{C3380CC4-5D6E-409C-BE32-E72D297353CC}">
                <c16:uniqueId val="{00000007-7522-47E5-AF61-EDB9B0AC7005}"/>
              </c:ext>
            </c:extLst>
          </c:dPt>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en-US"/>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2"/>
                <c:pt idx="0">
                  <c:v>MALE</c:v>
                </c:pt>
                <c:pt idx="1">
                  <c:v>FEMALE</c:v>
                </c:pt>
              </c:strCache>
            </c:strRef>
          </c:cat>
          <c:val>
            <c:numRef>
              <c:f>Sheet1!$B$2:$B$5</c:f>
              <c:numCache>
                <c:formatCode>General</c:formatCode>
                <c:ptCount val="4"/>
                <c:pt idx="0">
                  <c:v>49</c:v>
                </c:pt>
                <c:pt idx="1">
                  <c:v>46</c:v>
                </c:pt>
              </c:numCache>
            </c:numRef>
          </c:val>
          <c:extLst>
            <c:ext xmlns:c16="http://schemas.microsoft.com/office/drawing/2014/chart" uri="{C3380CC4-5D6E-409C-BE32-E72D297353CC}">
              <c16:uniqueId val="{00000008-7522-47E5-AF61-EDB9B0AC7005}"/>
            </c:ext>
          </c:extLst>
        </c:ser>
        <c:dLbls>
          <c:showLegendKey val="0"/>
          <c:showVal val="0"/>
          <c:showCatName val="0"/>
          <c:showSerName val="0"/>
          <c:showPercent val="1"/>
          <c:showBubbleSize val="0"/>
          <c:showLeaderLines val="1"/>
        </c:dLbls>
        <c:firstSliceAng val="0"/>
        <c:holeSize val="50"/>
      </c:doughnutChart>
      <c:spPr>
        <a:noFill/>
        <a:ln>
          <a:noFill/>
        </a:ln>
        <a:effectLst/>
      </c:spPr>
    </c:plotArea>
    <c:legend>
      <c:legendPos val="t"/>
      <c:legendEntry>
        <c:idx val="2"/>
        <c:delete val="1"/>
      </c:legendEntry>
      <c:legendEntry>
        <c:idx val="3"/>
        <c:delete val="1"/>
      </c:legendEntry>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r>
              <a:rPr lang="en-US"/>
              <a:t>BIRTH WEIGHT</a:t>
            </a:r>
          </a:p>
        </c:rich>
      </c:tx>
      <c:overlay val="0"/>
      <c:spPr>
        <a:noFill/>
        <a:ln>
          <a:noFill/>
        </a:ln>
        <a:effectLst/>
      </c:spPr>
      <c:txPr>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endParaRPr lang="en-US"/>
        </a:p>
      </c:txPr>
    </c:title>
    <c:autoTitleDeleted val="0"/>
    <c:plotArea>
      <c:layout/>
      <c:barChart>
        <c:barDir val="bar"/>
        <c:grouping val="clustered"/>
        <c:varyColors val="0"/>
        <c:ser>
          <c:idx val="0"/>
          <c:order val="0"/>
          <c:tx>
            <c:strRef>
              <c:f>Sheet1!$B$1</c:f>
              <c:strCache>
                <c:ptCount val="1"/>
                <c:pt idx="0">
                  <c:v>FULL TERM</c:v>
                </c:pt>
              </c:strCache>
            </c:strRef>
          </c:tx>
          <c:spPr>
            <a:solidFill>
              <a:schemeClr val="accent1">
                <a:lumMod val="60000"/>
                <a:lumOff val="40000"/>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Sheet1!$A$2:$A$11</c:f>
              <c:strCache>
                <c:ptCount val="9"/>
                <c:pt idx="0">
                  <c:v>2-2.2</c:v>
                </c:pt>
                <c:pt idx="1">
                  <c:v>2.2-2.4</c:v>
                </c:pt>
                <c:pt idx="2">
                  <c:v>2.4-2.6</c:v>
                </c:pt>
                <c:pt idx="3">
                  <c:v>2.6-2.8</c:v>
                </c:pt>
                <c:pt idx="4">
                  <c:v>2.8-3</c:v>
                </c:pt>
                <c:pt idx="5">
                  <c:v>3-3.2</c:v>
                </c:pt>
                <c:pt idx="6">
                  <c:v>3.2-3.4</c:v>
                </c:pt>
                <c:pt idx="7">
                  <c:v>3.4-3.6</c:v>
                </c:pt>
                <c:pt idx="8">
                  <c:v>3.8-4</c:v>
                </c:pt>
              </c:strCache>
            </c:strRef>
          </c:cat>
          <c:val>
            <c:numRef>
              <c:f>Sheet1!$B$2:$B$11</c:f>
              <c:numCache>
                <c:formatCode>General</c:formatCode>
                <c:ptCount val="10"/>
                <c:pt idx="1">
                  <c:v>6</c:v>
                </c:pt>
                <c:pt idx="2">
                  <c:v>8</c:v>
                </c:pt>
                <c:pt idx="3">
                  <c:v>7</c:v>
                </c:pt>
                <c:pt idx="4">
                  <c:v>6</c:v>
                </c:pt>
                <c:pt idx="5">
                  <c:v>22</c:v>
                </c:pt>
                <c:pt idx="6">
                  <c:v>6</c:v>
                </c:pt>
                <c:pt idx="7">
                  <c:v>6</c:v>
                </c:pt>
                <c:pt idx="8">
                  <c:v>2</c:v>
                </c:pt>
              </c:numCache>
            </c:numRef>
          </c:val>
          <c:extLst>
            <c:ext xmlns:c16="http://schemas.microsoft.com/office/drawing/2014/chart" uri="{C3380CC4-5D6E-409C-BE32-E72D297353CC}">
              <c16:uniqueId val="{00000000-7336-492C-81F0-763DD3264838}"/>
            </c:ext>
          </c:extLst>
        </c:ser>
        <c:ser>
          <c:idx val="1"/>
          <c:order val="1"/>
          <c:tx>
            <c:strRef>
              <c:f>Sheet1!$C$1</c:f>
              <c:strCache>
                <c:ptCount val="1"/>
                <c:pt idx="0">
                  <c:v>PRE-TERM</c:v>
                </c:pt>
              </c:strCache>
            </c:strRef>
          </c:tx>
          <c:spPr>
            <a:solidFill>
              <a:schemeClr val="accent2">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Sheet1!$A$2:$A$11</c:f>
              <c:strCache>
                <c:ptCount val="9"/>
                <c:pt idx="0">
                  <c:v>2-2.2</c:v>
                </c:pt>
                <c:pt idx="1">
                  <c:v>2.2-2.4</c:v>
                </c:pt>
                <c:pt idx="2">
                  <c:v>2.4-2.6</c:v>
                </c:pt>
                <c:pt idx="3">
                  <c:v>2.6-2.8</c:v>
                </c:pt>
                <c:pt idx="4">
                  <c:v>2.8-3</c:v>
                </c:pt>
                <c:pt idx="5">
                  <c:v>3-3.2</c:v>
                </c:pt>
                <c:pt idx="6">
                  <c:v>3.2-3.4</c:v>
                </c:pt>
                <c:pt idx="7">
                  <c:v>3.4-3.6</c:v>
                </c:pt>
                <c:pt idx="8">
                  <c:v>3.8-4</c:v>
                </c:pt>
              </c:strCache>
            </c:strRef>
          </c:cat>
          <c:val>
            <c:numRef>
              <c:f>Sheet1!$C$2:$C$11</c:f>
              <c:numCache>
                <c:formatCode>General</c:formatCode>
                <c:ptCount val="10"/>
                <c:pt idx="0">
                  <c:v>3</c:v>
                </c:pt>
                <c:pt idx="1">
                  <c:v>3</c:v>
                </c:pt>
                <c:pt idx="2">
                  <c:v>4</c:v>
                </c:pt>
                <c:pt idx="3">
                  <c:v>5</c:v>
                </c:pt>
                <c:pt idx="4">
                  <c:v>7</c:v>
                </c:pt>
                <c:pt idx="5">
                  <c:v>4</c:v>
                </c:pt>
                <c:pt idx="6">
                  <c:v>5</c:v>
                </c:pt>
                <c:pt idx="7">
                  <c:v>1</c:v>
                </c:pt>
              </c:numCache>
            </c:numRef>
          </c:val>
          <c:extLst>
            <c:ext xmlns:c16="http://schemas.microsoft.com/office/drawing/2014/chart" uri="{C3380CC4-5D6E-409C-BE32-E72D297353CC}">
              <c16:uniqueId val="{00000001-7336-492C-81F0-763DD3264838}"/>
            </c:ext>
          </c:extLst>
        </c:ser>
        <c:ser>
          <c:idx val="2"/>
          <c:order val="2"/>
          <c:tx>
            <c:strRef>
              <c:f>Sheet1!$D$1</c:f>
              <c:strCache>
                <c:ptCount val="1"/>
                <c:pt idx="0">
                  <c:v>Column1</c:v>
                </c:pt>
              </c:strCache>
            </c:strRef>
          </c:tx>
          <c:spPr>
            <a:solidFill>
              <a:schemeClr val="accent3">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Sheet1!$A$2:$A$11</c:f>
              <c:strCache>
                <c:ptCount val="9"/>
                <c:pt idx="0">
                  <c:v>2-2.2</c:v>
                </c:pt>
                <c:pt idx="1">
                  <c:v>2.2-2.4</c:v>
                </c:pt>
                <c:pt idx="2">
                  <c:v>2.4-2.6</c:v>
                </c:pt>
                <c:pt idx="3">
                  <c:v>2.6-2.8</c:v>
                </c:pt>
                <c:pt idx="4">
                  <c:v>2.8-3</c:v>
                </c:pt>
                <c:pt idx="5">
                  <c:v>3-3.2</c:v>
                </c:pt>
                <c:pt idx="6">
                  <c:v>3.2-3.4</c:v>
                </c:pt>
                <c:pt idx="7">
                  <c:v>3.4-3.6</c:v>
                </c:pt>
                <c:pt idx="8">
                  <c:v>3.8-4</c:v>
                </c:pt>
              </c:strCache>
            </c:strRef>
          </c:cat>
          <c:val>
            <c:numRef>
              <c:f>Sheet1!$D$2:$D$11</c:f>
              <c:numCache>
                <c:formatCode>General</c:formatCode>
                <c:ptCount val="10"/>
              </c:numCache>
            </c:numRef>
          </c:val>
          <c:extLst>
            <c:ext xmlns:c16="http://schemas.microsoft.com/office/drawing/2014/chart" uri="{C3380CC4-5D6E-409C-BE32-E72D297353CC}">
              <c16:uniqueId val="{00000002-7336-492C-81F0-763DD3264838}"/>
            </c:ext>
          </c:extLst>
        </c:ser>
        <c:dLbls>
          <c:dLblPos val="inEnd"/>
          <c:showLegendKey val="0"/>
          <c:showVal val="1"/>
          <c:showCatName val="0"/>
          <c:showSerName val="0"/>
          <c:showPercent val="0"/>
          <c:showBubbleSize val="0"/>
        </c:dLbls>
        <c:gapWidth val="65"/>
        <c:axId val="569304047"/>
        <c:axId val="569304879"/>
      </c:barChart>
      <c:catAx>
        <c:axId val="569304047"/>
        <c:scaling>
          <c:orientation val="minMax"/>
        </c:scaling>
        <c:delete val="0"/>
        <c:axPos val="l"/>
        <c:title>
          <c:tx>
            <c:rich>
              <a:bodyPr rot="-5400000" spcFirstLastPara="1" vertOverflow="ellipsis" vert="horz" wrap="square" anchor="ctr" anchorCtr="1"/>
              <a:lstStyle/>
              <a:p>
                <a:pPr>
                  <a:defRPr sz="1197" b="1" i="0" u="none" strike="noStrike" kern="1200" baseline="0">
                    <a:solidFill>
                      <a:schemeClr val="dk1">
                        <a:lumMod val="75000"/>
                        <a:lumOff val="25000"/>
                      </a:schemeClr>
                    </a:solidFill>
                    <a:latin typeface="+mn-lt"/>
                    <a:ea typeface="+mn-ea"/>
                    <a:cs typeface="+mn-cs"/>
                  </a:defRPr>
                </a:pPr>
                <a:r>
                  <a:rPr lang="en-US"/>
                  <a:t>weight in kgs</a:t>
                </a:r>
              </a:p>
            </c:rich>
          </c:tx>
          <c:overlay val="0"/>
          <c:spPr>
            <a:noFill/>
            <a:ln>
              <a:noFill/>
            </a:ln>
            <a:effectLst/>
          </c:spPr>
          <c:txPr>
            <a:bodyPr rot="-5400000" spcFirstLastPara="1" vertOverflow="ellipsis" vert="horz" wrap="square" anchor="ctr" anchorCtr="1"/>
            <a:lstStyle/>
            <a:p>
              <a:pPr>
                <a:defRPr sz="1197" b="1" i="0" u="none" strike="noStrike" kern="1200" baseline="0">
                  <a:solidFill>
                    <a:schemeClr val="dk1">
                      <a:lumMod val="75000"/>
                      <a:lumOff val="25000"/>
                    </a:schemeClr>
                  </a:solidFill>
                  <a:latin typeface="+mn-lt"/>
                  <a:ea typeface="+mn-ea"/>
                  <a:cs typeface="+mn-cs"/>
                </a:defRPr>
              </a:pPr>
              <a:endParaRPr lang="en-US"/>
            </a:p>
          </c:txPr>
        </c:title>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1197" b="0" i="0" u="none" strike="noStrike" kern="1200" cap="all" baseline="0">
                <a:solidFill>
                  <a:schemeClr val="dk1">
                    <a:lumMod val="75000"/>
                    <a:lumOff val="25000"/>
                  </a:schemeClr>
                </a:solidFill>
                <a:latin typeface="+mn-lt"/>
                <a:ea typeface="+mn-ea"/>
                <a:cs typeface="+mn-cs"/>
              </a:defRPr>
            </a:pPr>
            <a:endParaRPr lang="en-US"/>
          </a:p>
        </c:txPr>
        <c:crossAx val="569304879"/>
        <c:crosses val="autoZero"/>
        <c:auto val="1"/>
        <c:lblAlgn val="ctr"/>
        <c:lblOffset val="100"/>
        <c:noMultiLvlLbl val="0"/>
      </c:catAx>
      <c:valAx>
        <c:axId val="569304879"/>
        <c:scaling>
          <c:orientation val="minMax"/>
        </c:scaling>
        <c:delete val="0"/>
        <c:axPos val="b"/>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title>
          <c:tx>
            <c:rich>
              <a:bodyPr rot="0" spcFirstLastPara="1" vertOverflow="ellipsis" vert="horz" wrap="square" anchor="ctr" anchorCtr="1"/>
              <a:lstStyle/>
              <a:p>
                <a:pPr>
                  <a:defRPr sz="1197" b="1" i="0" u="none" strike="noStrike" kern="1200" baseline="0">
                    <a:solidFill>
                      <a:schemeClr val="dk1">
                        <a:lumMod val="75000"/>
                        <a:lumOff val="25000"/>
                      </a:schemeClr>
                    </a:solidFill>
                    <a:latin typeface="+mn-lt"/>
                    <a:ea typeface="+mn-ea"/>
                    <a:cs typeface="+mn-cs"/>
                  </a:defRPr>
                </a:pPr>
                <a:r>
                  <a:rPr lang="en-US"/>
                  <a:t>Frequency</a:t>
                </a:r>
              </a:p>
            </c:rich>
          </c:tx>
          <c:overlay val="0"/>
          <c:spPr>
            <a:noFill/>
            <a:ln>
              <a:noFill/>
            </a:ln>
            <a:effectLst/>
          </c:spPr>
          <c:txPr>
            <a:bodyPr rot="0" spcFirstLastPara="1" vertOverflow="ellipsis" vert="horz" wrap="square" anchor="ctr" anchorCtr="1"/>
            <a:lstStyle/>
            <a:p>
              <a:pPr>
                <a:defRPr sz="1197" b="1" i="0" u="none" strike="noStrike" kern="1200" baseline="0">
                  <a:solidFill>
                    <a:schemeClr val="dk1">
                      <a:lumMod val="75000"/>
                      <a:lumOff val="2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en-US"/>
          </a:p>
        </c:txPr>
        <c:crossAx val="569304047"/>
        <c:crosses val="autoZero"/>
        <c:crossBetween val="between"/>
      </c:valAx>
      <c:spPr>
        <a:noFill/>
        <a:ln>
          <a:noFill/>
        </a:ln>
        <a:effectLst/>
      </c:spPr>
    </c:plotArea>
    <c:legend>
      <c:legendPos val="b"/>
      <c:legendEntry>
        <c:idx val="0"/>
        <c:delete val="1"/>
      </c:legendEntry>
      <c:overlay val="0"/>
      <c:spPr>
        <a:solidFill>
          <a:schemeClr val="lt1">
            <a:lumMod val="95000"/>
            <a:alpha val="39000"/>
          </a:schemeClr>
        </a:solidFill>
        <a:ln>
          <a:noFill/>
        </a:ln>
        <a:effectLst/>
      </c:spPr>
      <c:txPr>
        <a:bodyPr rot="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a:t>RESIDENCY</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tx>
            <c:strRef>
              <c:f>Sheet1!$B$1</c:f>
              <c:strCache>
                <c:ptCount val="1"/>
                <c:pt idx="0">
                  <c:v>FREQUENCY</c:v>
                </c:pt>
              </c:strCache>
            </c:strRef>
          </c:tx>
          <c:spPr>
            <a:solidFill>
              <a:schemeClr val="accent1">
                <a:lumMod val="60000"/>
                <a:lumOff val="4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3"/>
                <c:pt idx="0">
                  <c:v>RURAL</c:v>
                </c:pt>
                <c:pt idx="1">
                  <c:v>URBAN</c:v>
                </c:pt>
                <c:pt idx="2">
                  <c:v>TOTAL</c:v>
                </c:pt>
              </c:strCache>
            </c:strRef>
          </c:cat>
          <c:val>
            <c:numRef>
              <c:f>Sheet1!$B$2:$B$5</c:f>
              <c:numCache>
                <c:formatCode>General</c:formatCode>
                <c:ptCount val="4"/>
                <c:pt idx="0">
                  <c:v>16</c:v>
                </c:pt>
                <c:pt idx="1">
                  <c:v>79</c:v>
                </c:pt>
                <c:pt idx="2">
                  <c:v>95</c:v>
                </c:pt>
              </c:numCache>
            </c:numRef>
          </c:val>
          <c:extLst>
            <c:ext xmlns:c16="http://schemas.microsoft.com/office/drawing/2014/chart" uri="{C3380CC4-5D6E-409C-BE32-E72D297353CC}">
              <c16:uniqueId val="{00000000-2AA3-46BF-B968-B7FA720E9D89}"/>
            </c:ext>
          </c:extLst>
        </c:ser>
        <c:ser>
          <c:idx val="1"/>
          <c:order val="1"/>
          <c:tx>
            <c:strRef>
              <c:f>Sheet1!$C$1</c:f>
              <c:strCache>
                <c:ptCount val="1"/>
                <c:pt idx="0">
                  <c:v>Column2</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3"/>
                <c:pt idx="0">
                  <c:v>RURAL</c:v>
                </c:pt>
                <c:pt idx="1">
                  <c:v>URBAN</c:v>
                </c:pt>
                <c:pt idx="2">
                  <c:v>TOTAL</c:v>
                </c:pt>
              </c:strCache>
            </c:strRef>
          </c:cat>
          <c:val>
            <c:numRef>
              <c:f>Sheet1!$C$2:$C$5</c:f>
              <c:numCache>
                <c:formatCode>General</c:formatCode>
                <c:ptCount val="4"/>
              </c:numCache>
            </c:numRef>
          </c:val>
          <c:extLst>
            <c:ext xmlns:c16="http://schemas.microsoft.com/office/drawing/2014/chart" uri="{C3380CC4-5D6E-409C-BE32-E72D297353CC}">
              <c16:uniqueId val="{00000001-2AA3-46BF-B968-B7FA720E9D89}"/>
            </c:ext>
          </c:extLst>
        </c:ser>
        <c:ser>
          <c:idx val="2"/>
          <c:order val="2"/>
          <c:tx>
            <c:strRef>
              <c:f>Sheet1!$D$1</c:f>
              <c:strCache>
                <c:ptCount val="1"/>
                <c:pt idx="0">
                  <c:v>Column1</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3"/>
                <c:pt idx="0">
                  <c:v>RURAL</c:v>
                </c:pt>
                <c:pt idx="1">
                  <c:v>URBAN</c:v>
                </c:pt>
                <c:pt idx="2">
                  <c:v>TOTAL</c:v>
                </c:pt>
              </c:strCache>
            </c:strRef>
          </c:cat>
          <c:val>
            <c:numRef>
              <c:f>Sheet1!$D$2:$D$5</c:f>
              <c:numCache>
                <c:formatCode>General</c:formatCode>
                <c:ptCount val="4"/>
              </c:numCache>
            </c:numRef>
          </c:val>
          <c:extLst>
            <c:ext xmlns:c16="http://schemas.microsoft.com/office/drawing/2014/chart" uri="{C3380CC4-5D6E-409C-BE32-E72D297353CC}">
              <c16:uniqueId val="{00000002-2AA3-46BF-B968-B7FA720E9D89}"/>
            </c:ext>
          </c:extLst>
        </c:ser>
        <c:dLbls>
          <c:dLblPos val="outEnd"/>
          <c:showLegendKey val="0"/>
          <c:showVal val="1"/>
          <c:showCatName val="0"/>
          <c:showSerName val="0"/>
          <c:showPercent val="0"/>
          <c:showBubbleSize val="0"/>
        </c:dLbls>
        <c:gapWidth val="182"/>
        <c:axId val="572704095"/>
        <c:axId val="572704511"/>
      </c:barChart>
      <c:catAx>
        <c:axId val="572704095"/>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572704511"/>
        <c:crosses val="autoZero"/>
        <c:auto val="1"/>
        <c:lblAlgn val="ctr"/>
        <c:lblOffset val="100"/>
        <c:noMultiLvlLbl val="0"/>
      </c:catAx>
      <c:valAx>
        <c:axId val="572704511"/>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a:t>Number of subjects</a:t>
                </a:r>
              </a:p>
            </c:rich>
          </c:tx>
          <c:overlay val="0"/>
          <c:spPr>
            <a:noFill/>
            <a:ln>
              <a:noFill/>
            </a:ln>
            <a:effectLst/>
          </c:spPr>
          <c:txPr>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572704095"/>
        <c:crosses val="autoZero"/>
        <c:crossBetween val="between"/>
      </c:valAx>
      <c:spPr>
        <a:noFill/>
        <a:ln>
          <a:noFill/>
        </a:ln>
        <a:effectLst/>
      </c:spPr>
    </c:plotArea>
    <c:legend>
      <c:legendPos val="b"/>
      <c:legendEntry>
        <c:idx val="0"/>
        <c:delete val="1"/>
      </c:legendEntry>
      <c:legendEntry>
        <c:idx val="1"/>
        <c:delete val="1"/>
      </c:legendEntry>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200" b="1" i="0" u="none" strike="noStrike" kern="1200" baseline="0">
                <a:solidFill>
                  <a:schemeClr val="dk1">
                    <a:lumMod val="65000"/>
                    <a:lumOff val="35000"/>
                  </a:schemeClr>
                </a:solidFill>
                <a:latin typeface="+mn-lt"/>
                <a:ea typeface="+mn-ea"/>
                <a:cs typeface="+mn-cs"/>
              </a:defRPr>
            </a:pPr>
            <a:r>
              <a:rPr lang="en-US"/>
              <a:t>MARITAL LIFE</a:t>
            </a:r>
          </a:p>
        </c:rich>
      </c:tx>
      <c:overlay val="0"/>
      <c:spPr>
        <a:noFill/>
        <a:ln>
          <a:noFill/>
        </a:ln>
        <a:effectLst/>
      </c:spPr>
      <c:txPr>
        <a:bodyPr rot="0" spcFirstLastPara="1" vertOverflow="ellipsis" vert="horz" wrap="square" anchor="ctr" anchorCtr="1"/>
        <a:lstStyle/>
        <a:p>
          <a:pPr>
            <a:defRPr sz="2200" b="1" i="0" u="none" strike="noStrike" kern="1200" baseline="0">
              <a:solidFill>
                <a:schemeClr val="dk1">
                  <a:lumMod val="65000"/>
                  <a:lumOff val="35000"/>
                </a:schemeClr>
              </a:solidFill>
              <a:latin typeface="+mn-lt"/>
              <a:ea typeface="+mn-ea"/>
              <a:cs typeface="+mn-cs"/>
            </a:defRPr>
          </a:pPr>
          <a:endParaRPr lang="en-US"/>
        </a:p>
      </c:txPr>
    </c:title>
    <c:autoTitleDeleted val="0"/>
    <c:view3D>
      <c:rotX val="50"/>
      <c:rotY val="0"/>
      <c:depthPercent val="100"/>
      <c:rAngAx val="0"/>
      <c:perspective val="6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strRef>
              <c:f>Sheet1!$B$1</c:f>
              <c:strCache>
                <c:ptCount val="1"/>
                <c:pt idx="0">
                  <c:v>NUMBER OF PATIENTS</c:v>
                </c:pt>
              </c:strCache>
            </c:strRef>
          </c:tx>
          <c:spPr>
            <a:solidFill>
              <a:schemeClr val="accent1">
                <a:lumMod val="60000"/>
                <a:lumOff val="40000"/>
              </a:schemeClr>
            </a:solidFill>
          </c:spPr>
          <c:dPt>
            <c:idx val="0"/>
            <c:bubble3D val="0"/>
            <c:spPr>
              <a:solidFill>
                <a:schemeClr val="accent1">
                  <a:lumMod val="60000"/>
                  <a:lumOff val="40000"/>
                </a:schemeClr>
              </a:solidFill>
              <a:ln>
                <a:noFill/>
              </a:ln>
              <a:effectLst>
                <a:outerShdw blurRad="88900" sx="102000" sy="102000" algn="ctr" rotWithShape="0">
                  <a:prstClr val="black">
                    <a:alpha val="20000"/>
                  </a:prstClr>
                </a:outerShdw>
              </a:effectLst>
              <a:scene3d>
                <a:camera prst="orthographicFront"/>
                <a:lightRig rig="threePt" dir="t"/>
              </a:scene3d>
              <a:sp3d prstMaterial="matte"/>
            </c:spPr>
            <c:extLst>
              <c:ext xmlns:c16="http://schemas.microsoft.com/office/drawing/2014/chart" uri="{C3380CC4-5D6E-409C-BE32-E72D297353CC}">
                <c16:uniqueId val="{00000001-0AC9-4CBB-8AF7-432F6690981A}"/>
              </c:ext>
            </c:extLst>
          </c:dPt>
          <c:dPt>
            <c:idx val="1"/>
            <c:bubble3D val="0"/>
            <c:spPr>
              <a:solidFill>
                <a:srgbClr val="002060"/>
              </a:solidFill>
              <a:ln>
                <a:noFill/>
              </a:ln>
              <a:effectLst>
                <a:outerShdw blurRad="88900" sx="102000" sy="102000" algn="ctr" rotWithShape="0">
                  <a:prstClr val="black">
                    <a:alpha val="20000"/>
                  </a:prstClr>
                </a:outerShdw>
              </a:effectLst>
              <a:scene3d>
                <a:camera prst="orthographicFront"/>
                <a:lightRig rig="threePt" dir="t"/>
              </a:scene3d>
              <a:sp3d prstMaterial="matte"/>
            </c:spPr>
            <c:extLst>
              <c:ext xmlns:c16="http://schemas.microsoft.com/office/drawing/2014/chart" uri="{C3380CC4-5D6E-409C-BE32-E72D297353CC}">
                <c16:uniqueId val="{00000003-0AC9-4CBB-8AF7-432F6690981A}"/>
              </c:ext>
            </c:extLst>
          </c:dPt>
          <c:dPt>
            <c:idx val="2"/>
            <c:bubble3D val="0"/>
            <c:spPr>
              <a:solidFill>
                <a:schemeClr val="accent1">
                  <a:lumMod val="60000"/>
                  <a:lumOff val="40000"/>
                </a:schemeClr>
              </a:solidFill>
              <a:ln>
                <a:noFill/>
              </a:ln>
              <a:effectLst>
                <a:outerShdw blurRad="88900" sx="102000" sy="102000" algn="ctr" rotWithShape="0">
                  <a:prstClr val="black">
                    <a:alpha val="20000"/>
                  </a:prstClr>
                </a:outerShdw>
              </a:effectLst>
              <a:scene3d>
                <a:camera prst="orthographicFront"/>
                <a:lightRig rig="threePt" dir="t"/>
              </a:scene3d>
              <a:sp3d prstMaterial="matte"/>
            </c:spPr>
            <c:extLst>
              <c:ext xmlns:c16="http://schemas.microsoft.com/office/drawing/2014/chart" uri="{C3380CC4-5D6E-409C-BE32-E72D297353CC}">
                <c16:uniqueId val="{00000005-0AC9-4CBB-8AF7-432F6690981A}"/>
              </c:ext>
            </c:extLst>
          </c:dPt>
          <c:dPt>
            <c:idx val="3"/>
            <c:bubble3D val="0"/>
            <c:spPr>
              <a:solidFill>
                <a:schemeClr val="accent1">
                  <a:lumMod val="60000"/>
                  <a:lumOff val="40000"/>
                </a:schemeClr>
              </a:solidFill>
              <a:ln>
                <a:noFill/>
              </a:ln>
              <a:effectLst>
                <a:outerShdw blurRad="88900" sx="102000" sy="102000" algn="ctr" rotWithShape="0">
                  <a:prstClr val="black">
                    <a:alpha val="20000"/>
                  </a:prstClr>
                </a:outerShdw>
              </a:effectLst>
              <a:scene3d>
                <a:camera prst="orthographicFront"/>
                <a:lightRig rig="threePt" dir="t"/>
              </a:scene3d>
              <a:sp3d prstMaterial="matte"/>
            </c:spPr>
            <c:extLst>
              <c:ext xmlns:c16="http://schemas.microsoft.com/office/drawing/2014/chart" uri="{C3380CC4-5D6E-409C-BE32-E72D297353CC}">
                <c16:uniqueId val="{00000007-0AC9-4CBB-8AF7-432F6690981A}"/>
              </c:ext>
            </c:extLst>
          </c:dPt>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en-US"/>
              </a:p>
            </c:txPr>
            <c:dLblPos val="inEnd"/>
            <c:showLegendKey val="0"/>
            <c:showVal val="0"/>
            <c:showCatName val="0"/>
            <c:showSerName val="0"/>
            <c:showPercent val="1"/>
            <c:showBubbleSize val="0"/>
            <c:showLeaderLines val="1"/>
            <c:leaderLines>
              <c:spPr>
                <a:ln w="9525" cap="flat" cmpd="sng" algn="ctr">
                  <a:solidFill>
                    <a:schemeClr val="dk1">
                      <a:lumMod val="35000"/>
                      <a:lumOff val="65000"/>
                    </a:schemeClr>
                  </a:solidFill>
                  <a:round/>
                </a:ln>
                <a:effectLst/>
              </c:spPr>
            </c:leaderLines>
            <c:extLst>
              <c:ext xmlns:c15="http://schemas.microsoft.com/office/drawing/2012/chart" uri="{CE6537A1-D6FC-4f65-9D91-7224C49458BB}"/>
            </c:extLst>
          </c:dLbls>
          <c:cat>
            <c:strRef>
              <c:f>Sheet1!$A$2:$A$5</c:f>
              <c:strCache>
                <c:ptCount val="2"/>
                <c:pt idx="0">
                  <c:v>non consanguineous</c:v>
                </c:pt>
                <c:pt idx="1">
                  <c:v>consanguineous</c:v>
                </c:pt>
              </c:strCache>
            </c:strRef>
          </c:cat>
          <c:val>
            <c:numRef>
              <c:f>Sheet1!$B$2:$B$5</c:f>
              <c:numCache>
                <c:formatCode>General</c:formatCode>
                <c:ptCount val="4"/>
                <c:pt idx="0">
                  <c:v>82</c:v>
                </c:pt>
                <c:pt idx="1">
                  <c:v>13</c:v>
                </c:pt>
              </c:numCache>
            </c:numRef>
          </c:val>
          <c:extLst>
            <c:ext xmlns:c16="http://schemas.microsoft.com/office/drawing/2014/chart" uri="{C3380CC4-5D6E-409C-BE32-E72D297353CC}">
              <c16:uniqueId val="{00000008-0AC9-4CBB-8AF7-432F6690981A}"/>
            </c:ext>
          </c:extLst>
        </c:ser>
        <c:dLbls>
          <c:dLblPos val="inEnd"/>
          <c:showLegendKey val="0"/>
          <c:showVal val="0"/>
          <c:showCatName val="0"/>
          <c:showSerName val="0"/>
          <c:showPercent val="1"/>
          <c:showBubbleSize val="0"/>
          <c:showLeaderLines val="1"/>
        </c:dLbls>
      </c:pie3DChart>
      <c:spPr>
        <a:noFill/>
        <a:ln>
          <a:noFill/>
        </a:ln>
        <a:effectLst/>
      </c:spPr>
    </c:plotArea>
    <c:legend>
      <c:legendPos val="b"/>
      <c:legendEntry>
        <c:idx val="2"/>
        <c:delete val="1"/>
      </c:legendEntry>
      <c:legendEntry>
        <c:idx val="3"/>
        <c:delete val="1"/>
      </c:legendEntry>
      <c:overlay val="0"/>
      <c:spPr>
        <a:solidFill>
          <a:schemeClr val="lt1">
            <a:alpha val="78000"/>
          </a:schemeClr>
        </a:solidFill>
        <a:ln>
          <a:noFill/>
        </a:ln>
        <a:effectLst/>
      </c:spPr>
      <c:txPr>
        <a:bodyPr rot="0" spcFirstLastPara="1" vertOverflow="ellipsis" vert="horz" wrap="square" anchor="ctr" anchorCtr="1"/>
        <a:lstStyle/>
        <a:p>
          <a:pPr>
            <a:defRPr sz="1197" b="0" i="0" u="none" strike="noStrike" kern="1200" baseline="0">
              <a:solidFill>
                <a:schemeClr val="dk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pattFill prst="dkDnDiag">
      <a:fgClr>
        <a:schemeClr val="lt1">
          <a:lumMod val="95000"/>
        </a:schemeClr>
      </a:fgClr>
      <a:bgClr>
        <a:schemeClr val="lt1"/>
      </a:bgClr>
    </a:patt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200" b="1" i="0" u="none" strike="noStrike" kern="1200" cap="all" spc="150" baseline="0">
                <a:solidFill>
                  <a:schemeClr val="tx1">
                    <a:lumMod val="50000"/>
                    <a:lumOff val="50000"/>
                  </a:schemeClr>
                </a:solidFill>
                <a:latin typeface="+mn-lt"/>
                <a:ea typeface="+mn-ea"/>
                <a:cs typeface="+mn-cs"/>
              </a:defRPr>
            </a:pPr>
            <a:r>
              <a:rPr lang="en-US"/>
              <a:t>EDUCATION QUALIFICATION</a:t>
            </a:r>
          </a:p>
        </c:rich>
      </c:tx>
      <c:overlay val="0"/>
      <c:spPr>
        <a:noFill/>
        <a:ln>
          <a:noFill/>
        </a:ln>
        <a:effectLst/>
      </c:spPr>
      <c:txPr>
        <a:bodyPr rot="0" spcFirstLastPara="1" vertOverflow="ellipsis" vert="horz" wrap="square" anchor="ctr" anchorCtr="1"/>
        <a:lstStyle/>
        <a:p>
          <a:pPr>
            <a:defRPr sz="2200" b="1" i="0" u="none" strike="noStrike" kern="1200" cap="all" spc="150" baseline="0">
              <a:solidFill>
                <a:schemeClr val="tx1">
                  <a:lumMod val="50000"/>
                  <a:lumOff val="50000"/>
                </a:schemeClr>
              </a:solidFill>
              <a:latin typeface="+mn-lt"/>
              <a:ea typeface="+mn-ea"/>
              <a:cs typeface="+mn-cs"/>
            </a:defRPr>
          </a:pPr>
          <a:endParaRPr lang="en-US"/>
        </a:p>
      </c:txPr>
    </c:title>
    <c:autoTitleDeleted val="0"/>
    <c:plotArea>
      <c:layout/>
      <c:doughnutChart>
        <c:varyColors val="1"/>
        <c:ser>
          <c:idx val="0"/>
          <c:order val="0"/>
          <c:tx>
            <c:strRef>
              <c:f>Sheet1!$B$1</c:f>
              <c:strCache>
                <c:ptCount val="1"/>
                <c:pt idx="0">
                  <c:v>NUMBER OF PATIENTS</c:v>
                </c:pt>
              </c:strCache>
            </c:strRef>
          </c:tx>
          <c:dPt>
            <c:idx val="0"/>
            <c:bubble3D val="0"/>
            <c:spPr>
              <a:pattFill prst="ltUpDiag">
                <a:fgClr>
                  <a:schemeClr val="accent1"/>
                </a:fgClr>
                <a:bgClr>
                  <a:schemeClr val="accent1">
                    <a:lumMod val="20000"/>
                    <a:lumOff val="80000"/>
                  </a:schemeClr>
                </a:bgClr>
              </a:pattFill>
              <a:ln w="19050">
                <a:solidFill>
                  <a:schemeClr val="lt1"/>
                </a:solidFill>
              </a:ln>
              <a:effectLst>
                <a:innerShdw blurRad="114300">
                  <a:schemeClr val="accent1"/>
                </a:innerShdw>
              </a:effectLst>
            </c:spPr>
            <c:extLst>
              <c:ext xmlns:c16="http://schemas.microsoft.com/office/drawing/2014/chart" uri="{C3380CC4-5D6E-409C-BE32-E72D297353CC}">
                <c16:uniqueId val="{00000001-1EB4-46FB-BA90-309B2A1B2B48}"/>
              </c:ext>
            </c:extLst>
          </c:dPt>
          <c:dPt>
            <c:idx val="1"/>
            <c:bubble3D val="0"/>
            <c:spPr>
              <a:pattFill prst="ltUpDiag">
                <a:fgClr>
                  <a:schemeClr val="accent2"/>
                </a:fgClr>
                <a:bgClr>
                  <a:schemeClr val="accent2">
                    <a:lumMod val="20000"/>
                    <a:lumOff val="80000"/>
                  </a:schemeClr>
                </a:bgClr>
              </a:pattFill>
              <a:ln w="19050">
                <a:solidFill>
                  <a:schemeClr val="lt1"/>
                </a:solidFill>
              </a:ln>
              <a:effectLst>
                <a:innerShdw blurRad="114300">
                  <a:schemeClr val="accent2"/>
                </a:innerShdw>
              </a:effectLst>
            </c:spPr>
            <c:extLst>
              <c:ext xmlns:c16="http://schemas.microsoft.com/office/drawing/2014/chart" uri="{C3380CC4-5D6E-409C-BE32-E72D297353CC}">
                <c16:uniqueId val="{00000003-1EB4-46FB-BA90-309B2A1B2B48}"/>
              </c:ext>
            </c:extLst>
          </c:dPt>
          <c:dPt>
            <c:idx val="2"/>
            <c:bubble3D val="0"/>
            <c:spPr>
              <a:pattFill prst="ltUpDiag">
                <a:fgClr>
                  <a:schemeClr val="accent3"/>
                </a:fgClr>
                <a:bgClr>
                  <a:schemeClr val="accent3">
                    <a:lumMod val="20000"/>
                    <a:lumOff val="80000"/>
                  </a:schemeClr>
                </a:bgClr>
              </a:pattFill>
              <a:ln w="19050">
                <a:solidFill>
                  <a:schemeClr val="lt1"/>
                </a:solidFill>
              </a:ln>
              <a:effectLst>
                <a:innerShdw blurRad="114300">
                  <a:schemeClr val="accent3"/>
                </a:innerShdw>
              </a:effectLst>
            </c:spPr>
            <c:extLst>
              <c:ext xmlns:c16="http://schemas.microsoft.com/office/drawing/2014/chart" uri="{C3380CC4-5D6E-409C-BE32-E72D297353CC}">
                <c16:uniqueId val="{00000005-1EB4-46FB-BA90-309B2A1B2B48}"/>
              </c:ext>
            </c:extLst>
          </c:dPt>
          <c:dPt>
            <c:idx val="3"/>
            <c:bubble3D val="0"/>
            <c:spPr>
              <a:pattFill prst="ltUpDiag">
                <a:fgClr>
                  <a:schemeClr val="accent4"/>
                </a:fgClr>
                <a:bgClr>
                  <a:schemeClr val="accent4">
                    <a:lumMod val="20000"/>
                    <a:lumOff val="80000"/>
                  </a:schemeClr>
                </a:bgClr>
              </a:pattFill>
              <a:ln w="19050">
                <a:solidFill>
                  <a:schemeClr val="lt1"/>
                </a:solidFill>
              </a:ln>
              <a:effectLst>
                <a:innerShdw blurRad="114300">
                  <a:schemeClr val="accent4"/>
                </a:innerShdw>
              </a:effectLst>
            </c:spPr>
            <c:extLst>
              <c:ext xmlns:c16="http://schemas.microsoft.com/office/drawing/2014/chart" uri="{C3380CC4-5D6E-409C-BE32-E72D297353CC}">
                <c16:uniqueId val="{00000007-1EB4-46FB-BA90-309B2A1B2B48}"/>
              </c:ext>
            </c:extLst>
          </c:dPt>
          <c:dPt>
            <c:idx val="4"/>
            <c:bubble3D val="0"/>
            <c:spPr>
              <a:pattFill prst="ltUpDiag">
                <a:fgClr>
                  <a:schemeClr val="accent5"/>
                </a:fgClr>
                <a:bgClr>
                  <a:schemeClr val="accent5">
                    <a:lumMod val="20000"/>
                    <a:lumOff val="80000"/>
                  </a:schemeClr>
                </a:bgClr>
              </a:pattFill>
              <a:ln w="19050">
                <a:solidFill>
                  <a:schemeClr val="lt1"/>
                </a:solidFill>
              </a:ln>
              <a:effectLst>
                <a:innerShdw blurRad="114300">
                  <a:schemeClr val="accent5"/>
                </a:innerShdw>
              </a:effectLst>
            </c:spPr>
            <c:extLst>
              <c:ext xmlns:c16="http://schemas.microsoft.com/office/drawing/2014/chart" uri="{C3380CC4-5D6E-409C-BE32-E72D297353CC}">
                <c16:uniqueId val="{00000009-1EB4-46FB-BA90-309B2A1B2B48}"/>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1"/>
            <c:leaderLines>
              <c:spPr>
                <a:ln w="9525">
                  <a:solidFill>
                    <a:schemeClr val="tx1">
                      <a:lumMod val="35000"/>
                      <a:lumOff val="65000"/>
                    </a:schemeClr>
                  </a:solidFill>
                </a:ln>
                <a:effectLst/>
              </c:spPr>
            </c:leaderLines>
            <c:extLst>
              <c:ext xmlns:c15="http://schemas.microsoft.com/office/drawing/2012/chart" uri="{CE6537A1-D6FC-4f65-9D91-7224C49458BB}"/>
            </c:extLst>
          </c:dLbls>
          <c:cat>
            <c:strRef>
              <c:f>Sheet1!$A$2:$A$6</c:f>
              <c:strCache>
                <c:ptCount val="5"/>
                <c:pt idx="0">
                  <c:v>GRADUATION</c:v>
                </c:pt>
                <c:pt idx="1">
                  <c:v>SCHOOL</c:v>
                </c:pt>
                <c:pt idx="2">
                  <c:v>POST GRADUATION</c:v>
                </c:pt>
                <c:pt idx="3">
                  <c:v>INTERMEDIATE</c:v>
                </c:pt>
                <c:pt idx="4">
                  <c:v>DIPLOMA</c:v>
                </c:pt>
              </c:strCache>
            </c:strRef>
          </c:cat>
          <c:val>
            <c:numRef>
              <c:f>Sheet1!$B$2:$B$6</c:f>
              <c:numCache>
                <c:formatCode>General</c:formatCode>
                <c:ptCount val="5"/>
                <c:pt idx="0">
                  <c:v>46</c:v>
                </c:pt>
                <c:pt idx="1">
                  <c:v>25</c:v>
                </c:pt>
                <c:pt idx="2">
                  <c:v>9</c:v>
                </c:pt>
                <c:pt idx="3">
                  <c:v>13</c:v>
                </c:pt>
                <c:pt idx="4">
                  <c:v>2</c:v>
                </c:pt>
              </c:numCache>
            </c:numRef>
          </c:val>
          <c:extLst>
            <c:ext xmlns:c16="http://schemas.microsoft.com/office/drawing/2014/chart" uri="{C3380CC4-5D6E-409C-BE32-E72D297353CC}">
              <c16:uniqueId val="{0000000A-1EB4-46FB-BA90-309B2A1B2B48}"/>
            </c:ext>
          </c:extLst>
        </c:ser>
        <c:dLbls>
          <c:showLegendKey val="0"/>
          <c:showVal val="1"/>
          <c:showCatName val="0"/>
          <c:showSerName val="0"/>
          <c:showPercent val="0"/>
          <c:showBubbleSize val="0"/>
          <c:showLeaderLines val="1"/>
        </c:dLbls>
        <c:firstSliceAng val="0"/>
        <c:holeSize val="70"/>
      </c:doughnutChart>
      <c:spPr>
        <a:noFill/>
        <a:ln>
          <a:noFill/>
        </a:ln>
        <a:effectLst/>
      </c:spPr>
    </c:plotArea>
    <c:legend>
      <c:legendPos val="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a:t>TYPE OF DELIVERY</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Column3</c:v>
                </c:pt>
              </c:strCache>
            </c:strRef>
          </c:tx>
          <c:spPr>
            <a:solidFill>
              <a:schemeClr val="accent1">
                <a:lumMod val="60000"/>
                <a:lumOff val="4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2"/>
                <c:pt idx="0">
                  <c:v>normal</c:v>
                </c:pt>
                <c:pt idx="1">
                  <c:v>cesarean</c:v>
                </c:pt>
              </c:strCache>
            </c:strRef>
          </c:cat>
          <c:val>
            <c:numRef>
              <c:f>Sheet1!$B$2:$B$5</c:f>
              <c:numCache>
                <c:formatCode>General</c:formatCode>
                <c:ptCount val="4"/>
                <c:pt idx="0">
                  <c:v>6</c:v>
                </c:pt>
                <c:pt idx="1">
                  <c:v>89</c:v>
                </c:pt>
              </c:numCache>
            </c:numRef>
          </c:val>
          <c:extLst>
            <c:ext xmlns:c16="http://schemas.microsoft.com/office/drawing/2014/chart" uri="{C3380CC4-5D6E-409C-BE32-E72D297353CC}">
              <c16:uniqueId val="{00000000-A66C-45F0-A1CC-88BBD9C26AEC}"/>
            </c:ext>
          </c:extLst>
        </c:ser>
        <c:ser>
          <c:idx val="1"/>
          <c:order val="1"/>
          <c:tx>
            <c:strRef>
              <c:f>Sheet1!$C$1</c:f>
              <c:strCache>
                <c:ptCount val="1"/>
                <c:pt idx="0">
                  <c:v>Column1</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2"/>
                <c:pt idx="0">
                  <c:v>normal</c:v>
                </c:pt>
                <c:pt idx="1">
                  <c:v>cesarean</c:v>
                </c:pt>
              </c:strCache>
            </c:strRef>
          </c:cat>
          <c:val>
            <c:numRef>
              <c:f>Sheet1!$C$2:$C$5</c:f>
              <c:numCache>
                <c:formatCode>General</c:formatCode>
                <c:ptCount val="4"/>
              </c:numCache>
            </c:numRef>
          </c:val>
          <c:extLst>
            <c:ext xmlns:c16="http://schemas.microsoft.com/office/drawing/2014/chart" uri="{C3380CC4-5D6E-409C-BE32-E72D297353CC}">
              <c16:uniqueId val="{00000001-A66C-45F0-A1CC-88BBD9C26AEC}"/>
            </c:ext>
          </c:extLst>
        </c:ser>
        <c:ser>
          <c:idx val="2"/>
          <c:order val="2"/>
          <c:tx>
            <c:strRef>
              <c:f>Sheet1!$D$1</c:f>
              <c:strCache>
                <c:ptCount val="1"/>
                <c:pt idx="0">
                  <c:v>Column2</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2"/>
                <c:pt idx="0">
                  <c:v>normal</c:v>
                </c:pt>
                <c:pt idx="1">
                  <c:v>cesarean</c:v>
                </c:pt>
              </c:strCache>
            </c:strRef>
          </c:cat>
          <c:val>
            <c:numRef>
              <c:f>Sheet1!$D$2:$D$5</c:f>
              <c:numCache>
                <c:formatCode>General</c:formatCode>
                <c:ptCount val="4"/>
              </c:numCache>
            </c:numRef>
          </c:val>
          <c:extLst>
            <c:ext xmlns:c16="http://schemas.microsoft.com/office/drawing/2014/chart" uri="{C3380CC4-5D6E-409C-BE32-E72D297353CC}">
              <c16:uniqueId val="{00000002-A66C-45F0-A1CC-88BBD9C26AEC}"/>
            </c:ext>
          </c:extLst>
        </c:ser>
        <c:dLbls>
          <c:dLblPos val="outEnd"/>
          <c:showLegendKey val="0"/>
          <c:showVal val="1"/>
          <c:showCatName val="0"/>
          <c:showSerName val="0"/>
          <c:showPercent val="0"/>
          <c:showBubbleSize val="0"/>
        </c:dLbls>
        <c:gapWidth val="219"/>
        <c:overlap val="-27"/>
        <c:axId val="568674015"/>
        <c:axId val="568675263"/>
      </c:barChart>
      <c:catAx>
        <c:axId val="56867401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568675263"/>
        <c:crosses val="autoZero"/>
        <c:auto val="1"/>
        <c:lblAlgn val="ctr"/>
        <c:lblOffset val="100"/>
        <c:noMultiLvlLbl val="0"/>
      </c:catAx>
      <c:valAx>
        <c:axId val="568675263"/>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a:t>Number of subjects</a:t>
                </a:r>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568674015"/>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a:t>DURATION OF JAUNDICE</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NUMBER OF PATIENTS</c:v>
                </c:pt>
              </c:strCache>
            </c:strRef>
          </c:tx>
          <c:spPr>
            <a:solidFill>
              <a:schemeClr val="accent1">
                <a:lumMod val="60000"/>
                <a:lumOff val="4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1 DAY</c:v>
                </c:pt>
                <c:pt idx="1">
                  <c:v>2 DAYS</c:v>
                </c:pt>
                <c:pt idx="2">
                  <c:v>3 DAYS</c:v>
                </c:pt>
                <c:pt idx="3">
                  <c:v>4 DAYS</c:v>
                </c:pt>
                <c:pt idx="4">
                  <c:v>5 DAYS</c:v>
                </c:pt>
              </c:strCache>
            </c:strRef>
          </c:cat>
          <c:val>
            <c:numRef>
              <c:f>Sheet1!$B$2:$B$6</c:f>
              <c:numCache>
                <c:formatCode>General</c:formatCode>
                <c:ptCount val="5"/>
                <c:pt idx="0">
                  <c:v>21</c:v>
                </c:pt>
                <c:pt idx="1">
                  <c:v>39</c:v>
                </c:pt>
                <c:pt idx="2">
                  <c:v>24</c:v>
                </c:pt>
                <c:pt idx="3">
                  <c:v>10</c:v>
                </c:pt>
                <c:pt idx="4">
                  <c:v>1</c:v>
                </c:pt>
              </c:numCache>
            </c:numRef>
          </c:val>
          <c:extLst>
            <c:ext xmlns:c16="http://schemas.microsoft.com/office/drawing/2014/chart" uri="{C3380CC4-5D6E-409C-BE32-E72D297353CC}">
              <c16:uniqueId val="{00000000-9F12-420C-95E2-0DBAE4B55956}"/>
            </c:ext>
          </c:extLst>
        </c:ser>
        <c:ser>
          <c:idx val="1"/>
          <c:order val="1"/>
          <c:tx>
            <c:strRef>
              <c:f>Sheet1!$C$1</c:f>
              <c:strCache>
                <c:ptCount val="1"/>
                <c:pt idx="0">
                  <c:v>Column1</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1 DAY</c:v>
                </c:pt>
                <c:pt idx="1">
                  <c:v>2 DAYS</c:v>
                </c:pt>
                <c:pt idx="2">
                  <c:v>3 DAYS</c:v>
                </c:pt>
                <c:pt idx="3">
                  <c:v>4 DAYS</c:v>
                </c:pt>
                <c:pt idx="4">
                  <c:v>5 DAYS</c:v>
                </c:pt>
              </c:strCache>
            </c:strRef>
          </c:cat>
          <c:val>
            <c:numRef>
              <c:f>Sheet1!$C$2:$C$6</c:f>
              <c:numCache>
                <c:formatCode>General</c:formatCode>
                <c:ptCount val="5"/>
              </c:numCache>
            </c:numRef>
          </c:val>
          <c:extLst>
            <c:ext xmlns:c16="http://schemas.microsoft.com/office/drawing/2014/chart" uri="{C3380CC4-5D6E-409C-BE32-E72D297353CC}">
              <c16:uniqueId val="{00000001-9F12-420C-95E2-0DBAE4B55956}"/>
            </c:ext>
          </c:extLst>
        </c:ser>
        <c:ser>
          <c:idx val="2"/>
          <c:order val="2"/>
          <c:tx>
            <c:strRef>
              <c:f>Sheet1!$D$1</c:f>
              <c:strCache>
                <c:ptCount val="1"/>
                <c:pt idx="0">
                  <c:v>Column2</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1 DAY</c:v>
                </c:pt>
                <c:pt idx="1">
                  <c:v>2 DAYS</c:v>
                </c:pt>
                <c:pt idx="2">
                  <c:v>3 DAYS</c:v>
                </c:pt>
                <c:pt idx="3">
                  <c:v>4 DAYS</c:v>
                </c:pt>
                <c:pt idx="4">
                  <c:v>5 DAYS</c:v>
                </c:pt>
              </c:strCache>
            </c:strRef>
          </c:cat>
          <c:val>
            <c:numRef>
              <c:f>Sheet1!$D$2:$D$6</c:f>
              <c:numCache>
                <c:formatCode>General</c:formatCode>
                <c:ptCount val="5"/>
              </c:numCache>
            </c:numRef>
          </c:val>
          <c:extLst>
            <c:ext xmlns:c16="http://schemas.microsoft.com/office/drawing/2014/chart" uri="{C3380CC4-5D6E-409C-BE32-E72D297353CC}">
              <c16:uniqueId val="{00000002-9F12-420C-95E2-0DBAE4B55956}"/>
            </c:ext>
          </c:extLst>
        </c:ser>
        <c:dLbls>
          <c:dLblPos val="outEnd"/>
          <c:showLegendKey val="0"/>
          <c:showVal val="1"/>
          <c:showCatName val="0"/>
          <c:showSerName val="0"/>
          <c:showPercent val="0"/>
          <c:showBubbleSize val="0"/>
        </c:dLbls>
        <c:gapWidth val="219"/>
        <c:overlap val="-27"/>
        <c:axId val="577953871"/>
        <c:axId val="577953039"/>
      </c:barChart>
      <c:catAx>
        <c:axId val="57795387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577953039"/>
        <c:crosses val="autoZero"/>
        <c:auto val="1"/>
        <c:lblAlgn val="ctr"/>
        <c:lblOffset val="100"/>
        <c:noMultiLvlLbl val="0"/>
      </c:catAx>
      <c:valAx>
        <c:axId val="57795303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577953871"/>
        <c:crosses val="autoZero"/>
        <c:crossBetween val="between"/>
      </c:valAx>
      <c:spPr>
        <a:noFill/>
        <a:ln>
          <a:noFill/>
        </a:ln>
        <a:effectLst/>
      </c:spPr>
    </c:plotArea>
    <c:legend>
      <c:legendPos val="b"/>
      <c:legendEntry>
        <c:idx val="1"/>
        <c:delete val="1"/>
      </c:legendEntry>
      <c:legendEntry>
        <c:idx val="2"/>
        <c:delete val="1"/>
      </c:legendEntry>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r>
              <a:rPr lang="en-US"/>
              <a:t>RISK FACTORS</a:t>
            </a:r>
          </a:p>
        </c:rich>
      </c:tx>
      <c:overlay val="0"/>
      <c:spPr>
        <a:noFill/>
        <a:ln>
          <a:noFill/>
        </a:ln>
        <a:effectLst/>
      </c:spPr>
      <c:txPr>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endParaRPr lang="en-US"/>
        </a:p>
      </c:txPr>
    </c:title>
    <c:autoTitleDeleted val="0"/>
    <c:view3D>
      <c:rotX val="5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0.10416666666666667"/>
          <c:y val="0.16656761654793151"/>
          <c:w val="0.54796952464275295"/>
          <c:h val="0.69057524059492559"/>
        </c:manualLayout>
      </c:layout>
      <c:pie3DChart>
        <c:varyColors val="1"/>
        <c:ser>
          <c:idx val="0"/>
          <c:order val="0"/>
          <c:tx>
            <c:strRef>
              <c:f>Sheet1!$B$1</c:f>
              <c:strCache>
                <c:ptCount val="1"/>
                <c:pt idx="0">
                  <c:v>NUMBER OF SUBJECTS</c:v>
                </c:pt>
              </c:strCache>
            </c:strRef>
          </c:tx>
          <c:dPt>
            <c:idx val="0"/>
            <c:bubble3D val="0"/>
            <c:spPr>
              <a:solidFill>
                <a:schemeClr val="accent1"/>
              </a:solidFill>
              <a:ln>
                <a:noFill/>
              </a:ln>
              <a:effectLst>
                <a:outerShdw blurRad="254000" sx="102000" sy="102000" algn="ctr" rotWithShape="0">
                  <a:prstClr val="black">
                    <a:alpha val="20000"/>
                  </a:prstClr>
                </a:outerShdw>
              </a:effectLst>
              <a:sp3d/>
            </c:spPr>
            <c:extLst>
              <c:ext xmlns:c16="http://schemas.microsoft.com/office/drawing/2014/chart" uri="{C3380CC4-5D6E-409C-BE32-E72D297353CC}">
                <c16:uniqueId val="{00000001-FDA1-4B5F-BC11-C188A40959B8}"/>
              </c:ext>
            </c:extLst>
          </c:dPt>
          <c:dPt>
            <c:idx val="1"/>
            <c:bubble3D val="0"/>
            <c:spPr>
              <a:solidFill>
                <a:schemeClr val="accent3"/>
              </a:solidFill>
              <a:ln>
                <a:noFill/>
              </a:ln>
              <a:effectLst>
                <a:outerShdw blurRad="254000" sx="102000" sy="102000" algn="ctr" rotWithShape="0">
                  <a:prstClr val="black">
                    <a:alpha val="20000"/>
                  </a:prstClr>
                </a:outerShdw>
              </a:effectLst>
              <a:sp3d/>
            </c:spPr>
            <c:extLst>
              <c:ext xmlns:c16="http://schemas.microsoft.com/office/drawing/2014/chart" uri="{C3380CC4-5D6E-409C-BE32-E72D297353CC}">
                <c16:uniqueId val="{00000003-FDA1-4B5F-BC11-C188A40959B8}"/>
              </c:ext>
            </c:extLst>
          </c:dPt>
          <c:dPt>
            <c:idx val="2"/>
            <c:bubble3D val="0"/>
            <c:spPr>
              <a:solidFill>
                <a:schemeClr val="accent5"/>
              </a:solidFill>
              <a:ln>
                <a:noFill/>
              </a:ln>
              <a:effectLst>
                <a:outerShdw blurRad="254000" sx="102000" sy="102000" algn="ctr" rotWithShape="0">
                  <a:prstClr val="black">
                    <a:alpha val="20000"/>
                  </a:prstClr>
                </a:outerShdw>
              </a:effectLst>
              <a:sp3d/>
            </c:spPr>
            <c:extLst>
              <c:ext xmlns:c16="http://schemas.microsoft.com/office/drawing/2014/chart" uri="{C3380CC4-5D6E-409C-BE32-E72D297353CC}">
                <c16:uniqueId val="{00000005-FDA1-4B5F-BC11-C188A40959B8}"/>
              </c:ext>
            </c:extLst>
          </c:dPt>
          <c:dPt>
            <c:idx val="3"/>
            <c:bubble3D val="0"/>
            <c:spPr>
              <a:solidFill>
                <a:schemeClr val="accent1">
                  <a:lumMod val="60000"/>
                </a:schemeClr>
              </a:solidFill>
              <a:ln>
                <a:noFill/>
              </a:ln>
              <a:effectLst>
                <a:outerShdw blurRad="254000" sx="102000" sy="102000" algn="ctr" rotWithShape="0">
                  <a:prstClr val="black">
                    <a:alpha val="20000"/>
                  </a:prstClr>
                </a:outerShdw>
              </a:effectLst>
              <a:sp3d/>
            </c:spPr>
            <c:extLst>
              <c:ext xmlns:c16="http://schemas.microsoft.com/office/drawing/2014/chart" uri="{C3380CC4-5D6E-409C-BE32-E72D297353CC}">
                <c16:uniqueId val="{00000007-FDA1-4B5F-BC11-C188A40959B8}"/>
              </c:ext>
            </c:extLst>
          </c:dPt>
          <c:dPt>
            <c:idx val="4"/>
            <c:bubble3D val="0"/>
            <c:spPr>
              <a:solidFill>
                <a:schemeClr val="accent3">
                  <a:lumMod val="60000"/>
                </a:schemeClr>
              </a:solidFill>
              <a:ln>
                <a:noFill/>
              </a:ln>
              <a:effectLst>
                <a:outerShdw blurRad="254000" sx="102000" sy="102000" algn="ctr" rotWithShape="0">
                  <a:prstClr val="black">
                    <a:alpha val="20000"/>
                  </a:prstClr>
                </a:outerShdw>
              </a:effectLst>
              <a:sp3d/>
            </c:spPr>
            <c:extLst>
              <c:ext xmlns:c16="http://schemas.microsoft.com/office/drawing/2014/chart" uri="{C3380CC4-5D6E-409C-BE32-E72D297353CC}">
                <c16:uniqueId val="{00000009-FDA1-4B5F-BC11-C188A40959B8}"/>
              </c:ext>
            </c:extLst>
          </c:dPt>
          <c:dPt>
            <c:idx val="5"/>
            <c:bubble3D val="0"/>
            <c:spPr>
              <a:solidFill>
                <a:schemeClr val="accent5">
                  <a:lumMod val="60000"/>
                </a:schemeClr>
              </a:solidFill>
              <a:ln>
                <a:noFill/>
              </a:ln>
              <a:effectLst>
                <a:outerShdw blurRad="254000" sx="102000" sy="102000" algn="ctr" rotWithShape="0">
                  <a:prstClr val="black">
                    <a:alpha val="20000"/>
                  </a:prstClr>
                </a:outerShdw>
              </a:effectLst>
              <a:sp3d/>
            </c:spPr>
            <c:extLst>
              <c:ext xmlns:c16="http://schemas.microsoft.com/office/drawing/2014/chart" uri="{C3380CC4-5D6E-409C-BE32-E72D297353CC}">
                <c16:uniqueId val="{0000000B-FDA1-4B5F-BC11-C188A40959B8}"/>
              </c:ext>
            </c:extLst>
          </c:dPt>
          <c:dPt>
            <c:idx val="6"/>
            <c:bubble3D val="0"/>
            <c:spPr>
              <a:solidFill>
                <a:schemeClr val="accent1">
                  <a:lumMod val="80000"/>
                  <a:lumOff val="20000"/>
                </a:schemeClr>
              </a:solidFill>
              <a:ln>
                <a:noFill/>
              </a:ln>
              <a:effectLst>
                <a:outerShdw blurRad="254000" sx="102000" sy="102000" algn="ctr" rotWithShape="0">
                  <a:prstClr val="black">
                    <a:alpha val="20000"/>
                  </a:prstClr>
                </a:outerShdw>
              </a:effectLst>
              <a:sp3d/>
            </c:spPr>
            <c:extLst>
              <c:ext xmlns:c16="http://schemas.microsoft.com/office/drawing/2014/chart" uri="{C3380CC4-5D6E-409C-BE32-E72D297353CC}">
                <c16:uniqueId val="{0000000D-FDA1-4B5F-BC11-C188A40959B8}"/>
              </c:ext>
            </c:extLst>
          </c:dPt>
          <c:dPt>
            <c:idx val="7"/>
            <c:bubble3D val="0"/>
            <c:spPr>
              <a:solidFill>
                <a:schemeClr val="accent3">
                  <a:lumMod val="80000"/>
                  <a:lumOff val="20000"/>
                </a:schemeClr>
              </a:solidFill>
              <a:ln>
                <a:noFill/>
              </a:ln>
              <a:effectLst>
                <a:outerShdw blurRad="254000" sx="102000" sy="102000" algn="ctr" rotWithShape="0">
                  <a:prstClr val="black">
                    <a:alpha val="20000"/>
                  </a:prstClr>
                </a:outerShdw>
              </a:effectLst>
              <a:sp3d/>
            </c:spPr>
            <c:extLst>
              <c:ext xmlns:c16="http://schemas.microsoft.com/office/drawing/2014/chart" uri="{C3380CC4-5D6E-409C-BE32-E72D297353CC}">
                <c16:uniqueId val="{0000000F-FDA1-4B5F-BC11-C188A40959B8}"/>
              </c:ext>
            </c:extLst>
          </c:dPt>
          <c:dPt>
            <c:idx val="8"/>
            <c:bubble3D val="0"/>
            <c:spPr>
              <a:solidFill>
                <a:schemeClr val="accent5">
                  <a:lumMod val="80000"/>
                  <a:lumOff val="20000"/>
                </a:schemeClr>
              </a:solidFill>
              <a:ln>
                <a:noFill/>
              </a:ln>
              <a:effectLst>
                <a:outerShdw blurRad="254000" sx="102000" sy="102000" algn="ctr" rotWithShape="0">
                  <a:prstClr val="black">
                    <a:alpha val="20000"/>
                  </a:prstClr>
                </a:outerShdw>
              </a:effectLst>
              <a:sp3d/>
            </c:spPr>
            <c:extLst>
              <c:ext xmlns:c16="http://schemas.microsoft.com/office/drawing/2014/chart" uri="{C3380CC4-5D6E-409C-BE32-E72D297353CC}">
                <c16:uniqueId val="{00000011-FDA1-4B5F-BC11-C188A40959B8}"/>
              </c:ext>
            </c:extLst>
          </c:dPt>
          <c:dLbls>
            <c:spPr>
              <a:pattFill prst="pct75">
                <a:fgClr>
                  <a:prstClr val="black">
                    <a:lumMod val="75000"/>
                    <a:lumOff val="25000"/>
                  </a:prstClr>
                </a:fgClr>
                <a:bgClr>
                  <a:prstClr val="black">
                    <a:lumMod val="65000"/>
                    <a:lumOff val="35000"/>
                  </a:prst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330" b="1" i="0" u="none" strike="noStrike" kern="1200" baseline="0">
                    <a:solidFill>
                      <a:schemeClr val="lt1"/>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Sheet1!$A$2:$A$10</c:f>
              <c:strCache>
                <c:ptCount val="9"/>
                <c:pt idx="0">
                  <c:v>NO FEEDING DURING 1ST HOUR AFTER DELIVERY</c:v>
                </c:pt>
                <c:pt idx="1">
                  <c:v>NO PROPER LACTATION</c:v>
                </c:pt>
                <c:pt idx="2">
                  <c:v>BREAST PROBLEMS</c:v>
                </c:pt>
                <c:pt idx="3">
                  <c:v>PRE-MATURE RUPTURE OF MEMBRANE</c:v>
                </c:pt>
                <c:pt idx="4">
                  <c:v>VAGINAL BLEEDING</c:v>
                </c:pt>
                <c:pt idx="5">
                  <c:v>HYPERTENSION</c:v>
                </c:pt>
                <c:pt idx="6">
                  <c:v>DIABETES MELLITUS</c:v>
                </c:pt>
                <c:pt idx="7">
                  <c:v>GESTATIONAL DIABETES</c:v>
                </c:pt>
                <c:pt idx="8">
                  <c:v>PREECLAMPSIA</c:v>
                </c:pt>
              </c:strCache>
            </c:strRef>
          </c:cat>
          <c:val>
            <c:numRef>
              <c:f>Sheet1!$B$2:$B$10</c:f>
              <c:numCache>
                <c:formatCode>General</c:formatCode>
                <c:ptCount val="9"/>
                <c:pt idx="0">
                  <c:v>61</c:v>
                </c:pt>
                <c:pt idx="1">
                  <c:v>16</c:v>
                </c:pt>
                <c:pt idx="2">
                  <c:v>4</c:v>
                </c:pt>
                <c:pt idx="3">
                  <c:v>11</c:v>
                </c:pt>
                <c:pt idx="4">
                  <c:v>6</c:v>
                </c:pt>
                <c:pt idx="5">
                  <c:v>7</c:v>
                </c:pt>
                <c:pt idx="6">
                  <c:v>3</c:v>
                </c:pt>
                <c:pt idx="7">
                  <c:v>3</c:v>
                </c:pt>
                <c:pt idx="8">
                  <c:v>1</c:v>
                </c:pt>
              </c:numCache>
            </c:numRef>
          </c:val>
          <c:extLst>
            <c:ext xmlns:c16="http://schemas.microsoft.com/office/drawing/2014/chart" uri="{C3380CC4-5D6E-409C-BE32-E72D297353CC}">
              <c16:uniqueId val="{00000012-FDA1-4B5F-BC11-C188A40959B8}"/>
            </c:ext>
          </c:extLst>
        </c:ser>
        <c:dLbls>
          <c:dLblPos val="bestFit"/>
          <c:showLegendKey val="0"/>
          <c:showVal val="1"/>
          <c:showCatName val="0"/>
          <c:showSerName val="0"/>
          <c:showPercent val="0"/>
          <c:showBubbleSize val="0"/>
          <c:showLeaderLines val="1"/>
        </c:dLbls>
      </c:pie3DChart>
      <c:spPr>
        <a:noFill/>
        <a:ln>
          <a:noFill/>
        </a:ln>
        <a:effectLst/>
      </c:spPr>
    </c:plotArea>
    <c:legend>
      <c:legendPos val="r"/>
      <c:overlay val="0"/>
      <c:spPr>
        <a:solidFill>
          <a:schemeClr val="lt1">
            <a:lumMod val="95000"/>
            <a:alpha val="39000"/>
          </a:schemeClr>
        </a:solidFill>
        <a:ln>
          <a:noFill/>
        </a:ln>
        <a:effectLst/>
      </c:spPr>
      <c:txPr>
        <a:bodyPr rot="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RISK</a:t>
            </a:r>
            <a:r>
              <a:rPr lang="en-US" baseline="0" dirty="0"/>
              <a:t> FACTORS IN NEONATES</a:t>
            </a:r>
            <a:endParaRPr lang="en-US"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FULL TERM</c:v>
                </c:pt>
              </c:strCache>
            </c:strRef>
          </c:tx>
          <c:spPr>
            <a:solidFill>
              <a:schemeClr val="accent1">
                <a:lumMod val="60000"/>
                <a:lumOff val="40000"/>
              </a:schemeClr>
            </a:solidFill>
            <a:ln>
              <a:noFill/>
            </a:ln>
            <a:effectLst/>
          </c:spPr>
          <c:invertIfNegative val="0"/>
          <c:cat>
            <c:strRef>
              <c:f>Sheet1!$A$2:$A$8</c:f>
              <c:strCache>
                <c:ptCount val="7"/>
                <c:pt idx="1">
                  <c:v>PREVIOUS SIBLING WITH JAUNDICE</c:v>
                </c:pt>
                <c:pt idx="2">
                  <c:v>SEPSIS</c:v>
                </c:pt>
                <c:pt idx="3">
                  <c:v>DIFFICULTY IN FEEDING</c:v>
                </c:pt>
                <c:pt idx="4">
                  <c:v>MALE SEX</c:v>
                </c:pt>
                <c:pt idx="5">
                  <c:v>ABO INCOMPATIBILITY</c:v>
                </c:pt>
                <c:pt idx="6">
                  <c:v>RH IMCOMAPTIBILITY</c:v>
                </c:pt>
              </c:strCache>
            </c:strRef>
          </c:cat>
          <c:val>
            <c:numRef>
              <c:f>Sheet1!$B$2:$B$8</c:f>
              <c:numCache>
                <c:formatCode>General</c:formatCode>
                <c:ptCount val="7"/>
                <c:pt idx="1">
                  <c:v>31.74</c:v>
                </c:pt>
                <c:pt idx="2">
                  <c:v>6.34</c:v>
                </c:pt>
                <c:pt idx="3">
                  <c:v>15.87</c:v>
                </c:pt>
                <c:pt idx="4">
                  <c:v>55.55</c:v>
                </c:pt>
                <c:pt idx="5">
                  <c:v>12.69</c:v>
                </c:pt>
                <c:pt idx="6">
                  <c:v>6.34</c:v>
                </c:pt>
              </c:numCache>
            </c:numRef>
          </c:val>
          <c:extLst>
            <c:ext xmlns:c16="http://schemas.microsoft.com/office/drawing/2014/chart" uri="{C3380CC4-5D6E-409C-BE32-E72D297353CC}">
              <c16:uniqueId val="{00000000-9F4D-48C2-8D50-94E10A8C2B53}"/>
            </c:ext>
          </c:extLst>
        </c:ser>
        <c:ser>
          <c:idx val="1"/>
          <c:order val="1"/>
          <c:tx>
            <c:strRef>
              <c:f>Sheet1!$C$1</c:f>
              <c:strCache>
                <c:ptCount val="1"/>
                <c:pt idx="0">
                  <c:v>PRE TERM</c:v>
                </c:pt>
              </c:strCache>
            </c:strRef>
          </c:tx>
          <c:spPr>
            <a:solidFill>
              <a:schemeClr val="tx1"/>
            </a:solidFill>
            <a:ln>
              <a:noFill/>
            </a:ln>
            <a:effectLst/>
          </c:spPr>
          <c:invertIfNegative val="0"/>
          <c:cat>
            <c:strRef>
              <c:f>Sheet1!$A$2:$A$8</c:f>
              <c:strCache>
                <c:ptCount val="7"/>
                <c:pt idx="1">
                  <c:v>PREVIOUS SIBLING WITH JAUNDICE</c:v>
                </c:pt>
                <c:pt idx="2">
                  <c:v>SEPSIS</c:v>
                </c:pt>
                <c:pt idx="3">
                  <c:v>DIFFICULTY IN FEEDING</c:v>
                </c:pt>
                <c:pt idx="4">
                  <c:v>MALE SEX</c:v>
                </c:pt>
                <c:pt idx="5">
                  <c:v>ABO INCOMPATIBILITY</c:v>
                </c:pt>
                <c:pt idx="6">
                  <c:v>RH IMCOMAPTIBILITY</c:v>
                </c:pt>
              </c:strCache>
            </c:strRef>
          </c:cat>
          <c:val>
            <c:numRef>
              <c:f>Sheet1!$C$2:$C$8</c:f>
              <c:numCache>
                <c:formatCode>General</c:formatCode>
                <c:ptCount val="7"/>
                <c:pt idx="1">
                  <c:v>31.25</c:v>
                </c:pt>
                <c:pt idx="2">
                  <c:v>0</c:v>
                </c:pt>
                <c:pt idx="3">
                  <c:v>18.75</c:v>
                </c:pt>
                <c:pt idx="4">
                  <c:v>43.75</c:v>
                </c:pt>
                <c:pt idx="5">
                  <c:v>15.62</c:v>
                </c:pt>
                <c:pt idx="6">
                  <c:v>6.25</c:v>
                </c:pt>
              </c:numCache>
            </c:numRef>
          </c:val>
          <c:extLst>
            <c:ext xmlns:c16="http://schemas.microsoft.com/office/drawing/2014/chart" uri="{C3380CC4-5D6E-409C-BE32-E72D297353CC}">
              <c16:uniqueId val="{00000001-9F4D-48C2-8D50-94E10A8C2B53}"/>
            </c:ext>
          </c:extLst>
        </c:ser>
        <c:ser>
          <c:idx val="2"/>
          <c:order val="2"/>
          <c:tx>
            <c:strRef>
              <c:f>Sheet1!$D$1</c:f>
              <c:strCache>
                <c:ptCount val="1"/>
                <c:pt idx="0">
                  <c:v>Column3</c:v>
                </c:pt>
              </c:strCache>
            </c:strRef>
          </c:tx>
          <c:spPr>
            <a:solidFill>
              <a:schemeClr val="accent3"/>
            </a:solidFill>
            <a:ln>
              <a:noFill/>
            </a:ln>
            <a:effectLst/>
          </c:spPr>
          <c:invertIfNegative val="0"/>
          <c:cat>
            <c:strRef>
              <c:f>Sheet1!$A$2:$A$8</c:f>
              <c:strCache>
                <c:ptCount val="7"/>
                <c:pt idx="1">
                  <c:v>PREVIOUS SIBLING WITH JAUNDICE</c:v>
                </c:pt>
                <c:pt idx="2">
                  <c:v>SEPSIS</c:v>
                </c:pt>
                <c:pt idx="3">
                  <c:v>DIFFICULTY IN FEEDING</c:v>
                </c:pt>
                <c:pt idx="4">
                  <c:v>MALE SEX</c:v>
                </c:pt>
                <c:pt idx="5">
                  <c:v>ABO INCOMPATIBILITY</c:v>
                </c:pt>
                <c:pt idx="6">
                  <c:v>RH IMCOMAPTIBILITY</c:v>
                </c:pt>
              </c:strCache>
            </c:strRef>
          </c:cat>
          <c:val>
            <c:numRef>
              <c:f>Sheet1!$D$2:$D$8</c:f>
              <c:numCache>
                <c:formatCode>General</c:formatCode>
                <c:ptCount val="7"/>
              </c:numCache>
            </c:numRef>
          </c:val>
          <c:extLst>
            <c:ext xmlns:c16="http://schemas.microsoft.com/office/drawing/2014/chart" uri="{C3380CC4-5D6E-409C-BE32-E72D297353CC}">
              <c16:uniqueId val="{00000002-9F4D-48C2-8D50-94E10A8C2B53}"/>
            </c:ext>
          </c:extLst>
        </c:ser>
        <c:dLbls>
          <c:showLegendKey val="0"/>
          <c:showVal val="0"/>
          <c:showCatName val="0"/>
          <c:showSerName val="0"/>
          <c:showPercent val="0"/>
          <c:showBubbleSize val="0"/>
        </c:dLbls>
        <c:gapWidth val="150"/>
        <c:axId val="1645015391"/>
        <c:axId val="1645004991"/>
      </c:barChart>
      <c:catAx>
        <c:axId val="1645015391"/>
        <c:scaling>
          <c:orientation val="minMax"/>
        </c:scaling>
        <c:delete val="0"/>
        <c:axPos val="b"/>
        <c:title>
          <c:tx>
            <c:rich>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dirty="0"/>
                  <a:t>RISK FACTORS</a:t>
                </a:r>
              </a:p>
            </c:rich>
          </c:tx>
          <c:overlay val="0"/>
          <c:spPr>
            <a:noFill/>
            <a:ln>
              <a:noFill/>
            </a:ln>
            <a:effectLst/>
          </c:spPr>
          <c:txPr>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645004991"/>
        <c:crosses val="autoZero"/>
        <c:auto val="1"/>
        <c:lblAlgn val="ctr"/>
        <c:lblOffset val="100"/>
        <c:noMultiLvlLbl val="0"/>
      </c:catAx>
      <c:valAx>
        <c:axId val="1645004991"/>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dirty="0"/>
                  <a:t>NUMBER</a:t>
                </a:r>
                <a:r>
                  <a:rPr lang="en-US" baseline="0" dirty="0"/>
                  <a:t> OF SUBJECTS</a:t>
                </a:r>
                <a:endParaRPr lang="en-US" dirty="0"/>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645015391"/>
        <c:crosses val="autoZero"/>
        <c:crossBetween val="between"/>
      </c:valAx>
      <c:spPr>
        <a:noFill/>
        <a:ln>
          <a:noFill/>
        </a:ln>
        <a:effectLst/>
      </c:spPr>
    </c:plotArea>
    <c:legend>
      <c:legendPos val="r"/>
      <c:legendEntry>
        <c:idx val="2"/>
        <c:delete val="1"/>
      </c:legendEntry>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a:t>BILIRUBIN LEVELS ON DAY OF ADMISSION</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Sheet1!$B$1</c:f>
              <c:strCache>
                <c:ptCount val="1"/>
                <c:pt idx="0">
                  <c:v>full term </c:v>
                </c:pt>
              </c:strCache>
            </c:strRef>
          </c:tx>
          <c:spPr>
            <a:ln w="28575" cap="rnd">
              <a:solidFill>
                <a:schemeClr val="accent1">
                  <a:lumMod val="60000"/>
                  <a:lumOff val="40000"/>
                </a:schemeClr>
              </a:solidFill>
              <a:round/>
            </a:ln>
            <a:effectLst/>
          </c:spPr>
          <c:marker>
            <c:symbol val="circle"/>
            <c:size val="5"/>
            <c:spPr>
              <a:solidFill>
                <a:schemeClr val="accent1"/>
              </a:solidFill>
              <a:ln w="9525">
                <a:solidFill>
                  <a:schemeClr val="accent1"/>
                </a:solidFill>
              </a:ln>
              <a:effectLst/>
            </c:spPr>
          </c:marker>
          <c:cat>
            <c:strRef>
              <c:f>Sheet1!$A$2:$A$8</c:f>
              <c:strCache>
                <c:ptCount val="7"/>
                <c:pt idx="0">
                  <c:v>10-11</c:v>
                </c:pt>
                <c:pt idx="1">
                  <c:v>11-12</c:v>
                </c:pt>
                <c:pt idx="2">
                  <c:v>12-13</c:v>
                </c:pt>
                <c:pt idx="3">
                  <c:v>13-14</c:v>
                </c:pt>
                <c:pt idx="4">
                  <c:v>14-15</c:v>
                </c:pt>
                <c:pt idx="5">
                  <c:v>15-16</c:v>
                </c:pt>
                <c:pt idx="6">
                  <c:v>16-17</c:v>
                </c:pt>
              </c:strCache>
            </c:strRef>
          </c:cat>
          <c:val>
            <c:numRef>
              <c:f>Sheet1!$B$2:$B$8</c:f>
              <c:numCache>
                <c:formatCode>0.00%</c:formatCode>
                <c:ptCount val="7"/>
                <c:pt idx="0">
                  <c:v>4.7619047619047616E-2</c:v>
                </c:pt>
                <c:pt idx="1">
                  <c:v>7.9365079365079361E-2</c:v>
                </c:pt>
                <c:pt idx="2">
                  <c:v>0.2857142857142857</c:v>
                </c:pt>
                <c:pt idx="3">
                  <c:v>0.2857142857142857</c:v>
                </c:pt>
                <c:pt idx="4">
                  <c:v>0.14285714285714285</c:v>
                </c:pt>
                <c:pt idx="5">
                  <c:v>0.1111111111111111</c:v>
                </c:pt>
                <c:pt idx="6">
                  <c:v>4.7619047619047616E-2</c:v>
                </c:pt>
              </c:numCache>
            </c:numRef>
          </c:val>
          <c:smooth val="0"/>
          <c:extLst>
            <c:ext xmlns:c16="http://schemas.microsoft.com/office/drawing/2014/chart" uri="{C3380CC4-5D6E-409C-BE32-E72D297353CC}">
              <c16:uniqueId val="{00000000-5444-49EF-93A3-06ECE76157BB}"/>
            </c:ext>
          </c:extLst>
        </c:ser>
        <c:ser>
          <c:idx val="1"/>
          <c:order val="1"/>
          <c:tx>
            <c:strRef>
              <c:f>Sheet1!$C$1</c:f>
              <c:strCache>
                <c:ptCount val="1"/>
                <c:pt idx="0">
                  <c:v>pre term </c:v>
                </c:pt>
              </c:strCache>
            </c:strRef>
          </c:tx>
          <c:spPr>
            <a:ln w="28575" cap="rnd">
              <a:solidFill>
                <a:srgbClr val="00B0F0"/>
              </a:solidFill>
              <a:round/>
            </a:ln>
            <a:effectLst/>
          </c:spPr>
          <c:marker>
            <c:symbol val="circle"/>
            <c:size val="5"/>
            <c:spPr>
              <a:solidFill>
                <a:schemeClr val="accent2"/>
              </a:solidFill>
              <a:ln w="9525">
                <a:solidFill>
                  <a:schemeClr val="accent2"/>
                </a:solidFill>
              </a:ln>
              <a:effectLst/>
            </c:spPr>
          </c:marker>
          <c:cat>
            <c:strRef>
              <c:f>Sheet1!$A$2:$A$8</c:f>
              <c:strCache>
                <c:ptCount val="7"/>
                <c:pt idx="0">
                  <c:v>10-11</c:v>
                </c:pt>
                <c:pt idx="1">
                  <c:v>11-12</c:v>
                </c:pt>
                <c:pt idx="2">
                  <c:v>12-13</c:v>
                </c:pt>
                <c:pt idx="3">
                  <c:v>13-14</c:v>
                </c:pt>
                <c:pt idx="4">
                  <c:v>14-15</c:v>
                </c:pt>
                <c:pt idx="5">
                  <c:v>15-16</c:v>
                </c:pt>
                <c:pt idx="6">
                  <c:v>16-17</c:v>
                </c:pt>
              </c:strCache>
            </c:strRef>
          </c:cat>
          <c:val>
            <c:numRef>
              <c:f>Sheet1!$C$2:$C$8</c:f>
              <c:numCache>
                <c:formatCode>0.00%</c:formatCode>
                <c:ptCount val="7"/>
                <c:pt idx="0">
                  <c:v>9.375E-2</c:v>
                </c:pt>
                <c:pt idx="1">
                  <c:v>9.375E-2</c:v>
                </c:pt>
                <c:pt idx="2">
                  <c:v>0.34375</c:v>
                </c:pt>
                <c:pt idx="3">
                  <c:v>0.25</c:v>
                </c:pt>
                <c:pt idx="4">
                  <c:v>0.125</c:v>
                </c:pt>
                <c:pt idx="5">
                  <c:v>6.25E-2</c:v>
                </c:pt>
                <c:pt idx="6">
                  <c:v>3.125E-2</c:v>
                </c:pt>
              </c:numCache>
            </c:numRef>
          </c:val>
          <c:smooth val="0"/>
          <c:extLst>
            <c:ext xmlns:c16="http://schemas.microsoft.com/office/drawing/2014/chart" uri="{C3380CC4-5D6E-409C-BE32-E72D297353CC}">
              <c16:uniqueId val="{00000001-5444-49EF-93A3-06ECE76157BB}"/>
            </c:ext>
          </c:extLst>
        </c:ser>
        <c:ser>
          <c:idx val="2"/>
          <c:order val="2"/>
          <c:tx>
            <c:strRef>
              <c:f>Sheet1!$D$1</c:f>
              <c:strCache>
                <c:ptCount val="1"/>
                <c:pt idx="0">
                  <c:v>Column1</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Sheet1!$A$2:$A$8</c:f>
              <c:strCache>
                <c:ptCount val="7"/>
                <c:pt idx="0">
                  <c:v>10-11</c:v>
                </c:pt>
                <c:pt idx="1">
                  <c:v>11-12</c:v>
                </c:pt>
                <c:pt idx="2">
                  <c:v>12-13</c:v>
                </c:pt>
                <c:pt idx="3">
                  <c:v>13-14</c:v>
                </c:pt>
                <c:pt idx="4">
                  <c:v>14-15</c:v>
                </c:pt>
                <c:pt idx="5">
                  <c:v>15-16</c:v>
                </c:pt>
                <c:pt idx="6">
                  <c:v>16-17</c:v>
                </c:pt>
              </c:strCache>
            </c:strRef>
          </c:cat>
          <c:val>
            <c:numRef>
              <c:f>Sheet1!$D$2:$D$8</c:f>
              <c:numCache>
                <c:formatCode>General</c:formatCode>
                <c:ptCount val="7"/>
              </c:numCache>
            </c:numRef>
          </c:val>
          <c:smooth val="0"/>
          <c:extLst>
            <c:ext xmlns:c16="http://schemas.microsoft.com/office/drawing/2014/chart" uri="{C3380CC4-5D6E-409C-BE32-E72D297353CC}">
              <c16:uniqueId val="{00000002-5444-49EF-93A3-06ECE76157BB}"/>
            </c:ext>
          </c:extLst>
        </c:ser>
        <c:ser>
          <c:idx val="3"/>
          <c:order val="3"/>
          <c:tx>
            <c:strRef>
              <c:f>Sheet1!$E$1</c:f>
              <c:strCache>
                <c:ptCount val="1"/>
                <c:pt idx="0">
                  <c:v>Column2</c:v>
                </c:pt>
              </c:strCache>
            </c:strRef>
          </c:tx>
          <c:spPr>
            <a:ln w="28575" cap="rnd">
              <a:solidFill>
                <a:schemeClr val="accent4"/>
              </a:solidFill>
              <a:round/>
            </a:ln>
            <a:effectLst/>
          </c:spPr>
          <c:marker>
            <c:symbol val="circle"/>
            <c:size val="5"/>
            <c:spPr>
              <a:solidFill>
                <a:schemeClr val="accent4"/>
              </a:solidFill>
              <a:ln w="9525">
                <a:solidFill>
                  <a:schemeClr val="accent4"/>
                </a:solidFill>
              </a:ln>
              <a:effectLst/>
            </c:spPr>
          </c:marker>
          <c:cat>
            <c:strRef>
              <c:f>Sheet1!$A$2:$A$8</c:f>
              <c:strCache>
                <c:ptCount val="7"/>
                <c:pt idx="0">
                  <c:v>10-11</c:v>
                </c:pt>
                <c:pt idx="1">
                  <c:v>11-12</c:v>
                </c:pt>
                <c:pt idx="2">
                  <c:v>12-13</c:v>
                </c:pt>
                <c:pt idx="3">
                  <c:v>13-14</c:v>
                </c:pt>
                <c:pt idx="4">
                  <c:v>14-15</c:v>
                </c:pt>
                <c:pt idx="5">
                  <c:v>15-16</c:v>
                </c:pt>
                <c:pt idx="6">
                  <c:v>16-17</c:v>
                </c:pt>
              </c:strCache>
            </c:strRef>
          </c:cat>
          <c:val>
            <c:numRef>
              <c:f>Sheet1!$E$2:$E$8</c:f>
              <c:numCache>
                <c:formatCode>General</c:formatCode>
                <c:ptCount val="7"/>
              </c:numCache>
            </c:numRef>
          </c:val>
          <c:smooth val="0"/>
          <c:extLst>
            <c:ext xmlns:c16="http://schemas.microsoft.com/office/drawing/2014/chart" uri="{C3380CC4-5D6E-409C-BE32-E72D297353CC}">
              <c16:uniqueId val="{00000003-5444-49EF-93A3-06ECE76157BB}"/>
            </c:ext>
          </c:extLst>
        </c:ser>
        <c:dLbls>
          <c:showLegendKey val="0"/>
          <c:showVal val="0"/>
          <c:showCatName val="0"/>
          <c:showSerName val="0"/>
          <c:showPercent val="0"/>
          <c:showBubbleSize val="0"/>
        </c:dLbls>
        <c:marker val="1"/>
        <c:smooth val="0"/>
        <c:axId val="1995739359"/>
        <c:axId val="1995740607"/>
      </c:lineChart>
      <c:catAx>
        <c:axId val="1995739359"/>
        <c:scaling>
          <c:orientation val="minMax"/>
        </c:scaling>
        <c:delete val="0"/>
        <c:axPos val="b"/>
        <c:title>
          <c:tx>
            <c:rich>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a:t>Total serum bilirubin</a:t>
                </a:r>
              </a:p>
            </c:rich>
          </c:tx>
          <c:overlay val="0"/>
          <c:spPr>
            <a:noFill/>
            <a:ln>
              <a:noFill/>
            </a:ln>
            <a:effectLst/>
          </c:spPr>
          <c:txPr>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995740607"/>
        <c:crosses val="autoZero"/>
        <c:auto val="1"/>
        <c:lblAlgn val="ctr"/>
        <c:lblOffset val="100"/>
        <c:noMultiLvlLbl val="0"/>
      </c:catAx>
      <c:valAx>
        <c:axId val="1995740607"/>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a:t>Percentage of neonates</a:t>
                </a:r>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995739359"/>
        <c:crosses val="autoZero"/>
        <c:crossBetween val="between"/>
      </c:valAx>
      <c:spPr>
        <a:noFill/>
        <a:ln>
          <a:noFill/>
        </a:ln>
        <a:effectLst/>
      </c:spPr>
    </c:plotArea>
    <c:legend>
      <c:legendPos val="b"/>
      <c:legendEntry>
        <c:idx val="2"/>
        <c:delete val="1"/>
      </c:legendEntry>
      <c:legendEntry>
        <c:idx val="3"/>
        <c:delete val="1"/>
      </c:legendEntry>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a:t>BILIRUBIN LEVELS ON DAY OF DISCHARGE</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Sheet1!$B$1</c:f>
              <c:strCache>
                <c:ptCount val="1"/>
                <c:pt idx="0">
                  <c:v>FULL TERM</c:v>
                </c:pt>
              </c:strCache>
            </c:strRef>
          </c:tx>
          <c:spPr>
            <a:ln w="28575" cap="rnd">
              <a:solidFill>
                <a:schemeClr val="accent1">
                  <a:lumMod val="60000"/>
                  <a:lumOff val="40000"/>
                </a:schemeClr>
              </a:solidFill>
              <a:round/>
            </a:ln>
            <a:effectLst/>
          </c:spPr>
          <c:marker>
            <c:symbol val="circle"/>
            <c:size val="5"/>
            <c:spPr>
              <a:solidFill>
                <a:schemeClr val="accent1"/>
              </a:solidFill>
              <a:ln w="9525">
                <a:solidFill>
                  <a:schemeClr val="accent1"/>
                </a:solidFill>
              </a:ln>
              <a:effectLst/>
            </c:spPr>
          </c:marker>
          <c:cat>
            <c:strRef>
              <c:f>Sheet1!$A$2:$A$11</c:f>
              <c:strCache>
                <c:ptCount val="10"/>
                <c:pt idx="0">
                  <c:v>3-4</c:v>
                </c:pt>
                <c:pt idx="1">
                  <c:v>4-5</c:v>
                </c:pt>
                <c:pt idx="2">
                  <c:v>5-6</c:v>
                </c:pt>
                <c:pt idx="3">
                  <c:v>6-7</c:v>
                </c:pt>
                <c:pt idx="4">
                  <c:v>7-8</c:v>
                </c:pt>
                <c:pt idx="5">
                  <c:v>8-9</c:v>
                </c:pt>
                <c:pt idx="6">
                  <c:v>9-10</c:v>
                </c:pt>
                <c:pt idx="7">
                  <c:v>10-11</c:v>
                </c:pt>
                <c:pt idx="8">
                  <c:v>11-12</c:v>
                </c:pt>
                <c:pt idx="9">
                  <c:v>12-13</c:v>
                </c:pt>
              </c:strCache>
            </c:strRef>
          </c:cat>
          <c:val>
            <c:numRef>
              <c:f>Sheet1!$B$2:$B$11</c:f>
              <c:numCache>
                <c:formatCode>0.00%</c:formatCode>
                <c:ptCount val="10"/>
                <c:pt idx="0">
                  <c:v>1.5873015873015872E-2</c:v>
                </c:pt>
                <c:pt idx="1">
                  <c:v>3.1746031746031744E-2</c:v>
                </c:pt>
                <c:pt idx="2">
                  <c:v>9.5238095238095233E-2</c:v>
                </c:pt>
                <c:pt idx="3">
                  <c:v>0.15873015873015872</c:v>
                </c:pt>
                <c:pt idx="4">
                  <c:v>0.22222222222222221</c:v>
                </c:pt>
                <c:pt idx="5">
                  <c:v>0.19047619047619047</c:v>
                </c:pt>
                <c:pt idx="6">
                  <c:v>0.14285714285714285</c:v>
                </c:pt>
                <c:pt idx="7">
                  <c:v>6.3492063492063489E-2</c:v>
                </c:pt>
                <c:pt idx="8">
                  <c:v>4.7619047619047616E-2</c:v>
                </c:pt>
                <c:pt idx="9">
                  <c:v>3.1746031746031744E-2</c:v>
                </c:pt>
              </c:numCache>
            </c:numRef>
          </c:val>
          <c:smooth val="0"/>
          <c:extLst>
            <c:ext xmlns:c16="http://schemas.microsoft.com/office/drawing/2014/chart" uri="{C3380CC4-5D6E-409C-BE32-E72D297353CC}">
              <c16:uniqueId val="{00000000-1C6A-4CF9-B267-C56004296992}"/>
            </c:ext>
          </c:extLst>
        </c:ser>
        <c:ser>
          <c:idx val="1"/>
          <c:order val="1"/>
          <c:tx>
            <c:strRef>
              <c:f>Sheet1!$C$1</c:f>
              <c:strCache>
                <c:ptCount val="1"/>
                <c:pt idx="0">
                  <c:v>PRE TERM</c:v>
                </c:pt>
              </c:strCache>
            </c:strRef>
          </c:tx>
          <c:spPr>
            <a:ln w="28575" cap="rnd">
              <a:solidFill>
                <a:srgbClr val="00B0F0"/>
              </a:solidFill>
              <a:round/>
            </a:ln>
            <a:effectLst/>
          </c:spPr>
          <c:marker>
            <c:symbol val="circle"/>
            <c:size val="5"/>
            <c:spPr>
              <a:solidFill>
                <a:schemeClr val="accent2"/>
              </a:solidFill>
              <a:ln w="9525">
                <a:solidFill>
                  <a:schemeClr val="accent2"/>
                </a:solidFill>
              </a:ln>
              <a:effectLst/>
            </c:spPr>
          </c:marker>
          <c:cat>
            <c:strRef>
              <c:f>Sheet1!$A$2:$A$11</c:f>
              <c:strCache>
                <c:ptCount val="10"/>
                <c:pt idx="0">
                  <c:v>3-4</c:v>
                </c:pt>
                <c:pt idx="1">
                  <c:v>4-5</c:v>
                </c:pt>
                <c:pt idx="2">
                  <c:v>5-6</c:v>
                </c:pt>
                <c:pt idx="3">
                  <c:v>6-7</c:v>
                </c:pt>
                <c:pt idx="4">
                  <c:v>7-8</c:v>
                </c:pt>
                <c:pt idx="5">
                  <c:v>8-9</c:v>
                </c:pt>
                <c:pt idx="6">
                  <c:v>9-10</c:v>
                </c:pt>
                <c:pt idx="7">
                  <c:v>10-11</c:v>
                </c:pt>
                <c:pt idx="8">
                  <c:v>11-12</c:v>
                </c:pt>
                <c:pt idx="9">
                  <c:v>12-13</c:v>
                </c:pt>
              </c:strCache>
            </c:strRef>
          </c:cat>
          <c:val>
            <c:numRef>
              <c:f>Sheet1!$C$2:$C$11</c:f>
              <c:numCache>
                <c:formatCode>General</c:formatCode>
                <c:ptCount val="10"/>
                <c:pt idx="2" formatCode="0.00%">
                  <c:v>0.15625</c:v>
                </c:pt>
                <c:pt idx="3" formatCode="0.00%">
                  <c:v>0.21875</c:v>
                </c:pt>
                <c:pt idx="4" formatCode="0.00%">
                  <c:v>0.125</c:v>
                </c:pt>
                <c:pt idx="5" formatCode="0.00%">
                  <c:v>6.25E-2</c:v>
                </c:pt>
                <c:pt idx="6" formatCode="0.00%">
                  <c:v>0.25</c:v>
                </c:pt>
                <c:pt idx="7" formatCode="0.00%">
                  <c:v>0.125</c:v>
                </c:pt>
                <c:pt idx="8" formatCode="0.00%">
                  <c:v>6.25E-2</c:v>
                </c:pt>
              </c:numCache>
            </c:numRef>
          </c:val>
          <c:smooth val="0"/>
          <c:extLst>
            <c:ext xmlns:c16="http://schemas.microsoft.com/office/drawing/2014/chart" uri="{C3380CC4-5D6E-409C-BE32-E72D297353CC}">
              <c16:uniqueId val="{00000001-1C6A-4CF9-B267-C56004296992}"/>
            </c:ext>
          </c:extLst>
        </c:ser>
        <c:ser>
          <c:idx val="2"/>
          <c:order val="2"/>
          <c:tx>
            <c:strRef>
              <c:f>Sheet1!$D$1</c:f>
              <c:strCache>
                <c:ptCount val="1"/>
                <c:pt idx="0">
                  <c:v>Column3</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Sheet1!$A$2:$A$11</c:f>
              <c:strCache>
                <c:ptCount val="10"/>
                <c:pt idx="0">
                  <c:v>3-4</c:v>
                </c:pt>
                <c:pt idx="1">
                  <c:v>4-5</c:v>
                </c:pt>
                <c:pt idx="2">
                  <c:v>5-6</c:v>
                </c:pt>
                <c:pt idx="3">
                  <c:v>6-7</c:v>
                </c:pt>
                <c:pt idx="4">
                  <c:v>7-8</c:v>
                </c:pt>
                <c:pt idx="5">
                  <c:v>8-9</c:v>
                </c:pt>
                <c:pt idx="6">
                  <c:v>9-10</c:v>
                </c:pt>
                <c:pt idx="7">
                  <c:v>10-11</c:v>
                </c:pt>
                <c:pt idx="8">
                  <c:v>11-12</c:v>
                </c:pt>
                <c:pt idx="9">
                  <c:v>12-13</c:v>
                </c:pt>
              </c:strCache>
            </c:strRef>
          </c:cat>
          <c:val>
            <c:numRef>
              <c:f>Sheet1!$D$2:$D$11</c:f>
              <c:numCache>
                <c:formatCode>General</c:formatCode>
                <c:ptCount val="10"/>
              </c:numCache>
            </c:numRef>
          </c:val>
          <c:smooth val="0"/>
          <c:extLst>
            <c:ext xmlns:c16="http://schemas.microsoft.com/office/drawing/2014/chart" uri="{C3380CC4-5D6E-409C-BE32-E72D297353CC}">
              <c16:uniqueId val="{00000002-1C6A-4CF9-B267-C56004296992}"/>
            </c:ext>
          </c:extLst>
        </c:ser>
        <c:dLbls>
          <c:showLegendKey val="0"/>
          <c:showVal val="0"/>
          <c:showCatName val="0"/>
          <c:showSerName val="0"/>
          <c:showPercent val="0"/>
          <c:showBubbleSize val="0"/>
        </c:dLbls>
        <c:marker val="1"/>
        <c:smooth val="0"/>
        <c:axId val="1995751007"/>
        <c:axId val="1995749343"/>
      </c:lineChart>
      <c:catAx>
        <c:axId val="199575100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995749343"/>
        <c:crosses val="autoZero"/>
        <c:auto val="1"/>
        <c:lblAlgn val="ctr"/>
        <c:lblOffset val="100"/>
        <c:noMultiLvlLbl val="0"/>
      </c:catAx>
      <c:valAx>
        <c:axId val="1995749343"/>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995751007"/>
        <c:crosses val="autoZero"/>
        <c:crossBetween val="between"/>
      </c:valAx>
      <c:spPr>
        <a:noFill/>
        <a:ln>
          <a:noFill/>
        </a:ln>
        <a:effectLst/>
      </c:spPr>
    </c:plotArea>
    <c:legend>
      <c:legendPos val="b"/>
      <c:legendEntry>
        <c:idx val="2"/>
        <c:delete val="1"/>
      </c:legendEntry>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r>
              <a:rPr lang="en-US"/>
              <a:t>MOTHER'S KNOWLEDGE</a:t>
            </a:r>
          </a:p>
        </c:rich>
      </c:tx>
      <c:layout>
        <c:manualLayout>
          <c:xMode val="edge"/>
          <c:yMode val="edge"/>
          <c:x val="0.32527854230987086"/>
          <c:y val="0"/>
        </c:manualLayout>
      </c:layout>
      <c:overlay val="0"/>
      <c:spPr>
        <a:noFill/>
        <a:ln>
          <a:noFill/>
        </a:ln>
        <a:effectLst/>
      </c:spPr>
      <c:txPr>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endParaRPr lang="en-US"/>
        </a:p>
      </c:txPr>
    </c:title>
    <c:autoTitleDeleted val="0"/>
    <c:plotArea>
      <c:layout/>
      <c:pieChart>
        <c:varyColors val="1"/>
        <c:ser>
          <c:idx val="0"/>
          <c:order val="0"/>
          <c:tx>
            <c:strRef>
              <c:f>Sheet1!$B$1</c:f>
              <c:strCache>
                <c:ptCount val="1"/>
                <c:pt idx="0">
                  <c:v>NUMBER OF PATIENTS</c:v>
                </c:pt>
              </c:strCache>
            </c:strRef>
          </c:tx>
          <c:dPt>
            <c:idx val="0"/>
            <c:bubble3D val="0"/>
            <c:spPr>
              <a:solidFill>
                <a:schemeClr val="accent1"/>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1-ADFC-4F87-98AD-D776468C7BE1}"/>
              </c:ext>
            </c:extLst>
          </c:dPt>
          <c:dPt>
            <c:idx val="1"/>
            <c:bubble3D val="0"/>
            <c:spPr>
              <a:solidFill>
                <a:schemeClr val="accent3"/>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3-ADFC-4F87-98AD-D776468C7BE1}"/>
              </c:ext>
            </c:extLst>
          </c:dPt>
          <c:dPt>
            <c:idx val="2"/>
            <c:bubble3D val="0"/>
            <c:spPr>
              <a:solidFill>
                <a:schemeClr val="accent5"/>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5-ADFC-4F87-98AD-D776468C7BE1}"/>
              </c:ext>
            </c:extLst>
          </c:dPt>
          <c:dPt>
            <c:idx val="3"/>
            <c:bubble3D val="0"/>
            <c:spPr>
              <a:solidFill>
                <a:schemeClr val="accent1">
                  <a:lumMod val="6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7-ADFC-4F87-98AD-D776468C7BE1}"/>
              </c:ext>
            </c:extLst>
          </c:dPt>
          <c:dPt>
            <c:idx val="4"/>
            <c:bubble3D val="0"/>
            <c:spPr>
              <a:solidFill>
                <a:schemeClr val="accent3">
                  <a:lumMod val="6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9-ADFC-4F87-98AD-D776468C7BE1}"/>
              </c:ext>
            </c:extLst>
          </c:dPt>
          <c:dLbls>
            <c:spPr>
              <a:pattFill prst="pct75">
                <a:fgClr>
                  <a:prstClr val="black">
                    <a:lumMod val="75000"/>
                    <a:lumOff val="25000"/>
                  </a:prstClr>
                </a:fgClr>
                <a:bgClr>
                  <a:prstClr val="black">
                    <a:lumMod val="65000"/>
                    <a:lumOff val="35000"/>
                  </a:prst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330" b="1" i="0" u="none" strike="noStrike" kern="1200" baseline="0">
                    <a:solidFill>
                      <a:schemeClr val="lt1"/>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Sheet1!$A$2:$A$6</c:f>
              <c:strCache>
                <c:ptCount val="5"/>
                <c:pt idx="0">
                  <c:v>DOES MOTHER KNOW ANYTHING ABOUT NEONATAL JAUNDICE?</c:v>
                </c:pt>
                <c:pt idx="1">
                  <c:v>DOES MOTHER KNOW ANY SIGN OR SYMPTOM OF JAUNDICE?</c:v>
                </c:pt>
                <c:pt idx="2">
                  <c:v>DO MOTHERS THINK WHETHER NEONATAL JAUNDICE IS NORMAL?</c:v>
                </c:pt>
                <c:pt idx="3">
                  <c:v>DOES THE MOTHER KNOW SERIOUNESS OF NEONATAL JAUNDICE?</c:v>
                </c:pt>
                <c:pt idx="4">
                  <c:v>DOES MOTHER KNOW ANY TREATMENT OPTION FOR NEONATAL JAUNDICE?</c:v>
                </c:pt>
              </c:strCache>
            </c:strRef>
          </c:cat>
          <c:val>
            <c:numRef>
              <c:f>Sheet1!$B$2:$B$6</c:f>
              <c:numCache>
                <c:formatCode>General</c:formatCode>
                <c:ptCount val="5"/>
                <c:pt idx="0">
                  <c:v>68</c:v>
                </c:pt>
                <c:pt idx="1">
                  <c:v>68</c:v>
                </c:pt>
                <c:pt idx="2">
                  <c:v>60</c:v>
                </c:pt>
                <c:pt idx="3">
                  <c:v>20</c:v>
                </c:pt>
                <c:pt idx="4">
                  <c:v>55</c:v>
                </c:pt>
              </c:numCache>
            </c:numRef>
          </c:val>
          <c:extLst>
            <c:ext xmlns:c16="http://schemas.microsoft.com/office/drawing/2014/chart" uri="{C3380CC4-5D6E-409C-BE32-E72D297353CC}">
              <c16:uniqueId val="{0000000A-ADFC-4F87-98AD-D776468C7BE1}"/>
            </c:ext>
          </c:extLst>
        </c:ser>
        <c:dLbls>
          <c:dLblPos val="bestFit"/>
          <c:showLegendKey val="0"/>
          <c:showVal val="1"/>
          <c:showCatName val="0"/>
          <c:showSerName val="0"/>
          <c:showPercent val="0"/>
          <c:showBubbleSize val="0"/>
          <c:showLeaderLines val="1"/>
        </c:dLbls>
        <c:firstSliceAng val="0"/>
      </c:pieChart>
      <c:spPr>
        <a:noFill/>
        <a:ln>
          <a:noFill/>
        </a:ln>
        <a:effectLst/>
      </c:spPr>
    </c:plotArea>
    <c:legend>
      <c:legendPos val="r"/>
      <c:overlay val="0"/>
      <c:spPr>
        <a:solidFill>
          <a:schemeClr val="lt1">
            <a:lumMod val="95000"/>
            <a:alpha val="39000"/>
          </a:schemeClr>
        </a:solidFill>
        <a:ln>
          <a:noFill/>
        </a:ln>
        <a:effectLst/>
      </c:spPr>
      <c:txPr>
        <a:bodyPr rot="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a:t>SIGNS AND SYMPTOMS</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tx>
            <c:strRef>
              <c:f>Sheet1!$B$1</c:f>
              <c:strCache>
                <c:ptCount val="1"/>
                <c:pt idx="0">
                  <c:v>PERCENTAGE</c:v>
                </c:pt>
              </c:strCache>
            </c:strRef>
          </c:tx>
          <c:spPr>
            <a:solidFill>
              <a:schemeClr val="accent1">
                <a:lumMod val="60000"/>
                <a:lumOff val="4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YELLOW SCLERA</c:v>
                </c:pt>
                <c:pt idx="1">
                  <c:v>YELLOW SKIN</c:v>
                </c:pt>
                <c:pt idx="2">
                  <c:v>YELLOW SKIN AND EYES</c:v>
                </c:pt>
                <c:pt idx="3">
                  <c:v>YELLOW FAECES</c:v>
                </c:pt>
                <c:pt idx="4">
                  <c:v>YELLOW URINE</c:v>
                </c:pt>
                <c:pt idx="5">
                  <c:v>FEEDING DIFFICULTY</c:v>
                </c:pt>
                <c:pt idx="6">
                  <c:v>VOMITING AND DIARRHOEA</c:v>
                </c:pt>
                <c:pt idx="7">
                  <c:v>NO FAECES AND URINE</c:v>
                </c:pt>
              </c:strCache>
            </c:strRef>
          </c:cat>
          <c:val>
            <c:numRef>
              <c:f>Sheet1!$B$2:$B$9</c:f>
              <c:numCache>
                <c:formatCode>0.00%</c:formatCode>
                <c:ptCount val="8"/>
                <c:pt idx="0">
                  <c:v>0.37890000000000001</c:v>
                </c:pt>
                <c:pt idx="1">
                  <c:v>0.2</c:v>
                </c:pt>
                <c:pt idx="2">
                  <c:v>0.1053</c:v>
                </c:pt>
                <c:pt idx="3">
                  <c:v>1.0500000000000001E-2</c:v>
                </c:pt>
                <c:pt idx="4">
                  <c:v>5.2600000000000001E-2</c:v>
                </c:pt>
                <c:pt idx="5">
                  <c:v>1.0500000000000001E-2</c:v>
                </c:pt>
                <c:pt idx="6">
                  <c:v>1.0500000000000001E-2</c:v>
                </c:pt>
                <c:pt idx="7">
                  <c:v>1.0500000000000001E-2</c:v>
                </c:pt>
              </c:numCache>
            </c:numRef>
          </c:val>
          <c:extLst>
            <c:ext xmlns:c16="http://schemas.microsoft.com/office/drawing/2014/chart" uri="{C3380CC4-5D6E-409C-BE32-E72D297353CC}">
              <c16:uniqueId val="{00000000-1C3D-4654-9D31-A54AC79103CC}"/>
            </c:ext>
          </c:extLst>
        </c:ser>
        <c:ser>
          <c:idx val="1"/>
          <c:order val="1"/>
          <c:tx>
            <c:strRef>
              <c:f>Sheet1!$C$1</c:f>
              <c:strCache>
                <c:ptCount val="1"/>
                <c:pt idx="0">
                  <c:v>Column1</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YELLOW SCLERA</c:v>
                </c:pt>
                <c:pt idx="1">
                  <c:v>YELLOW SKIN</c:v>
                </c:pt>
                <c:pt idx="2">
                  <c:v>YELLOW SKIN AND EYES</c:v>
                </c:pt>
                <c:pt idx="3">
                  <c:v>YELLOW FAECES</c:v>
                </c:pt>
                <c:pt idx="4">
                  <c:v>YELLOW URINE</c:v>
                </c:pt>
                <c:pt idx="5">
                  <c:v>FEEDING DIFFICULTY</c:v>
                </c:pt>
                <c:pt idx="6">
                  <c:v>VOMITING AND DIARRHOEA</c:v>
                </c:pt>
                <c:pt idx="7">
                  <c:v>NO FAECES AND URINE</c:v>
                </c:pt>
              </c:strCache>
            </c:strRef>
          </c:cat>
          <c:val>
            <c:numRef>
              <c:f>Sheet1!$C$2:$C$9</c:f>
              <c:numCache>
                <c:formatCode>General</c:formatCode>
                <c:ptCount val="8"/>
              </c:numCache>
            </c:numRef>
          </c:val>
          <c:extLst>
            <c:ext xmlns:c16="http://schemas.microsoft.com/office/drawing/2014/chart" uri="{C3380CC4-5D6E-409C-BE32-E72D297353CC}">
              <c16:uniqueId val="{00000001-1C3D-4654-9D31-A54AC79103CC}"/>
            </c:ext>
          </c:extLst>
        </c:ser>
        <c:ser>
          <c:idx val="2"/>
          <c:order val="2"/>
          <c:tx>
            <c:strRef>
              <c:f>Sheet1!$D$1</c:f>
              <c:strCache>
                <c:ptCount val="1"/>
                <c:pt idx="0">
                  <c:v>Column2</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YELLOW SCLERA</c:v>
                </c:pt>
                <c:pt idx="1">
                  <c:v>YELLOW SKIN</c:v>
                </c:pt>
                <c:pt idx="2">
                  <c:v>YELLOW SKIN AND EYES</c:v>
                </c:pt>
                <c:pt idx="3">
                  <c:v>YELLOW FAECES</c:v>
                </c:pt>
                <c:pt idx="4">
                  <c:v>YELLOW URINE</c:v>
                </c:pt>
                <c:pt idx="5">
                  <c:v>FEEDING DIFFICULTY</c:v>
                </c:pt>
                <c:pt idx="6">
                  <c:v>VOMITING AND DIARRHOEA</c:v>
                </c:pt>
                <c:pt idx="7">
                  <c:v>NO FAECES AND URINE</c:v>
                </c:pt>
              </c:strCache>
            </c:strRef>
          </c:cat>
          <c:val>
            <c:numRef>
              <c:f>Sheet1!$D$2:$D$9</c:f>
              <c:numCache>
                <c:formatCode>General</c:formatCode>
                <c:ptCount val="8"/>
              </c:numCache>
            </c:numRef>
          </c:val>
          <c:extLst>
            <c:ext xmlns:c16="http://schemas.microsoft.com/office/drawing/2014/chart" uri="{C3380CC4-5D6E-409C-BE32-E72D297353CC}">
              <c16:uniqueId val="{00000002-1C3D-4654-9D31-A54AC79103CC}"/>
            </c:ext>
          </c:extLst>
        </c:ser>
        <c:dLbls>
          <c:dLblPos val="outEnd"/>
          <c:showLegendKey val="0"/>
          <c:showVal val="1"/>
          <c:showCatName val="0"/>
          <c:showSerName val="0"/>
          <c:showPercent val="0"/>
          <c:showBubbleSize val="0"/>
        </c:dLbls>
        <c:gapWidth val="182"/>
        <c:axId val="1883389135"/>
        <c:axId val="1883380399"/>
      </c:barChart>
      <c:catAx>
        <c:axId val="1883389135"/>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883380399"/>
        <c:crosses val="autoZero"/>
        <c:auto val="1"/>
        <c:lblAlgn val="ctr"/>
        <c:lblOffset val="100"/>
        <c:noMultiLvlLbl val="0"/>
      </c:catAx>
      <c:valAx>
        <c:axId val="1883380399"/>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a:t>Percentage of mothers</a:t>
                </a:r>
              </a:p>
            </c:rich>
          </c:tx>
          <c:overlay val="0"/>
          <c:spPr>
            <a:noFill/>
            <a:ln>
              <a:noFill/>
            </a:ln>
            <a:effectLst/>
          </c:spPr>
          <c:txPr>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883389135"/>
        <c:crosses val="autoZero"/>
        <c:crossBetween val="between"/>
      </c:valAx>
      <c:spPr>
        <a:noFill/>
        <a:ln>
          <a:noFill/>
        </a:ln>
        <a:effectLst/>
      </c:spPr>
    </c:plotArea>
    <c:legend>
      <c:legendPos val="b"/>
      <c:legendEntry>
        <c:idx val="0"/>
        <c:delete val="1"/>
      </c:legendEntry>
      <c:legendEntry>
        <c:idx val="1"/>
        <c:delete val="1"/>
      </c:legendEntry>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a:t>TREATMENT</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clustered"/>
        <c:varyColors val="0"/>
        <c:ser>
          <c:idx val="0"/>
          <c:order val="0"/>
          <c:tx>
            <c:strRef>
              <c:f>Sheet1!$B$1</c:f>
              <c:strCache>
                <c:ptCount val="1"/>
                <c:pt idx="0">
                  <c:v>PERCENTAGE</c:v>
                </c:pt>
              </c:strCache>
            </c:strRef>
          </c:tx>
          <c:spPr>
            <a:solidFill>
              <a:schemeClr val="accent1">
                <a:lumMod val="60000"/>
                <a:lumOff val="40000"/>
              </a:schemeClr>
            </a:solidFill>
            <a:ln>
              <a:noFill/>
            </a:ln>
            <a:effectLst/>
            <a:sp3d/>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SUNLIGHT</c:v>
                </c:pt>
                <c:pt idx="1">
                  <c:v>PHOTOTHERAPY</c:v>
                </c:pt>
                <c:pt idx="2">
                  <c:v>WARM CARE</c:v>
                </c:pt>
                <c:pt idx="3">
                  <c:v>BREAST MILK</c:v>
                </c:pt>
              </c:strCache>
            </c:strRef>
          </c:cat>
          <c:val>
            <c:numRef>
              <c:f>Sheet1!$B$2:$B$5</c:f>
              <c:numCache>
                <c:formatCode>0.00%</c:formatCode>
                <c:ptCount val="4"/>
                <c:pt idx="0">
                  <c:v>0.44209999999999999</c:v>
                </c:pt>
                <c:pt idx="1">
                  <c:v>0.1789</c:v>
                </c:pt>
                <c:pt idx="2">
                  <c:v>1.0500000000000001E-2</c:v>
                </c:pt>
                <c:pt idx="3">
                  <c:v>1.0500000000000001E-2</c:v>
                </c:pt>
              </c:numCache>
            </c:numRef>
          </c:val>
          <c:extLst>
            <c:ext xmlns:c16="http://schemas.microsoft.com/office/drawing/2014/chart" uri="{C3380CC4-5D6E-409C-BE32-E72D297353CC}">
              <c16:uniqueId val="{00000000-C045-4B21-98ED-BB8A72936EF5}"/>
            </c:ext>
          </c:extLst>
        </c:ser>
        <c:ser>
          <c:idx val="1"/>
          <c:order val="1"/>
          <c:tx>
            <c:strRef>
              <c:f>Sheet1!$C$1</c:f>
              <c:strCache>
                <c:ptCount val="1"/>
                <c:pt idx="0">
                  <c:v>Column1</c:v>
                </c:pt>
              </c:strCache>
            </c:strRef>
          </c:tx>
          <c:spPr>
            <a:solidFill>
              <a:schemeClr val="accent2"/>
            </a:solidFill>
            <a:ln>
              <a:noFill/>
            </a:ln>
            <a:effectLst/>
            <a:sp3d/>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SUNLIGHT</c:v>
                </c:pt>
                <c:pt idx="1">
                  <c:v>PHOTOTHERAPY</c:v>
                </c:pt>
                <c:pt idx="2">
                  <c:v>WARM CARE</c:v>
                </c:pt>
                <c:pt idx="3">
                  <c:v>BREAST MILK</c:v>
                </c:pt>
              </c:strCache>
            </c:strRef>
          </c:cat>
          <c:val>
            <c:numRef>
              <c:f>Sheet1!$C$2:$C$5</c:f>
              <c:numCache>
                <c:formatCode>General</c:formatCode>
                <c:ptCount val="4"/>
              </c:numCache>
            </c:numRef>
          </c:val>
          <c:extLst>
            <c:ext xmlns:c16="http://schemas.microsoft.com/office/drawing/2014/chart" uri="{C3380CC4-5D6E-409C-BE32-E72D297353CC}">
              <c16:uniqueId val="{00000001-C045-4B21-98ED-BB8A72936EF5}"/>
            </c:ext>
          </c:extLst>
        </c:ser>
        <c:ser>
          <c:idx val="2"/>
          <c:order val="2"/>
          <c:tx>
            <c:strRef>
              <c:f>Sheet1!$D$1</c:f>
              <c:strCache>
                <c:ptCount val="1"/>
                <c:pt idx="0">
                  <c:v>Column2</c:v>
                </c:pt>
              </c:strCache>
            </c:strRef>
          </c:tx>
          <c:spPr>
            <a:solidFill>
              <a:schemeClr val="accent3"/>
            </a:solidFill>
            <a:ln>
              <a:noFill/>
            </a:ln>
            <a:effectLst/>
            <a:sp3d/>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SUNLIGHT</c:v>
                </c:pt>
                <c:pt idx="1">
                  <c:v>PHOTOTHERAPY</c:v>
                </c:pt>
                <c:pt idx="2">
                  <c:v>WARM CARE</c:v>
                </c:pt>
                <c:pt idx="3">
                  <c:v>BREAST MILK</c:v>
                </c:pt>
              </c:strCache>
            </c:strRef>
          </c:cat>
          <c:val>
            <c:numRef>
              <c:f>Sheet1!$D$2:$D$5</c:f>
              <c:numCache>
                <c:formatCode>General</c:formatCode>
                <c:ptCount val="4"/>
              </c:numCache>
            </c:numRef>
          </c:val>
          <c:extLst>
            <c:ext xmlns:c16="http://schemas.microsoft.com/office/drawing/2014/chart" uri="{C3380CC4-5D6E-409C-BE32-E72D297353CC}">
              <c16:uniqueId val="{00000002-C045-4B21-98ED-BB8A72936EF5}"/>
            </c:ext>
          </c:extLst>
        </c:ser>
        <c:dLbls>
          <c:showLegendKey val="0"/>
          <c:showVal val="1"/>
          <c:showCatName val="0"/>
          <c:showSerName val="0"/>
          <c:showPercent val="0"/>
          <c:showBubbleSize val="0"/>
        </c:dLbls>
        <c:gapWidth val="150"/>
        <c:shape val="box"/>
        <c:axId val="1711717279"/>
        <c:axId val="1711706879"/>
        <c:axId val="0"/>
      </c:bar3DChart>
      <c:catAx>
        <c:axId val="1711717279"/>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711706879"/>
        <c:crosses val="autoZero"/>
        <c:auto val="1"/>
        <c:lblAlgn val="ctr"/>
        <c:lblOffset val="100"/>
        <c:noMultiLvlLbl val="0"/>
      </c:catAx>
      <c:valAx>
        <c:axId val="1711706879"/>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a:t>Percentage of mothers</a:t>
                </a:r>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711717279"/>
        <c:crosses val="autoZero"/>
        <c:crossBetween val="between"/>
      </c:valAx>
      <c:spPr>
        <a:noFill/>
        <a:ln>
          <a:noFill/>
        </a:ln>
        <a:effectLst/>
      </c:spPr>
    </c:plotArea>
    <c:legend>
      <c:legendPos val="b"/>
      <c:legendEntry>
        <c:idx val="1"/>
        <c:delete val="1"/>
      </c:legendEntry>
      <c:legendEntry>
        <c:idx val="2"/>
        <c:delete val="1"/>
      </c:legendEntry>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8">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lt1"/>
    </cs:fontRef>
    <cs:defRPr sz="1197" b="1"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scene3d>
        <a:camera prst="orthographicFront"/>
        <a:lightRig rig="brightRoom" dir="t"/>
      </a:scene3d>
      <a:sp3d prstMaterial="flat">
        <a:bevelT w="50800" h="101600" prst="angle"/>
        <a:contourClr>
          <a:srgbClr val="000000"/>
        </a:contourClr>
      </a:sp3d>
    </cs:spPr>
  </cs:dataPoint>
  <cs:dataPoint3D>
    <cs:lnRef idx="0"/>
    <cs:fillRef idx="0">
      <cs:styleClr val="auto"/>
    </cs:fillRef>
    <cs:effectRef idx="0"/>
    <cs:fontRef idx="minor">
      <a:schemeClr val="tx1"/>
    </cs:fontRef>
    <cs:spPr>
      <a:solidFill>
        <a:schemeClr val="phClr"/>
      </a:solidFill>
      <a:ln w="1905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1" i="0" kern="1200" cap="all" spc="50"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18">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defRPr sz="1197"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197"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61">
  <cs:axisTitle>
    <cs:lnRef idx="0"/>
    <cs:fillRef idx="0"/>
    <cs:effectRef idx="0"/>
    <cs:fontRef idx="minor">
      <a:schemeClr val="dk1">
        <a:lumMod val="65000"/>
        <a:lumOff val="35000"/>
      </a:schemeClr>
    </cs:fontRef>
    <cs:defRPr sz="1197" kern="1200"/>
  </cs:axisTitle>
  <cs:categoryAxis>
    <cs:lnRef idx="0"/>
    <cs:fillRef idx="0"/>
    <cs:effectRef idx="0"/>
    <cs:fontRef idx="minor">
      <a:schemeClr val="dk1">
        <a:lumMod val="65000"/>
        <a:lumOff val="35000"/>
      </a:schemeClr>
    </cs:fontRef>
    <cs:defRPr sz="1197" kern="1200"/>
  </cs:categoryAxis>
  <cs:chartArea>
    <cs:lnRef idx="0"/>
    <cs:fillRef idx="0"/>
    <cs:effectRef idx="0"/>
    <cs:fontRef idx="minor">
      <a:schemeClr val="dk1"/>
    </cs:fontRef>
    <cs:spPr>
      <a:pattFill prst="dkDnDiag">
        <a:fgClr>
          <a:schemeClr val="lt1">
            <a:lumMod val="95000"/>
          </a:schemeClr>
        </a:fgClr>
        <a:bgClr>
          <a:schemeClr val="lt1"/>
        </a:bgClr>
      </a:pattFill>
      <a:ln w="9525" cap="flat" cmpd="sng" algn="ctr">
        <a:solidFill>
          <a:schemeClr val="dk1">
            <a:lumMod val="15000"/>
            <a:lumOff val="85000"/>
          </a:schemeClr>
        </a:solidFill>
        <a:round/>
      </a:ln>
    </cs:spPr>
    <cs:defRPr sz="1197" kern="1200"/>
  </cs:chartArea>
  <cs:dataLabel>
    <cs:lnRef idx="0"/>
    <cs:fillRef idx="0"/>
    <cs:effectRef idx="0"/>
    <cs:fontRef idx="minor">
      <a:schemeClr val="lt1"/>
    </cs:fontRef>
    <cs:defRPr sz="1197" b="1" i="0" u="none" strike="noStrike" kern="1200" baseline="0"/>
  </cs:dataLabel>
  <cs:dataLabelCallout>
    <cs:lnRef idx="0"/>
    <cs:fillRef idx="0"/>
    <cs:effectRef idx="0"/>
    <cs:fontRef idx="minor">
      <a:schemeClr val="dk1">
        <a:lumMod val="65000"/>
        <a:lumOff val="35000"/>
      </a:schemeClr>
    </cs:fontRef>
    <cs:spPr>
      <a:solidFill>
        <a:schemeClr val="lt1">
          <a:alpha val="75000"/>
        </a:schemeClr>
      </a:solidFill>
      <a:ln w="9525">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317500" algn="ctr" rotWithShape="0">
          <a:prstClr val="black">
            <a:alpha val="25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20000"/>
          </a:prstClr>
        </a:outerShdw>
      </a:effectLst>
      <a:scene3d>
        <a:camera prst="orthographicFront"/>
        <a:lightRig rig="threePt" dir="t"/>
      </a:scene3d>
      <a:sp3d prstMaterial="matte"/>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noFill/>
      <a:ln w="9525" cap="flat" cmpd="sng" algn="ctr">
        <a:solidFill>
          <a:schemeClr val="dk1">
            <a:lumMod val="15000"/>
            <a:lumOff val="85000"/>
          </a:schemeClr>
        </a:solidFill>
        <a:round/>
      </a:ln>
    </cs:spPr>
    <cs:defRPr sz="1197"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65000"/>
            <a:lumOff val="35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65000"/>
            <a:lumOff val="35000"/>
          </a:schemeClr>
        </a:solidFill>
        <a:round/>
      </a:ln>
    </cs:spPr>
  </cs:errorBar>
  <cs:floor>
    <cs:lnRef idx="0"/>
    <cs:fillRef idx="0"/>
    <cs:effectRef idx="0"/>
    <cs:fontRef idx="minor">
      <a:schemeClr val="dk1"/>
    </cs:fontRef>
    <cs:spPr>
      <a:noFill/>
      <a:ln>
        <a:noFill/>
      </a:ln>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50000"/>
            <a:lumOff val="50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spPr>
      <a:solidFill>
        <a:schemeClr val="lt1">
          <a:alpha val="78000"/>
        </a:schemeClr>
      </a:solidFill>
    </cs:spPr>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dk1">
        <a:lumMod val="65000"/>
        <a:lumOff val="35000"/>
      </a:schemeClr>
    </cs:fontRef>
    <cs:defRPr sz="1197"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inor">
      <a:schemeClr val="dk1">
        <a:lumMod val="65000"/>
        <a:lumOff val="35000"/>
      </a:schemeClr>
    </cs:fontRef>
    <cs:defRPr sz="2200" b="1" kern="120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cap="flat" cmpd="sng" algn="ctr">
        <a:solidFill>
          <a:schemeClr val="dk1">
            <a:lumMod val="65000"/>
            <a:lumOff val="35000"/>
          </a:schemeClr>
        </a:solidFill>
        <a:round/>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wall>
</cs:chartStyle>
</file>

<file path=ppt/charts/style5.xml><?xml version="1.0" encoding="utf-8"?>
<cs:chartStyle xmlns:cs="http://schemas.microsoft.com/office/drawing/2012/chartStyle" xmlns:a="http://schemas.openxmlformats.org/drawingml/2006/main" id="252">
  <cs:axisTitle>
    <cs:lnRef idx="0"/>
    <cs:fillRef idx="0"/>
    <cs:effectRef idx="0"/>
    <cs:fontRef idx="minor">
      <a:schemeClr val="tx1">
        <a:lumMod val="65000"/>
        <a:lumOff val="35000"/>
      </a:schemeClr>
    </cs:fontRef>
    <cs:defRPr sz="1197" b="1" kern="1200"/>
  </cs:axisTitle>
  <cs:categoryAxis>
    <cs:lnRef idx="0"/>
    <cs:fillRef idx="0"/>
    <cs:effectRef idx="0"/>
    <cs:fontRef idx="minor">
      <a:schemeClr val="tx1">
        <a:lumMod val="65000"/>
        <a:lumOff val="35000"/>
      </a:schemeClr>
    </cs:fontRef>
    <cs:spPr>
      <a:ln w="19050"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styleClr val="auto"/>
    </cs:effectRef>
    <cs:fontRef idx="minor">
      <a:schemeClr val="dk1"/>
    </cs:fontRef>
    <cs:spPr>
      <a:pattFill prst="ltUpDiag">
        <a:fgClr>
          <a:schemeClr val="phClr"/>
        </a:fgClr>
        <a:bgClr>
          <a:schemeClr val="phClr">
            <a:lumMod val="20000"/>
            <a:lumOff val="80000"/>
          </a:schemeClr>
        </a:bgClr>
      </a:pattFill>
      <a:ln w="19050">
        <a:solidFill>
          <a:schemeClr val="lt1"/>
        </a:solidFill>
      </a:ln>
      <a:effectLst>
        <a:innerShdw blurRad="114300">
          <a:schemeClr val="phClr"/>
        </a:innerShdw>
      </a:effectLst>
    </cs:spPr>
  </cs:dataPoint>
  <cs:dataPoint3D>
    <cs:lnRef idx="0"/>
    <cs:fillRef idx="0">
      <cs:styleClr val="auto"/>
    </cs:fillRef>
    <cs:effectRef idx="0"/>
    <cs:fontRef idx="minor">
      <a:schemeClr val="dk1"/>
    </cs:fontRef>
    <cs:spPr>
      <a:pattFill prst="ltUpDiag">
        <a:fgClr>
          <a:schemeClr val="phClr"/>
        </a:fgClr>
        <a:bgClr>
          <a:schemeClr val="phClr">
            <a:lumMod val="20000"/>
            <a:lumOff val="80000"/>
          </a:schemeClr>
        </a:bgClr>
      </a:pattFill>
      <a:ln w="19050">
        <a:solidFill>
          <a:schemeClr val="lt1"/>
        </a:solidFill>
      </a:ln>
      <a:effectLst>
        <a:innerShdw blurRad="114300">
          <a:schemeClr val="phClr"/>
        </a:innerShdw>
      </a:effectLst>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a:solidFill>
          <a:schemeClr val="tx1">
            <a:lumMod val="15000"/>
            <a:lumOff val="85000"/>
          </a:schemeClr>
        </a:solidFill>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50000"/>
        <a:lumOff val="50000"/>
      </a:schemeClr>
    </cs:fontRef>
    <cs:defRPr sz="2200" b="1" kern="1200" cap="all" spc="15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64">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charts/style13.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_rels/drawing1.xml.rels><?xml version="1.0" encoding="UTF-8" standalone="yes"?>
<Relationships xmlns="http://schemas.openxmlformats.org/package/2006/relationships"><Relationship Id="rId1" Type="http://schemas.openxmlformats.org/officeDocument/2006/relationships/image" Target="../media/image1.jpeg" /></Relationships>
</file>

<file path=ppt/diagrams/_rels/drawing2.xml.rels><?xml version="1.0" encoding="UTF-8" standalone="yes"?>
<Relationships xmlns="http://schemas.openxmlformats.org/package/2006/relationships"><Relationship Id="rId1" Type="http://schemas.openxmlformats.org/officeDocument/2006/relationships/image" Target="../media/image1.jpeg" /></Relationships>
</file>

<file path=ppt/diagrams/_rels/drawing3.xml.rels><?xml version="1.0" encoding="UTF-8" standalone="yes"?>
<Relationships xmlns="http://schemas.openxmlformats.org/package/2006/relationships"><Relationship Id="rId1" Type="http://schemas.openxmlformats.org/officeDocument/2006/relationships/image" Target="../media/image1.jpeg" /></Relationships>
</file>

<file path=ppt/diagrams/_rels/drawing4.xml.rels><?xml version="1.0" encoding="UTF-8" standalone="yes"?>
<Relationships xmlns="http://schemas.openxmlformats.org/package/2006/relationships"><Relationship Id="rId1" Type="http://schemas.openxmlformats.org/officeDocument/2006/relationships/image" Target="../media/image1.jpeg" /></Relationships>
</file>

<file path=ppt/diagrams/_rels/drawing5.xml.rels><?xml version="1.0" encoding="UTF-8" standalone="yes"?>
<Relationships xmlns="http://schemas.openxmlformats.org/package/2006/relationships"><Relationship Id="rId1" Type="http://schemas.openxmlformats.org/officeDocument/2006/relationships/image" Target="../media/image1.jpeg" /></Relationships>
</file>

<file path=ppt/diagrams/_rels/drawing6.xml.rels><?xml version="1.0" encoding="UTF-8" standalone="yes"?>
<Relationships xmlns="http://schemas.openxmlformats.org/package/2006/relationships"><Relationship Id="rId1" Type="http://schemas.openxmlformats.org/officeDocument/2006/relationships/image" Target="../media/image1.jpeg" /></Relationships>
</file>

<file path=ppt/diagrams/_rels/drawing7.xml.rels><?xml version="1.0" encoding="UTF-8" standalone="yes"?>
<Relationships xmlns="http://schemas.openxmlformats.org/package/2006/relationships"><Relationship Id="rId1" Type="http://schemas.openxmlformats.org/officeDocument/2006/relationships/image" Target="../media/image1.jpeg" /></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01B3D1F-5463-4966-8FBA-19BF032C8A91}" type="doc">
      <dgm:prSet loTypeId="urn:microsoft.com/office/officeart/2005/8/layout/vList5" loCatId="list" qsTypeId="urn:microsoft.com/office/officeart/2005/8/quickstyle/3d1" qsCatId="3D" csTypeId="urn:microsoft.com/office/officeart/2005/8/colors/accent1_2" csCatId="accent1" phldr="1"/>
      <dgm:spPr/>
      <dgm:t>
        <a:bodyPr/>
        <a:lstStyle/>
        <a:p>
          <a:endParaRPr lang="en-US"/>
        </a:p>
      </dgm:t>
    </dgm:pt>
    <dgm:pt modelId="{B5D103AC-5AD9-482C-A486-3A76436936B2}">
      <dgm:prSet phldrT="[Text]" custT="1"/>
      <dgm:spPr/>
      <dgm:t>
        <a:bodyPr/>
        <a:lstStyle/>
        <a:p>
          <a:r>
            <a:rPr lang="en-US" sz="3600" dirty="0">
              <a:effectLst/>
              <a:latin typeface="Times New Roman" panose="02020603050405020304" pitchFamily="18" charset="0"/>
              <a:ea typeface="Calibri" panose="020F0502020204030204" pitchFamily="34" charset="0"/>
              <a:cs typeface="Times New Roman" panose="02020603050405020304" pitchFamily="18" charset="0"/>
            </a:rPr>
            <a:t>Physiological jaundice </a:t>
          </a:r>
          <a:endParaRPr lang="en-US" sz="3600" dirty="0"/>
        </a:p>
      </dgm:t>
    </dgm:pt>
    <dgm:pt modelId="{0F4C26CF-C0D5-4781-B188-CBF184001EAE}" type="parTrans" cxnId="{4FB0C01C-2518-4A6B-989E-7EBF71921762}">
      <dgm:prSet/>
      <dgm:spPr/>
      <dgm:t>
        <a:bodyPr/>
        <a:lstStyle/>
        <a:p>
          <a:endParaRPr lang="en-US"/>
        </a:p>
      </dgm:t>
    </dgm:pt>
    <dgm:pt modelId="{5D60B3C8-A0B8-4E3C-BDAE-EDD9DCAEC197}" type="sibTrans" cxnId="{4FB0C01C-2518-4A6B-989E-7EBF71921762}">
      <dgm:prSet/>
      <dgm:spPr/>
      <dgm:t>
        <a:bodyPr/>
        <a:lstStyle/>
        <a:p>
          <a:endParaRPr lang="en-US"/>
        </a:p>
      </dgm:t>
    </dgm:pt>
    <dgm:pt modelId="{AC2DE893-CC86-445A-B3E2-94DC291AEC44}">
      <dgm:prSet phldrT="[Text]" custT="1"/>
      <dgm:spPr/>
      <dgm:t>
        <a:bodyPr/>
        <a:lstStyle/>
        <a:p>
          <a:pPr>
            <a:lnSpc>
              <a:spcPct val="100000"/>
            </a:lnSpc>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It occurs due to differences in bilirubin metabolism as there is increased production of bilirubin due to decreased lifespan of red blood cells, decreased bilirubin clearance due to deficiency of uridine diphosphate glucuronosyltransferase (UGT) and increased enterohepatic circulation.</a:t>
          </a:r>
          <a:endParaRPr lang="en-US" sz="1800" dirty="0"/>
        </a:p>
      </dgm:t>
    </dgm:pt>
    <dgm:pt modelId="{3B0C3072-6314-47FB-B198-A1E56200E56D}" type="parTrans" cxnId="{9AF03B36-A5CB-480B-9307-1A6803FB8BEB}">
      <dgm:prSet/>
      <dgm:spPr/>
      <dgm:t>
        <a:bodyPr/>
        <a:lstStyle/>
        <a:p>
          <a:endParaRPr lang="en-US"/>
        </a:p>
      </dgm:t>
    </dgm:pt>
    <dgm:pt modelId="{BD347D6D-C4D7-4395-B24A-F6E4E372A597}" type="sibTrans" cxnId="{9AF03B36-A5CB-480B-9307-1A6803FB8BEB}">
      <dgm:prSet/>
      <dgm:spPr/>
      <dgm:t>
        <a:bodyPr/>
        <a:lstStyle/>
        <a:p>
          <a:endParaRPr lang="en-US"/>
        </a:p>
      </dgm:t>
    </dgm:pt>
    <dgm:pt modelId="{AB1E6E56-9C52-4B09-BF24-FEA4C06F96B3}">
      <dgm:prSet phldrT="[Text]"/>
      <dgm:spPr/>
      <dgm:t>
        <a:bodyPr/>
        <a:lstStyle/>
        <a:p>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Pathological jaundice </a:t>
          </a:r>
          <a:endParaRPr lang="en-US" dirty="0"/>
        </a:p>
      </dgm:t>
    </dgm:pt>
    <dgm:pt modelId="{8DDE5E36-AF74-43D3-BBB3-5C2CF1562D83}" type="parTrans" cxnId="{F08646FA-9C94-4A8F-82FC-D6FBDBE62322}">
      <dgm:prSet/>
      <dgm:spPr/>
      <dgm:t>
        <a:bodyPr/>
        <a:lstStyle/>
        <a:p>
          <a:endParaRPr lang="en-US"/>
        </a:p>
      </dgm:t>
    </dgm:pt>
    <dgm:pt modelId="{0A5A8A4D-C98D-43D0-8318-AEC89F0CCA5E}" type="sibTrans" cxnId="{F08646FA-9C94-4A8F-82FC-D6FBDBE62322}">
      <dgm:prSet/>
      <dgm:spPr/>
      <dgm:t>
        <a:bodyPr/>
        <a:lstStyle/>
        <a:p>
          <a:endParaRPr lang="en-US"/>
        </a:p>
      </dgm:t>
    </dgm:pt>
    <dgm:pt modelId="{EE73815C-214F-498D-8541-13BFB7F39CEC}">
      <dgm:prSet phldrT="[Text]" custT="1"/>
      <dgm:spPr/>
      <dgm:t>
        <a:bodyPr/>
        <a:lstStyle/>
        <a:p>
          <a:pPr>
            <a:lnSpc>
              <a:spcPct val="100000"/>
            </a:lnSpc>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It is observed on the first day of birth. There is a rapid increase in the bilirubin which can be due to immune mediated hemolysis as ABO and Rhesus incompatibility, non-immune mediated such as cephalohematoma, RBC membrane defects. The increase in the serum bilirubin levels is higher than 5mg/dl/day and presence of this for greater than 14 days is considered as pathological jaundice.</a:t>
          </a:r>
          <a:endParaRPr lang="en-US" sz="1800" dirty="0"/>
        </a:p>
      </dgm:t>
    </dgm:pt>
    <dgm:pt modelId="{587E2509-FA72-4863-BE5A-2DC44E7FF64D}" type="parTrans" cxnId="{75317627-DEC8-4233-BD08-ED450900E586}">
      <dgm:prSet/>
      <dgm:spPr/>
      <dgm:t>
        <a:bodyPr/>
        <a:lstStyle/>
        <a:p>
          <a:endParaRPr lang="en-US"/>
        </a:p>
      </dgm:t>
    </dgm:pt>
    <dgm:pt modelId="{B83203CD-0EAE-48CD-9720-B0144974F669}" type="sibTrans" cxnId="{75317627-DEC8-4233-BD08-ED450900E586}">
      <dgm:prSet/>
      <dgm:spPr/>
      <dgm:t>
        <a:bodyPr/>
        <a:lstStyle/>
        <a:p>
          <a:endParaRPr lang="en-US"/>
        </a:p>
      </dgm:t>
    </dgm:pt>
    <dgm:pt modelId="{1EADC731-DF7C-4CD1-BB18-477B9E3F6FB8}">
      <dgm:prSet phldrT="[Text]"/>
      <dgm:spPr/>
      <dgm:t>
        <a:bodyPr/>
        <a:lstStyle/>
        <a:p>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Rhesus hemolytic disease </a:t>
          </a:r>
          <a:endParaRPr lang="en-US" dirty="0"/>
        </a:p>
      </dgm:t>
    </dgm:pt>
    <dgm:pt modelId="{7619E14D-A6D6-4C95-AE05-48758B0CC5E9}" type="parTrans" cxnId="{2EC00A16-7CEC-46F4-9CB3-6AE7392B47B4}">
      <dgm:prSet/>
      <dgm:spPr/>
      <dgm:t>
        <a:bodyPr/>
        <a:lstStyle/>
        <a:p>
          <a:endParaRPr lang="en-US"/>
        </a:p>
      </dgm:t>
    </dgm:pt>
    <dgm:pt modelId="{A1735269-7B99-4B02-8C38-0CF8A2F790C3}" type="sibTrans" cxnId="{2EC00A16-7CEC-46F4-9CB3-6AE7392B47B4}">
      <dgm:prSet/>
      <dgm:spPr/>
      <dgm:t>
        <a:bodyPr/>
        <a:lstStyle/>
        <a:p>
          <a:endParaRPr lang="en-US"/>
        </a:p>
      </dgm:t>
    </dgm:pt>
    <dgm:pt modelId="{DAA38210-A128-4E41-A1AC-A823798A84B9}">
      <dgm:prSet phldrT="[Text]" custT="1"/>
      <dgm:spPr/>
      <dgm:t>
        <a:bodyPr/>
        <a:lstStyle/>
        <a:p>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It is caused from maternal red cell alloimmunization when the baby born is Rh-positive to a Rh-negative mother and Rh-positive father. Here the mother’s immunoglobulin antibodies i.e., IgG crosses the placenta and enters the fetal circulation causing several symptoms of mild to severe hemolytic anemia.</a:t>
          </a:r>
          <a:endParaRPr lang="en-US" sz="1800" dirty="0"/>
        </a:p>
      </dgm:t>
    </dgm:pt>
    <dgm:pt modelId="{587F5E79-7EFC-41CA-80EC-97DC1FF6E964}" type="parTrans" cxnId="{D079EC49-0EA3-44BC-8EA5-184DAF18C0F3}">
      <dgm:prSet/>
      <dgm:spPr/>
      <dgm:t>
        <a:bodyPr/>
        <a:lstStyle/>
        <a:p>
          <a:endParaRPr lang="en-US"/>
        </a:p>
      </dgm:t>
    </dgm:pt>
    <dgm:pt modelId="{ADB2B07E-0669-479F-90C3-51C7A81115E9}" type="sibTrans" cxnId="{D079EC49-0EA3-44BC-8EA5-184DAF18C0F3}">
      <dgm:prSet/>
      <dgm:spPr/>
      <dgm:t>
        <a:bodyPr/>
        <a:lstStyle/>
        <a:p>
          <a:endParaRPr lang="en-US"/>
        </a:p>
      </dgm:t>
    </dgm:pt>
    <dgm:pt modelId="{FA919F2C-E41F-4F30-812F-94FF16A0132A}">
      <dgm:prSet phldrT="[Text]"/>
      <dgm:spPr/>
      <dgm:t>
        <a:bodyPr/>
        <a:lstStyle/>
        <a:p>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G6PD deficiency </a:t>
          </a:r>
          <a:endParaRPr lang="en-US" dirty="0"/>
        </a:p>
      </dgm:t>
    </dgm:pt>
    <dgm:pt modelId="{8AC79B9D-ABC6-489F-BD57-37DB068FAC32}" type="parTrans" cxnId="{BDCA1CDE-82A4-4CAB-BD88-CB661B7DF6F3}">
      <dgm:prSet/>
      <dgm:spPr/>
      <dgm:t>
        <a:bodyPr/>
        <a:lstStyle/>
        <a:p>
          <a:endParaRPr lang="en-US"/>
        </a:p>
      </dgm:t>
    </dgm:pt>
    <dgm:pt modelId="{1BA9A7E9-8BD8-4AF7-83A3-81B3C6D2F98E}" type="sibTrans" cxnId="{BDCA1CDE-82A4-4CAB-BD88-CB661B7DF6F3}">
      <dgm:prSet/>
      <dgm:spPr/>
      <dgm:t>
        <a:bodyPr/>
        <a:lstStyle/>
        <a:p>
          <a:endParaRPr lang="en-US"/>
        </a:p>
      </dgm:t>
    </dgm:pt>
    <dgm:pt modelId="{520BF125-3008-41A7-A333-F7811E3A7F08}">
      <dgm:prSet custT="1"/>
      <dgm:spPr/>
      <dgm:t>
        <a:bodyPr/>
        <a:lstStyle/>
        <a:p>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Infants with family history of G6PD deficiency has greater chances of severe jaundice. It is the deficiency of an enzyme in RBCs which plays a vital role in hexose monophosphate pathway.</a:t>
          </a:r>
          <a:endParaRPr lang="en-US" sz="1800" dirty="0"/>
        </a:p>
      </dgm:t>
    </dgm:pt>
    <dgm:pt modelId="{3EBE12FD-52F7-489C-84C7-2024B23A79D5}" type="parTrans" cxnId="{BD8F3976-27C2-4704-921F-98246AA900F8}">
      <dgm:prSet/>
      <dgm:spPr/>
      <dgm:t>
        <a:bodyPr/>
        <a:lstStyle/>
        <a:p>
          <a:endParaRPr lang="en-US"/>
        </a:p>
      </dgm:t>
    </dgm:pt>
    <dgm:pt modelId="{525D4164-AB2B-4BFD-81F8-DC43572058EA}" type="sibTrans" cxnId="{BD8F3976-27C2-4704-921F-98246AA900F8}">
      <dgm:prSet/>
      <dgm:spPr/>
      <dgm:t>
        <a:bodyPr/>
        <a:lstStyle/>
        <a:p>
          <a:endParaRPr lang="en-US"/>
        </a:p>
      </dgm:t>
    </dgm:pt>
    <dgm:pt modelId="{A3FB6E51-EDC4-413D-A403-B1B937C8BBED}" type="pres">
      <dgm:prSet presAssocID="{201B3D1F-5463-4966-8FBA-19BF032C8A91}" presName="Name0" presStyleCnt="0">
        <dgm:presLayoutVars>
          <dgm:dir/>
          <dgm:animLvl val="lvl"/>
          <dgm:resizeHandles val="exact"/>
        </dgm:presLayoutVars>
      </dgm:prSet>
      <dgm:spPr/>
    </dgm:pt>
    <dgm:pt modelId="{87E1CA23-07CE-4BDF-A64D-E40C1049287F}" type="pres">
      <dgm:prSet presAssocID="{B5D103AC-5AD9-482C-A486-3A76436936B2}" presName="linNode" presStyleCnt="0"/>
      <dgm:spPr/>
    </dgm:pt>
    <dgm:pt modelId="{D60EC099-79CF-4631-86F2-7C457FFB531D}" type="pres">
      <dgm:prSet presAssocID="{B5D103AC-5AD9-482C-A486-3A76436936B2}" presName="parentText" presStyleLbl="node1" presStyleIdx="0" presStyleCnt="4" custScaleY="63217">
        <dgm:presLayoutVars>
          <dgm:chMax val="1"/>
          <dgm:bulletEnabled val="1"/>
        </dgm:presLayoutVars>
      </dgm:prSet>
      <dgm:spPr/>
    </dgm:pt>
    <dgm:pt modelId="{4C3DDC2E-DB04-407A-8E04-B3D16C28C8E5}" type="pres">
      <dgm:prSet presAssocID="{B5D103AC-5AD9-482C-A486-3A76436936B2}" presName="descendantText" presStyleLbl="alignAccFollowNode1" presStyleIdx="0" presStyleCnt="4" custScaleX="165338" custLinFactNeighborX="0">
        <dgm:presLayoutVars>
          <dgm:bulletEnabled val="1"/>
        </dgm:presLayoutVars>
      </dgm:prSet>
      <dgm:spPr/>
    </dgm:pt>
    <dgm:pt modelId="{93491555-540E-42F2-8ECC-1B1C7E19188A}" type="pres">
      <dgm:prSet presAssocID="{5D60B3C8-A0B8-4E3C-BDAE-EDD9DCAEC197}" presName="sp" presStyleCnt="0"/>
      <dgm:spPr/>
    </dgm:pt>
    <dgm:pt modelId="{6DC5F302-77E9-4E15-B9DC-DE5E321D5A11}" type="pres">
      <dgm:prSet presAssocID="{AB1E6E56-9C52-4B09-BF24-FEA4C06F96B3}" presName="linNode" presStyleCnt="0"/>
      <dgm:spPr/>
    </dgm:pt>
    <dgm:pt modelId="{0803B52E-1FC2-43CE-90D6-11F578172A89}" type="pres">
      <dgm:prSet presAssocID="{AB1E6E56-9C52-4B09-BF24-FEA4C06F96B3}" presName="parentText" presStyleLbl="node1" presStyleIdx="1" presStyleCnt="4" custScaleY="55142">
        <dgm:presLayoutVars>
          <dgm:chMax val="1"/>
          <dgm:bulletEnabled val="1"/>
        </dgm:presLayoutVars>
      </dgm:prSet>
      <dgm:spPr/>
    </dgm:pt>
    <dgm:pt modelId="{D6F66682-7E6F-46E8-9326-782AA754729F}" type="pres">
      <dgm:prSet presAssocID="{AB1E6E56-9C52-4B09-BF24-FEA4C06F96B3}" presName="descendantText" presStyleLbl="alignAccFollowNode1" presStyleIdx="1" presStyleCnt="4" custScaleX="165595">
        <dgm:presLayoutVars>
          <dgm:bulletEnabled val="1"/>
        </dgm:presLayoutVars>
      </dgm:prSet>
      <dgm:spPr/>
    </dgm:pt>
    <dgm:pt modelId="{62D6EA5D-AEF0-4D2C-B47C-E40B6FFC79A6}" type="pres">
      <dgm:prSet presAssocID="{0A5A8A4D-C98D-43D0-8318-AEC89F0CCA5E}" presName="sp" presStyleCnt="0"/>
      <dgm:spPr/>
    </dgm:pt>
    <dgm:pt modelId="{2CC86274-B99B-4F93-BF4F-676EBE7A2825}" type="pres">
      <dgm:prSet presAssocID="{1EADC731-DF7C-4CD1-BB18-477B9E3F6FB8}" presName="linNode" presStyleCnt="0"/>
      <dgm:spPr/>
    </dgm:pt>
    <dgm:pt modelId="{2FBE6272-0275-44A1-AA67-9BE9EC09C770}" type="pres">
      <dgm:prSet presAssocID="{1EADC731-DF7C-4CD1-BB18-477B9E3F6FB8}" presName="parentText" presStyleLbl="node1" presStyleIdx="2" presStyleCnt="4" custScaleY="63417">
        <dgm:presLayoutVars>
          <dgm:chMax val="1"/>
          <dgm:bulletEnabled val="1"/>
        </dgm:presLayoutVars>
      </dgm:prSet>
      <dgm:spPr/>
    </dgm:pt>
    <dgm:pt modelId="{9D8297DB-1BB6-4F59-90BD-09F9ADA2055A}" type="pres">
      <dgm:prSet presAssocID="{1EADC731-DF7C-4CD1-BB18-477B9E3F6FB8}" presName="descendantText" presStyleLbl="alignAccFollowNode1" presStyleIdx="2" presStyleCnt="4" custScaleX="162888" custLinFactNeighborY="0">
        <dgm:presLayoutVars>
          <dgm:bulletEnabled val="1"/>
        </dgm:presLayoutVars>
      </dgm:prSet>
      <dgm:spPr/>
    </dgm:pt>
    <dgm:pt modelId="{81DC05B6-13E4-41E2-AF0D-37158BB3E203}" type="pres">
      <dgm:prSet presAssocID="{A1735269-7B99-4B02-8C38-0CF8A2F790C3}" presName="sp" presStyleCnt="0"/>
      <dgm:spPr/>
    </dgm:pt>
    <dgm:pt modelId="{8F076C49-7412-4FC9-8977-2AA86A2B01CE}" type="pres">
      <dgm:prSet presAssocID="{FA919F2C-E41F-4F30-812F-94FF16A0132A}" presName="linNode" presStyleCnt="0"/>
      <dgm:spPr/>
    </dgm:pt>
    <dgm:pt modelId="{2AAC2723-02BF-4AF0-AA75-3F96F187DFFE}" type="pres">
      <dgm:prSet presAssocID="{FA919F2C-E41F-4F30-812F-94FF16A0132A}" presName="parentText" presStyleLbl="node1" presStyleIdx="3" presStyleCnt="4" custScaleX="81451" custScaleY="49770">
        <dgm:presLayoutVars>
          <dgm:chMax val="1"/>
          <dgm:bulletEnabled val="1"/>
        </dgm:presLayoutVars>
      </dgm:prSet>
      <dgm:spPr/>
    </dgm:pt>
    <dgm:pt modelId="{24789385-6B3D-4A20-A4A4-7660B02A0E50}" type="pres">
      <dgm:prSet presAssocID="{FA919F2C-E41F-4F30-812F-94FF16A0132A}" presName="descendantText" presStyleLbl="alignAccFollowNode1" presStyleIdx="3" presStyleCnt="4" custScaleX="129199" custLinFactNeighborX="12785" custLinFactNeighborY="-2690">
        <dgm:presLayoutVars>
          <dgm:bulletEnabled val="1"/>
        </dgm:presLayoutVars>
      </dgm:prSet>
      <dgm:spPr/>
    </dgm:pt>
  </dgm:ptLst>
  <dgm:cxnLst>
    <dgm:cxn modelId="{63617901-158C-460F-9CAA-B26254FE37A1}" type="presOf" srcId="{EE73815C-214F-498D-8541-13BFB7F39CEC}" destId="{D6F66682-7E6F-46E8-9326-782AA754729F}" srcOrd="0" destOrd="0" presId="urn:microsoft.com/office/officeart/2005/8/layout/vList5"/>
    <dgm:cxn modelId="{2EC00A16-7CEC-46F4-9CB3-6AE7392B47B4}" srcId="{201B3D1F-5463-4966-8FBA-19BF032C8A91}" destId="{1EADC731-DF7C-4CD1-BB18-477B9E3F6FB8}" srcOrd="2" destOrd="0" parTransId="{7619E14D-A6D6-4C95-AE05-48758B0CC5E9}" sibTransId="{A1735269-7B99-4B02-8C38-0CF8A2F790C3}"/>
    <dgm:cxn modelId="{4FB0C01C-2518-4A6B-989E-7EBF71921762}" srcId="{201B3D1F-5463-4966-8FBA-19BF032C8A91}" destId="{B5D103AC-5AD9-482C-A486-3A76436936B2}" srcOrd="0" destOrd="0" parTransId="{0F4C26CF-C0D5-4781-B188-CBF184001EAE}" sibTransId="{5D60B3C8-A0B8-4E3C-BDAE-EDD9DCAEC197}"/>
    <dgm:cxn modelId="{75317627-DEC8-4233-BD08-ED450900E586}" srcId="{AB1E6E56-9C52-4B09-BF24-FEA4C06F96B3}" destId="{EE73815C-214F-498D-8541-13BFB7F39CEC}" srcOrd="0" destOrd="0" parTransId="{587E2509-FA72-4863-BE5A-2DC44E7FF64D}" sibTransId="{B83203CD-0EAE-48CD-9720-B0144974F669}"/>
    <dgm:cxn modelId="{C2F9AC2E-56C7-463D-AEA8-53B74E29ED5F}" type="presOf" srcId="{AC2DE893-CC86-445A-B3E2-94DC291AEC44}" destId="{4C3DDC2E-DB04-407A-8E04-B3D16C28C8E5}" srcOrd="0" destOrd="0" presId="urn:microsoft.com/office/officeart/2005/8/layout/vList5"/>
    <dgm:cxn modelId="{9AF03B36-A5CB-480B-9307-1A6803FB8BEB}" srcId="{B5D103AC-5AD9-482C-A486-3A76436936B2}" destId="{AC2DE893-CC86-445A-B3E2-94DC291AEC44}" srcOrd="0" destOrd="0" parTransId="{3B0C3072-6314-47FB-B198-A1E56200E56D}" sibTransId="{BD347D6D-C4D7-4395-B24A-F6E4E372A597}"/>
    <dgm:cxn modelId="{9B09D164-160A-4FFE-9ECA-C11ED4E3D57B}" type="presOf" srcId="{DAA38210-A128-4E41-A1AC-A823798A84B9}" destId="{9D8297DB-1BB6-4F59-90BD-09F9ADA2055A}" srcOrd="0" destOrd="0" presId="urn:microsoft.com/office/officeart/2005/8/layout/vList5"/>
    <dgm:cxn modelId="{D079EC49-0EA3-44BC-8EA5-184DAF18C0F3}" srcId="{1EADC731-DF7C-4CD1-BB18-477B9E3F6FB8}" destId="{DAA38210-A128-4E41-A1AC-A823798A84B9}" srcOrd="0" destOrd="0" parTransId="{587F5E79-7EFC-41CA-80EC-97DC1FF6E964}" sibTransId="{ADB2B07E-0669-479F-90C3-51C7A81115E9}"/>
    <dgm:cxn modelId="{E1923C70-8D76-4CE3-9BB6-F98056F0D3E0}" type="presOf" srcId="{201B3D1F-5463-4966-8FBA-19BF032C8A91}" destId="{A3FB6E51-EDC4-413D-A403-B1B937C8BBED}" srcOrd="0" destOrd="0" presId="urn:microsoft.com/office/officeart/2005/8/layout/vList5"/>
    <dgm:cxn modelId="{5666B351-DD45-4531-8ABA-6C71A80201A5}" type="presOf" srcId="{B5D103AC-5AD9-482C-A486-3A76436936B2}" destId="{D60EC099-79CF-4631-86F2-7C457FFB531D}" srcOrd="0" destOrd="0" presId="urn:microsoft.com/office/officeart/2005/8/layout/vList5"/>
    <dgm:cxn modelId="{BD8F3976-27C2-4704-921F-98246AA900F8}" srcId="{FA919F2C-E41F-4F30-812F-94FF16A0132A}" destId="{520BF125-3008-41A7-A333-F7811E3A7F08}" srcOrd="0" destOrd="0" parTransId="{3EBE12FD-52F7-489C-84C7-2024B23A79D5}" sibTransId="{525D4164-AB2B-4BFD-81F8-DC43572058EA}"/>
    <dgm:cxn modelId="{2DEE92A9-D968-46A5-9B0B-F08C628E7453}" type="presOf" srcId="{520BF125-3008-41A7-A333-F7811E3A7F08}" destId="{24789385-6B3D-4A20-A4A4-7660B02A0E50}" srcOrd="0" destOrd="0" presId="urn:microsoft.com/office/officeart/2005/8/layout/vList5"/>
    <dgm:cxn modelId="{5A2B24D4-4973-4B06-A3C6-59A019B8B92F}" type="presOf" srcId="{1EADC731-DF7C-4CD1-BB18-477B9E3F6FB8}" destId="{2FBE6272-0275-44A1-AA67-9BE9EC09C770}" srcOrd="0" destOrd="0" presId="urn:microsoft.com/office/officeart/2005/8/layout/vList5"/>
    <dgm:cxn modelId="{E4354ADA-250F-491E-AA53-A273D50A803C}" type="presOf" srcId="{AB1E6E56-9C52-4B09-BF24-FEA4C06F96B3}" destId="{0803B52E-1FC2-43CE-90D6-11F578172A89}" srcOrd="0" destOrd="0" presId="urn:microsoft.com/office/officeart/2005/8/layout/vList5"/>
    <dgm:cxn modelId="{BDCA1CDE-82A4-4CAB-BD88-CB661B7DF6F3}" srcId="{201B3D1F-5463-4966-8FBA-19BF032C8A91}" destId="{FA919F2C-E41F-4F30-812F-94FF16A0132A}" srcOrd="3" destOrd="0" parTransId="{8AC79B9D-ABC6-489F-BD57-37DB068FAC32}" sibTransId="{1BA9A7E9-8BD8-4AF7-83A3-81B3C6D2F98E}"/>
    <dgm:cxn modelId="{8DFE77F2-F5B0-41A1-BF3A-5B51575DAF7C}" type="presOf" srcId="{FA919F2C-E41F-4F30-812F-94FF16A0132A}" destId="{2AAC2723-02BF-4AF0-AA75-3F96F187DFFE}" srcOrd="0" destOrd="0" presId="urn:microsoft.com/office/officeart/2005/8/layout/vList5"/>
    <dgm:cxn modelId="{F08646FA-9C94-4A8F-82FC-D6FBDBE62322}" srcId="{201B3D1F-5463-4966-8FBA-19BF032C8A91}" destId="{AB1E6E56-9C52-4B09-BF24-FEA4C06F96B3}" srcOrd="1" destOrd="0" parTransId="{8DDE5E36-AF74-43D3-BBB3-5C2CF1562D83}" sibTransId="{0A5A8A4D-C98D-43D0-8318-AEC89F0CCA5E}"/>
    <dgm:cxn modelId="{2BA0ADDE-F0A2-446A-A527-7E7DB924A0EE}" type="presParOf" srcId="{A3FB6E51-EDC4-413D-A403-B1B937C8BBED}" destId="{87E1CA23-07CE-4BDF-A64D-E40C1049287F}" srcOrd="0" destOrd="0" presId="urn:microsoft.com/office/officeart/2005/8/layout/vList5"/>
    <dgm:cxn modelId="{EB7E52D4-443B-4AD6-A561-FDB647BEE8B9}" type="presParOf" srcId="{87E1CA23-07CE-4BDF-A64D-E40C1049287F}" destId="{D60EC099-79CF-4631-86F2-7C457FFB531D}" srcOrd="0" destOrd="0" presId="urn:microsoft.com/office/officeart/2005/8/layout/vList5"/>
    <dgm:cxn modelId="{8171A47F-D314-4AD6-9CE1-C68964998029}" type="presParOf" srcId="{87E1CA23-07CE-4BDF-A64D-E40C1049287F}" destId="{4C3DDC2E-DB04-407A-8E04-B3D16C28C8E5}" srcOrd="1" destOrd="0" presId="urn:microsoft.com/office/officeart/2005/8/layout/vList5"/>
    <dgm:cxn modelId="{2E2CFC71-28DD-4D20-A7CF-FB08C40D1E92}" type="presParOf" srcId="{A3FB6E51-EDC4-413D-A403-B1B937C8BBED}" destId="{93491555-540E-42F2-8ECC-1B1C7E19188A}" srcOrd="1" destOrd="0" presId="urn:microsoft.com/office/officeart/2005/8/layout/vList5"/>
    <dgm:cxn modelId="{859BF17B-F5E6-477D-B5D2-399F2B076F8F}" type="presParOf" srcId="{A3FB6E51-EDC4-413D-A403-B1B937C8BBED}" destId="{6DC5F302-77E9-4E15-B9DC-DE5E321D5A11}" srcOrd="2" destOrd="0" presId="urn:microsoft.com/office/officeart/2005/8/layout/vList5"/>
    <dgm:cxn modelId="{A14FC9A7-A255-4AE3-97F7-BEED6ED57B20}" type="presParOf" srcId="{6DC5F302-77E9-4E15-B9DC-DE5E321D5A11}" destId="{0803B52E-1FC2-43CE-90D6-11F578172A89}" srcOrd="0" destOrd="0" presId="urn:microsoft.com/office/officeart/2005/8/layout/vList5"/>
    <dgm:cxn modelId="{4FB05B8E-43CD-4C05-B06F-433CBBD2AE68}" type="presParOf" srcId="{6DC5F302-77E9-4E15-B9DC-DE5E321D5A11}" destId="{D6F66682-7E6F-46E8-9326-782AA754729F}" srcOrd="1" destOrd="0" presId="urn:microsoft.com/office/officeart/2005/8/layout/vList5"/>
    <dgm:cxn modelId="{DA40101C-1FC4-48C3-92A4-0B2E8D6C0EA4}" type="presParOf" srcId="{A3FB6E51-EDC4-413D-A403-B1B937C8BBED}" destId="{62D6EA5D-AEF0-4D2C-B47C-E40B6FFC79A6}" srcOrd="3" destOrd="0" presId="urn:microsoft.com/office/officeart/2005/8/layout/vList5"/>
    <dgm:cxn modelId="{3A3E8707-F61D-456A-A918-EACF364EE3C2}" type="presParOf" srcId="{A3FB6E51-EDC4-413D-A403-B1B937C8BBED}" destId="{2CC86274-B99B-4F93-BF4F-676EBE7A2825}" srcOrd="4" destOrd="0" presId="urn:microsoft.com/office/officeart/2005/8/layout/vList5"/>
    <dgm:cxn modelId="{5E9A7391-9962-40E6-B8C6-0B6C24336A7C}" type="presParOf" srcId="{2CC86274-B99B-4F93-BF4F-676EBE7A2825}" destId="{2FBE6272-0275-44A1-AA67-9BE9EC09C770}" srcOrd="0" destOrd="0" presId="urn:microsoft.com/office/officeart/2005/8/layout/vList5"/>
    <dgm:cxn modelId="{466BF7BB-EC68-494C-8207-573114B3A7B9}" type="presParOf" srcId="{2CC86274-B99B-4F93-BF4F-676EBE7A2825}" destId="{9D8297DB-1BB6-4F59-90BD-09F9ADA2055A}" srcOrd="1" destOrd="0" presId="urn:microsoft.com/office/officeart/2005/8/layout/vList5"/>
    <dgm:cxn modelId="{A9FA392D-F436-479F-B2F3-A469DB8E9D12}" type="presParOf" srcId="{A3FB6E51-EDC4-413D-A403-B1B937C8BBED}" destId="{81DC05B6-13E4-41E2-AF0D-37158BB3E203}" srcOrd="5" destOrd="0" presId="urn:microsoft.com/office/officeart/2005/8/layout/vList5"/>
    <dgm:cxn modelId="{39E1EC96-5ECC-4885-BAFF-C44AA11D4221}" type="presParOf" srcId="{A3FB6E51-EDC4-413D-A403-B1B937C8BBED}" destId="{8F076C49-7412-4FC9-8977-2AA86A2B01CE}" srcOrd="6" destOrd="0" presId="urn:microsoft.com/office/officeart/2005/8/layout/vList5"/>
    <dgm:cxn modelId="{19E2974F-4BF0-458C-B49E-F635F4F5CC95}" type="presParOf" srcId="{8F076C49-7412-4FC9-8977-2AA86A2B01CE}" destId="{2AAC2723-02BF-4AF0-AA75-3F96F187DFFE}" srcOrd="0" destOrd="0" presId="urn:microsoft.com/office/officeart/2005/8/layout/vList5"/>
    <dgm:cxn modelId="{F7F1DAA4-01E5-4189-8320-33C676D15AAF}" type="presParOf" srcId="{8F076C49-7412-4FC9-8977-2AA86A2B01CE}" destId="{24789385-6B3D-4A20-A4A4-7660B02A0E50}"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516842C-2C5F-4F5A-8A99-2ED4892EAFDA}" type="doc">
      <dgm:prSet loTypeId="urn:microsoft.com/office/officeart/2005/8/layout/hList1" loCatId="list" qsTypeId="urn:microsoft.com/office/officeart/2005/8/quickstyle/simple4" qsCatId="simple" csTypeId="urn:microsoft.com/office/officeart/2005/8/colors/accent1_2" csCatId="accent1" phldr="1"/>
      <dgm:spPr/>
      <dgm:t>
        <a:bodyPr/>
        <a:lstStyle/>
        <a:p>
          <a:endParaRPr lang="en-US"/>
        </a:p>
      </dgm:t>
    </dgm:pt>
    <dgm:pt modelId="{1DF93702-3CE6-4826-9979-02E3BD766254}">
      <dgm:prSet phldrT="[Text]"/>
      <dgm:spPr/>
      <dgm:t>
        <a:bodyPr/>
        <a:lstStyle/>
        <a:p>
          <a:r>
            <a:rPr lang="en-US" dirty="0"/>
            <a:t>MATERNAL</a:t>
          </a:r>
        </a:p>
      </dgm:t>
    </dgm:pt>
    <dgm:pt modelId="{C68EE66C-3D33-4AF0-B520-A1C7F3F903FE}" type="parTrans" cxnId="{E94DAEC6-E81D-45F9-9CB3-F35971B67AEE}">
      <dgm:prSet/>
      <dgm:spPr/>
      <dgm:t>
        <a:bodyPr/>
        <a:lstStyle/>
        <a:p>
          <a:endParaRPr lang="en-US"/>
        </a:p>
      </dgm:t>
    </dgm:pt>
    <dgm:pt modelId="{4EE54D6A-FD64-423F-9401-C3DA8071F9AE}" type="sibTrans" cxnId="{E94DAEC6-E81D-45F9-9CB3-F35971B67AEE}">
      <dgm:prSet/>
      <dgm:spPr/>
      <dgm:t>
        <a:bodyPr/>
        <a:lstStyle/>
        <a:p>
          <a:endParaRPr lang="en-US"/>
        </a:p>
      </dgm:t>
    </dgm:pt>
    <dgm:pt modelId="{3B11EFF9-ED5A-4310-95EC-632235D9A80D}">
      <dgm:prSet phldrT="[Text]"/>
      <dgm:spPr/>
      <dgm:t>
        <a:bodyPr/>
        <a:lstStyle/>
        <a:p>
          <a:r>
            <a:rPr lang="en-US" dirty="0"/>
            <a:t>Hypertension</a:t>
          </a:r>
        </a:p>
      </dgm:t>
    </dgm:pt>
    <dgm:pt modelId="{42A15C8D-7A22-4E7C-AFA4-430CFC8A7B43}" type="parTrans" cxnId="{EAA77D0C-1E70-42D7-99BF-19CA0B170983}">
      <dgm:prSet/>
      <dgm:spPr/>
      <dgm:t>
        <a:bodyPr/>
        <a:lstStyle/>
        <a:p>
          <a:endParaRPr lang="en-US"/>
        </a:p>
      </dgm:t>
    </dgm:pt>
    <dgm:pt modelId="{F2A887F6-78F5-40F1-AFCC-291AD1537EE1}" type="sibTrans" cxnId="{EAA77D0C-1E70-42D7-99BF-19CA0B170983}">
      <dgm:prSet/>
      <dgm:spPr/>
      <dgm:t>
        <a:bodyPr/>
        <a:lstStyle/>
        <a:p>
          <a:endParaRPr lang="en-US"/>
        </a:p>
      </dgm:t>
    </dgm:pt>
    <dgm:pt modelId="{3D49212B-E6DC-4449-BE00-89E03C73EE5B}">
      <dgm:prSet phldrT="[Text]"/>
      <dgm:spPr/>
      <dgm:t>
        <a:bodyPr/>
        <a:lstStyle/>
        <a:p>
          <a:r>
            <a:rPr lang="en-US" dirty="0"/>
            <a:t>Premature rupture membranes</a:t>
          </a:r>
        </a:p>
      </dgm:t>
    </dgm:pt>
    <dgm:pt modelId="{11F52447-9F3E-4DCD-9AB6-357A840C4338}" type="parTrans" cxnId="{39D25786-E3E7-4F0D-82D6-D013915A8D0C}">
      <dgm:prSet/>
      <dgm:spPr/>
      <dgm:t>
        <a:bodyPr/>
        <a:lstStyle/>
        <a:p>
          <a:endParaRPr lang="en-US"/>
        </a:p>
      </dgm:t>
    </dgm:pt>
    <dgm:pt modelId="{76E29903-F4CE-4CD6-AEDB-FC04DB6FE0BA}" type="sibTrans" cxnId="{39D25786-E3E7-4F0D-82D6-D013915A8D0C}">
      <dgm:prSet/>
      <dgm:spPr/>
      <dgm:t>
        <a:bodyPr/>
        <a:lstStyle/>
        <a:p>
          <a:endParaRPr lang="en-US"/>
        </a:p>
      </dgm:t>
    </dgm:pt>
    <dgm:pt modelId="{AD7E52BD-7CA4-4781-98BE-63CC1A1F1B6F}">
      <dgm:prSet phldrT="[Text]"/>
      <dgm:spPr/>
      <dgm:t>
        <a:bodyPr/>
        <a:lstStyle/>
        <a:p>
          <a:r>
            <a:rPr lang="en-US" dirty="0"/>
            <a:t>NEONATAL</a:t>
          </a:r>
        </a:p>
      </dgm:t>
    </dgm:pt>
    <dgm:pt modelId="{BFD14160-15D3-4727-B5FA-DD2CE9F39BB0}" type="parTrans" cxnId="{68A56DAE-C1EA-4526-8D86-FC7752F09D4B}">
      <dgm:prSet/>
      <dgm:spPr/>
      <dgm:t>
        <a:bodyPr/>
        <a:lstStyle/>
        <a:p>
          <a:endParaRPr lang="en-US"/>
        </a:p>
      </dgm:t>
    </dgm:pt>
    <dgm:pt modelId="{F95B2722-9582-41A5-BACC-8BB671944352}" type="sibTrans" cxnId="{68A56DAE-C1EA-4526-8D86-FC7752F09D4B}">
      <dgm:prSet/>
      <dgm:spPr/>
      <dgm:t>
        <a:bodyPr/>
        <a:lstStyle/>
        <a:p>
          <a:endParaRPr lang="en-US"/>
        </a:p>
      </dgm:t>
    </dgm:pt>
    <dgm:pt modelId="{D98A5D05-3BB6-42B7-991B-88F4B63AB000}">
      <dgm:prSet phldrT="[Text]"/>
      <dgm:spPr/>
      <dgm:t>
        <a:bodyPr/>
        <a:lstStyle/>
        <a:p>
          <a:r>
            <a:rPr lang="en-US" dirty="0"/>
            <a:t>Blood group incompatibilities</a:t>
          </a:r>
        </a:p>
      </dgm:t>
    </dgm:pt>
    <dgm:pt modelId="{A339EFF4-54BC-44B1-9148-F49B1C4EF01D}" type="parTrans" cxnId="{A3538F38-40B9-48C3-BBF2-B93F35DF4B7E}">
      <dgm:prSet/>
      <dgm:spPr/>
      <dgm:t>
        <a:bodyPr/>
        <a:lstStyle/>
        <a:p>
          <a:endParaRPr lang="en-US"/>
        </a:p>
      </dgm:t>
    </dgm:pt>
    <dgm:pt modelId="{2797DE8B-A40D-4076-960F-4B928CA21765}" type="sibTrans" cxnId="{A3538F38-40B9-48C3-BBF2-B93F35DF4B7E}">
      <dgm:prSet/>
      <dgm:spPr/>
      <dgm:t>
        <a:bodyPr/>
        <a:lstStyle/>
        <a:p>
          <a:endParaRPr lang="en-US"/>
        </a:p>
      </dgm:t>
    </dgm:pt>
    <dgm:pt modelId="{E50DF586-CEB2-43F0-ABFC-84875647EEFB}">
      <dgm:prSet phldrT="[Text]"/>
      <dgm:spPr/>
      <dgm:t>
        <a:bodyPr/>
        <a:lstStyle/>
        <a:p>
          <a:r>
            <a:rPr lang="en-US" dirty="0"/>
            <a:t>Diabetes mellitus</a:t>
          </a:r>
        </a:p>
      </dgm:t>
    </dgm:pt>
    <dgm:pt modelId="{520BD1FB-3387-4598-9962-0F1E17BE28F4}" type="parTrans" cxnId="{5EF09C52-7060-4BFF-B637-59F48F5B6B8D}">
      <dgm:prSet/>
      <dgm:spPr/>
      <dgm:t>
        <a:bodyPr/>
        <a:lstStyle/>
        <a:p>
          <a:endParaRPr lang="en-US"/>
        </a:p>
      </dgm:t>
    </dgm:pt>
    <dgm:pt modelId="{EA1167F4-89C0-4CBA-BE6D-18628E52382D}" type="sibTrans" cxnId="{5EF09C52-7060-4BFF-B637-59F48F5B6B8D}">
      <dgm:prSet/>
      <dgm:spPr/>
      <dgm:t>
        <a:bodyPr/>
        <a:lstStyle/>
        <a:p>
          <a:endParaRPr lang="en-US"/>
        </a:p>
      </dgm:t>
    </dgm:pt>
    <dgm:pt modelId="{0D91B50D-51EF-4FC5-8C62-D5163E7AD2D7}">
      <dgm:prSet phldrT="[Text]"/>
      <dgm:spPr/>
      <dgm:t>
        <a:bodyPr/>
        <a:lstStyle/>
        <a:p>
          <a:r>
            <a:rPr lang="en-US" dirty="0"/>
            <a:t>Preeclampsia</a:t>
          </a:r>
        </a:p>
      </dgm:t>
    </dgm:pt>
    <dgm:pt modelId="{CDB50866-5312-408E-8842-638AFA165C8F}" type="parTrans" cxnId="{3EFF8284-70CF-4FE5-9100-940168220F7D}">
      <dgm:prSet/>
      <dgm:spPr/>
      <dgm:t>
        <a:bodyPr/>
        <a:lstStyle/>
        <a:p>
          <a:endParaRPr lang="en-US"/>
        </a:p>
      </dgm:t>
    </dgm:pt>
    <dgm:pt modelId="{DF6EB29F-0D04-4C8B-AF7C-BDEBEB896E26}" type="sibTrans" cxnId="{3EFF8284-70CF-4FE5-9100-940168220F7D}">
      <dgm:prSet/>
      <dgm:spPr/>
      <dgm:t>
        <a:bodyPr/>
        <a:lstStyle/>
        <a:p>
          <a:endParaRPr lang="en-US"/>
        </a:p>
      </dgm:t>
    </dgm:pt>
    <dgm:pt modelId="{902EDA08-53B5-41DF-93F3-8762686B31D9}">
      <dgm:prSet phldrT="[Text]"/>
      <dgm:spPr/>
      <dgm:t>
        <a:bodyPr/>
        <a:lstStyle/>
        <a:p>
          <a:r>
            <a:rPr lang="en-US" dirty="0"/>
            <a:t>Vaginal bleeding</a:t>
          </a:r>
        </a:p>
      </dgm:t>
    </dgm:pt>
    <dgm:pt modelId="{719BEA4D-68F7-4EB0-98B6-748CB29FC90C}" type="parTrans" cxnId="{C8FFC0BF-087A-4DE7-ADFB-830DF7E07F00}">
      <dgm:prSet/>
      <dgm:spPr/>
      <dgm:t>
        <a:bodyPr/>
        <a:lstStyle/>
        <a:p>
          <a:endParaRPr lang="en-US"/>
        </a:p>
      </dgm:t>
    </dgm:pt>
    <dgm:pt modelId="{6CC3CB8D-77D2-49B2-85A3-E9855094C224}" type="sibTrans" cxnId="{C8FFC0BF-087A-4DE7-ADFB-830DF7E07F00}">
      <dgm:prSet/>
      <dgm:spPr/>
      <dgm:t>
        <a:bodyPr/>
        <a:lstStyle/>
        <a:p>
          <a:endParaRPr lang="en-US"/>
        </a:p>
      </dgm:t>
    </dgm:pt>
    <dgm:pt modelId="{986AAD56-003E-40F4-BB76-3B09D1037CF5}">
      <dgm:prSet phldrT="[Text]"/>
      <dgm:spPr/>
      <dgm:t>
        <a:bodyPr/>
        <a:lstStyle/>
        <a:p>
          <a:r>
            <a:rPr lang="en-US" dirty="0"/>
            <a:t>Improper lactation</a:t>
          </a:r>
        </a:p>
      </dgm:t>
    </dgm:pt>
    <dgm:pt modelId="{9E74D661-B433-4594-9689-A3612E900A15}" type="parTrans" cxnId="{6263B24E-69D8-460C-B12D-A39EBE53EF5A}">
      <dgm:prSet/>
      <dgm:spPr/>
      <dgm:t>
        <a:bodyPr/>
        <a:lstStyle/>
        <a:p>
          <a:endParaRPr lang="en-US"/>
        </a:p>
      </dgm:t>
    </dgm:pt>
    <dgm:pt modelId="{DC7999A5-440E-4F99-B256-88C1EB95CE7C}" type="sibTrans" cxnId="{6263B24E-69D8-460C-B12D-A39EBE53EF5A}">
      <dgm:prSet/>
      <dgm:spPr/>
      <dgm:t>
        <a:bodyPr/>
        <a:lstStyle/>
        <a:p>
          <a:endParaRPr lang="en-US"/>
        </a:p>
      </dgm:t>
    </dgm:pt>
    <dgm:pt modelId="{06242884-066C-48D3-9D0B-50D949C9DD9A}">
      <dgm:prSet phldrT="[Text]"/>
      <dgm:spPr/>
      <dgm:t>
        <a:bodyPr/>
        <a:lstStyle/>
        <a:p>
          <a:r>
            <a:rPr lang="en-US" dirty="0"/>
            <a:t>Breast problems</a:t>
          </a:r>
        </a:p>
      </dgm:t>
    </dgm:pt>
    <dgm:pt modelId="{78A1F759-C4D9-461B-B817-234B9B41078B}" type="parTrans" cxnId="{01AEDF32-428E-4791-9DE6-EC2C1D53E448}">
      <dgm:prSet/>
      <dgm:spPr/>
      <dgm:t>
        <a:bodyPr/>
        <a:lstStyle/>
        <a:p>
          <a:endParaRPr lang="en-US"/>
        </a:p>
      </dgm:t>
    </dgm:pt>
    <dgm:pt modelId="{CC78F273-BDD3-4F86-8D33-49EA12B72063}" type="sibTrans" cxnId="{01AEDF32-428E-4791-9DE6-EC2C1D53E448}">
      <dgm:prSet/>
      <dgm:spPr/>
      <dgm:t>
        <a:bodyPr/>
        <a:lstStyle/>
        <a:p>
          <a:endParaRPr lang="en-US"/>
        </a:p>
      </dgm:t>
    </dgm:pt>
    <dgm:pt modelId="{CD7BA163-4698-4649-8C0A-A70694208C15}">
      <dgm:prSet phldrT="[Text]"/>
      <dgm:spPr/>
      <dgm:t>
        <a:bodyPr/>
        <a:lstStyle/>
        <a:p>
          <a:r>
            <a:rPr lang="en-US" dirty="0"/>
            <a:t>Blood group incompatibilities</a:t>
          </a:r>
        </a:p>
      </dgm:t>
    </dgm:pt>
    <dgm:pt modelId="{AEED553B-FD41-48DB-A566-F70E7FE8ADEF}" type="parTrans" cxnId="{9A2D45E7-4D24-433C-BA59-9F80C1BBDB2F}">
      <dgm:prSet/>
      <dgm:spPr/>
      <dgm:t>
        <a:bodyPr/>
        <a:lstStyle/>
        <a:p>
          <a:endParaRPr lang="en-US"/>
        </a:p>
      </dgm:t>
    </dgm:pt>
    <dgm:pt modelId="{74A37F52-270A-4E20-9F17-3F80DF6459E4}" type="sibTrans" cxnId="{9A2D45E7-4D24-433C-BA59-9F80C1BBDB2F}">
      <dgm:prSet/>
      <dgm:spPr/>
      <dgm:t>
        <a:bodyPr/>
        <a:lstStyle/>
        <a:p>
          <a:endParaRPr lang="en-US"/>
        </a:p>
      </dgm:t>
    </dgm:pt>
    <dgm:pt modelId="{B3B09E94-6119-484A-B626-EA36CF242DA0}">
      <dgm:prSet phldrT="[Text]"/>
      <dgm:spPr/>
      <dgm:t>
        <a:bodyPr/>
        <a:lstStyle/>
        <a:p>
          <a:r>
            <a:rPr lang="en-US" dirty="0"/>
            <a:t>Type of delivery</a:t>
          </a:r>
        </a:p>
      </dgm:t>
    </dgm:pt>
    <dgm:pt modelId="{36655EC7-B173-4C9C-B5B5-E342DEDCFDC3}" type="parTrans" cxnId="{A4052FC3-2F8E-4B8F-8379-19AF017AE7FA}">
      <dgm:prSet/>
      <dgm:spPr/>
      <dgm:t>
        <a:bodyPr/>
        <a:lstStyle/>
        <a:p>
          <a:endParaRPr lang="en-US"/>
        </a:p>
      </dgm:t>
    </dgm:pt>
    <dgm:pt modelId="{B42583E7-6725-4700-B1D4-75918C8E5A0C}" type="sibTrans" cxnId="{A4052FC3-2F8E-4B8F-8379-19AF017AE7FA}">
      <dgm:prSet/>
      <dgm:spPr/>
      <dgm:t>
        <a:bodyPr/>
        <a:lstStyle/>
        <a:p>
          <a:endParaRPr lang="en-US"/>
        </a:p>
      </dgm:t>
    </dgm:pt>
    <dgm:pt modelId="{3CB3D4A5-34D6-40C4-8363-A268C5908320}">
      <dgm:prSet phldrT="[Text]"/>
      <dgm:spPr/>
      <dgm:t>
        <a:bodyPr/>
        <a:lstStyle/>
        <a:p>
          <a:r>
            <a:rPr lang="en-US" dirty="0"/>
            <a:t>Term of delivery</a:t>
          </a:r>
        </a:p>
      </dgm:t>
    </dgm:pt>
    <dgm:pt modelId="{8EDF675C-1420-4B1F-B319-585BE57907B4}" type="parTrans" cxnId="{66F89538-A81E-4716-AE8E-4BE2830ADDA0}">
      <dgm:prSet/>
      <dgm:spPr/>
      <dgm:t>
        <a:bodyPr/>
        <a:lstStyle/>
        <a:p>
          <a:endParaRPr lang="en-US"/>
        </a:p>
      </dgm:t>
    </dgm:pt>
    <dgm:pt modelId="{0EBE9EFE-4EE7-4B47-9A54-B5B0F7A905A3}" type="sibTrans" cxnId="{66F89538-A81E-4716-AE8E-4BE2830ADDA0}">
      <dgm:prSet/>
      <dgm:spPr/>
      <dgm:t>
        <a:bodyPr/>
        <a:lstStyle/>
        <a:p>
          <a:endParaRPr lang="en-US"/>
        </a:p>
      </dgm:t>
    </dgm:pt>
    <dgm:pt modelId="{7D951A0C-D67D-43AA-AF1C-0F92B2EC2712}">
      <dgm:prSet phldrT="[Text]"/>
      <dgm:spPr/>
      <dgm:t>
        <a:bodyPr/>
        <a:lstStyle/>
        <a:p>
          <a:r>
            <a:rPr lang="en-US" dirty="0"/>
            <a:t>Sex</a:t>
          </a:r>
        </a:p>
      </dgm:t>
    </dgm:pt>
    <dgm:pt modelId="{8BD77306-CA9E-4475-A847-2DF4D121D043}" type="parTrans" cxnId="{2F98A8C6-E008-4142-814C-6FA6E5D2B4D5}">
      <dgm:prSet/>
      <dgm:spPr/>
      <dgm:t>
        <a:bodyPr/>
        <a:lstStyle/>
        <a:p>
          <a:endParaRPr lang="en-US"/>
        </a:p>
      </dgm:t>
    </dgm:pt>
    <dgm:pt modelId="{AEB0406B-9425-4E45-94B8-4EE7DFF9CAB6}" type="sibTrans" cxnId="{2F98A8C6-E008-4142-814C-6FA6E5D2B4D5}">
      <dgm:prSet/>
      <dgm:spPr/>
      <dgm:t>
        <a:bodyPr/>
        <a:lstStyle/>
        <a:p>
          <a:endParaRPr lang="en-US"/>
        </a:p>
      </dgm:t>
    </dgm:pt>
    <dgm:pt modelId="{5E6B5A99-12E8-4C8B-9E68-C793ABBAC921}">
      <dgm:prSet phldrT="[Text]"/>
      <dgm:spPr/>
      <dgm:t>
        <a:bodyPr/>
        <a:lstStyle/>
        <a:p>
          <a:r>
            <a:rPr lang="en-US" dirty="0"/>
            <a:t>Weight</a:t>
          </a:r>
        </a:p>
      </dgm:t>
    </dgm:pt>
    <dgm:pt modelId="{630E1C0C-B144-4124-BE32-A5605C2A797C}" type="parTrans" cxnId="{BF92F481-54F2-4BC4-857E-D9A75E26A59F}">
      <dgm:prSet/>
      <dgm:spPr/>
      <dgm:t>
        <a:bodyPr/>
        <a:lstStyle/>
        <a:p>
          <a:endParaRPr lang="en-US"/>
        </a:p>
      </dgm:t>
    </dgm:pt>
    <dgm:pt modelId="{06D55AB5-668F-4E95-BE61-3F067183F48B}" type="sibTrans" cxnId="{BF92F481-54F2-4BC4-857E-D9A75E26A59F}">
      <dgm:prSet/>
      <dgm:spPr/>
      <dgm:t>
        <a:bodyPr/>
        <a:lstStyle/>
        <a:p>
          <a:endParaRPr lang="en-US"/>
        </a:p>
      </dgm:t>
    </dgm:pt>
    <dgm:pt modelId="{6EF9F611-1FAB-4A99-BE88-9838F80B924A}">
      <dgm:prSet phldrT="[Text]"/>
      <dgm:spPr/>
      <dgm:t>
        <a:bodyPr/>
        <a:lstStyle/>
        <a:p>
          <a:r>
            <a:rPr lang="en-US" dirty="0"/>
            <a:t>Gestational age</a:t>
          </a:r>
        </a:p>
      </dgm:t>
    </dgm:pt>
    <dgm:pt modelId="{02647508-EB89-48E6-8ED9-2743F6A804DD}" type="parTrans" cxnId="{3E5A320C-0636-4086-83D1-1BE94B6BD0E1}">
      <dgm:prSet/>
      <dgm:spPr/>
      <dgm:t>
        <a:bodyPr/>
        <a:lstStyle/>
        <a:p>
          <a:endParaRPr lang="en-US"/>
        </a:p>
      </dgm:t>
    </dgm:pt>
    <dgm:pt modelId="{91118A20-11A8-4C69-B2C6-B2F5AA7F9293}" type="sibTrans" cxnId="{3E5A320C-0636-4086-83D1-1BE94B6BD0E1}">
      <dgm:prSet/>
      <dgm:spPr/>
      <dgm:t>
        <a:bodyPr/>
        <a:lstStyle/>
        <a:p>
          <a:endParaRPr lang="en-US"/>
        </a:p>
      </dgm:t>
    </dgm:pt>
    <dgm:pt modelId="{B5B18B40-AD69-4DDE-89C3-6A99EE7568A7}">
      <dgm:prSet phldrT="[Text]"/>
      <dgm:spPr/>
      <dgm:t>
        <a:bodyPr/>
        <a:lstStyle/>
        <a:p>
          <a:r>
            <a:rPr lang="en-US" dirty="0"/>
            <a:t>Cephalohematoma</a:t>
          </a:r>
        </a:p>
      </dgm:t>
    </dgm:pt>
    <dgm:pt modelId="{FDDD4143-E074-46B9-BEDE-509C010AA222}" type="parTrans" cxnId="{CF048A27-442C-4148-B24C-FBEA83A7FBFE}">
      <dgm:prSet/>
      <dgm:spPr/>
      <dgm:t>
        <a:bodyPr/>
        <a:lstStyle/>
        <a:p>
          <a:endParaRPr lang="en-US"/>
        </a:p>
      </dgm:t>
    </dgm:pt>
    <dgm:pt modelId="{F565380F-2F8A-4339-9DDB-1936C0C50FEE}" type="sibTrans" cxnId="{CF048A27-442C-4148-B24C-FBEA83A7FBFE}">
      <dgm:prSet/>
      <dgm:spPr/>
      <dgm:t>
        <a:bodyPr/>
        <a:lstStyle/>
        <a:p>
          <a:endParaRPr lang="en-US"/>
        </a:p>
      </dgm:t>
    </dgm:pt>
    <dgm:pt modelId="{C2E738C8-38F5-4EA7-87F9-E6232DE64C7B}">
      <dgm:prSet phldrT="[Text]"/>
      <dgm:spPr/>
      <dgm:t>
        <a:bodyPr/>
        <a:lstStyle/>
        <a:p>
          <a:r>
            <a:rPr lang="en-US" dirty="0"/>
            <a:t>Difficulty in feeding</a:t>
          </a:r>
        </a:p>
      </dgm:t>
    </dgm:pt>
    <dgm:pt modelId="{11CDF481-DCE8-49B4-A4EB-11BFA0DDA89F}" type="parTrans" cxnId="{0AF7D379-F3F6-4D3E-B5D1-07B91883A8F7}">
      <dgm:prSet/>
      <dgm:spPr/>
      <dgm:t>
        <a:bodyPr/>
        <a:lstStyle/>
        <a:p>
          <a:endParaRPr lang="en-US"/>
        </a:p>
      </dgm:t>
    </dgm:pt>
    <dgm:pt modelId="{50EEA462-F131-4628-847A-33803DD1C5A5}" type="sibTrans" cxnId="{0AF7D379-F3F6-4D3E-B5D1-07B91883A8F7}">
      <dgm:prSet/>
      <dgm:spPr/>
      <dgm:t>
        <a:bodyPr/>
        <a:lstStyle/>
        <a:p>
          <a:endParaRPr lang="en-US"/>
        </a:p>
      </dgm:t>
    </dgm:pt>
    <dgm:pt modelId="{D7FB1A2C-CF9B-43CB-B181-320825FD41CE}">
      <dgm:prSet phldrT="[Text]"/>
      <dgm:spPr/>
      <dgm:t>
        <a:bodyPr/>
        <a:lstStyle/>
        <a:p>
          <a:r>
            <a:rPr lang="en-US" dirty="0"/>
            <a:t>Gastro intestinal obstruction</a:t>
          </a:r>
        </a:p>
      </dgm:t>
    </dgm:pt>
    <dgm:pt modelId="{2811FD9E-510B-48A8-910C-EF97C805F080}" type="parTrans" cxnId="{53E7D0CA-5F57-408F-9D79-021B0B63E3D7}">
      <dgm:prSet/>
      <dgm:spPr/>
      <dgm:t>
        <a:bodyPr/>
        <a:lstStyle/>
        <a:p>
          <a:endParaRPr lang="en-US"/>
        </a:p>
      </dgm:t>
    </dgm:pt>
    <dgm:pt modelId="{9731E999-7889-47D7-A7BB-B088BAF1F923}" type="sibTrans" cxnId="{53E7D0CA-5F57-408F-9D79-021B0B63E3D7}">
      <dgm:prSet/>
      <dgm:spPr/>
      <dgm:t>
        <a:bodyPr/>
        <a:lstStyle/>
        <a:p>
          <a:endParaRPr lang="en-US"/>
        </a:p>
      </dgm:t>
    </dgm:pt>
    <dgm:pt modelId="{3BF9E4A2-4202-4ED7-A066-86FC974B8ADF}">
      <dgm:prSet phldrT="[Text]"/>
      <dgm:spPr/>
      <dgm:t>
        <a:bodyPr/>
        <a:lstStyle/>
        <a:p>
          <a:r>
            <a:rPr lang="en-US" dirty="0"/>
            <a:t>Sepsis</a:t>
          </a:r>
        </a:p>
      </dgm:t>
    </dgm:pt>
    <dgm:pt modelId="{6E838BB2-F7A3-49DC-8ADF-D914F8FF24B3}" type="parTrans" cxnId="{1FCFDB79-1164-44E5-ABAE-BD32049D08AE}">
      <dgm:prSet/>
      <dgm:spPr/>
      <dgm:t>
        <a:bodyPr/>
        <a:lstStyle/>
        <a:p>
          <a:endParaRPr lang="en-US"/>
        </a:p>
      </dgm:t>
    </dgm:pt>
    <dgm:pt modelId="{BA42E35A-C65D-4368-A25B-DD02DE6307DA}" type="sibTrans" cxnId="{1FCFDB79-1164-44E5-ABAE-BD32049D08AE}">
      <dgm:prSet/>
      <dgm:spPr/>
      <dgm:t>
        <a:bodyPr/>
        <a:lstStyle/>
        <a:p>
          <a:endParaRPr lang="en-US"/>
        </a:p>
      </dgm:t>
    </dgm:pt>
    <dgm:pt modelId="{C563CE7A-3F1F-4DCC-9211-36CC9F2F6132}">
      <dgm:prSet phldrT="[Text]"/>
      <dgm:spPr/>
      <dgm:t>
        <a:bodyPr/>
        <a:lstStyle/>
        <a:p>
          <a:r>
            <a:rPr lang="en-US" dirty="0"/>
            <a:t>Hypothyroidism</a:t>
          </a:r>
        </a:p>
      </dgm:t>
    </dgm:pt>
    <dgm:pt modelId="{099F3E62-AAD1-43CC-8820-64CBEE7A371D}" type="parTrans" cxnId="{F5F70591-7430-463F-B0AF-1D3270E781FD}">
      <dgm:prSet/>
      <dgm:spPr/>
      <dgm:t>
        <a:bodyPr/>
        <a:lstStyle/>
        <a:p>
          <a:endParaRPr lang="en-US"/>
        </a:p>
      </dgm:t>
    </dgm:pt>
    <dgm:pt modelId="{3D61C7C5-77E1-4948-9142-ECA6AA715F6C}" type="sibTrans" cxnId="{F5F70591-7430-463F-B0AF-1D3270E781FD}">
      <dgm:prSet/>
      <dgm:spPr/>
      <dgm:t>
        <a:bodyPr/>
        <a:lstStyle/>
        <a:p>
          <a:endParaRPr lang="en-US"/>
        </a:p>
      </dgm:t>
    </dgm:pt>
    <dgm:pt modelId="{92D82416-0027-4037-B91D-C8CBC45C9986}">
      <dgm:prSet phldrT="[Text]"/>
      <dgm:spPr/>
      <dgm:t>
        <a:bodyPr/>
        <a:lstStyle/>
        <a:p>
          <a:r>
            <a:rPr lang="en-US" dirty="0"/>
            <a:t>G6PD deficiency </a:t>
          </a:r>
        </a:p>
      </dgm:t>
    </dgm:pt>
    <dgm:pt modelId="{8249817B-72F0-416B-B430-D059CDB4558C}" type="parTrans" cxnId="{06C88C26-E975-40D8-A975-301B98F77788}">
      <dgm:prSet/>
      <dgm:spPr/>
      <dgm:t>
        <a:bodyPr/>
        <a:lstStyle/>
        <a:p>
          <a:endParaRPr lang="en-US"/>
        </a:p>
      </dgm:t>
    </dgm:pt>
    <dgm:pt modelId="{CCDCFA32-6567-461A-81D1-1E2EAC47DCD5}" type="sibTrans" cxnId="{06C88C26-E975-40D8-A975-301B98F77788}">
      <dgm:prSet/>
      <dgm:spPr/>
      <dgm:t>
        <a:bodyPr/>
        <a:lstStyle/>
        <a:p>
          <a:endParaRPr lang="en-US"/>
        </a:p>
      </dgm:t>
    </dgm:pt>
    <dgm:pt modelId="{DBCE1250-FEDC-4EE5-AB72-5AED23C197EF}">
      <dgm:prSet phldrT="[Text]"/>
      <dgm:spPr/>
      <dgm:t>
        <a:bodyPr/>
        <a:lstStyle/>
        <a:p>
          <a:r>
            <a:rPr lang="en-US" dirty="0"/>
            <a:t>Hemolytic anemia</a:t>
          </a:r>
        </a:p>
      </dgm:t>
    </dgm:pt>
    <dgm:pt modelId="{E3B9004D-6FBB-4D80-904F-F4CDCF7072C0}" type="parTrans" cxnId="{F86FCD44-B387-431C-B9BE-0ECDFD2C76D2}">
      <dgm:prSet/>
      <dgm:spPr/>
      <dgm:t>
        <a:bodyPr/>
        <a:lstStyle/>
        <a:p>
          <a:endParaRPr lang="en-US"/>
        </a:p>
      </dgm:t>
    </dgm:pt>
    <dgm:pt modelId="{FA73A14D-56F5-44E0-B001-7F33B130ACF1}" type="sibTrans" cxnId="{F86FCD44-B387-431C-B9BE-0ECDFD2C76D2}">
      <dgm:prSet/>
      <dgm:spPr/>
      <dgm:t>
        <a:bodyPr/>
        <a:lstStyle/>
        <a:p>
          <a:endParaRPr lang="en-US"/>
        </a:p>
      </dgm:t>
    </dgm:pt>
    <dgm:pt modelId="{A10F29D3-443C-4654-B8E9-3AA00DF0AC3C}">
      <dgm:prSet phldrT="[Text]"/>
      <dgm:spPr/>
      <dgm:t>
        <a:bodyPr/>
        <a:lstStyle/>
        <a:p>
          <a:r>
            <a:rPr lang="en-US" dirty="0"/>
            <a:t>Previous sibling with significant jaundice</a:t>
          </a:r>
        </a:p>
      </dgm:t>
    </dgm:pt>
    <dgm:pt modelId="{54E50536-C56B-4620-B201-6E0DA2ABF0CB}" type="parTrans" cxnId="{7701CC76-9016-46E1-915F-263ED7FBB6AF}">
      <dgm:prSet/>
      <dgm:spPr/>
      <dgm:t>
        <a:bodyPr/>
        <a:lstStyle/>
        <a:p>
          <a:endParaRPr lang="en-US"/>
        </a:p>
      </dgm:t>
    </dgm:pt>
    <dgm:pt modelId="{FD2B9885-5D52-486F-8022-A377FBE8FA4F}" type="sibTrans" cxnId="{7701CC76-9016-46E1-915F-263ED7FBB6AF}">
      <dgm:prSet/>
      <dgm:spPr/>
      <dgm:t>
        <a:bodyPr/>
        <a:lstStyle/>
        <a:p>
          <a:endParaRPr lang="en-US"/>
        </a:p>
      </dgm:t>
    </dgm:pt>
    <dgm:pt modelId="{2A836534-B124-423D-9CF7-F9161447A705}" type="pres">
      <dgm:prSet presAssocID="{B516842C-2C5F-4F5A-8A99-2ED4892EAFDA}" presName="Name0" presStyleCnt="0">
        <dgm:presLayoutVars>
          <dgm:dir/>
          <dgm:animLvl val="lvl"/>
          <dgm:resizeHandles val="exact"/>
        </dgm:presLayoutVars>
      </dgm:prSet>
      <dgm:spPr/>
    </dgm:pt>
    <dgm:pt modelId="{B4BCFB94-024C-4A24-8872-50A8E975DCAE}" type="pres">
      <dgm:prSet presAssocID="{1DF93702-3CE6-4826-9979-02E3BD766254}" presName="composite" presStyleCnt="0"/>
      <dgm:spPr/>
    </dgm:pt>
    <dgm:pt modelId="{1457D4B9-E440-4E09-BFA5-02AF80DF958E}" type="pres">
      <dgm:prSet presAssocID="{1DF93702-3CE6-4826-9979-02E3BD766254}" presName="parTx" presStyleLbl="alignNode1" presStyleIdx="0" presStyleCnt="2">
        <dgm:presLayoutVars>
          <dgm:chMax val="0"/>
          <dgm:chPref val="0"/>
          <dgm:bulletEnabled val="1"/>
        </dgm:presLayoutVars>
      </dgm:prSet>
      <dgm:spPr/>
    </dgm:pt>
    <dgm:pt modelId="{B92DC63A-1D86-4F74-98B5-E30B7FD0D3B0}" type="pres">
      <dgm:prSet presAssocID="{1DF93702-3CE6-4826-9979-02E3BD766254}" presName="desTx" presStyleLbl="alignAccFollowNode1" presStyleIdx="0" presStyleCnt="2">
        <dgm:presLayoutVars>
          <dgm:bulletEnabled val="1"/>
        </dgm:presLayoutVars>
      </dgm:prSet>
      <dgm:spPr/>
    </dgm:pt>
    <dgm:pt modelId="{11A6C9D9-4CD3-4D53-9F51-B961F9EB1788}" type="pres">
      <dgm:prSet presAssocID="{4EE54D6A-FD64-423F-9401-C3DA8071F9AE}" presName="space" presStyleCnt="0"/>
      <dgm:spPr/>
    </dgm:pt>
    <dgm:pt modelId="{F662F5B8-E86F-424C-9B19-3C71FCFDA522}" type="pres">
      <dgm:prSet presAssocID="{AD7E52BD-7CA4-4781-98BE-63CC1A1F1B6F}" presName="composite" presStyleCnt="0"/>
      <dgm:spPr/>
    </dgm:pt>
    <dgm:pt modelId="{E8407AAD-FA7F-48B9-BA8A-826744702974}" type="pres">
      <dgm:prSet presAssocID="{AD7E52BD-7CA4-4781-98BE-63CC1A1F1B6F}" presName="parTx" presStyleLbl="alignNode1" presStyleIdx="1" presStyleCnt="2">
        <dgm:presLayoutVars>
          <dgm:chMax val="0"/>
          <dgm:chPref val="0"/>
          <dgm:bulletEnabled val="1"/>
        </dgm:presLayoutVars>
      </dgm:prSet>
      <dgm:spPr/>
    </dgm:pt>
    <dgm:pt modelId="{DEFA1D8B-5892-4FAB-AA38-7FCDDD018F1C}" type="pres">
      <dgm:prSet presAssocID="{AD7E52BD-7CA4-4781-98BE-63CC1A1F1B6F}" presName="desTx" presStyleLbl="alignAccFollowNode1" presStyleIdx="1" presStyleCnt="2">
        <dgm:presLayoutVars>
          <dgm:bulletEnabled val="1"/>
        </dgm:presLayoutVars>
      </dgm:prSet>
      <dgm:spPr/>
    </dgm:pt>
  </dgm:ptLst>
  <dgm:cxnLst>
    <dgm:cxn modelId="{82B5E203-5D01-491A-B201-A4D97D2C8854}" type="presOf" srcId="{B5B18B40-AD69-4DDE-89C3-6A99EE7568A7}" destId="{DEFA1D8B-5892-4FAB-AA38-7FCDDD018F1C}" srcOrd="0" destOrd="4" presId="urn:microsoft.com/office/officeart/2005/8/layout/hList1"/>
    <dgm:cxn modelId="{22274009-4982-48DD-A9EF-4B848DD948D9}" type="presOf" srcId="{B516842C-2C5F-4F5A-8A99-2ED4892EAFDA}" destId="{2A836534-B124-423D-9CF7-F9161447A705}" srcOrd="0" destOrd="0" presId="urn:microsoft.com/office/officeart/2005/8/layout/hList1"/>
    <dgm:cxn modelId="{3E5A320C-0636-4086-83D1-1BE94B6BD0E1}" srcId="{AD7E52BD-7CA4-4781-98BE-63CC1A1F1B6F}" destId="{6EF9F611-1FAB-4A99-BE88-9838F80B924A}" srcOrd="3" destOrd="0" parTransId="{02647508-EB89-48E6-8ED9-2743F6A804DD}" sibTransId="{91118A20-11A8-4C69-B2C6-B2F5AA7F9293}"/>
    <dgm:cxn modelId="{EAA77D0C-1E70-42D7-99BF-19CA0B170983}" srcId="{1DF93702-3CE6-4826-9979-02E3BD766254}" destId="{3B11EFF9-ED5A-4310-95EC-632235D9A80D}" srcOrd="0" destOrd="0" parTransId="{42A15C8D-7A22-4E7C-AFA4-430CFC8A7B43}" sibTransId="{F2A887F6-78F5-40F1-AFCC-291AD1537EE1}"/>
    <dgm:cxn modelId="{06C88C26-E975-40D8-A975-301B98F77788}" srcId="{AD7E52BD-7CA4-4781-98BE-63CC1A1F1B6F}" destId="{92D82416-0027-4037-B91D-C8CBC45C9986}" srcOrd="9" destOrd="0" parTransId="{8249817B-72F0-416B-B430-D059CDB4558C}" sibTransId="{CCDCFA32-6567-461A-81D1-1E2EAC47DCD5}"/>
    <dgm:cxn modelId="{CF048A27-442C-4148-B24C-FBEA83A7FBFE}" srcId="{AD7E52BD-7CA4-4781-98BE-63CC1A1F1B6F}" destId="{B5B18B40-AD69-4DDE-89C3-6A99EE7568A7}" srcOrd="4" destOrd="0" parTransId="{FDDD4143-E074-46B9-BEDE-509C010AA222}" sibTransId="{F565380F-2F8A-4339-9DDB-1936C0C50FEE}"/>
    <dgm:cxn modelId="{01AEDF32-428E-4791-9DE6-EC2C1D53E448}" srcId="{1DF93702-3CE6-4826-9979-02E3BD766254}" destId="{06242884-066C-48D3-9D0B-50D949C9DD9A}" srcOrd="6" destOrd="0" parTransId="{78A1F759-C4D9-461B-B817-234B9B41078B}" sibTransId="{CC78F273-BDD3-4F86-8D33-49EA12B72063}"/>
    <dgm:cxn modelId="{A3538F38-40B9-48C3-BBF2-B93F35DF4B7E}" srcId="{AD7E52BD-7CA4-4781-98BE-63CC1A1F1B6F}" destId="{D98A5D05-3BB6-42B7-991B-88F4B63AB000}" srcOrd="0" destOrd="0" parTransId="{A339EFF4-54BC-44B1-9148-F49B1C4EF01D}" sibTransId="{2797DE8B-A40D-4076-960F-4B928CA21765}"/>
    <dgm:cxn modelId="{66F89538-A81E-4716-AE8E-4BE2830ADDA0}" srcId="{1DF93702-3CE6-4826-9979-02E3BD766254}" destId="{3CB3D4A5-34D6-40C4-8363-A268C5908320}" srcOrd="9" destOrd="0" parTransId="{8EDF675C-1420-4B1F-B319-585BE57907B4}" sibTransId="{0EBE9EFE-4EE7-4B47-9A54-B5B0F7A905A3}"/>
    <dgm:cxn modelId="{EC88AD3C-6A58-485B-ADF0-8A7EB34245D9}" type="presOf" srcId="{3CB3D4A5-34D6-40C4-8363-A268C5908320}" destId="{B92DC63A-1D86-4F74-98B5-E30B7FD0D3B0}" srcOrd="0" destOrd="9" presId="urn:microsoft.com/office/officeart/2005/8/layout/hList1"/>
    <dgm:cxn modelId="{C8949660-973E-42C8-80BB-46C626E88629}" type="presOf" srcId="{A10F29D3-443C-4654-B8E9-3AA00DF0AC3C}" destId="{DEFA1D8B-5892-4FAB-AA38-7FCDDD018F1C}" srcOrd="0" destOrd="11" presId="urn:microsoft.com/office/officeart/2005/8/layout/hList1"/>
    <dgm:cxn modelId="{F86FCD44-B387-431C-B9BE-0ECDFD2C76D2}" srcId="{AD7E52BD-7CA4-4781-98BE-63CC1A1F1B6F}" destId="{DBCE1250-FEDC-4EE5-AB72-5AED23C197EF}" srcOrd="10" destOrd="0" parTransId="{E3B9004D-6FBB-4D80-904F-F4CDCF7072C0}" sibTransId="{FA73A14D-56F5-44E0-B001-7F33B130ACF1}"/>
    <dgm:cxn modelId="{B5747948-BD5E-4A80-BB16-E5C61438AB57}" type="presOf" srcId="{92D82416-0027-4037-B91D-C8CBC45C9986}" destId="{DEFA1D8B-5892-4FAB-AA38-7FCDDD018F1C}" srcOrd="0" destOrd="9" presId="urn:microsoft.com/office/officeart/2005/8/layout/hList1"/>
    <dgm:cxn modelId="{7CA72E6B-7CE3-439F-B65B-C2F6BE7C9216}" type="presOf" srcId="{C2E738C8-38F5-4EA7-87F9-E6232DE64C7B}" destId="{DEFA1D8B-5892-4FAB-AA38-7FCDDD018F1C}" srcOrd="0" destOrd="5" presId="urn:microsoft.com/office/officeart/2005/8/layout/hList1"/>
    <dgm:cxn modelId="{0646EC6C-1FEF-4B5B-B3E7-D99E6E524E62}" type="presOf" srcId="{DBCE1250-FEDC-4EE5-AB72-5AED23C197EF}" destId="{DEFA1D8B-5892-4FAB-AA38-7FCDDD018F1C}" srcOrd="0" destOrd="10" presId="urn:microsoft.com/office/officeart/2005/8/layout/hList1"/>
    <dgm:cxn modelId="{6263B24E-69D8-460C-B12D-A39EBE53EF5A}" srcId="{1DF93702-3CE6-4826-9979-02E3BD766254}" destId="{986AAD56-003E-40F4-BB76-3B09D1037CF5}" srcOrd="5" destOrd="0" parTransId="{9E74D661-B433-4594-9689-A3612E900A15}" sibTransId="{DC7999A5-440E-4F99-B256-88C1EB95CE7C}"/>
    <dgm:cxn modelId="{D5D4D86E-F0D8-4765-A98A-FAB966E5B690}" type="presOf" srcId="{B3B09E94-6119-484A-B626-EA36CF242DA0}" destId="{B92DC63A-1D86-4F74-98B5-E30B7FD0D3B0}" srcOrd="0" destOrd="8" presId="urn:microsoft.com/office/officeart/2005/8/layout/hList1"/>
    <dgm:cxn modelId="{D172AA51-E92C-41A9-AE93-494AE9E05F67}" type="presOf" srcId="{6EF9F611-1FAB-4A99-BE88-9838F80B924A}" destId="{DEFA1D8B-5892-4FAB-AA38-7FCDDD018F1C}" srcOrd="0" destOrd="3" presId="urn:microsoft.com/office/officeart/2005/8/layout/hList1"/>
    <dgm:cxn modelId="{5EF09C52-7060-4BFF-B637-59F48F5B6B8D}" srcId="{1DF93702-3CE6-4826-9979-02E3BD766254}" destId="{E50DF586-CEB2-43F0-ABFC-84875647EEFB}" srcOrd="1" destOrd="0" parTransId="{520BD1FB-3387-4598-9962-0F1E17BE28F4}" sibTransId="{EA1167F4-89C0-4CBA-BE6D-18628E52382D}"/>
    <dgm:cxn modelId="{924C4755-FB6D-4609-86C7-D3E4B50D2679}" type="presOf" srcId="{D7FB1A2C-CF9B-43CB-B181-320825FD41CE}" destId="{DEFA1D8B-5892-4FAB-AA38-7FCDDD018F1C}" srcOrd="0" destOrd="6" presId="urn:microsoft.com/office/officeart/2005/8/layout/hList1"/>
    <dgm:cxn modelId="{7701CC76-9016-46E1-915F-263ED7FBB6AF}" srcId="{AD7E52BD-7CA4-4781-98BE-63CC1A1F1B6F}" destId="{A10F29D3-443C-4654-B8E9-3AA00DF0AC3C}" srcOrd="11" destOrd="0" parTransId="{54E50536-C56B-4620-B201-6E0DA2ABF0CB}" sibTransId="{FD2B9885-5D52-486F-8022-A377FBE8FA4F}"/>
    <dgm:cxn modelId="{0AF7D379-F3F6-4D3E-B5D1-07B91883A8F7}" srcId="{AD7E52BD-7CA4-4781-98BE-63CC1A1F1B6F}" destId="{C2E738C8-38F5-4EA7-87F9-E6232DE64C7B}" srcOrd="5" destOrd="0" parTransId="{11CDF481-DCE8-49B4-A4EB-11BFA0DDA89F}" sibTransId="{50EEA462-F131-4628-847A-33803DD1C5A5}"/>
    <dgm:cxn modelId="{1FCFDB79-1164-44E5-ABAE-BD32049D08AE}" srcId="{AD7E52BD-7CA4-4781-98BE-63CC1A1F1B6F}" destId="{3BF9E4A2-4202-4ED7-A066-86FC974B8ADF}" srcOrd="7" destOrd="0" parTransId="{6E838BB2-F7A3-49DC-8ADF-D914F8FF24B3}" sibTransId="{BA42E35A-C65D-4368-A25B-DD02DE6307DA}"/>
    <dgm:cxn modelId="{8FEBB97A-789C-421B-9CF1-EF2377CC05E5}" type="presOf" srcId="{AD7E52BD-7CA4-4781-98BE-63CC1A1F1B6F}" destId="{E8407AAD-FA7F-48B9-BA8A-826744702974}" srcOrd="0" destOrd="0" presId="urn:microsoft.com/office/officeart/2005/8/layout/hList1"/>
    <dgm:cxn modelId="{DA3DF281-9379-408A-A193-F62E02A1FADE}" type="presOf" srcId="{06242884-066C-48D3-9D0B-50D949C9DD9A}" destId="{B92DC63A-1D86-4F74-98B5-E30B7FD0D3B0}" srcOrd="0" destOrd="6" presId="urn:microsoft.com/office/officeart/2005/8/layout/hList1"/>
    <dgm:cxn modelId="{BF92F481-54F2-4BC4-857E-D9A75E26A59F}" srcId="{AD7E52BD-7CA4-4781-98BE-63CC1A1F1B6F}" destId="{5E6B5A99-12E8-4C8B-9E68-C793ABBAC921}" srcOrd="2" destOrd="0" parTransId="{630E1C0C-B144-4124-BE32-A5605C2A797C}" sibTransId="{06D55AB5-668F-4E95-BE61-3F067183F48B}"/>
    <dgm:cxn modelId="{3EFF8284-70CF-4FE5-9100-940168220F7D}" srcId="{1DF93702-3CE6-4826-9979-02E3BD766254}" destId="{0D91B50D-51EF-4FC5-8C62-D5163E7AD2D7}" srcOrd="2" destOrd="0" parTransId="{CDB50866-5312-408E-8842-638AFA165C8F}" sibTransId="{DF6EB29F-0D04-4C8B-AF7C-BDEBEB896E26}"/>
    <dgm:cxn modelId="{39D25786-E3E7-4F0D-82D6-D013915A8D0C}" srcId="{1DF93702-3CE6-4826-9979-02E3BD766254}" destId="{3D49212B-E6DC-4449-BE00-89E03C73EE5B}" srcOrd="4" destOrd="0" parTransId="{11F52447-9F3E-4DCD-9AB6-357A840C4338}" sibTransId="{76E29903-F4CE-4CD6-AEDB-FC04DB6FE0BA}"/>
    <dgm:cxn modelId="{F5F70591-7430-463F-B0AF-1D3270E781FD}" srcId="{AD7E52BD-7CA4-4781-98BE-63CC1A1F1B6F}" destId="{C563CE7A-3F1F-4DCC-9211-36CC9F2F6132}" srcOrd="8" destOrd="0" parTransId="{099F3E62-AAD1-43CC-8820-64CBEE7A371D}" sibTransId="{3D61C7C5-77E1-4948-9142-ECA6AA715F6C}"/>
    <dgm:cxn modelId="{C5ACEB98-68AF-4B7A-A5B9-9F0785F51309}" type="presOf" srcId="{3D49212B-E6DC-4449-BE00-89E03C73EE5B}" destId="{B92DC63A-1D86-4F74-98B5-E30B7FD0D3B0}" srcOrd="0" destOrd="4" presId="urn:microsoft.com/office/officeart/2005/8/layout/hList1"/>
    <dgm:cxn modelId="{416BA0A8-8806-490D-8C2C-E628E8912B45}" type="presOf" srcId="{1DF93702-3CE6-4826-9979-02E3BD766254}" destId="{1457D4B9-E440-4E09-BFA5-02AF80DF958E}" srcOrd="0" destOrd="0" presId="urn:microsoft.com/office/officeart/2005/8/layout/hList1"/>
    <dgm:cxn modelId="{68A56DAE-C1EA-4526-8D86-FC7752F09D4B}" srcId="{B516842C-2C5F-4F5A-8A99-2ED4892EAFDA}" destId="{AD7E52BD-7CA4-4781-98BE-63CC1A1F1B6F}" srcOrd="1" destOrd="0" parTransId="{BFD14160-15D3-4727-B5FA-DD2CE9F39BB0}" sibTransId="{F95B2722-9582-41A5-BACC-8BB671944352}"/>
    <dgm:cxn modelId="{C49BA7AF-56E3-42A0-8050-4C2141FD1D5D}" type="presOf" srcId="{3B11EFF9-ED5A-4310-95EC-632235D9A80D}" destId="{B92DC63A-1D86-4F74-98B5-E30B7FD0D3B0}" srcOrd="0" destOrd="0" presId="urn:microsoft.com/office/officeart/2005/8/layout/hList1"/>
    <dgm:cxn modelId="{0653FCB4-1868-4011-A5AB-049BF43C744C}" type="presOf" srcId="{7D951A0C-D67D-43AA-AF1C-0F92B2EC2712}" destId="{DEFA1D8B-5892-4FAB-AA38-7FCDDD018F1C}" srcOrd="0" destOrd="1" presId="urn:microsoft.com/office/officeart/2005/8/layout/hList1"/>
    <dgm:cxn modelId="{B691FDB6-01D5-4B19-9C11-692A944BBB87}" type="presOf" srcId="{0D91B50D-51EF-4FC5-8C62-D5163E7AD2D7}" destId="{B92DC63A-1D86-4F74-98B5-E30B7FD0D3B0}" srcOrd="0" destOrd="2" presId="urn:microsoft.com/office/officeart/2005/8/layout/hList1"/>
    <dgm:cxn modelId="{306AEDB7-2FD4-4348-BB0A-0CAA5F91995B}" type="presOf" srcId="{3BF9E4A2-4202-4ED7-A066-86FC974B8ADF}" destId="{DEFA1D8B-5892-4FAB-AA38-7FCDDD018F1C}" srcOrd="0" destOrd="7" presId="urn:microsoft.com/office/officeart/2005/8/layout/hList1"/>
    <dgm:cxn modelId="{C8FFC0BF-087A-4DE7-ADFB-830DF7E07F00}" srcId="{1DF93702-3CE6-4826-9979-02E3BD766254}" destId="{902EDA08-53B5-41DF-93F3-8762686B31D9}" srcOrd="3" destOrd="0" parTransId="{719BEA4D-68F7-4EB0-98B6-748CB29FC90C}" sibTransId="{6CC3CB8D-77D2-49B2-85A3-E9855094C224}"/>
    <dgm:cxn modelId="{A4052FC3-2F8E-4B8F-8379-19AF017AE7FA}" srcId="{1DF93702-3CE6-4826-9979-02E3BD766254}" destId="{B3B09E94-6119-484A-B626-EA36CF242DA0}" srcOrd="8" destOrd="0" parTransId="{36655EC7-B173-4C9C-B5B5-E342DEDCFDC3}" sibTransId="{B42583E7-6725-4700-B1D4-75918C8E5A0C}"/>
    <dgm:cxn modelId="{2F98A8C6-E008-4142-814C-6FA6E5D2B4D5}" srcId="{AD7E52BD-7CA4-4781-98BE-63CC1A1F1B6F}" destId="{7D951A0C-D67D-43AA-AF1C-0F92B2EC2712}" srcOrd="1" destOrd="0" parTransId="{8BD77306-CA9E-4475-A847-2DF4D121D043}" sibTransId="{AEB0406B-9425-4E45-94B8-4EE7DFF9CAB6}"/>
    <dgm:cxn modelId="{E94DAEC6-E81D-45F9-9CB3-F35971B67AEE}" srcId="{B516842C-2C5F-4F5A-8A99-2ED4892EAFDA}" destId="{1DF93702-3CE6-4826-9979-02E3BD766254}" srcOrd="0" destOrd="0" parTransId="{C68EE66C-3D33-4AF0-B520-A1C7F3F903FE}" sibTransId="{4EE54D6A-FD64-423F-9401-C3DA8071F9AE}"/>
    <dgm:cxn modelId="{53E7D0CA-5F57-408F-9D79-021B0B63E3D7}" srcId="{AD7E52BD-7CA4-4781-98BE-63CC1A1F1B6F}" destId="{D7FB1A2C-CF9B-43CB-B181-320825FD41CE}" srcOrd="6" destOrd="0" parTransId="{2811FD9E-510B-48A8-910C-EF97C805F080}" sibTransId="{9731E999-7889-47D7-A7BB-B088BAF1F923}"/>
    <dgm:cxn modelId="{902B8CD1-7D12-4572-8F5F-534DB2AFF645}" type="presOf" srcId="{5E6B5A99-12E8-4C8B-9E68-C793ABBAC921}" destId="{DEFA1D8B-5892-4FAB-AA38-7FCDDD018F1C}" srcOrd="0" destOrd="2" presId="urn:microsoft.com/office/officeart/2005/8/layout/hList1"/>
    <dgm:cxn modelId="{0945CCDC-2B98-460C-9C16-CC9B6FFCC7FD}" type="presOf" srcId="{C563CE7A-3F1F-4DCC-9211-36CC9F2F6132}" destId="{DEFA1D8B-5892-4FAB-AA38-7FCDDD018F1C}" srcOrd="0" destOrd="8" presId="urn:microsoft.com/office/officeart/2005/8/layout/hList1"/>
    <dgm:cxn modelId="{2F002DDF-70F2-4678-9B8E-905C3B93DBF0}" type="presOf" srcId="{902EDA08-53B5-41DF-93F3-8762686B31D9}" destId="{B92DC63A-1D86-4F74-98B5-E30B7FD0D3B0}" srcOrd="0" destOrd="3" presId="urn:microsoft.com/office/officeart/2005/8/layout/hList1"/>
    <dgm:cxn modelId="{D73CFCE1-5B91-4E5C-9C95-9329D8267ABE}" type="presOf" srcId="{D98A5D05-3BB6-42B7-991B-88F4B63AB000}" destId="{DEFA1D8B-5892-4FAB-AA38-7FCDDD018F1C}" srcOrd="0" destOrd="0" presId="urn:microsoft.com/office/officeart/2005/8/layout/hList1"/>
    <dgm:cxn modelId="{F058E8E6-8691-44BF-AF87-921352F203C9}" type="presOf" srcId="{E50DF586-CEB2-43F0-ABFC-84875647EEFB}" destId="{B92DC63A-1D86-4F74-98B5-E30B7FD0D3B0}" srcOrd="0" destOrd="1" presId="urn:microsoft.com/office/officeart/2005/8/layout/hList1"/>
    <dgm:cxn modelId="{9A2D45E7-4D24-433C-BA59-9F80C1BBDB2F}" srcId="{1DF93702-3CE6-4826-9979-02E3BD766254}" destId="{CD7BA163-4698-4649-8C0A-A70694208C15}" srcOrd="7" destOrd="0" parTransId="{AEED553B-FD41-48DB-A566-F70E7FE8ADEF}" sibTransId="{74A37F52-270A-4E20-9F17-3F80DF6459E4}"/>
    <dgm:cxn modelId="{FBE4B7EC-88C8-42A3-833F-9303D4B0E30A}" type="presOf" srcId="{CD7BA163-4698-4649-8C0A-A70694208C15}" destId="{B92DC63A-1D86-4F74-98B5-E30B7FD0D3B0}" srcOrd="0" destOrd="7" presId="urn:microsoft.com/office/officeart/2005/8/layout/hList1"/>
    <dgm:cxn modelId="{FED10AFB-497D-4142-A552-0D77FE5A5185}" type="presOf" srcId="{986AAD56-003E-40F4-BB76-3B09D1037CF5}" destId="{B92DC63A-1D86-4F74-98B5-E30B7FD0D3B0}" srcOrd="0" destOrd="5" presId="urn:microsoft.com/office/officeart/2005/8/layout/hList1"/>
    <dgm:cxn modelId="{B6450A12-A07F-4841-A9BC-A9B13EDBF0F8}" type="presParOf" srcId="{2A836534-B124-423D-9CF7-F9161447A705}" destId="{B4BCFB94-024C-4A24-8872-50A8E975DCAE}" srcOrd="0" destOrd="0" presId="urn:microsoft.com/office/officeart/2005/8/layout/hList1"/>
    <dgm:cxn modelId="{76330EED-BE49-456C-9C10-C906347DF6F6}" type="presParOf" srcId="{B4BCFB94-024C-4A24-8872-50A8E975DCAE}" destId="{1457D4B9-E440-4E09-BFA5-02AF80DF958E}" srcOrd="0" destOrd="0" presId="urn:microsoft.com/office/officeart/2005/8/layout/hList1"/>
    <dgm:cxn modelId="{0F7DAB6D-BC55-46EE-90E3-DB4FB9965164}" type="presParOf" srcId="{B4BCFB94-024C-4A24-8872-50A8E975DCAE}" destId="{B92DC63A-1D86-4F74-98B5-E30B7FD0D3B0}" srcOrd="1" destOrd="0" presId="urn:microsoft.com/office/officeart/2005/8/layout/hList1"/>
    <dgm:cxn modelId="{2748F61C-443F-434C-81F5-AFE2AF3CED4A}" type="presParOf" srcId="{2A836534-B124-423D-9CF7-F9161447A705}" destId="{11A6C9D9-4CD3-4D53-9F51-B961F9EB1788}" srcOrd="1" destOrd="0" presId="urn:microsoft.com/office/officeart/2005/8/layout/hList1"/>
    <dgm:cxn modelId="{EC6BB1C9-DB2E-4A15-BCC7-BA235798E1FF}" type="presParOf" srcId="{2A836534-B124-423D-9CF7-F9161447A705}" destId="{F662F5B8-E86F-424C-9B19-3C71FCFDA522}" srcOrd="2" destOrd="0" presId="urn:microsoft.com/office/officeart/2005/8/layout/hList1"/>
    <dgm:cxn modelId="{30D5FC95-6792-4CCD-AD61-5D55404C39EB}" type="presParOf" srcId="{F662F5B8-E86F-424C-9B19-3C71FCFDA522}" destId="{E8407AAD-FA7F-48B9-BA8A-826744702974}" srcOrd="0" destOrd="0" presId="urn:microsoft.com/office/officeart/2005/8/layout/hList1"/>
    <dgm:cxn modelId="{C7D431F4-056A-432F-A717-41DDF09D0A31}" type="presParOf" srcId="{F662F5B8-E86F-424C-9B19-3C71FCFDA522}" destId="{DEFA1D8B-5892-4FAB-AA38-7FCDDD018F1C}"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A90499E-EB8E-415A-809D-EE02B022DE6D}" type="doc">
      <dgm:prSet loTypeId="urn:microsoft.com/office/officeart/2005/8/layout/list1" loCatId="list" qsTypeId="urn:microsoft.com/office/officeart/2005/8/quickstyle/3d1" qsCatId="3D" csTypeId="urn:microsoft.com/office/officeart/2005/8/colors/accent1_2" csCatId="accent1" phldr="1"/>
      <dgm:spPr/>
      <dgm:t>
        <a:bodyPr/>
        <a:lstStyle/>
        <a:p>
          <a:endParaRPr lang="en-US"/>
        </a:p>
      </dgm:t>
    </dgm:pt>
    <dgm:pt modelId="{A46FFF10-7377-4E04-888C-1F09B833A8C2}">
      <dgm:prSet phldrT="[Text]"/>
      <dgm:spPr/>
      <dgm:t>
        <a:bodyPr/>
        <a:lstStyle/>
        <a:p>
          <a:pPr>
            <a:buFont typeface="Wingdings" panose="05000000000000000000" pitchFamily="2" charset="2"/>
            <a:buChar char=""/>
          </a:pP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Yellowing in the sclera, soles of feet, palms and inside of their mouth.</a:t>
          </a:r>
          <a:endParaRPr lang="en-US" dirty="0"/>
        </a:p>
      </dgm:t>
    </dgm:pt>
    <dgm:pt modelId="{850276BF-B113-4202-B965-B528C5BD3C3A}" type="parTrans" cxnId="{A44D3B97-48AC-4353-AE4B-270EBAAAE55E}">
      <dgm:prSet/>
      <dgm:spPr/>
      <dgm:t>
        <a:bodyPr/>
        <a:lstStyle/>
        <a:p>
          <a:endParaRPr lang="en-US"/>
        </a:p>
      </dgm:t>
    </dgm:pt>
    <dgm:pt modelId="{4D92A09A-ECC4-4247-B7B4-9CC29DC162F6}" type="sibTrans" cxnId="{A44D3B97-48AC-4353-AE4B-270EBAAAE55E}">
      <dgm:prSet/>
      <dgm:spPr/>
      <dgm:t>
        <a:bodyPr/>
        <a:lstStyle/>
        <a:p>
          <a:endParaRPr lang="en-US"/>
        </a:p>
      </dgm:t>
    </dgm:pt>
    <dgm:pt modelId="{CE284862-D3FA-4ADD-8D3D-A66801797436}">
      <dgm:prSet phldrT="[Text]"/>
      <dgm:spPr/>
      <dgm:t>
        <a:bodyPr/>
        <a:lstStyle/>
        <a:p>
          <a:pPr>
            <a:buFont typeface="Wingdings" panose="05000000000000000000" pitchFamily="2" charset="2"/>
            <a:buChar char=""/>
          </a:pP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The neonate will be sleepy.</a:t>
          </a:r>
          <a:endParaRPr lang="en-US" dirty="0"/>
        </a:p>
      </dgm:t>
    </dgm:pt>
    <dgm:pt modelId="{C6F00736-2990-4CC8-B6E1-E20D0469339E}" type="parTrans" cxnId="{EFABDFD1-A28C-46AB-8D29-55AF950CD9C8}">
      <dgm:prSet/>
      <dgm:spPr/>
      <dgm:t>
        <a:bodyPr/>
        <a:lstStyle/>
        <a:p>
          <a:endParaRPr lang="en-US"/>
        </a:p>
      </dgm:t>
    </dgm:pt>
    <dgm:pt modelId="{F35FA7EC-FAE5-484B-9EA9-5A84BC23C6CA}" type="sibTrans" cxnId="{EFABDFD1-A28C-46AB-8D29-55AF950CD9C8}">
      <dgm:prSet/>
      <dgm:spPr/>
      <dgm:t>
        <a:bodyPr/>
        <a:lstStyle/>
        <a:p>
          <a:endParaRPr lang="en-US"/>
        </a:p>
      </dgm:t>
    </dgm:pt>
    <dgm:pt modelId="{9552E1C1-2A98-474E-BB84-B1984643481A}">
      <dgm:prSet phldrT="[Text]"/>
      <dgm:spPr/>
      <dgm:t>
        <a:bodyPr/>
        <a:lstStyle/>
        <a:p>
          <a:pPr>
            <a:buFont typeface="Wingdings" panose="05000000000000000000" pitchFamily="2" charset="2"/>
            <a:buChar char=""/>
          </a:pP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The newborn may also not will to feed.</a:t>
          </a:r>
          <a:endParaRPr lang="en-US" dirty="0"/>
        </a:p>
      </dgm:t>
    </dgm:pt>
    <dgm:pt modelId="{697940B1-C9F1-413A-A916-C827A6E9A4A7}" type="parTrans" cxnId="{84C983B1-F81F-43B1-9FDC-1CB01F386E61}">
      <dgm:prSet/>
      <dgm:spPr/>
      <dgm:t>
        <a:bodyPr/>
        <a:lstStyle/>
        <a:p>
          <a:endParaRPr lang="en-US"/>
        </a:p>
      </dgm:t>
    </dgm:pt>
    <dgm:pt modelId="{9D3CC7C1-4E0E-4229-B7BA-DCBC013278CA}" type="sibTrans" cxnId="{84C983B1-F81F-43B1-9FDC-1CB01F386E61}">
      <dgm:prSet/>
      <dgm:spPr/>
      <dgm:t>
        <a:bodyPr/>
        <a:lstStyle/>
        <a:p>
          <a:endParaRPr lang="en-US"/>
        </a:p>
      </dgm:t>
    </dgm:pt>
    <dgm:pt modelId="{95A5C1D9-5717-4CF1-82FD-6D35F52969A7}">
      <dgm:prSet phldrT="[Text]" custT="1"/>
      <dgm:spPr/>
      <dgm:t>
        <a:bodyPr/>
        <a:lstStyle/>
        <a:p>
          <a:r>
            <a:rPr lang="en-US" sz="2500" dirty="0">
              <a:effectLst/>
              <a:latin typeface="Times New Roman" panose="02020603050405020304" pitchFamily="18" charset="0"/>
              <a:ea typeface="Times New Roman" panose="02020603050405020304" pitchFamily="18" charset="0"/>
              <a:cs typeface="Times New Roman" panose="02020603050405020304" pitchFamily="18" charset="0"/>
            </a:rPr>
            <a:t>Newborn have dark, yellow urine and pale stools</a:t>
          </a:r>
          <a:r>
            <a:rPr lang="en-US" sz="2500" dirty="0">
              <a:latin typeface="Times New Roman" panose="02020603050405020304" pitchFamily="18" charset="0"/>
              <a:cs typeface="Times New Roman" panose="02020603050405020304" pitchFamily="18" charset="0"/>
            </a:rPr>
            <a:t>.</a:t>
          </a:r>
        </a:p>
      </dgm:t>
    </dgm:pt>
    <dgm:pt modelId="{A6914999-6C72-4A0B-9804-F9224EC1B64E}" type="parTrans" cxnId="{370C7249-72E4-4E3A-A385-44B9B97E2F3A}">
      <dgm:prSet/>
      <dgm:spPr/>
      <dgm:t>
        <a:bodyPr/>
        <a:lstStyle/>
        <a:p>
          <a:endParaRPr lang="en-US"/>
        </a:p>
      </dgm:t>
    </dgm:pt>
    <dgm:pt modelId="{27672014-838C-40C9-9EFF-438BC496B6B9}" type="sibTrans" cxnId="{370C7249-72E4-4E3A-A385-44B9B97E2F3A}">
      <dgm:prSet/>
      <dgm:spPr/>
      <dgm:t>
        <a:bodyPr/>
        <a:lstStyle/>
        <a:p>
          <a:endParaRPr lang="en-US"/>
        </a:p>
      </dgm:t>
    </dgm:pt>
    <dgm:pt modelId="{14C80959-7E62-4D30-9409-0B2F91A75679}" type="pres">
      <dgm:prSet presAssocID="{9A90499E-EB8E-415A-809D-EE02B022DE6D}" presName="linear" presStyleCnt="0">
        <dgm:presLayoutVars>
          <dgm:dir/>
          <dgm:animLvl val="lvl"/>
          <dgm:resizeHandles val="exact"/>
        </dgm:presLayoutVars>
      </dgm:prSet>
      <dgm:spPr/>
    </dgm:pt>
    <dgm:pt modelId="{EE3BB0F3-2A2F-44CC-B505-46B4934AE9AF}" type="pres">
      <dgm:prSet presAssocID="{A46FFF10-7377-4E04-888C-1F09B833A8C2}" presName="parentLin" presStyleCnt="0"/>
      <dgm:spPr/>
    </dgm:pt>
    <dgm:pt modelId="{75A4E91D-4BE1-4A97-9332-C88328B85B0D}" type="pres">
      <dgm:prSet presAssocID="{A46FFF10-7377-4E04-888C-1F09B833A8C2}" presName="parentLeftMargin" presStyleLbl="node1" presStyleIdx="0" presStyleCnt="4"/>
      <dgm:spPr/>
    </dgm:pt>
    <dgm:pt modelId="{007BDCEA-4264-426B-AA2F-2E199D912A56}" type="pres">
      <dgm:prSet presAssocID="{A46FFF10-7377-4E04-888C-1F09B833A8C2}" presName="parentText" presStyleLbl="node1" presStyleIdx="0" presStyleCnt="4">
        <dgm:presLayoutVars>
          <dgm:chMax val="0"/>
          <dgm:bulletEnabled val="1"/>
        </dgm:presLayoutVars>
      </dgm:prSet>
      <dgm:spPr/>
    </dgm:pt>
    <dgm:pt modelId="{E11F18C2-6958-49C3-A4D8-A01C6FB322B8}" type="pres">
      <dgm:prSet presAssocID="{A46FFF10-7377-4E04-888C-1F09B833A8C2}" presName="negativeSpace" presStyleCnt="0"/>
      <dgm:spPr/>
    </dgm:pt>
    <dgm:pt modelId="{DB0B0F97-02FF-45E3-B079-1653FDF35792}" type="pres">
      <dgm:prSet presAssocID="{A46FFF10-7377-4E04-888C-1F09B833A8C2}" presName="childText" presStyleLbl="conFgAcc1" presStyleIdx="0" presStyleCnt="4">
        <dgm:presLayoutVars>
          <dgm:bulletEnabled val="1"/>
        </dgm:presLayoutVars>
      </dgm:prSet>
      <dgm:spPr/>
    </dgm:pt>
    <dgm:pt modelId="{681B93D4-910C-4E87-89B4-19BAE6C21560}" type="pres">
      <dgm:prSet presAssocID="{4D92A09A-ECC4-4247-B7B4-9CC29DC162F6}" presName="spaceBetweenRectangles" presStyleCnt="0"/>
      <dgm:spPr/>
    </dgm:pt>
    <dgm:pt modelId="{79459C94-64D1-474D-9C16-2970A51B4A46}" type="pres">
      <dgm:prSet presAssocID="{CE284862-D3FA-4ADD-8D3D-A66801797436}" presName="parentLin" presStyleCnt="0"/>
      <dgm:spPr/>
    </dgm:pt>
    <dgm:pt modelId="{2D98F853-2B30-4B71-9A67-C8CC99C2AAD4}" type="pres">
      <dgm:prSet presAssocID="{CE284862-D3FA-4ADD-8D3D-A66801797436}" presName="parentLeftMargin" presStyleLbl="node1" presStyleIdx="0" presStyleCnt="4"/>
      <dgm:spPr/>
    </dgm:pt>
    <dgm:pt modelId="{5969FE0C-C635-42CD-B2D2-29D992660BDB}" type="pres">
      <dgm:prSet presAssocID="{CE284862-D3FA-4ADD-8D3D-A66801797436}" presName="parentText" presStyleLbl="node1" presStyleIdx="1" presStyleCnt="4">
        <dgm:presLayoutVars>
          <dgm:chMax val="0"/>
          <dgm:bulletEnabled val="1"/>
        </dgm:presLayoutVars>
      </dgm:prSet>
      <dgm:spPr/>
    </dgm:pt>
    <dgm:pt modelId="{C78492B6-CDFF-4677-8789-29F664B2410A}" type="pres">
      <dgm:prSet presAssocID="{CE284862-D3FA-4ADD-8D3D-A66801797436}" presName="negativeSpace" presStyleCnt="0"/>
      <dgm:spPr/>
    </dgm:pt>
    <dgm:pt modelId="{FE0F6DA9-474E-494A-8267-41C8F392E4BB}" type="pres">
      <dgm:prSet presAssocID="{CE284862-D3FA-4ADD-8D3D-A66801797436}" presName="childText" presStyleLbl="conFgAcc1" presStyleIdx="1" presStyleCnt="4">
        <dgm:presLayoutVars>
          <dgm:bulletEnabled val="1"/>
        </dgm:presLayoutVars>
      </dgm:prSet>
      <dgm:spPr/>
    </dgm:pt>
    <dgm:pt modelId="{2A1801A6-7E56-45DB-AD37-5250FAF5410B}" type="pres">
      <dgm:prSet presAssocID="{F35FA7EC-FAE5-484B-9EA9-5A84BC23C6CA}" presName="spaceBetweenRectangles" presStyleCnt="0"/>
      <dgm:spPr/>
    </dgm:pt>
    <dgm:pt modelId="{67E26DE0-0F4D-451D-A66A-89CF46D14795}" type="pres">
      <dgm:prSet presAssocID="{9552E1C1-2A98-474E-BB84-B1984643481A}" presName="parentLin" presStyleCnt="0"/>
      <dgm:spPr/>
    </dgm:pt>
    <dgm:pt modelId="{3C13EE51-7584-4A63-B3AD-B70AD0BFE8C9}" type="pres">
      <dgm:prSet presAssocID="{9552E1C1-2A98-474E-BB84-B1984643481A}" presName="parentLeftMargin" presStyleLbl="node1" presStyleIdx="1" presStyleCnt="4"/>
      <dgm:spPr/>
    </dgm:pt>
    <dgm:pt modelId="{1E0E8860-629A-4AAC-B64D-6A6FDFC4ABD6}" type="pres">
      <dgm:prSet presAssocID="{9552E1C1-2A98-474E-BB84-B1984643481A}" presName="parentText" presStyleLbl="node1" presStyleIdx="2" presStyleCnt="4" custLinFactNeighborX="7439" custLinFactNeighborY="6364">
        <dgm:presLayoutVars>
          <dgm:chMax val="0"/>
          <dgm:bulletEnabled val="1"/>
        </dgm:presLayoutVars>
      </dgm:prSet>
      <dgm:spPr/>
    </dgm:pt>
    <dgm:pt modelId="{54ABE7E0-DF78-4E28-A0D4-E9A839EE9EF5}" type="pres">
      <dgm:prSet presAssocID="{9552E1C1-2A98-474E-BB84-B1984643481A}" presName="negativeSpace" presStyleCnt="0"/>
      <dgm:spPr/>
    </dgm:pt>
    <dgm:pt modelId="{EE4330AA-B8CB-45D0-BC5A-03A97F0FE281}" type="pres">
      <dgm:prSet presAssocID="{9552E1C1-2A98-474E-BB84-B1984643481A}" presName="childText" presStyleLbl="conFgAcc1" presStyleIdx="2" presStyleCnt="4">
        <dgm:presLayoutVars>
          <dgm:bulletEnabled val="1"/>
        </dgm:presLayoutVars>
      </dgm:prSet>
      <dgm:spPr/>
    </dgm:pt>
    <dgm:pt modelId="{03D752EC-14AB-4BA9-AA1E-1731C65CEE93}" type="pres">
      <dgm:prSet presAssocID="{9D3CC7C1-4E0E-4229-B7BA-DCBC013278CA}" presName="spaceBetweenRectangles" presStyleCnt="0"/>
      <dgm:spPr/>
    </dgm:pt>
    <dgm:pt modelId="{B628ABFC-06AD-4868-AC3C-DFF36A41631F}" type="pres">
      <dgm:prSet presAssocID="{95A5C1D9-5717-4CF1-82FD-6D35F52969A7}" presName="parentLin" presStyleCnt="0"/>
      <dgm:spPr/>
    </dgm:pt>
    <dgm:pt modelId="{5F1F0E5B-D937-4E32-860E-D4BEA478EA80}" type="pres">
      <dgm:prSet presAssocID="{95A5C1D9-5717-4CF1-82FD-6D35F52969A7}" presName="parentLeftMargin" presStyleLbl="node1" presStyleIdx="2" presStyleCnt="4"/>
      <dgm:spPr/>
    </dgm:pt>
    <dgm:pt modelId="{206C0AEB-0170-47E1-BE1B-D41F51BB4F23}" type="pres">
      <dgm:prSet presAssocID="{95A5C1D9-5717-4CF1-82FD-6D35F52969A7}" presName="parentText" presStyleLbl="node1" presStyleIdx="3" presStyleCnt="4">
        <dgm:presLayoutVars>
          <dgm:chMax val="0"/>
          <dgm:bulletEnabled val="1"/>
        </dgm:presLayoutVars>
      </dgm:prSet>
      <dgm:spPr/>
    </dgm:pt>
    <dgm:pt modelId="{2BAB2767-92F9-4ED7-9801-69B6CA57D8CB}" type="pres">
      <dgm:prSet presAssocID="{95A5C1D9-5717-4CF1-82FD-6D35F52969A7}" presName="negativeSpace" presStyleCnt="0"/>
      <dgm:spPr/>
    </dgm:pt>
    <dgm:pt modelId="{9632271E-ED33-4C91-B9AA-B427C7540F3A}" type="pres">
      <dgm:prSet presAssocID="{95A5C1D9-5717-4CF1-82FD-6D35F52969A7}" presName="childText" presStyleLbl="conFgAcc1" presStyleIdx="3" presStyleCnt="4">
        <dgm:presLayoutVars>
          <dgm:bulletEnabled val="1"/>
        </dgm:presLayoutVars>
      </dgm:prSet>
      <dgm:spPr/>
    </dgm:pt>
  </dgm:ptLst>
  <dgm:cxnLst>
    <dgm:cxn modelId="{3B04E723-7524-481B-B32A-4F92EA562EBE}" type="presOf" srcId="{95A5C1D9-5717-4CF1-82FD-6D35F52969A7}" destId="{206C0AEB-0170-47E1-BE1B-D41F51BB4F23}" srcOrd="1" destOrd="0" presId="urn:microsoft.com/office/officeart/2005/8/layout/list1"/>
    <dgm:cxn modelId="{E87BC660-6D29-4F99-A6EE-08286355D7B0}" type="presOf" srcId="{9552E1C1-2A98-474E-BB84-B1984643481A}" destId="{1E0E8860-629A-4AAC-B64D-6A6FDFC4ABD6}" srcOrd="1" destOrd="0" presId="urn:microsoft.com/office/officeart/2005/8/layout/list1"/>
    <dgm:cxn modelId="{370C7249-72E4-4E3A-A385-44B9B97E2F3A}" srcId="{9A90499E-EB8E-415A-809D-EE02B022DE6D}" destId="{95A5C1D9-5717-4CF1-82FD-6D35F52969A7}" srcOrd="3" destOrd="0" parTransId="{A6914999-6C72-4A0B-9804-F9224EC1B64E}" sibTransId="{27672014-838C-40C9-9EFF-438BC496B6B9}"/>
    <dgm:cxn modelId="{F56E0376-E3CF-465D-95AE-6A82FFD0C9F5}" type="presOf" srcId="{9A90499E-EB8E-415A-809D-EE02B022DE6D}" destId="{14C80959-7E62-4D30-9409-0B2F91A75679}" srcOrd="0" destOrd="0" presId="urn:microsoft.com/office/officeart/2005/8/layout/list1"/>
    <dgm:cxn modelId="{D358797F-E75C-4F99-B16B-EC0ECA2DA861}" type="presOf" srcId="{CE284862-D3FA-4ADD-8D3D-A66801797436}" destId="{2D98F853-2B30-4B71-9A67-C8CC99C2AAD4}" srcOrd="0" destOrd="0" presId="urn:microsoft.com/office/officeart/2005/8/layout/list1"/>
    <dgm:cxn modelId="{A44D3B97-48AC-4353-AE4B-270EBAAAE55E}" srcId="{9A90499E-EB8E-415A-809D-EE02B022DE6D}" destId="{A46FFF10-7377-4E04-888C-1F09B833A8C2}" srcOrd="0" destOrd="0" parTransId="{850276BF-B113-4202-B965-B528C5BD3C3A}" sibTransId="{4D92A09A-ECC4-4247-B7B4-9CC29DC162F6}"/>
    <dgm:cxn modelId="{84C983B1-F81F-43B1-9FDC-1CB01F386E61}" srcId="{9A90499E-EB8E-415A-809D-EE02B022DE6D}" destId="{9552E1C1-2A98-474E-BB84-B1984643481A}" srcOrd="2" destOrd="0" parTransId="{697940B1-C9F1-413A-A916-C827A6E9A4A7}" sibTransId="{9D3CC7C1-4E0E-4229-B7BA-DCBC013278CA}"/>
    <dgm:cxn modelId="{CF15F0B2-23D7-491F-9E62-34FAFCF31E65}" type="presOf" srcId="{95A5C1D9-5717-4CF1-82FD-6D35F52969A7}" destId="{5F1F0E5B-D937-4E32-860E-D4BEA478EA80}" srcOrd="0" destOrd="0" presId="urn:microsoft.com/office/officeart/2005/8/layout/list1"/>
    <dgm:cxn modelId="{AA533EC5-35EF-4871-89C9-5E31047FE25C}" type="presOf" srcId="{A46FFF10-7377-4E04-888C-1F09B833A8C2}" destId="{75A4E91D-4BE1-4A97-9332-C88328B85B0D}" srcOrd="0" destOrd="0" presId="urn:microsoft.com/office/officeart/2005/8/layout/list1"/>
    <dgm:cxn modelId="{EFABDFD1-A28C-46AB-8D29-55AF950CD9C8}" srcId="{9A90499E-EB8E-415A-809D-EE02B022DE6D}" destId="{CE284862-D3FA-4ADD-8D3D-A66801797436}" srcOrd="1" destOrd="0" parTransId="{C6F00736-2990-4CC8-B6E1-E20D0469339E}" sibTransId="{F35FA7EC-FAE5-484B-9EA9-5A84BC23C6CA}"/>
    <dgm:cxn modelId="{797F37D5-BACA-4780-88FA-7E1172DA7D9B}" type="presOf" srcId="{A46FFF10-7377-4E04-888C-1F09B833A8C2}" destId="{007BDCEA-4264-426B-AA2F-2E199D912A56}" srcOrd="1" destOrd="0" presId="urn:microsoft.com/office/officeart/2005/8/layout/list1"/>
    <dgm:cxn modelId="{5ED3CFEE-72FE-4689-AE3F-A466E36101CA}" type="presOf" srcId="{CE284862-D3FA-4ADD-8D3D-A66801797436}" destId="{5969FE0C-C635-42CD-B2D2-29D992660BDB}" srcOrd="1" destOrd="0" presId="urn:microsoft.com/office/officeart/2005/8/layout/list1"/>
    <dgm:cxn modelId="{68BDD3F2-3288-4228-96E3-EC621280A96E}" type="presOf" srcId="{9552E1C1-2A98-474E-BB84-B1984643481A}" destId="{3C13EE51-7584-4A63-B3AD-B70AD0BFE8C9}" srcOrd="0" destOrd="0" presId="urn:microsoft.com/office/officeart/2005/8/layout/list1"/>
    <dgm:cxn modelId="{DB775A4B-6F48-460D-BA91-E5C966281082}" type="presParOf" srcId="{14C80959-7E62-4D30-9409-0B2F91A75679}" destId="{EE3BB0F3-2A2F-44CC-B505-46B4934AE9AF}" srcOrd="0" destOrd="0" presId="urn:microsoft.com/office/officeart/2005/8/layout/list1"/>
    <dgm:cxn modelId="{4B7D1628-290B-40D8-9B53-D7949C4D3A1B}" type="presParOf" srcId="{EE3BB0F3-2A2F-44CC-B505-46B4934AE9AF}" destId="{75A4E91D-4BE1-4A97-9332-C88328B85B0D}" srcOrd="0" destOrd="0" presId="urn:microsoft.com/office/officeart/2005/8/layout/list1"/>
    <dgm:cxn modelId="{7162B350-3124-4D0A-8F4D-3C1DD4FDD00A}" type="presParOf" srcId="{EE3BB0F3-2A2F-44CC-B505-46B4934AE9AF}" destId="{007BDCEA-4264-426B-AA2F-2E199D912A56}" srcOrd="1" destOrd="0" presId="urn:microsoft.com/office/officeart/2005/8/layout/list1"/>
    <dgm:cxn modelId="{72AC73D3-5768-485F-8BDB-2133F49732BA}" type="presParOf" srcId="{14C80959-7E62-4D30-9409-0B2F91A75679}" destId="{E11F18C2-6958-49C3-A4D8-A01C6FB322B8}" srcOrd="1" destOrd="0" presId="urn:microsoft.com/office/officeart/2005/8/layout/list1"/>
    <dgm:cxn modelId="{AE4741E1-FC47-4FAB-957B-4F6B25AA40B4}" type="presParOf" srcId="{14C80959-7E62-4D30-9409-0B2F91A75679}" destId="{DB0B0F97-02FF-45E3-B079-1653FDF35792}" srcOrd="2" destOrd="0" presId="urn:microsoft.com/office/officeart/2005/8/layout/list1"/>
    <dgm:cxn modelId="{48DF250B-F307-4999-913F-C33918F5CE38}" type="presParOf" srcId="{14C80959-7E62-4D30-9409-0B2F91A75679}" destId="{681B93D4-910C-4E87-89B4-19BAE6C21560}" srcOrd="3" destOrd="0" presId="urn:microsoft.com/office/officeart/2005/8/layout/list1"/>
    <dgm:cxn modelId="{CA5739BA-6ED3-4BF5-AC0B-49F7261B0998}" type="presParOf" srcId="{14C80959-7E62-4D30-9409-0B2F91A75679}" destId="{79459C94-64D1-474D-9C16-2970A51B4A46}" srcOrd="4" destOrd="0" presId="urn:microsoft.com/office/officeart/2005/8/layout/list1"/>
    <dgm:cxn modelId="{91A6245D-D605-446C-8370-A06AFED85265}" type="presParOf" srcId="{79459C94-64D1-474D-9C16-2970A51B4A46}" destId="{2D98F853-2B30-4B71-9A67-C8CC99C2AAD4}" srcOrd="0" destOrd="0" presId="urn:microsoft.com/office/officeart/2005/8/layout/list1"/>
    <dgm:cxn modelId="{13B6AA95-D8D7-4181-ABEE-AACD2C987C75}" type="presParOf" srcId="{79459C94-64D1-474D-9C16-2970A51B4A46}" destId="{5969FE0C-C635-42CD-B2D2-29D992660BDB}" srcOrd="1" destOrd="0" presId="urn:microsoft.com/office/officeart/2005/8/layout/list1"/>
    <dgm:cxn modelId="{691AAF4F-5021-461A-8AFD-FDB6721873E0}" type="presParOf" srcId="{14C80959-7E62-4D30-9409-0B2F91A75679}" destId="{C78492B6-CDFF-4677-8789-29F664B2410A}" srcOrd="5" destOrd="0" presId="urn:microsoft.com/office/officeart/2005/8/layout/list1"/>
    <dgm:cxn modelId="{3EB0F833-B9D1-4FCC-A865-44544434B7FB}" type="presParOf" srcId="{14C80959-7E62-4D30-9409-0B2F91A75679}" destId="{FE0F6DA9-474E-494A-8267-41C8F392E4BB}" srcOrd="6" destOrd="0" presId="urn:microsoft.com/office/officeart/2005/8/layout/list1"/>
    <dgm:cxn modelId="{DCDE571E-DE02-4793-927A-A084AB9BF15F}" type="presParOf" srcId="{14C80959-7E62-4D30-9409-0B2F91A75679}" destId="{2A1801A6-7E56-45DB-AD37-5250FAF5410B}" srcOrd="7" destOrd="0" presId="urn:microsoft.com/office/officeart/2005/8/layout/list1"/>
    <dgm:cxn modelId="{F0D98261-E079-444B-A851-94E82A17499C}" type="presParOf" srcId="{14C80959-7E62-4D30-9409-0B2F91A75679}" destId="{67E26DE0-0F4D-451D-A66A-89CF46D14795}" srcOrd="8" destOrd="0" presId="urn:microsoft.com/office/officeart/2005/8/layout/list1"/>
    <dgm:cxn modelId="{7D9455B2-A336-4A9D-8EA9-17BE26621186}" type="presParOf" srcId="{67E26DE0-0F4D-451D-A66A-89CF46D14795}" destId="{3C13EE51-7584-4A63-B3AD-B70AD0BFE8C9}" srcOrd="0" destOrd="0" presId="urn:microsoft.com/office/officeart/2005/8/layout/list1"/>
    <dgm:cxn modelId="{3460EF1C-F378-4221-8999-33FA903E72C8}" type="presParOf" srcId="{67E26DE0-0F4D-451D-A66A-89CF46D14795}" destId="{1E0E8860-629A-4AAC-B64D-6A6FDFC4ABD6}" srcOrd="1" destOrd="0" presId="urn:microsoft.com/office/officeart/2005/8/layout/list1"/>
    <dgm:cxn modelId="{3F914DA9-5659-413F-AD76-533E43A648B7}" type="presParOf" srcId="{14C80959-7E62-4D30-9409-0B2F91A75679}" destId="{54ABE7E0-DF78-4E28-A0D4-E9A839EE9EF5}" srcOrd="9" destOrd="0" presId="urn:microsoft.com/office/officeart/2005/8/layout/list1"/>
    <dgm:cxn modelId="{9AFD1BB4-B101-4F3C-8285-4EFFDB5171F9}" type="presParOf" srcId="{14C80959-7E62-4D30-9409-0B2F91A75679}" destId="{EE4330AA-B8CB-45D0-BC5A-03A97F0FE281}" srcOrd="10" destOrd="0" presId="urn:microsoft.com/office/officeart/2005/8/layout/list1"/>
    <dgm:cxn modelId="{526E95DB-61C3-4BC7-88E9-588A9951FDD7}" type="presParOf" srcId="{14C80959-7E62-4D30-9409-0B2F91A75679}" destId="{03D752EC-14AB-4BA9-AA1E-1731C65CEE93}" srcOrd="11" destOrd="0" presId="urn:microsoft.com/office/officeart/2005/8/layout/list1"/>
    <dgm:cxn modelId="{DBB6582D-A885-4C95-8A71-188641400EBB}" type="presParOf" srcId="{14C80959-7E62-4D30-9409-0B2F91A75679}" destId="{B628ABFC-06AD-4868-AC3C-DFF36A41631F}" srcOrd="12" destOrd="0" presId="urn:microsoft.com/office/officeart/2005/8/layout/list1"/>
    <dgm:cxn modelId="{85608856-BF0B-4CCF-BC3B-F544EAA2C843}" type="presParOf" srcId="{B628ABFC-06AD-4868-AC3C-DFF36A41631F}" destId="{5F1F0E5B-D937-4E32-860E-D4BEA478EA80}" srcOrd="0" destOrd="0" presId="urn:microsoft.com/office/officeart/2005/8/layout/list1"/>
    <dgm:cxn modelId="{D222ED2A-79F0-4A7A-8357-51179055653E}" type="presParOf" srcId="{B628ABFC-06AD-4868-AC3C-DFF36A41631F}" destId="{206C0AEB-0170-47E1-BE1B-D41F51BB4F23}" srcOrd="1" destOrd="0" presId="urn:microsoft.com/office/officeart/2005/8/layout/list1"/>
    <dgm:cxn modelId="{6ACCE985-B370-40D5-83A2-CDF36FBB70D8}" type="presParOf" srcId="{14C80959-7E62-4D30-9409-0B2F91A75679}" destId="{2BAB2767-92F9-4ED7-9801-69B6CA57D8CB}" srcOrd="13" destOrd="0" presId="urn:microsoft.com/office/officeart/2005/8/layout/list1"/>
    <dgm:cxn modelId="{948A832C-E29D-4A47-8489-C9492A02B20D}" type="presParOf" srcId="{14C80959-7E62-4D30-9409-0B2F91A75679}" destId="{9632271E-ED33-4C91-B9AA-B427C7540F3A}" srcOrd="14"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B730F41-DC5C-48EB-B510-6E4F31F1EB06}" type="doc">
      <dgm:prSet loTypeId="urn:microsoft.com/office/officeart/2005/8/layout/vList2" loCatId="list" qsTypeId="urn:microsoft.com/office/officeart/2005/8/quickstyle/simple4" qsCatId="simple" csTypeId="urn:microsoft.com/office/officeart/2005/8/colors/accent1_2" csCatId="accent1" phldr="1"/>
      <dgm:spPr/>
      <dgm:t>
        <a:bodyPr/>
        <a:lstStyle/>
        <a:p>
          <a:endParaRPr lang="en-US"/>
        </a:p>
      </dgm:t>
    </dgm:pt>
    <dgm:pt modelId="{CB460529-720B-4183-BA03-5075DB2616D8}">
      <dgm:prSet phldrT="[Text]"/>
      <dgm:spPr/>
      <dgm:t>
        <a:bodyPr/>
        <a:lstStyle/>
        <a:p>
          <a:r>
            <a:rPr lang="en-US" dirty="0"/>
            <a:t>Phototherapy </a:t>
          </a:r>
        </a:p>
      </dgm:t>
    </dgm:pt>
    <dgm:pt modelId="{EA773AFC-F3EF-416B-AF3D-B88A6F88146A}" type="parTrans" cxnId="{5468FF55-DB40-4CC5-B8C4-0BE407064105}">
      <dgm:prSet/>
      <dgm:spPr/>
      <dgm:t>
        <a:bodyPr/>
        <a:lstStyle/>
        <a:p>
          <a:endParaRPr lang="en-US"/>
        </a:p>
      </dgm:t>
    </dgm:pt>
    <dgm:pt modelId="{0E615EA5-B904-4D1D-A7F1-9BE15915A9FF}" type="sibTrans" cxnId="{5468FF55-DB40-4CC5-B8C4-0BE407064105}">
      <dgm:prSet/>
      <dgm:spPr/>
      <dgm:t>
        <a:bodyPr/>
        <a:lstStyle/>
        <a:p>
          <a:endParaRPr lang="en-US"/>
        </a:p>
      </dgm:t>
    </dgm:pt>
    <dgm:pt modelId="{6099C05E-D73B-4311-B466-2E7B662CCEC3}">
      <dgm:prSet phldrT="[Text]"/>
      <dgm:spPr/>
      <dgm:t>
        <a:bodyPr/>
        <a:lstStyle/>
        <a:p>
          <a:r>
            <a:rPr lang="en-US" dirty="0"/>
            <a:t>Exchange transfusion</a:t>
          </a:r>
        </a:p>
      </dgm:t>
    </dgm:pt>
    <dgm:pt modelId="{40BCAAEA-D239-48A5-95CA-8D9C568B29BA}" type="parTrans" cxnId="{7E34AD75-9C7B-4832-BA5E-A99CA215B0AF}">
      <dgm:prSet/>
      <dgm:spPr/>
      <dgm:t>
        <a:bodyPr/>
        <a:lstStyle/>
        <a:p>
          <a:endParaRPr lang="en-US"/>
        </a:p>
      </dgm:t>
    </dgm:pt>
    <dgm:pt modelId="{6BE9266D-5246-43B0-B5D5-9F90D9E4578E}" type="sibTrans" cxnId="{7E34AD75-9C7B-4832-BA5E-A99CA215B0AF}">
      <dgm:prSet/>
      <dgm:spPr/>
      <dgm:t>
        <a:bodyPr/>
        <a:lstStyle/>
        <a:p>
          <a:endParaRPr lang="en-US"/>
        </a:p>
      </dgm:t>
    </dgm:pt>
    <dgm:pt modelId="{1151BDE8-0D0F-4742-AE23-53D78571DE62}">
      <dgm:prSet phldrT="[Text]"/>
      <dgm:spPr/>
      <dgm:t>
        <a:bodyPr/>
        <a:lstStyle/>
        <a:p>
          <a:r>
            <a:rPr lang="en-US" dirty="0" err="1"/>
            <a:t>Phenobaritone</a:t>
          </a:r>
          <a:endParaRPr lang="en-US" dirty="0"/>
        </a:p>
      </dgm:t>
    </dgm:pt>
    <dgm:pt modelId="{D610CE02-C607-48DA-A321-22F0FDF29BF0}" type="parTrans" cxnId="{E821C3FB-B411-4273-A393-CCD4CBAD15A7}">
      <dgm:prSet/>
      <dgm:spPr/>
      <dgm:t>
        <a:bodyPr/>
        <a:lstStyle/>
        <a:p>
          <a:endParaRPr lang="en-US"/>
        </a:p>
      </dgm:t>
    </dgm:pt>
    <dgm:pt modelId="{E87B3BDE-B4E4-44AC-A30D-2036DBC5E542}" type="sibTrans" cxnId="{E821C3FB-B411-4273-A393-CCD4CBAD15A7}">
      <dgm:prSet/>
      <dgm:spPr/>
      <dgm:t>
        <a:bodyPr/>
        <a:lstStyle/>
        <a:p>
          <a:endParaRPr lang="en-US"/>
        </a:p>
      </dgm:t>
    </dgm:pt>
    <dgm:pt modelId="{A96B3F92-1C48-48D8-9AC2-D68F93286520}">
      <dgm:prSet phldrT="[Text]"/>
      <dgm:spPr/>
      <dgm:t>
        <a:bodyPr/>
        <a:lstStyle/>
        <a:p>
          <a:r>
            <a:rPr lang="en-US" dirty="0"/>
            <a:t>Pharmacological therapy</a:t>
          </a:r>
        </a:p>
      </dgm:t>
    </dgm:pt>
    <dgm:pt modelId="{67FE09F3-7FC5-48E7-851A-24A5F3FF07A7}" type="parTrans" cxnId="{86E3DE08-7E90-4827-A67F-A029161DF6BE}">
      <dgm:prSet/>
      <dgm:spPr/>
      <dgm:t>
        <a:bodyPr/>
        <a:lstStyle/>
        <a:p>
          <a:endParaRPr lang="en-US"/>
        </a:p>
      </dgm:t>
    </dgm:pt>
    <dgm:pt modelId="{7616CF7F-50D6-4A31-B0B0-5703E4E39AB7}" type="sibTrans" cxnId="{86E3DE08-7E90-4827-A67F-A029161DF6BE}">
      <dgm:prSet/>
      <dgm:spPr/>
      <dgm:t>
        <a:bodyPr/>
        <a:lstStyle/>
        <a:p>
          <a:endParaRPr lang="en-US"/>
        </a:p>
      </dgm:t>
    </dgm:pt>
    <dgm:pt modelId="{9B064784-DB09-40B4-A576-0338CCC6C829}">
      <dgm:prSet phldrT="[Text]"/>
      <dgm:spPr/>
      <dgm:t>
        <a:bodyPr/>
        <a:lstStyle/>
        <a:p>
          <a:r>
            <a:rPr lang="en-US" dirty="0"/>
            <a:t>Intravenous immunoglobulins</a:t>
          </a:r>
        </a:p>
      </dgm:t>
    </dgm:pt>
    <dgm:pt modelId="{0F950AAE-203A-41F3-9F52-FC3F1BE7B818}" type="parTrans" cxnId="{AF9896EB-FD28-41EF-8093-FFD445F360C0}">
      <dgm:prSet/>
      <dgm:spPr/>
      <dgm:t>
        <a:bodyPr/>
        <a:lstStyle/>
        <a:p>
          <a:endParaRPr lang="en-US"/>
        </a:p>
      </dgm:t>
    </dgm:pt>
    <dgm:pt modelId="{ACC72C1E-E756-4BD4-B640-A61C592FB208}" type="sibTrans" cxnId="{AF9896EB-FD28-41EF-8093-FFD445F360C0}">
      <dgm:prSet/>
      <dgm:spPr/>
      <dgm:t>
        <a:bodyPr/>
        <a:lstStyle/>
        <a:p>
          <a:endParaRPr lang="en-US"/>
        </a:p>
      </dgm:t>
    </dgm:pt>
    <dgm:pt modelId="{446D8BA3-01A0-4F4A-9A7C-77BBA6171E7D}">
      <dgm:prSet phldrT="[Text]"/>
      <dgm:spPr/>
      <dgm:t>
        <a:bodyPr/>
        <a:lstStyle/>
        <a:p>
          <a:r>
            <a:rPr lang="en-US" dirty="0" err="1"/>
            <a:t>Mettaloporphyrins</a:t>
          </a:r>
          <a:r>
            <a:rPr lang="en-US" dirty="0"/>
            <a:t>  </a:t>
          </a:r>
        </a:p>
      </dgm:t>
    </dgm:pt>
    <dgm:pt modelId="{8E393622-3699-456C-8A45-47C3580A5252}" type="parTrans" cxnId="{C66666B9-2AE2-4555-8D4A-80DC7CE9B3A6}">
      <dgm:prSet/>
      <dgm:spPr/>
      <dgm:t>
        <a:bodyPr/>
        <a:lstStyle/>
        <a:p>
          <a:endParaRPr lang="en-US"/>
        </a:p>
      </dgm:t>
    </dgm:pt>
    <dgm:pt modelId="{7A7E8D71-7562-4F2F-99D8-81228CED0E39}" type="sibTrans" cxnId="{C66666B9-2AE2-4555-8D4A-80DC7CE9B3A6}">
      <dgm:prSet/>
      <dgm:spPr/>
      <dgm:t>
        <a:bodyPr/>
        <a:lstStyle/>
        <a:p>
          <a:endParaRPr lang="en-US"/>
        </a:p>
      </dgm:t>
    </dgm:pt>
    <dgm:pt modelId="{87C4A5A0-A269-4743-9B12-5D6073CA0ADE}" type="pres">
      <dgm:prSet presAssocID="{8B730F41-DC5C-48EB-B510-6E4F31F1EB06}" presName="linear" presStyleCnt="0">
        <dgm:presLayoutVars>
          <dgm:animLvl val="lvl"/>
          <dgm:resizeHandles val="exact"/>
        </dgm:presLayoutVars>
      </dgm:prSet>
      <dgm:spPr/>
    </dgm:pt>
    <dgm:pt modelId="{F89910F3-BF21-4102-ADE7-C7376850DD00}" type="pres">
      <dgm:prSet presAssocID="{CB460529-720B-4183-BA03-5075DB2616D8}" presName="parentText" presStyleLbl="node1" presStyleIdx="0" presStyleCnt="3">
        <dgm:presLayoutVars>
          <dgm:chMax val="0"/>
          <dgm:bulletEnabled val="1"/>
        </dgm:presLayoutVars>
      </dgm:prSet>
      <dgm:spPr/>
    </dgm:pt>
    <dgm:pt modelId="{98012F46-AE65-4598-A3D1-0D8E5E7BEB9A}" type="pres">
      <dgm:prSet presAssocID="{0E615EA5-B904-4D1D-A7F1-9BE15915A9FF}" presName="spacer" presStyleCnt="0"/>
      <dgm:spPr/>
    </dgm:pt>
    <dgm:pt modelId="{AD6D3DD5-7CFE-4215-9599-A395C2CAC321}" type="pres">
      <dgm:prSet presAssocID="{6099C05E-D73B-4311-B466-2E7B662CCEC3}" presName="parentText" presStyleLbl="node1" presStyleIdx="1" presStyleCnt="3">
        <dgm:presLayoutVars>
          <dgm:chMax val="0"/>
          <dgm:bulletEnabled val="1"/>
        </dgm:presLayoutVars>
      </dgm:prSet>
      <dgm:spPr/>
    </dgm:pt>
    <dgm:pt modelId="{58CFEC30-817A-4900-ABB7-CB01C65F3C96}" type="pres">
      <dgm:prSet presAssocID="{6BE9266D-5246-43B0-B5D5-9F90D9E4578E}" presName="spacer" presStyleCnt="0"/>
      <dgm:spPr/>
    </dgm:pt>
    <dgm:pt modelId="{7845DAA8-76B3-431C-9A70-A3E0F85BF489}" type="pres">
      <dgm:prSet presAssocID="{A96B3F92-1C48-48D8-9AC2-D68F93286520}" presName="parentText" presStyleLbl="node1" presStyleIdx="2" presStyleCnt="3">
        <dgm:presLayoutVars>
          <dgm:chMax val="0"/>
          <dgm:bulletEnabled val="1"/>
        </dgm:presLayoutVars>
      </dgm:prSet>
      <dgm:spPr/>
    </dgm:pt>
    <dgm:pt modelId="{23403F2D-C637-4F3D-8CB8-A2AC29DCF617}" type="pres">
      <dgm:prSet presAssocID="{A96B3F92-1C48-48D8-9AC2-D68F93286520}" presName="childText" presStyleLbl="revTx" presStyleIdx="0" presStyleCnt="1">
        <dgm:presLayoutVars>
          <dgm:bulletEnabled val="1"/>
        </dgm:presLayoutVars>
      </dgm:prSet>
      <dgm:spPr/>
    </dgm:pt>
  </dgm:ptLst>
  <dgm:cxnLst>
    <dgm:cxn modelId="{86E3DE08-7E90-4827-A67F-A029161DF6BE}" srcId="{8B730F41-DC5C-48EB-B510-6E4F31F1EB06}" destId="{A96B3F92-1C48-48D8-9AC2-D68F93286520}" srcOrd="2" destOrd="0" parTransId="{67FE09F3-7FC5-48E7-851A-24A5F3FF07A7}" sibTransId="{7616CF7F-50D6-4A31-B0B0-5703E4E39AB7}"/>
    <dgm:cxn modelId="{D6A0D110-A2F7-493F-903B-720787DD7618}" type="presOf" srcId="{A96B3F92-1C48-48D8-9AC2-D68F93286520}" destId="{7845DAA8-76B3-431C-9A70-A3E0F85BF489}" srcOrd="0" destOrd="0" presId="urn:microsoft.com/office/officeart/2005/8/layout/vList2"/>
    <dgm:cxn modelId="{A946A224-D950-4353-B342-3BECA5139672}" type="presOf" srcId="{8B730F41-DC5C-48EB-B510-6E4F31F1EB06}" destId="{87C4A5A0-A269-4743-9B12-5D6073CA0ADE}" srcOrd="0" destOrd="0" presId="urn:microsoft.com/office/officeart/2005/8/layout/vList2"/>
    <dgm:cxn modelId="{A3B91361-1E51-49C9-B9E4-F9FBD5C37E22}" type="presOf" srcId="{9B064784-DB09-40B4-A576-0338CCC6C829}" destId="{23403F2D-C637-4F3D-8CB8-A2AC29DCF617}" srcOrd="0" destOrd="1" presId="urn:microsoft.com/office/officeart/2005/8/layout/vList2"/>
    <dgm:cxn modelId="{7E34AD75-9C7B-4832-BA5E-A99CA215B0AF}" srcId="{8B730F41-DC5C-48EB-B510-6E4F31F1EB06}" destId="{6099C05E-D73B-4311-B466-2E7B662CCEC3}" srcOrd="1" destOrd="0" parTransId="{40BCAAEA-D239-48A5-95CA-8D9C568B29BA}" sibTransId="{6BE9266D-5246-43B0-B5D5-9F90D9E4578E}"/>
    <dgm:cxn modelId="{5468FF55-DB40-4CC5-B8C4-0BE407064105}" srcId="{8B730F41-DC5C-48EB-B510-6E4F31F1EB06}" destId="{CB460529-720B-4183-BA03-5075DB2616D8}" srcOrd="0" destOrd="0" parTransId="{EA773AFC-F3EF-416B-AF3D-B88A6F88146A}" sibTransId="{0E615EA5-B904-4D1D-A7F1-9BE15915A9FF}"/>
    <dgm:cxn modelId="{408BA77F-D8FF-49D1-BD4B-934AA1314640}" type="presOf" srcId="{6099C05E-D73B-4311-B466-2E7B662CCEC3}" destId="{AD6D3DD5-7CFE-4215-9599-A395C2CAC321}" srcOrd="0" destOrd="0" presId="urn:microsoft.com/office/officeart/2005/8/layout/vList2"/>
    <dgm:cxn modelId="{2A9F4288-32EA-4B02-AAAF-9F2D5DC90D53}" type="presOf" srcId="{446D8BA3-01A0-4F4A-9A7C-77BBA6171E7D}" destId="{23403F2D-C637-4F3D-8CB8-A2AC29DCF617}" srcOrd="0" destOrd="2" presId="urn:microsoft.com/office/officeart/2005/8/layout/vList2"/>
    <dgm:cxn modelId="{101DC09E-146A-4AE5-9770-AC8B71D18997}" type="presOf" srcId="{CB460529-720B-4183-BA03-5075DB2616D8}" destId="{F89910F3-BF21-4102-ADE7-C7376850DD00}" srcOrd="0" destOrd="0" presId="urn:microsoft.com/office/officeart/2005/8/layout/vList2"/>
    <dgm:cxn modelId="{C66666B9-2AE2-4555-8D4A-80DC7CE9B3A6}" srcId="{A96B3F92-1C48-48D8-9AC2-D68F93286520}" destId="{446D8BA3-01A0-4F4A-9A7C-77BBA6171E7D}" srcOrd="2" destOrd="0" parTransId="{8E393622-3699-456C-8A45-47C3580A5252}" sibTransId="{7A7E8D71-7562-4F2F-99D8-81228CED0E39}"/>
    <dgm:cxn modelId="{805B1CDE-5FEA-43C0-A0E8-7F460DD3AAE2}" type="presOf" srcId="{1151BDE8-0D0F-4742-AE23-53D78571DE62}" destId="{23403F2D-C637-4F3D-8CB8-A2AC29DCF617}" srcOrd="0" destOrd="0" presId="urn:microsoft.com/office/officeart/2005/8/layout/vList2"/>
    <dgm:cxn modelId="{AF9896EB-FD28-41EF-8093-FFD445F360C0}" srcId="{A96B3F92-1C48-48D8-9AC2-D68F93286520}" destId="{9B064784-DB09-40B4-A576-0338CCC6C829}" srcOrd="1" destOrd="0" parTransId="{0F950AAE-203A-41F3-9F52-FC3F1BE7B818}" sibTransId="{ACC72C1E-E756-4BD4-B640-A61C592FB208}"/>
    <dgm:cxn modelId="{E821C3FB-B411-4273-A393-CCD4CBAD15A7}" srcId="{A96B3F92-1C48-48D8-9AC2-D68F93286520}" destId="{1151BDE8-0D0F-4742-AE23-53D78571DE62}" srcOrd="0" destOrd="0" parTransId="{D610CE02-C607-48DA-A321-22F0FDF29BF0}" sibTransId="{E87B3BDE-B4E4-44AC-A30D-2036DBC5E542}"/>
    <dgm:cxn modelId="{C257D98E-7FCE-47F6-9F25-38C3A4224AB0}" type="presParOf" srcId="{87C4A5A0-A269-4743-9B12-5D6073CA0ADE}" destId="{F89910F3-BF21-4102-ADE7-C7376850DD00}" srcOrd="0" destOrd="0" presId="urn:microsoft.com/office/officeart/2005/8/layout/vList2"/>
    <dgm:cxn modelId="{51344510-F4C5-479C-ACB4-BA38B5BE23C7}" type="presParOf" srcId="{87C4A5A0-A269-4743-9B12-5D6073CA0ADE}" destId="{98012F46-AE65-4598-A3D1-0D8E5E7BEB9A}" srcOrd="1" destOrd="0" presId="urn:microsoft.com/office/officeart/2005/8/layout/vList2"/>
    <dgm:cxn modelId="{7C43D769-4D55-40D0-BD0A-10F55CD5E173}" type="presParOf" srcId="{87C4A5A0-A269-4743-9B12-5D6073CA0ADE}" destId="{AD6D3DD5-7CFE-4215-9599-A395C2CAC321}" srcOrd="2" destOrd="0" presId="urn:microsoft.com/office/officeart/2005/8/layout/vList2"/>
    <dgm:cxn modelId="{AB56B30B-F6BF-4F44-B179-552452FF60A5}" type="presParOf" srcId="{87C4A5A0-A269-4743-9B12-5D6073CA0ADE}" destId="{58CFEC30-817A-4900-ABB7-CB01C65F3C96}" srcOrd="3" destOrd="0" presId="urn:microsoft.com/office/officeart/2005/8/layout/vList2"/>
    <dgm:cxn modelId="{4D24B591-FE67-4C13-B08A-E0BE3F7982BB}" type="presParOf" srcId="{87C4A5A0-A269-4743-9B12-5D6073CA0ADE}" destId="{7845DAA8-76B3-431C-9A70-A3E0F85BF489}" srcOrd="4" destOrd="0" presId="urn:microsoft.com/office/officeart/2005/8/layout/vList2"/>
    <dgm:cxn modelId="{1C893A6D-4E6D-4308-B960-E655B13C4933}" type="presParOf" srcId="{87C4A5A0-A269-4743-9B12-5D6073CA0ADE}" destId="{23403F2D-C637-4F3D-8CB8-A2AC29DCF617}"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B4479E9-C3CE-4AE2-95A0-408A0E8A20DA}" type="doc">
      <dgm:prSet loTypeId="urn:microsoft.com/office/officeart/2005/8/layout/vList2" loCatId="list" qsTypeId="urn:microsoft.com/office/officeart/2005/8/quickstyle/3d1" qsCatId="3D" csTypeId="urn:microsoft.com/office/officeart/2005/8/colors/accent1_2" csCatId="accent1" phldr="1"/>
      <dgm:spPr/>
      <dgm:t>
        <a:bodyPr/>
        <a:lstStyle/>
        <a:p>
          <a:endParaRPr lang="en-US"/>
        </a:p>
      </dgm:t>
    </dgm:pt>
    <dgm:pt modelId="{298F121B-7513-4752-A613-9CEF0ABFD4D1}">
      <dgm:prSet phldrT="[Text]"/>
      <dgm:spPr/>
      <dgm:t>
        <a:bodyPr/>
        <a:lstStyle/>
        <a:p>
          <a:pPr>
            <a:buFont typeface="Wingdings" panose="05000000000000000000" pitchFamily="2" charset="2"/>
            <a:buChar char=""/>
          </a:pP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Cerebral Palsy</a:t>
          </a:r>
          <a:endParaRPr lang="en-US" dirty="0"/>
        </a:p>
      </dgm:t>
    </dgm:pt>
    <dgm:pt modelId="{FFE3D3ED-801A-400B-8B06-6482A252F621}" type="parTrans" cxnId="{4229661B-19CE-417B-B516-CB7291DDAEB0}">
      <dgm:prSet/>
      <dgm:spPr/>
      <dgm:t>
        <a:bodyPr/>
        <a:lstStyle/>
        <a:p>
          <a:endParaRPr lang="en-US"/>
        </a:p>
      </dgm:t>
    </dgm:pt>
    <dgm:pt modelId="{153235A0-C5EA-482D-95B6-F7C66413BB37}" type="sibTrans" cxnId="{4229661B-19CE-417B-B516-CB7291DDAEB0}">
      <dgm:prSet/>
      <dgm:spPr/>
      <dgm:t>
        <a:bodyPr/>
        <a:lstStyle/>
        <a:p>
          <a:endParaRPr lang="en-US"/>
        </a:p>
      </dgm:t>
    </dgm:pt>
    <dgm:pt modelId="{FCB9FFF8-D58F-4254-B23A-6ACB0CFFA328}">
      <dgm:prSet phldrT="[Text]"/>
      <dgm:spPr/>
      <dgm:t>
        <a:bodyPr/>
        <a:lstStyle/>
        <a:p>
          <a:pPr>
            <a:buFont typeface="Wingdings" panose="05000000000000000000" pitchFamily="2" charset="2"/>
            <a:buChar char=""/>
          </a:pPr>
          <a:r>
            <a:rPr lang="en-US" dirty="0">
              <a:latin typeface="Times New Roman" panose="02020603050405020304" pitchFamily="18" charset="0"/>
              <a:ea typeface="Calibri" panose="020F0502020204030204" pitchFamily="34" charset="0"/>
              <a:cs typeface="Times New Roman" panose="02020603050405020304" pitchFamily="18" charset="0"/>
            </a:rPr>
            <a:t>Deafness </a:t>
          </a:r>
          <a:endParaRPr lang="en-US" dirty="0"/>
        </a:p>
      </dgm:t>
    </dgm:pt>
    <dgm:pt modelId="{5C1F9C56-9A04-46D6-906A-DD2086DDBAFF}" type="parTrans" cxnId="{BBF99715-1E72-436E-B690-0C731FECE028}">
      <dgm:prSet/>
      <dgm:spPr/>
      <dgm:t>
        <a:bodyPr/>
        <a:lstStyle/>
        <a:p>
          <a:endParaRPr lang="en-US"/>
        </a:p>
      </dgm:t>
    </dgm:pt>
    <dgm:pt modelId="{7AED2DC0-FD95-4550-A333-B1839AF96795}" type="sibTrans" cxnId="{BBF99715-1E72-436E-B690-0C731FECE028}">
      <dgm:prSet/>
      <dgm:spPr/>
      <dgm:t>
        <a:bodyPr/>
        <a:lstStyle/>
        <a:p>
          <a:endParaRPr lang="en-US"/>
        </a:p>
      </dgm:t>
    </dgm:pt>
    <dgm:pt modelId="{BA6A12DC-BF2B-4777-8EF8-BEB317B79A02}">
      <dgm:prSet phldrT="[Text]"/>
      <dgm:spPr/>
      <dgm:t>
        <a:bodyPr/>
        <a:lstStyle/>
        <a:p>
          <a:r>
            <a:rPr lang="en-US" dirty="0"/>
            <a:t>Kernicterus</a:t>
          </a:r>
        </a:p>
      </dgm:t>
    </dgm:pt>
    <dgm:pt modelId="{C814DC34-7F2A-4058-B91D-0CF520BF687E}" type="parTrans" cxnId="{A198A19E-44F9-45E1-B6D1-719B290FBE8D}">
      <dgm:prSet/>
      <dgm:spPr/>
      <dgm:t>
        <a:bodyPr/>
        <a:lstStyle/>
        <a:p>
          <a:endParaRPr lang="en-US"/>
        </a:p>
      </dgm:t>
    </dgm:pt>
    <dgm:pt modelId="{55594B1E-98AC-474E-A558-F34B01EF90A1}" type="sibTrans" cxnId="{A198A19E-44F9-45E1-B6D1-719B290FBE8D}">
      <dgm:prSet/>
      <dgm:spPr/>
      <dgm:t>
        <a:bodyPr/>
        <a:lstStyle/>
        <a:p>
          <a:endParaRPr lang="en-US"/>
        </a:p>
      </dgm:t>
    </dgm:pt>
    <dgm:pt modelId="{27038F2D-19AE-4888-8CB5-2BC791E1DB98}" type="pres">
      <dgm:prSet presAssocID="{7B4479E9-C3CE-4AE2-95A0-408A0E8A20DA}" presName="linear" presStyleCnt="0">
        <dgm:presLayoutVars>
          <dgm:animLvl val="lvl"/>
          <dgm:resizeHandles val="exact"/>
        </dgm:presLayoutVars>
      </dgm:prSet>
      <dgm:spPr/>
    </dgm:pt>
    <dgm:pt modelId="{26E5FBC8-7F10-47B1-988A-16C4C8659C8B}" type="pres">
      <dgm:prSet presAssocID="{298F121B-7513-4752-A613-9CEF0ABFD4D1}" presName="parentText" presStyleLbl="node1" presStyleIdx="0" presStyleCnt="3">
        <dgm:presLayoutVars>
          <dgm:chMax val="0"/>
          <dgm:bulletEnabled val="1"/>
        </dgm:presLayoutVars>
      </dgm:prSet>
      <dgm:spPr/>
    </dgm:pt>
    <dgm:pt modelId="{B9DE36BD-15B3-4E50-AA25-68E8E8D8DB15}" type="pres">
      <dgm:prSet presAssocID="{153235A0-C5EA-482D-95B6-F7C66413BB37}" presName="spacer" presStyleCnt="0"/>
      <dgm:spPr/>
    </dgm:pt>
    <dgm:pt modelId="{B2C21AE9-178F-417A-9CF6-1C506B9BD6F3}" type="pres">
      <dgm:prSet presAssocID="{FCB9FFF8-D58F-4254-B23A-6ACB0CFFA328}" presName="parentText" presStyleLbl="node1" presStyleIdx="1" presStyleCnt="3">
        <dgm:presLayoutVars>
          <dgm:chMax val="0"/>
          <dgm:bulletEnabled val="1"/>
        </dgm:presLayoutVars>
      </dgm:prSet>
      <dgm:spPr/>
    </dgm:pt>
    <dgm:pt modelId="{F8B895FE-DB23-420E-A31D-EB493B19DAAE}" type="pres">
      <dgm:prSet presAssocID="{7AED2DC0-FD95-4550-A333-B1839AF96795}" presName="spacer" presStyleCnt="0"/>
      <dgm:spPr/>
    </dgm:pt>
    <dgm:pt modelId="{90172301-1EB5-4CDA-BDF2-A8A3FDBE1B61}" type="pres">
      <dgm:prSet presAssocID="{BA6A12DC-BF2B-4777-8EF8-BEB317B79A02}" presName="parentText" presStyleLbl="node1" presStyleIdx="2" presStyleCnt="3">
        <dgm:presLayoutVars>
          <dgm:chMax val="0"/>
          <dgm:bulletEnabled val="1"/>
        </dgm:presLayoutVars>
      </dgm:prSet>
      <dgm:spPr/>
    </dgm:pt>
  </dgm:ptLst>
  <dgm:cxnLst>
    <dgm:cxn modelId="{BBF99715-1E72-436E-B690-0C731FECE028}" srcId="{7B4479E9-C3CE-4AE2-95A0-408A0E8A20DA}" destId="{FCB9FFF8-D58F-4254-B23A-6ACB0CFFA328}" srcOrd="1" destOrd="0" parTransId="{5C1F9C56-9A04-46D6-906A-DD2086DDBAFF}" sibTransId="{7AED2DC0-FD95-4550-A333-B1839AF96795}"/>
    <dgm:cxn modelId="{4229661B-19CE-417B-B516-CB7291DDAEB0}" srcId="{7B4479E9-C3CE-4AE2-95A0-408A0E8A20DA}" destId="{298F121B-7513-4752-A613-9CEF0ABFD4D1}" srcOrd="0" destOrd="0" parTransId="{FFE3D3ED-801A-400B-8B06-6482A252F621}" sibTransId="{153235A0-C5EA-482D-95B6-F7C66413BB37}"/>
    <dgm:cxn modelId="{753D1162-E1A6-490F-AA67-5C11AD031D3A}" type="presOf" srcId="{7B4479E9-C3CE-4AE2-95A0-408A0E8A20DA}" destId="{27038F2D-19AE-4888-8CB5-2BC791E1DB98}" srcOrd="0" destOrd="0" presId="urn:microsoft.com/office/officeart/2005/8/layout/vList2"/>
    <dgm:cxn modelId="{E2D19A7D-1667-4FCB-91C6-CFEF71D46AEA}" type="presOf" srcId="{BA6A12DC-BF2B-4777-8EF8-BEB317B79A02}" destId="{90172301-1EB5-4CDA-BDF2-A8A3FDBE1B61}" srcOrd="0" destOrd="0" presId="urn:microsoft.com/office/officeart/2005/8/layout/vList2"/>
    <dgm:cxn modelId="{642D2292-3E64-43F7-946C-6A46536D1DAE}" type="presOf" srcId="{298F121B-7513-4752-A613-9CEF0ABFD4D1}" destId="{26E5FBC8-7F10-47B1-988A-16C4C8659C8B}" srcOrd="0" destOrd="0" presId="urn:microsoft.com/office/officeart/2005/8/layout/vList2"/>
    <dgm:cxn modelId="{A198A19E-44F9-45E1-B6D1-719B290FBE8D}" srcId="{7B4479E9-C3CE-4AE2-95A0-408A0E8A20DA}" destId="{BA6A12DC-BF2B-4777-8EF8-BEB317B79A02}" srcOrd="2" destOrd="0" parTransId="{C814DC34-7F2A-4058-B91D-0CF520BF687E}" sibTransId="{55594B1E-98AC-474E-A558-F34B01EF90A1}"/>
    <dgm:cxn modelId="{E8D80EC4-E5DE-4116-83DF-F45CF7058470}" type="presOf" srcId="{FCB9FFF8-D58F-4254-B23A-6ACB0CFFA328}" destId="{B2C21AE9-178F-417A-9CF6-1C506B9BD6F3}" srcOrd="0" destOrd="0" presId="urn:microsoft.com/office/officeart/2005/8/layout/vList2"/>
    <dgm:cxn modelId="{8E0BF403-531F-4210-8EAE-8FEFEFAAA567}" type="presParOf" srcId="{27038F2D-19AE-4888-8CB5-2BC791E1DB98}" destId="{26E5FBC8-7F10-47B1-988A-16C4C8659C8B}" srcOrd="0" destOrd="0" presId="urn:microsoft.com/office/officeart/2005/8/layout/vList2"/>
    <dgm:cxn modelId="{5CCCEE0A-6CF7-472A-AF19-29C238FD1DC6}" type="presParOf" srcId="{27038F2D-19AE-4888-8CB5-2BC791E1DB98}" destId="{B9DE36BD-15B3-4E50-AA25-68E8E8D8DB15}" srcOrd="1" destOrd="0" presId="urn:microsoft.com/office/officeart/2005/8/layout/vList2"/>
    <dgm:cxn modelId="{CB3AC693-8ECA-4893-8572-E0B3CB3A243B}" type="presParOf" srcId="{27038F2D-19AE-4888-8CB5-2BC791E1DB98}" destId="{B2C21AE9-178F-417A-9CF6-1C506B9BD6F3}" srcOrd="2" destOrd="0" presId="urn:microsoft.com/office/officeart/2005/8/layout/vList2"/>
    <dgm:cxn modelId="{A87F76AA-41CA-4E7F-AEDC-6704D4E57F77}" type="presParOf" srcId="{27038F2D-19AE-4888-8CB5-2BC791E1DB98}" destId="{F8B895FE-DB23-420E-A31D-EB493B19DAAE}" srcOrd="3" destOrd="0" presId="urn:microsoft.com/office/officeart/2005/8/layout/vList2"/>
    <dgm:cxn modelId="{55F7576A-E6B5-4785-8324-A35594E46514}" type="presParOf" srcId="{27038F2D-19AE-4888-8CB5-2BC791E1DB98}" destId="{90172301-1EB5-4CDA-BDF2-A8A3FDBE1B61}"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8298BC4C-45CB-49F2-8103-B16CE7779647}" type="doc">
      <dgm:prSet loTypeId="urn:microsoft.com/office/officeart/2005/8/layout/matrix1" loCatId="matrix" qsTypeId="urn:microsoft.com/office/officeart/2005/8/quickstyle/3d2" qsCatId="3D" csTypeId="urn:microsoft.com/office/officeart/2005/8/colors/accent1_2" csCatId="accent1" phldr="1"/>
      <dgm:spPr/>
      <dgm:t>
        <a:bodyPr/>
        <a:lstStyle/>
        <a:p>
          <a:endParaRPr lang="en-US"/>
        </a:p>
      </dgm:t>
    </dgm:pt>
    <dgm:pt modelId="{6A470617-3565-4F07-9D2E-759D1EADD8F6}">
      <dgm:prSet phldrT="[Text]"/>
      <dgm:spPr/>
      <dgm:t>
        <a:bodyPr/>
        <a:lstStyle/>
        <a:p>
          <a:r>
            <a:rPr lang="en-US" b="1" dirty="0">
              <a:effectLst/>
              <a:latin typeface="Times New Roman" panose="02020603050405020304" pitchFamily="18" charset="0"/>
              <a:ea typeface="Calibri" panose="020F0502020204030204" pitchFamily="34" charset="0"/>
              <a:cs typeface="Gautami" panose="020B0502040204020203" pitchFamily="34" charset="0"/>
            </a:rPr>
            <a:t>OBJECTIVES</a:t>
          </a:r>
          <a:endParaRPr lang="en-US" dirty="0"/>
        </a:p>
      </dgm:t>
    </dgm:pt>
    <dgm:pt modelId="{8DFF3D16-6BE5-4861-B2A3-263F1B249A0E}" type="parTrans" cxnId="{2F7E7652-FEDC-4837-B96F-153942B1DA45}">
      <dgm:prSet/>
      <dgm:spPr/>
      <dgm:t>
        <a:bodyPr/>
        <a:lstStyle/>
        <a:p>
          <a:endParaRPr lang="en-US"/>
        </a:p>
      </dgm:t>
    </dgm:pt>
    <dgm:pt modelId="{7648893E-F0C1-4655-B5C1-6880C55EA792}" type="sibTrans" cxnId="{2F7E7652-FEDC-4837-B96F-153942B1DA45}">
      <dgm:prSet/>
      <dgm:spPr/>
      <dgm:t>
        <a:bodyPr/>
        <a:lstStyle/>
        <a:p>
          <a:endParaRPr lang="en-US"/>
        </a:p>
      </dgm:t>
    </dgm:pt>
    <dgm:pt modelId="{95FFDC06-F596-49F1-8598-51DFD65CF6E9}">
      <dgm:prSet phldrT="[Text]"/>
      <dgm:spPr/>
      <dgm:t>
        <a:bodyPr/>
        <a:lstStyle/>
        <a:p>
          <a:pPr>
            <a:buFont typeface="Wingdings" panose="05000000000000000000" pitchFamily="2" charset="2"/>
            <a:buChar char=""/>
          </a:pPr>
          <a:r>
            <a:rPr lang="en-US" dirty="0">
              <a:effectLst/>
              <a:latin typeface="Times New Roman" panose="02020603050405020304" pitchFamily="18" charset="0"/>
              <a:ea typeface="Calibri" panose="020F0502020204030204" pitchFamily="34" charset="0"/>
              <a:cs typeface="Gautami" panose="020B0502040204020203" pitchFamily="34" charset="0"/>
            </a:rPr>
            <a:t>To assess the risk of jaundice in neonates.</a:t>
          </a:r>
          <a:endParaRPr lang="en-US" dirty="0"/>
        </a:p>
      </dgm:t>
    </dgm:pt>
    <dgm:pt modelId="{00DA0D52-1375-4949-9845-34D596F141DE}" type="parTrans" cxnId="{639F968D-BAA0-4FE4-A2EC-D2208316009F}">
      <dgm:prSet/>
      <dgm:spPr/>
      <dgm:t>
        <a:bodyPr/>
        <a:lstStyle/>
        <a:p>
          <a:endParaRPr lang="en-US"/>
        </a:p>
      </dgm:t>
    </dgm:pt>
    <dgm:pt modelId="{76913A13-98AC-42B8-945C-4B33392949DD}" type="sibTrans" cxnId="{639F968D-BAA0-4FE4-A2EC-D2208316009F}">
      <dgm:prSet/>
      <dgm:spPr/>
      <dgm:t>
        <a:bodyPr/>
        <a:lstStyle/>
        <a:p>
          <a:endParaRPr lang="en-US"/>
        </a:p>
      </dgm:t>
    </dgm:pt>
    <dgm:pt modelId="{2E5ED72E-B57E-4A39-A730-70750C6D7390}">
      <dgm:prSet phldrT="[Text]"/>
      <dgm:spPr/>
      <dgm:t>
        <a:bodyPr/>
        <a:lstStyle/>
        <a:p>
          <a:pPr>
            <a:buFont typeface="Wingdings" panose="05000000000000000000" pitchFamily="2" charset="2"/>
            <a:buChar char=""/>
          </a:pPr>
          <a:r>
            <a:rPr lang="en-US" dirty="0">
              <a:effectLst/>
              <a:latin typeface="Times New Roman" panose="02020603050405020304" pitchFamily="18" charset="0"/>
              <a:ea typeface="Calibri" panose="020F0502020204030204" pitchFamily="34" charset="0"/>
              <a:cs typeface="Gautami" panose="020B0502040204020203" pitchFamily="34" charset="0"/>
            </a:rPr>
            <a:t>To assess mother’s knowledge on neonatal jaundice.</a:t>
          </a:r>
          <a:endParaRPr lang="en-US" dirty="0"/>
        </a:p>
      </dgm:t>
    </dgm:pt>
    <dgm:pt modelId="{427E47BE-924D-49D7-94E4-4222621C7153}" type="parTrans" cxnId="{099F774F-480B-4BF5-8DF8-A5B0D20FC1D2}">
      <dgm:prSet/>
      <dgm:spPr/>
      <dgm:t>
        <a:bodyPr/>
        <a:lstStyle/>
        <a:p>
          <a:endParaRPr lang="en-US"/>
        </a:p>
      </dgm:t>
    </dgm:pt>
    <dgm:pt modelId="{6BB33C23-70E2-4325-8510-ADB15EE63930}" type="sibTrans" cxnId="{099F774F-480B-4BF5-8DF8-A5B0D20FC1D2}">
      <dgm:prSet/>
      <dgm:spPr/>
      <dgm:t>
        <a:bodyPr/>
        <a:lstStyle/>
        <a:p>
          <a:endParaRPr lang="en-US"/>
        </a:p>
      </dgm:t>
    </dgm:pt>
    <dgm:pt modelId="{5B9C865E-FA43-4AF0-A27A-8D63E75B3FD5}">
      <dgm:prSet phldrT="[Text]"/>
      <dgm:spPr/>
      <dgm:t>
        <a:bodyPr/>
        <a:lstStyle/>
        <a:p>
          <a:pPr>
            <a:buFont typeface="Wingdings" panose="05000000000000000000" pitchFamily="2" charset="2"/>
            <a:buChar char=""/>
          </a:pPr>
          <a:r>
            <a:rPr lang="en-US" dirty="0">
              <a:effectLst/>
              <a:latin typeface="Times New Roman" panose="02020603050405020304" pitchFamily="18" charset="0"/>
              <a:ea typeface="Calibri" panose="020F0502020204030204" pitchFamily="34" charset="0"/>
              <a:cs typeface="Gautami" panose="020B0502040204020203" pitchFamily="34" charset="0"/>
            </a:rPr>
            <a:t>To compare full term with pre term neonates both having neonatal jaundice.</a:t>
          </a:r>
          <a:endParaRPr lang="en-US" dirty="0"/>
        </a:p>
      </dgm:t>
    </dgm:pt>
    <dgm:pt modelId="{E7BACDBD-E301-42B7-818A-B9B7024E8545}" type="parTrans" cxnId="{F06D7073-C0DD-4C04-AE8C-3F619D0CF4B1}">
      <dgm:prSet/>
      <dgm:spPr/>
      <dgm:t>
        <a:bodyPr/>
        <a:lstStyle/>
        <a:p>
          <a:endParaRPr lang="en-US"/>
        </a:p>
      </dgm:t>
    </dgm:pt>
    <dgm:pt modelId="{14171A0F-4DEE-4E78-B4D4-CA86A69AD077}" type="sibTrans" cxnId="{F06D7073-C0DD-4C04-AE8C-3F619D0CF4B1}">
      <dgm:prSet/>
      <dgm:spPr/>
      <dgm:t>
        <a:bodyPr/>
        <a:lstStyle/>
        <a:p>
          <a:endParaRPr lang="en-US"/>
        </a:p>
      </dgm:t>
    </dgm:pt>
    <dgm:pt modelId="{4085B73B-554A-4953-AC8F-1C0523F01D23}">
      <dgm:prSet phldrT="[Text]"/>
      <dgm:spPr/>
      <dgm:t>
        <a:bodyPr/>
        <a:lstStyle/>
        <a:p>
          <a:pPr>
            <a:buFont typeface="Wingdings" panose="05000000000000000000" pitchFamily="2" charset="2"/>
            <a:buChar char=""/>
          </a:pPr>
          <a:r>
            <a:rPr lang="en-US" dirty="0">
              <a:effectLst/>
              <a:latin typeface="Times New Roman" panose="02020603050405020304" pitchFamily="18" charset="0"/>
              <a:ea typeface="Calibri" panose="020F0502020204030204" pitchFamily="34" charset="0"/>
              <a:cs typeface="Gautami" panose="020B0502040204020203" pitchFamily="34" charset="0"/>
            </a:rPr>
            <a:t>To educate mothers regarding neonatal jaundice and increase their awareness.</a:t>
          </a:r>
          <a:endParaRPr lang="en-US" dirty="0"/>
        </a:p>
      </dgm:t>
    </dgm:pt>
    <dgm:pt modelId="{2BCC2981-1812-4430-B44F-9C574DB91FB4}" type="parTrans" cxnId="{3E1C8E4E-B3F2-41EC-ABFE-8B64D05888BD}">
      <dgm:prSet/>
      <dgm:spPr/>
      <dgm:t>
        <a:bodyPr/>
        <a:lstStyle/>
        <a:p>
          <a:endParaRPr lang="en-US"/>
        </a:p>
      </dgm:t>
    </dgm:pt>
    <dgm:pt modelId="{3A766802-F17D-45C6-8D1C-D86D5D2132ED}" type="sibTrans" cxnId="{3E1C8E4E-B3F2-41EC-ABFE-8B64D05888BD}">
      <dgm:prSet/>
      <dgm:spPr/>
      <dgm:t>
        <a:bodyPr/>
        <a:lstStyle/>
        <a:p>
          <a:endParaRPr lang="en-US"/>
        </a:p>
      </dgm:t>
    </dgm:pt>
    <dgm:pt modelId="{F45B1D7D-F377-4837-BEAB-24C4CA626E54}" type="pres">
      <dgm:prSet presAssocID="{8298BC4C-45CB-49F2-8103-B16CE7779647}" presName="diagram" presStyleCnt="0">
        <dgm:presLayoutVars>
          <dgm:chMax val="1"/>
          <dgm:dir/>
          <dgm:animLvl val="ctr"/>
          <dgm:resizeHandles val="exact"/>
        </dgm:presLayoutVars>
      </dgm:prSet>
      <dgm:spPr/>
    </dgm:pt>
    <dgm:pt modelId="{3C9B0C2C-9B5A-4CB0-8489-08112B1CC62A}" type="pres">
      <dgm:prSet presAssocID="{8298BC4C-45CB-49F2-8103-B16CE7779647}" presName="matrix" presStyleCnt="0"/>
      <dgm:spPr/>
    </dgm:pt>
    <dgm:pt modelId="{DAC8A5D2-361E-4295-8DD5-740D11826509}" type="pres">
      <dgm:prSet presAssocID="{8298BC4C-45CB-49F2-8103-B16CE7779647}" presName="tile1" presStyleLbl="node1" presStyleIdx="0" presStyleCnt="4" custLinFactNeighborX="0"/>
      <dgm:spPr/>
    </dgm:pt>
    <dgm:pt modelId="{0F4F0475-FA0E-4E4F-AD64-A7219C7AC5B8}" type="pres">
      <dgm:prSet presAssocID="{8298BC4C-45CB-49F2-8103-B16CE7779647}" presName="tile1text" presStyleLbl="node1" presStyleIdx="0" presStyleCnt="4">
        <dgm:presLayoutVars>
          <dgm:chMax val="0"/>
          <dgm:chPref val="0"/>
          <dgm:bulletEnabled val="1"/>
        </dgm:presLayoutVars>
      </dgm:prSet>
      <dgm:spPr/>
    </dgm:pt>
    <dgm:pt modelId="{35C69C27-B83C-4465-8647-22D0AE0ED6AE}" type="pres">
      <dgm:prSet presAssocID="{8298BC4C-45CB-49F2-8103-B16CE7779647}" presName="tile2" presStyleLbl="node1" presStyleIdx="1" presStyleCnt="4" custLinFactNeighborX="0"/>
      <dgm:spPr/>
    </dgm:pt>
    <dgm:pt modelId="{0BBDBB21-847B-4AE4-8CD9-0948D5596E1E}" type="pres">
      <dgm:prSet presAssocID="{8298BC4C-45CB-49F2-8103-B16CE7779647}" presName="tile2text" presStyleLbl="node1" presStyleIdx="1" presStyleCnt="4">
        <dgm:presLayoutVars>
          <dgm:chMax val="0"/>
          <dgm:chPref val="0"/>
          <dgm:bulletEnabled val="1"/>
        </dgm:presLayoutVars>
      </dgm:prSet>
      <dgm:spPr/>
    </dgm:pt>
    <dgm:pt modelId="{9887AEB3-A4C4-4563-B477-041DF482B624}" type="pres">
      <dgm:prSet presAssocID="{8298BC4C-45CB-49F2-8103-B16CE7779647}" presName="tile3" presStyleLbl="node1" presStyleIdx="2" presStyleCnt="4"/>
      <dgm:spPr/>
    </dgm:pt>
    <dgm:pt modelId="{9DA57D17-C0BF-415F-B708-CF408A1030E1}" type="pres">
      <dgm:prSet presAssocID="{8298BC4C-45CB-49F2-8103-B16CE7779647}" presName="tile3text" presStyleLbl="node1" presStyleIdx="2" presStyleCnt="4">
        <dgm:presLayoutVars>
          <dgm:chMax val="0"/>
          <dgm:chPref val="0"/>
          <dgm:bulletEnabled val="1"/>
        </dgm:presLayoutVars>
      </dgm:prSet>
      <dgm:spPr/>
    </dgm:pt>
    <dgm:pt modelId="{57FF522A-88D8-439B-941F-256C58273EEB}" type="pres">
      <dgm:prSet presAssocID="{8298BC4C-45CB-49F2-8103-B16CE7779647}" presName="tile4" presStyleLbl="node1" presStyleIdx="3" presStyleCnt="4"/>
      <dgm:spPr/>
    </dgm:pt>
    <dgm:pt modelId="{9D848BC7-F1E1-495E-8E9E-E02640E2BA29}" type="pres">
      <dgm:prSet presAssocID="{8298BC4C-45CB-49F2-8103-B16CE7779647}" presName="tile4text" presStyleLbl="node1" presStyleIdx="3" presStyleCnt="4">
        <dgm:presLayoutVars>
          <dgm:chMax val="0"/>
          <dgm:chPref val="0"/>
          <dgm:bulletEnabled val="1"/>
        </dgm:presLayoutVars>
      </dgm:prSet>
      <dgm:spPr/>
    </dgm:pt>
    <dgm:pt modelId="{FA46D005-AF4F-4315-BE6B-8EBB23D926E1}" type="pres">
      <dgm:prSet presAssocID="{8298BC4C-45CB-49F2-8103-B16CE7779647}" presName="centerTile" presStyleLbl="fgShp" presStyleIdx="0" presStyleCnt="1">
        <dgm:presLayoutVars>
          <dgm:chMax val="0"/>
          <dgm:chPref val="0"/>
        </dgm:presLayoutVars>
      </dgm:prSet>
      <dgm:spPr/>
    </dgm:pt>
  </dgm:ptLst>
  <dgm:cxnLst>
    <dgm:cxn modelId="{55275668-250A-4554-8633-E3BE7EE5A035}" type="presOf" srcId="{95FFDC06-F596-49F1-8598-51DFD65CF6E9}" destId="{0F4F0475-FA0E-4E4F-AD64-A7219C7AC5B8}" srcOrd="1" destOrd="0" presId="urn:microsoft.com/office/officeart/2005/8/layout/matrix1"/>
    <dgm:cxn modelId="{2355A869-1A7F-495E-95DD-C85CC23A444D}" type="presOf" srcId="{2E5ED72E-B57E-4A39-A730-70750C6D7390}" destId="{0BBDBB21-847B-4AE4-8CD9-0948D5596E1E}" srcOrd="1" destOrd="0" presId="urn:microsoft.com/office/officeart/2005/8/layout/matrix1"/>
    <dgm:cxn modelId="{3E1C8E4E-B3F2-41EC-ABFE-8B64D05888BD}" srcId="{6A470617-3565-4F07-9D2E-759D1EADD8F6}" destId="{4085B73B-554A-4953-AC8F-1C0523F01D23}" srcOrd="3" destOrd="0" parTransId="{2BCC2981-1812-4430-B44F-9C574DB91FB4}" sibTransId="{3A766802-F17D-45C6-8D1C-D86D5D2132ED}"/>
    <dgm:cxn modelId="{099F774F-480B-4BF5-8DF8-A5B0D20FC1D2}" srcId="{6A470617-3565-4F07-9D2E-759D1EADD8F6}" destId="{2E5ED72E-B57E-4A39-A730-70750C6D7390}" srcOrd="1" destOrd="0" parTransId="{427E47BE-924D-49D7-94E4-4222621C7153}" sibTransId="{6BB33C23-70E2-4325-8510-ADB15EE63930}"/>
    <dgm:cxn modelId="{2F7E7652-FEDC-4837-B96F-153942B1DA45}" srcId="{8298BC4C-45CB-49F2-8103-B16CE7779647}" destId="{6A470617-3565-4F07-9D2E-759D1EADD8F6}" srcOrd="0" destOrd="0" parTransId="{8DFF3D16-6BE5-4861-B2A3-263F1B249A0E}" sibTransId="{7648893E-F0C1-4655-B5C1-6880C55EA792}"/>
    <dgm:cxn modelId="{2AF5E652-CF24-40DB-990D-48C92A5FBB0D}" type="presOf" srcId="{6A470617-3565-4F07-9D2E-759D1EADD8F6}" destId="{FA46D005-AF4F-4315-BE6B-8EBB23D926E1}" srcOrd="0" destOrd="0" presId="urn:microsoft.com/office/officeart/2005/8/layout/matrix1"/>
    <dgm:cxn modelId="{F06D7073-C0DD-4C04-AE8C-3F619D0CF4B1}" srcId="{6A470617-3565-4F07-9D2E-759D1EADD8F6}" destId="{5B9C865E-FA43-4AF0-A27A-8D63E75B3FD5}" srcOrd="2" destOrd="0" parTransId="{E7BACDBD-E301-42B7-818A-B9B7024E8545}" sibTransId="{14171A0F-4DEE-4E78-B4D4-CA86A69AD077}"/>
    <dgm:cxn modelId="{6AB76D59-0FE4-4439-91BC-E21ACBB0808F}" type="presOf" srcId="{4085B73B-554A-4953-AC8F-1C0523F01D23}" destId="{57FF522A-88D8-439B-941F-256C58273EEB}" srcOrd="0" destOrd="0" presId="urn:microsoft.com/office/officeart/2005/8/layout/matrix1"/>
    <dgm:cxn modelId="{C8844688-1EBF-4370-80AB-EEF7A5A2642C}" type="presOf" srcId="{95FFDC06-F596-49F1-8598-51DFD65CF6E9}" destId="{DAC8A5D2-361E-4295-8DD5-740D11826509}" srcOrd="0" destOrd="0" presId="urn:microsoft.com/office/officeart/2005/8/layout/matrix1"/>
    <dgm:cxn modelId="{DB69BD8A-BBDC-4C65-9765-04F4B6DD6121}" type="presOf" srcId="{5B9C865E-FA43-4AF0-A27A-8D63E75B3FD5}" destId="{9DA57D17-C0BF-415F-B708-CF408A1030E1}" srcOrd="1" destOrd="0" presId="urn:microsoft.com/office/officeart/2005/8/layout/matrix1"/>
    <dgm:cxn modelId="{2BA1748D-C1FB-4402-8E11-2D5B771EBBF4}" type="presOf" srcId="{8298BC4C-45CB-49F2-8103-B16CE7779647}" destId="{F45B1D7D-F377-4837-BEAB-24C4CA626E54}" srcOrd="0" destOrd="0" presId="urn:microsoft.com/office/officeart/2005/8/layout/matrix1"/>
    <dgm:cxn modelId="{639F968D-BAA0-4FE4-A2EC-D2208316009F}" srcId="{6A470617-3565-4F07-9D2E-759D1EADD8F6}" destId="{95FFDC06-F596-49F1-8598-51DFD65CF6E9}" srcOrd="0" destOrd="0" parTransId="{00DA0D52-1375-4949-9845-34D596F141DE}" sibTransId="{76913A13-98AC-42B8-945C-4B33392949DD}"/>
    <dgm:cxn modelId="{873EE9C8-E8D2-4501-BF6C-1F8532AA6EE0}" type="presOf" srcId="{4085B73B-554A-4953-AC8F-1C0523F01D23}" destId="{9D848BC7-F1E1-495E-8E9E-E02640E2BA29}" srcOrd="1" destOrd="0" presId="urn:microsoft.com/office/officeart/2005/8/layout/matrix1"/>
    <dgm:cxn modelId="{5471A8DC-E85E-4EE2-BF21-DFA821814ECC}" type="presOf" srcId="{2E5ED72E-B57E-4A39-A730-70750C6D7390}" destId="{35C69C27-B83C-4465-8647-22D0AE0ED6AE}" srcOrd="0" destOrd="0" presId="urn:microsoft.com/office/officeart/2005/8/layout/matrix1"/>
    <dgm:cxn modelId="{4C0EE0DD-1F4C-4815-A46B-11B05DD23C8D}" type="presOf" srcId="{5B9C865E-FA43-4AF0-A27A-8D63E75B3FD5}" destId="{9887AEB3-A4C4-4563-B477-041DF482B624}" srcOrd="0" destOrd="0" presId="urn:microsoft.com/office/officeart/2005/8/layout/matrix1"/>
    <dgm:cxn modelId="{7EB1A717-3A1A-41BC-93A7-5EB131FF09F6}" type="presParOf" srcId="{F45B1D7D-F377-4837-BEAB-24C4CA626E54}" destId="{3C9B0C2C-9B5A-4CB0-8489-08112B1CC62A}" srcOrd="0" destOrd="0" presId="urn:microsoft.com/office/officeart/2005/8/layout/matrix1"/>
    <dgm:cxn modelId="{2D0A88D1-1358-4AC1-AC1A-7FA82AAE63DF}" type="presParOf" srcId="{3C9B0C2C-9B5A-4CB0-8489-08112B1CC62A}" destId="{DAC8A5D2-361E-4295-8DD5-740D11826509}" srcOrd="0" destOrd="0" presId="urn:microsoft.com/office/officeart/2005/8/layout/matrix1"/>
    <dgm:cxn modelId="{E005C101-F27F-4032-A08A-7C8AB264D20E}" type="presParOf" srcId="{3C9B0C2C-9B5A-4CB0-8489-08112B1CC62A}" destId="{0F4F0475-FA0E-4E4F-AD64-A7219C7AC5B8}" srcOrd="1" destOrd="0" presId="urn:microsoft.com/office/officeart/2005/8/layout/matrix1"/>
    <dgm:cxn modelId="{A9223AAA-BA9C-4E03-AD1C-FDB74C11590C}" type="presParOf" srcId="{3C9B0C2C-9B5A-4CB0-8489-08112B1CC62A}" destId="{35C69C27-B83C-4465-8647-22D0AE0ED6AE}" srcOrd="2" destOrd="0" presId="urn:microsoft.com/office/officeart/2005/8/layout/matrix1"/>
    <dgm:cxn modelId="{476F8F61-8BD0-4F00-A88D-91A5626367E2}" type="presParOf" srcId="{3C9B0C2C-9B5A-4CB0-8489-08112B1CC62A}" destId="{0BBDBB21-847B-4AE4-8CD9-0948D5596E1E}" srcOrd="3" destOrd="0" presId="urn:microsoft.com/office/officeart/2005/8/layout/matrix1"/>
    <dgm:cxn modelId="{3071895C-B691-410D-B4CA-543864BA2BD8}" type="presParOf" srcId="{3C9B0C2C-9B5A-4CB0-8489-08112B1CC62A}" destId="{9887AEB3-A4C4-4563-B477-041DF482B624}" srcOrd="4" destOrd="0" presId="urn:microsoft.com/office/officeart/2005/8/layout/matrix1"/>
    <dgm:cxn modelId="{ABFCAEA6-8E49-49C7-92FF-FE570AB4F296}" type="presParOf" srcId="{3C9B0C2C-9B5A-4CB0-8489-08112B1CC62A}" destId="{9DA57D17-C0BF-415F-B708-CF408A1030E1}" srcOrd="5" destOrd="0" presId="urn:microsoft.com/office/officeart/2005/8/layout/matrix1"/>
    <dgm:cxn modelId="{DCC88817-AC50-4ABE-AC33-146A791F5930}" type="presParOf" srcId="{3C9B0C2C-9B5A-4CB0-8489-08112B1CC62A}" destId="{57FF522A-88D8-439B-941F-256C58273EEB}" srcOrd="6" destOrd="0" presId="urn:microsoft.com/office/officeart/2005/8/layout/matrix1"/>
    <dgm:cxn modelId="{79F2CC53-B010-4BDD-BB76-3F737E1BEEA8}" type="presParOf" srcId="{3C9B0C2C-9B5A-4CB0-8489-08112B1CC62A}" destId="{9D848BC7-F1E1-495E-8E9E-E02640E2BA29}" srcOrd="7" destOrd="0" presId="urn:microsoft.com/office/officeart/2005/8/layout/matrix1"/>
    <dgm:cxn modelId="{9C63B071-AFCE-43E9-8566-586BCBC5FF9B}" type="presParOf" srcId="{F45B1D7D-F377-4837-BEAB-24C4CA626E54}" destId="{FA46D005-AF4F-4315-BE6B-8EBB23D926E1}" srcOrd="1" destOrd="0" presId="urn:microsoft.com/office/officeart/2005/8/layout/matrix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14381E38-C7B3-422E-95A5-9754F922A86C}" type="doc">
      <dgm:prSet loTypeId="urn:microsoft.com/office/officeart/2005/8/layout/process5" loCatId="process" qsTypeId="urn:microsoft.com/office/officeart/2005/8/quickstyle/3d1" qsCatId="3D" csTypeId="urn:microsoft.com/office/officeart/2005/8/colors/accent1_2" csCatId="accent1" phldr="1"/>
      <dgm:spPr/>
      <dgm:t>
        <a:bodyPr/>
        <a:lstStyle/>
        <a:p>
          <a:endParaRPr lang="en-US"/>
        </a:p>
      </dgm:t>
    </dgm:pt>
    <dgm:pt modelId="{BDB5DF8B-9DC1-4C03-AC3F-C74711E9D50F}">
      <dgm:prSet phldrT="[Text]"/>
      <dgm:spPr/>
      <dgm:t>
        <a:bodyPr/>
        <a:lstStyle/>
        <a:p>
          <a:r>
            <a:rPr lang="en-US" dirty="0"/>
            <a:t>Selecting the department of study, topic and review relevant scientific literature</a:t>
          </a:r>
        </a:p>
      </dgm:t>
    </dgm:pt>
    <dgm:pt modelId="{8E3E87CC-21F4-43D7-9E6B-D3B89143E3E8}" type="parTrans" cxnId="{359FA2F4-138D-4E66-AB26-69094CC4BCEA}">
      <dgm:prSet/>
      <dgm:spPr/>
      <dgm:t>
        <a:bodyPr/>
        <a:lstStyle/>
        <a:p>
          <a:endParaRPr lang="en-US"/>
        </a:p>
      </dgm:t>
    </dgm:pt>
    <dgm:pt modelId="{1BB7D73F-65E0-4730-91C8-31BAE873BF7B}" type="sibTrans" cxnId="{359FA2F4-138D-4E66-AB26-69094CC4BCEA}">
      <dgm:prSet/>
      <dgm:spPr/>
      <dgm:t>
        <a:bodyPr/>
        <a:lstStyle/>
        <a:p>
          <a:endParaRPr lang="en-US"/>
        </a:p>
      </dgm:t>
    </dgm:pt>
    <dgm:pt modelId="{7968F98B-8628-48E7-A8B4-1DBFC7BB6621}">
      <dgm:prSet phldrT="[Text]"/>
      <dgm:spPr/>
      <dgm:t>
        <a:bodyPr/>
        <a:lstStyle/>
        <a:p>
          <a:r>
            <a:rPr lang="en-US" dirty="0"/>
            <a:t>Establishing title, aim and objectives of the study</a:t>
          </a:r>
        </a:p>
      </dgm:t>
    </dgm:pt>
    <dgm:pt modelId="{D0381EA9-50BD-4E95-B653-B2DD79E28B10}" type="parTrans" cxnId="{2FC1BD9E-1417-4DB5-999A-07AF30BC68BD}">
      <dgm:prSet/>
      <dgm:spPr/>
      <dgm:t>
        <a:bodyPr/>
        <a:lstStyle/>
        <a:p>
          <a:endParaRPr lang="en-US"/>
        </a:p>
      </dgm:t>
    </dgm:pt>
    <dgm:pt modelId="{E9D7622F-B805-48B7-8D99-CA39716C2269}" type="sibTrans" cxnId="{2FC1BD9E-1417-4DB5-999A-07AF30BC68BD}">
      <dgm:prSet/>
      <dgm:spPr/>
      <dgm:t>
        <a:bodyPr/>
        <a:lstStyle/>
        <a:p>
          <a:endParaRPr lang="en-US"/>
        </a:p>
      </dgm:t>
    </dgm:pt>
    <dgm:pt modelId="{C9C8FC2C-E3C4-4A47-AC82-11D2117383A0}">
      <dgm:prSet phldrT="[Text]"/>
      <dgm:spPr/>
      <dgm:t>
        <a:bodyPr/>
        <a:lstStyle/>
        <a:p>
          <a:r>
            <a:rPr lang="en-US" dirty="0"/>
            <a:t>Getting approval from the head of institution and hospital authorities</a:t>
          </a:r>
        </a:p>
      </dgm:t>
    </dgm:pt>
    <dgm:pt modelId="{B1908110-FA8C-44C4-BB9D-27B6D505EED7}" type="parTrans" cxnId="{939D89E3-7FF9-464A-806F-D70BA5FA33AE}">
      <dgm:prSet/>
      <dgm:spPr/>
      <dgm:t>
        <a:bodyPr/>
        <a:lstStyle/>
        <a:p>
          <a:endParaRPr lang="en-US"/>
        </a:p>
      </dgm:t>
    </dgm:pt>
    <dgm:pt modelId="{04FE2D22-727D-4914-B3A4-670FF03FD44D}" type="sibTrans" cxnId="{939D89E3-7FF9-464A-806F-D70BA5FA33AE}">
      <dgm:prSet/>
      <dgm:spPr/>
      <dgm:t>
        <a:bodyPr/>
        <a:lstStyle/>
        <a:p>
          <a:endParaRPr lang="en-US"/>
        </a:p>
      </dgm:t>
    </dgm:pt>
    <dgm:pt modelId="{917BDC30-EF91-45E2-BBC0-9D6FB784747F}">
      <dgm:prSet phldrT="[Text]"/>
      <dgm:spPr/>
      <dgm:t>
        <a:bodyPr/>
        <a:lstStyle/>
        <a:p>
          <a:r>
            <a:rPr lang="en-US" dirty="0"/>
            <a:t>Designing the data collection form</a:t>
          </a:r>
        </a:p>
      </dgm:t>
    </dgm:pt>
    <dgm:pt modelId="{DE01B053-54FB-491E-8085-B98454CC0F49}" type="parTrans" cxnId="{3BCAF9BE-F346-4059-9157-CEC519CE1C33}">
      <dgm:prSet/>
      <dgm:spPr/>
      <dgm:t>
        <a:bodyPr/>
        <a:lstStyle/>
        <a:p>
          <a:endParaRPr lang="en-US"/>
        </a:p>
      </dgm:t>
    </dgm:pt>
    <dgm:pt modelId="{8A0E8A95-BD7A-4145-B7E3-DBDD4A33D8B4}" type="sibTrans" cxnId="{3BCAF9BE-F346-4059-9157-CEC519CE1C33}">
      <dgm:prSet/>
      <dgm:spPr/>
      <dgm:t>
        <a:bodyPr/>
        <a:lstStyle/>
        <a:p>
          <a:endParaRPr lang="en-US"/>
        </a:p>
      </dgm:t>
    </dgm:pt>
    <dgm:pt modelId="{6B85AF6E-BD13-4901-BEBD-7CFA30116D45}">
      <dgm:prSet phldrT="[Text]"/>
      <dgm:spPr/>
      <dgm:t>
        <a:bodyPr/>
        <a:lstStyle/>
        <a:p>
          <a:r>
            <a:rPr lang="en-US" dirty="0"/>
            <a:t>Selection of patients based on inclusion and exclusion criteria</a:t>
          </a:r>
        </a:p>
      </dgm:t>
    </dgm:pt>
    <dgm:pt modelId="{8882E4AF-83AD-4EEA-9E5C-BFB1009BDF54}" type="parTrans" cxnId="{F4CA19FA-0C0F-4753-935D-EADFA1FD1F9E}">
      <dgm:prSet/>
      <dgm:spPr/>
      <dgm:t>
        <a:bodyPr/>
        <a:lstStyle/>
        <a:p>
          <a:endParaRPr lang="en-US"/>
        </a:p>
      </dgm:t>
    </dgm:pt>
    <dgm:pt modelId="{9CC4F522-1D20-422E-9681-C65D894537F4}" type="sibTrans" cxnId="{F4CA19FA-0C0F-4753-935D-EADFA1FD1F9E}">
      <dgm:prSet/>
      <dgm:spPr/>
      <dgm:t>
        <a:bodyPr/>
        <a:lstStyle/>
        <a:p>
          <a:endParaRPr lang="en-US"/>
        </a:p>
      </dgm:t>
    </dgm:pt>
    <dgm:pt modelId="{02A75140-0C2E-48FE-8885-A1C760A46D3D}">
      <dgm:prSet phldrT="[Text]"/>
      <dgm:spPr/>
      <dgm:t>
        <a:bodyPr/>
        <a:lstStyle/>
        <a:p>
          <a:r>
            <a:rPr lang="en-US" dirty="0"/>
            <a:t>Getting the consent from patient</a:t>
          </a:r>
        </a:p>
      </dgm:t>
    </dgm:pt>
    <dgm:pt modelId="{45D6449E-4B08-44C6-8141-05DE55E56BE9}" type="parTrans" cxnId="{09CC47B6-CA7C-452E-AB2F-E13C6C692A20}">
      <dgm:prSet/>
      <dgm:spPr/>
      <dgm:t>
        <a:bodyPr/>
        <a:lstStyle/>
        <a:p>
          <a:endParaRPr lang="en-US"/>
        </a:p>
      </dgm:t>
    </dgm:pt>
    <dgm:pt modelId="{CB8D1DCF-E4E3-4DAC-9EB2-92874EBD0F28}" type="sibTrans" cxnId="{09CC47B6-CA7C-452E-AB2F-E13C6C692A20}">
      <dgm:prSet/>
      <dgm:spPr/>
      <dgm:t>
        <a:bodyPr/>
        <a:lstStyle/>
        <a:p>
          <a:endParaRPr lang="en-US"/>
        </a:p>
      </dgm:t>
    </dgm:pt>
    <dgm:pt modelId="{8EDEB6EF-B7A9-4E9C-96AC-FA7E990B9CB8}">
      <dgm:prSet/>
      <dgm:spPr/>
      <dgm:t>
        <a:bodyPr/>
        <a:lstStyle/>
        <a:p>
          <a:r>
            <a:rPr lang="en-US" dirty="0"/>
            <a:t>Tabulating the data, analyzing using statistical tools and submitting the report</a:t>
          </a:r>
        </a:p>
      </dgm:t>
    </dgm:pt>
    <dgm:pt modelId="{8D416CAE-5C16-4244-BE3B-66E880199968}" type="parTrans" cxnId="{EEBAF1E0-1616-4614-B201-30639703FA4A}">
      <dgm:prSet/>
      <dgm:spPr/>
      <dgm:t>
        <a:bodyPr/>
        <a:lstStyle/>
        <a:p>
          <a:endParaRPr lang="en-US"/>
        </a:p>
      </dgm:t>
    </dgm:pt>
    <dgm:pt modelId="{B9AB5ADC-5BFD-4AE4-B1B5-84C78593AFCC}" type="sibTrans" cxnId="{EEBAF1E0-1616-4614-B201-30639703FA4A}">
      <dgm:prSet/>
      <dgm:spPr/>
      <dgm:t>
        <a:bodyPr/>
        <a:lstStyle/>
        <a:p>
          <a:endParaRPr lang="en-US"/>
        </a:p>
      </dgm:t>
    </dgm:pt>
    <dgm:pt modelId="{8ABFAA8A-C2D4-4130-B110-8D07E10386DA}" type="pres">
      <dgm:prSet presAssocID="{14381E38-C7B3-422E-95A5-9754F922A86C}" presName="diagram" presStyleCnt="0">
        <dgm:presLayoutVars>
          <dgm:dir/>
          <dgm:resizeHandles val="exact"/>
        </dgm:presLayoutVars>
      </dgm:prSet>
      <dgm:spPr/>
    </dgm:pt>
    <dgm:pt modelId="{D73E270A-0BC6-4634-8987-C46A2A4D9834}" type="pres">
      <dgm:prSet presAssocID="{BDB5DF8B-9DC1-4C03-AC3F-C74711E9D50F}" presName="node" presStyleLbl="node1" presStyleIdx="0" presStyleCnt="7">
        <dgm:presLayoutVars>
          <dgm:bulletEnabled val="1"/>
        </dgm:presLayoutVars>
      </dgm:prSet>
      <dgm:spPr/>
    </dgm:pt>
    <dgm:pt modelId="{4FB39156-5574-4C89-B0B9-FC44EF96128E}" type="pres">
      <dgm:prSet presAssocID="{1BB7D73F-65E0-4730-91C8-31BAE873BF7B}" presName="sibTrans" presStyleLbl="sibTrans2D1" presStyleIdx="0" presStyleCnt="6"/>
      <dgm:spPr/>
    </dgm:pt>
    <dgm:pt modelId="{F35F806A-69B4-4430-9206-15E5E6440B61}" type="pres">
      <dgm:prSet presAssocID="{1BB7D73F-65E0-4730-91C8-31BAE873BF7B}" presName="connectorText" presStyleLbl="sibTrans2D1" presStyleIdx="0" presStyleCnt="6"/>
      <dgm:spPr/>
    </dgm:pt>
    <dgm:pt modelId="{EEE06C26-7D8B-4B2C-857D-CE4A3B678BA8}" type="pres">
      <dgm:prSet presAssocID="{7968F98B-8628-48E7-A8B4-1DBFC7BB6621}" presName="node" presStyleLbl="node1" presStyleIdx="1" presStyleCnt="7">
        <dgm:presLayoutVars>
          <dgm:bulletEnabled val="1"/>
        </dgm:presLayoutVars>
      </dgm:prSet>
      <dgm:spPr/>
    </dgm:pt>
    <dgm:pt modelId="{E08C42F2-8C83-4344-9E62-51A7712CEAF7}" type="pres">
      <dgm:prSet presAssocID="{E9D7622F-B805-48B7-8D99-CA39716C2269}" presName="sibTrans" presStyleLbl="sibTrans2D1" presStyleIdx="1" presStyleCnt="6"/>
      <dgm:spPr/>
    </dgm:pt>
    <dgm:pt modelId="{5A1A8244-EBE0-4096-A28B-8593F3EED9A9}" type="pres">
      <dgm:prSet presAssocID="{E9D7622F-B805-48B7-8D99-CA39716C2269}" presName="connectorText" presStyleLbl="sibTrans2D1" presStyleIdx="1" presStyleCnt="6"/>
      <dgm:spPr/>
    </dgm:pt>
    <dgm:pt modelId="{3609FCE5-571B-403D-8CED-D6F26B29A5EE}" type="pres">
      <dgm:prSet presAssocID="{C9C8FC2C-E3C4-4A47-AC82-11D2117383A0}" presName="node" presStyleLbl="node1" presStyleIdx="2" presStyleCnt="7">
        <dgm:presLayoutVars>
          <dgm:bulletEnabled val="1"/>
        </dgm:presLayoutVars>
      </dgm:prSet>
      <dgm:spPr/>
    </dgm:pt>
    <dgm:pt modelId="{8D7E1B3F-A222-4F12-BE39-D6AEBCB216BF}" type="pres">
      <dgm:prSet presAssocID="{04FE2D22-727D-4914-B3A4-670FF03FD44D}" presName="sibTrans" presStyleLbl="sibTrans2D1" presStyleIdx="2" presStyleCnt="6"/>
      <dgm:spPr/>
    </dgm:pt>
    <dgm:pt modelId="{2B11436B-3767-4EC1-AD23-06A452214AB5}" type="pres">
      <dgm:prSet presAssocID="{04FE2D22-727D-4914-B3A4-670FF03FD44D}" presName="connectorText" presStyleLbl="sibTrans2D1" presStyleIdx="2" presStyleCnt="6"/>
      <dgm:spPr/>
    </dgm:pt>
    <dgm:pt modelId="{3D24BC8D-6738-4036-A8BB-CC213A277963}" type="pres">
      <dgm:prSet presAssocID="{917BDC30-EF91-45E2-BBC0-9D6FB784747F}" presName="node" presStyleLbl="node1" presStyleIdx="3" presStyleCnt="7">
        <dgm:presLayoutVars>
          <dgm:bulletEnabled val="1"/>
        </dgm:presLayoutVars>
      </dgm:prSet>
      <dgm:spPr/>
    </dgm:pt>
    <dgm:pt modelId="{24A9349F-A91F-42C8-A8FA-21D7E3A4A0E2}" type="pres">
      <dgm:prSet presAssocID="{8A0E8A95-BD7A-4145-B7E3-DBDD4A33D8B4}" presName="sibTrans" presStyleLbl="sibTrans2D1" presStyleIdx="3" presStyleCnt="6"/>
      <dgm:spPr/>
    </dgm:pt>
    <dgm:pt modelId="{2C34789D-C190-486D-9CAA-5F2D4F656025}" type="pres">
      <dgm:prSet presAssocID="{8A0E8A95-BD7A-4145-B7E3-DBDD4A33D8B4}" presName="connectorText" presStyleLbl="sibTrans2D1" presStyleIdx="3" presStyleCnt="6"/>
      <dgm:spPr/>
    </dgm:pt>
    <dgm:pt modelId="{863EF600-F533-4006-AD45-C9AF684F193E}" type="pres">
      <dgm:prSet presAssocID="{6B85AF6E-BD13-4901-BEBD-7CFA30116D45}" presName="node" presStyleLbl="node1" presStyleIdx="4" presStyleCnt="7">
        <dgm:presLayoutVars>
          <dgm:bulletEnabled val="1"/>
        </dgm:presLayoutVars>
      </dgm:prSet>
      <dgm:spPr/>
    </dgm:pt>
    <dgm:pt modelId="{889C81D0-8A8C-4D6E-90BF-564F820AE5B7}" type="pres">
      <dgm:prSet presAssocID="{9CC4F522-1D20-422E-9681-C65D894537F4}" presName="sibTrans" presStyleLbl="sibTrans2D1" presStyleIdx="4" presStyleCnt="6"/>
      <dgm:spPr/>
    </dgm:pt>
    <dgm:pt modelId="{B38D6672-04F3-4F92-A2CF-EE66CEDF34E7}" type="pres">
      <dgm:prSet presAssocID="{9CC4F522-1D20-422E-9681-C65D894537F4}" presName="connectorText" presStyleLbl="sibTrans2D1" presStyleIdx="4" presStyleCnt="6"/>
      <dgm:spPr/>
    </dgm:pt>
    <dgm:pt modelId="{96ED06CD-8B45-498B-A377-4D36C3CF5481}" type="pres">
      <dgm:prSet presAssocID="{02A75140-0C2E-48FE-8885-A1C760A46D3D}" presName="node" presStyleLbl="node1" presStyleIdx="5" presStyleCnt="7">
        <dgm:presLayoutVars>
          <dgm:bulletEnabled val="1"/>
        </dgm:presLayoutVars>
      </dgm:prSet>
      <dgm:spPr/>
    </dgm:pt>
    <dgm:pt modelId="{02B43068-994E-40C4-A7F7-A459B445DE38}" type="pres">
      <dgm:prSet presAssocID="{CB8D1DCF-E4E3-4DAC-9EB2-92874EBD0F28}" presName="sibTrans" presStyleLbl="sibTrans2D1" presStyleIdx="5" presStyleCnt="6"/>
      <dgm:spPr/>
    </dgm:pt>
    <dgm:pt modelId="{0FD68C80-9340-448F-85AA-7D1FC749D4E0}" type="pres">
      <dgm:prSet presAssocID="{CB8D1DCF-E4E3-4DAC-9EB2-92874EBD0F28}" presName="connectorText" presStyleLbl="sibTrans2D1" presStyleIdx="5" presStyleCnt="6"/>
      <dgm:spPr/>
    </dgm:pt>
    <dgm:pt modelId="{FDB4CDA0-9C86-49AA-8B26-15A4F4F67706}" type="pres">
      <dgm:prSet presAssocID="{8EDEB6EF-B7A9-4E9C-96AC-FA7E990B9CB8}" presName="node" presStyleLbl="node1" presStyleIdx="6" presStyleCnt="7">
        <dgm:presLayoutVars>
          <dgm:bulletEnabled val="1"/>
        </dgm:presLayoutVars>
      </dgm:prSet>
      <dgm:spPr/>
    </dgm:pt>
  </dgm:ptLst>
  <dgm:cxnLst>
    <dgm:cxn modelId="{09E66907-6CD1-4313-BF14-8AE566462605}" type="presOf" srcId="{04FE2D22-727D-4914-B3A4-670FF03FD44D}" destId="{2B11436B-3767-4EC1-AD23-06A452214AB5}" srcOrd="1" destOrd="0" presId="urn:microsoft.com/office/officeart/2005/8/layout/process5"/>
    <dgm:cxn modelId="{7A71041F-C58C-4A59-A0BA-0E8CE346AD31}" type="presOf" srcId="{C9C8FC2C-E3C4-4A47-AC82-11D2117383A0}" destId="{3609FCE5-571B-403D-8CED-D6F26B29A5EE}" srcOrd="0" destOrd="0" presId="urn:microsoft.com/office/officeart/2005/8/layout/process5"/>
    <dgm:cxn modelId="{A2E52025-A002-4C90-8E2D-B6DFD83CBB7F}" type="presOf" srcId="{CB8D1DCF-E4E3-4DAC-9EB2-92874EBD0F28}" destId="{0FD68C80-9340-448F-85AA-7D1FC749D4E0}" srcOrd="1" destOrd="0" presId="urn:microsoft.com/office/officeart/2005/8/layout/process5"/>
    <dgm:cxn modelId="{DC24F532-4E11-4D4F-BD55-F4A1E8BF6207}" type="presOf" srcId="{04FE2D22-727D-4914-B3A4-670FF03FD44D}" destId="{8D7E1B3F-A222-4F12-BE39-D6AEBCB216BF}" srcOrd="0" destOrd="0" presId="urn:microsoft.com/office/officeart/2005/8/layout/process5"/>
    <dgm:cxn modelId="{A1C4C95E-597F-4F12-B18A-1FD56B664D7D}" type="presOf" srcId="{9CC4F522-1D20-422E-9681-C65D894537F4}" destId="{B38D6672-04F3-4F92-A2CF-EE66CEDF34E7}" srcOrd="1" destOrd="0" presId="urn:microsoft.com/office/officeart/2005/8/layout/process5"/>
    <dgm:cxn modelId="{E880277F-6BA9-4C01-B075-663A7CE88578}" type="presOf" srcId="{8A0E8A95-BD7A-4145-B7E3-DBDD4A33D8B4}" destId="{2C34789D-C190-486D-9CAA-5F2D4F656025}" srcOrd="1" destOrd="0" presId="urn:microsoft.com/office/officeart/2005/8/layout/process5"/>
    <dgm:cxn modelId="{D48E218D-18C7-40AB-BF0E-0AA61F9529A7}" type="presOf" srcId="{E9D7622F-B805-48B7-8D99-CA39716C2269}" destId="{5A1A8244-EBE0-4096-A28B-8593F3EED9A9}" srcOrd="1" destOrd="0" presId="urn:microsoft.com/office/officeart/2005/8/layout/process5"/>
    <dgm:cxn modelId="{2FC1BD9E-1417-4DB5-999A-07AF30BC68BD}" srcId="{14381E38-C7B3-422E-95A5-9754F922A86C}" destId="{7968F98B-8628-48E7-A8B4-1DBFC7BB6621}" srcOrd="1" destOrd="0" parTransId="{D0381EA9-50BD-4E95-B653-B2DD79E28B10}" sibTransId="{E9D7622F-B805-48B7-8D99-CA39716C2269}"/>
    <dgm:cxn modelId="{03B037A0-7EBB-4F80-8471-B1E944B7316A}" type="presOf" srcId="{14381E38-C7B3-422E-95A5-9754F922A86C}" destId="{8ABFAA8A-C2D4-4130-B110-8D07E10386DA}" srcOrd="0" destOrd="0" presId="urn:microsoft.com/office/officeart/2005/8/layout/process5"/>
    <dgm:cxn modelId="{DE4A7AA8-4355-446C-887D-D8836B6E8CC4}" type="presOf" srcId="{9CC4F522-1D20-422E-9681-C65D894537F4}" destId="{889C81D0-8A8C-4D6E-90BF-564F820AE5B7}" srcOrd="0" destOrd="0" presId="urn:microsoft.com/office/officeart/2005/8/layout/process5"/>
    <dgm:cxn modelId="{63E822A9-12CE-4545-B90A-7CEB783F6A37}" type="presOf" srcId="{02A75140-0C2E-48FE-8885-A1C760A46D3D}" destId="{96ED06CD-8B45-498B-A377-4D36C3CF5481}" srcOrd="0" destOrd="0" presId="urn:microsoft.com/office/officeart/2005/8/layout/process5"/>
    <dgm:cxn modelId="{DD2275AD-EDD9-4170-BF6D-FDA7799322E4}" type="presOf" srcId="{8A0E8A95-BD7A-4145-B7E3-DBDD4A33D8B4}" destId="{24A9349F-A91F-42C8-A8FA-21D7E3A4A0E2}" srcOrd="0" destOrd="0" presId="urn:microsoft.com/office/officeart/2005/8/layout/process5"/>
    <dgm:cxn modelId="{94E1A0B5-7DA5-48F5-BDDE-513FE6E8CE93}" type="presOf" srcId="{1BB7D73F-65E0-4730-91C8-31BAE873BF7B}" destId="{F35F806A-69B4-4430-9206-15E5E6440B61}" srcOrd="1" destOrd="0" presId="urn:microsoft.com/office/officeart/2005/8/layout/process5"/>
    <dgm:cxn modelId="{9C48F0B5-CC10-4DEE-AECC-D0ADD6D5DDE0}" type="presOf" srcId="{917BDC30-EF91-45E2-BBC0-9D6FB784747F}" destId="{3D24BC8D-6738-4036-A8BB-CC213A277963}" srcOrd="0" destOrd="0" presId="urn:microsoft.com/office/officeart/2005/8/layout/process5"/>
    <dgm:cxn modelId="{09CC47B6-CA7C-452E-AB2F-E13C6C692A20}" srcId="{14381E38-C7B3-422E-95A5-9754F922A86C}" destId="{02A75140-0C2E-48FE-8885-A1C760A46D3D}" srcOrd="5" destOrd="0" parTransId="{45D6449E-4B08-44C6-8141-05DE55E56BE9}" sibTransId="{CB8D1DCF-E4E3-4DAC-9EB2-92874EBD0F28}"/>
    <dgm:cxn modelId="{E98791BC-1ED6-4B86-980B-D825691E0630}" type="presOf" srcId="{E9D7622F-B805-48B7-8D99-CA39716C2269}" destId="{E08C42F2-8C83-4344-9E62-51A7712CEAF7}" srcOrd="0" destOrd="0" presId="urn:microsoft.com/office/officeart/2005/8/layout/process5"/>
    <dgm:cxn modelId="{3BCAF9BE-F346-4059-9157-CEC519CE1C33}" srcId="{14381E38-C7B3-422E-95A5-9754F922A86C}" destId="{917BDC30-EF91-45E2-BBC0-9D6FB784747F}" srcOrd="3" destOrd="0" parTransId="{DE01B053-54FB-491E-8085-B98454CC0F49}" sibTransId="{8A0E8A95-BD7A-4145-B7E3-DBDD4A33D8B4}"/>
    <dgm:cxn modelId="{F2B2BCD9-9307-4FF4-87FE-9B0043F33644}" type="presOf" srcId="{1BB7D73F-65E0-4730-91C8-31BAE873BF7B}" destId="{4FB39156-5574-4C89-B0B9-FC44EF96128E}" srcOrd="0" destOrd="0" presId="urn:microsoft.com/office/officeart/2005/8/layout/process5"/>
    <dgm:cxn modelId="{C49CC7DB-D684-4D36-8D15-47F0ACEAE63D}" type="presOf" srcId="{7968F98B-8628-48E7-A8B4-1DBFC7BB6621}" destId="{EEE06C26-7D8B-4B2C-857D-CE4A3B678BA8}" srcOrd="0" destOrd="0" presId="urn:microsoft.com/office/officeart/2005/8/layout/process5"/>
    <dgm:cxn modelId="{658F26DD-CDC8-4B6B-9ADD-1EC141CD5076}" type="presOf" srcId="{8EDEB6EF-B7A9-4E9C-96AC-FA7E990B9CB8}" destId="{FDB4CDA0-9C86-49AA-8B26-15A4F4F67706}" srcOrd="0" destOrd="0" presId="urn:microsoft.com/office/officeart/2005/8/layout/process5"/>
    <dgm:cxn modelId="{EEBAF1E0-1616-4614-B201-30639703FA4A}" srcId="{14381E38-C7B3-422E-95A5-9754F922A86C}" destId="{8EDEB6EF-B7A9-4E9C-96AC-FA7E990B9CB8}" srcOrd="6" destOrd="0" parTransId="{8D416CAE-5C16-4244-BE3B-66E880199968}" sibTransId="{B9AB5ADC-5BFD-4AE4-B1B5-84C78593AFCC}"/>
    <dgm:cxn modelId="{939D89E3-7FF9-464A-806F-D70BA5FA33AE}" srcId="{14381E38-C7B3-422E-95A5-9754F922A86C}" destId="{C9C8FC2C-E3C4-4A47-AC82-11D2117383A0}" srcOrd="2" destOrd="0" parTransId="{B1908110-FA8C-44C4-BB9D-27B6D505EED7}" sibTransId="{04FE2D22-727D-4914-B3A4-670FF03FD44D}"/>
    <dgm:cxn modelId="{C10D3CE7-0055-4FAA-A45C-3CAF5343AD3E}" type="presOf" srcId="{CB8D1DCF-E4E3-4DAC-9EB2-92874EBD0F28}" destId="{02B43068-994E-40C4-A7F7-A459B445DE38}" srcOrd="0" destOrd="0" presId="urn:microsoft.com/office/officeart/2005/8/layout/process5"/>
    <dgm:cxn modelId="{49AAE7F3-F85C-4A6B-8D93-0305FA7C2648}" type="presOf" srcId="{6B85AF6E-BD13-4901-BEBD-7CFA30116D45}" destId="{863EF600-F533-4006-AD45-C9AF684F193E}" srcOrd="0" destOrd="0" presId="urn:microsoft.com/office/officeart/2005/8/layout/process5"/>
    <dgm:cxn modelId="{359FA2F4-138D-4E66-AB26-69094CC4BCEA}" srcId="{14381E38-C7B3-422E-95A5-9754F922A86C}" destId="{BDB5DF8B-9DC1-4C03-AC3F-C74711E9D50F}" srcOrd="0" destOrd="0" parTransId="{8E3E87CC-21F4-43D7-9E6B-D3B89143E3E8}" sibTransId="{1BB7D73F-65E0-4730-91C8-31BAE873BF7B}"/>
    <dgm:cxn modelId="{A9B3E1F9-4513-4DAF-A4D4-F2DCB2626677}" type="presOf" srcId="{BDB5DF8B-9DC1-4C03-AC3F-C74711E9D50F}" destId="{D73E270A-0BC6-4634-8987-C46A2A4D9834}" srcOrd="0" destOrd="0" presId="urn:microsoft.com/office/officeart/2005/8/layout/process5"/>
    <dgm:cxn modelId="{F4CA19FA-0C0F-4753-935D-EADFA1FD1F9E}" srcId="{14381E38-C7B3-422E-95A5-9754F922A86C}" destId="{6B85AF6E-BD13-4901-BEBD-7CFA30116D45}" srcOrd="4" destOrd="0" parTransId="{8882E4AF-83AD-4EEA-9E5C-BFB1009BDF54}" sibTransId="{9CC4F522-1D20-422E-9681-C65D894537F4}"/>
    <dgm:cxn modelId="{A9DB3AD4-6102-4F5D-9E69-5509682BEF42}" type="presParOf" srcId="{8ABFAA8A-C2D4-4130-B110-8D07E10386DA}" destId="{D73E270A-0BC6-4634-8987-C46A2A4D9834}" srcOrd="0" destOrd="0" presId="urn:microsoft.com/office/officeart/2005/8/layout/process5"/>
    <dgm:cxn modelId="{C5EC38B6-33DC-48FB-A9AF-7A998461C7BA}" type="presParOf" srcId="{8ABFAA8A-C2D4-4130-B110-8D07E10386DA}" destId="{4FB39156-5574-4C89-B0B9-FC44EF96128E}" srcOrd="1" destOrd="0" presId="urn:microsoft.com/office/officeart/2005/8/layout/process5"/>
    <dgm:cxn modelId="{BB0EFDBD-5E5F-4290-99F1-B139D261848E}" type="presParOf" srcId="{4FB39156-5574-4C89-B0B9-FC44EF96128E}" destId="{F35F806A-69B4-4430-9206-15E5E6440B61}" srcOrd="0" destOrd="0" presId="urn:microsoft.com/office/officeart/2005/8/layout/process5"/>
    <dgm:cxn modelId="{81B46490-3A46-410A-BC30-057616126452}" type="presParOf" srcId="{8ABFAA8A-C2D4-4130-B110-8D07E10386DA}" destId="{EEE06C26-7D8B-4B2C-857D-CE4A3B678BA8}" srcOrd="2" destOrd="0" presId="urn:microsoft.com/office/officeart/2005/8/layout/process5"/>
    <dgm:cxn modelId="{94820496-1F20-4F90-89DD-644E140C4927}" type="presParOf" srcId="{8ABFAA8A-C2D4-4130-B110-8D07E10386DA}" destId="{E08C42F2-8C83-4344-9E62-51A7712CEAF7}" srcOrd="3" destOrd="0" presId="urn:microsoft.com/office/officeart/2005/8/layout/process5"/>
    <dgm:cxn modelId="{36491AFE-D17B-49BF-8F10-F67FD5C77F16}" type="presParOf" srcId="{E08C42F2-8C83-4344-9E62-51A7712CEAF7}" destId="{5A1A8244-EBE0-4096-A28B-8593F3EED9A9}" srcOrd="0" destOrd="0" presId="urn:microsoft.com/office/officeart/2005/8/layout/process5"/>
    <dgm:cxn modelId="{DFCB4E16-60D8-4D45-A7D5-685F5BF94F9A}" type="presParOf" srcId="{8ABFAA8A-C2D4-4130-B110-8D07E10386DA}" destId="{3609FCE5-571B-403D-8CED-D6F26B29A5EE}" srcOrd="4" destOrd="0" presId="urn:microsoft.com/office/officeart/2005/8/layout/process5"/>
    <dgm:cxn modelId="{8413BF82-2005-4B42-BE4B-8AD489C5C1C0}" type="presParOf" srcId="{8ABFAA8A-C2D4-4130-B110-8D07E10386DA}" destId="{8D7E1B3F-A222-4F12-BE39-D6AEBCB216BF}" srcOrd="5" destOrd="0" presId="urn:microsoft.com/office/officeart/2005/8/layout/process5"/>
    <dgm:cxn modelId="{4088903A-8E2E-4B6C-9A0D-16E7197EAD6A}" type="presParOf" srcId="{8D7E1B3F-A222-4F12-BE39-D6AEBCB216BF}" destId="{2B11436B-3767-4EC1-AD23-06A452214AB5}" srcOrd="0" destOrd="0" presId="urn:microsoft.com/office/officeart/2005/8/layout/process5"/>
    <dgm:cxn modelId="{DFCB58CE-F8B2-4BD1-B36D-106FCB7CFBD2}" type="presParOf" srcId="{8ABFAA8A-C2D4-4130-B110-8D07E10386DA}" destId="{3D24BC8D-6738-4036-A8BB-CC213A277963}" srcOrd="6" destOrd="0" presId="urn:microsoft.com/office/officeart/2005/8/layout/process5"/>
    <dgm:cxn modelId="{1E9EC4EC-C8FB-442B-8AB3-76181829D4E7}" type="presParOf" srcId="{8ABFAA8A-C2D4-4130-B110-8D07E10386DA}" destId="{24A9349F-A91F-42C8-A8FA-21D7E3A4A0E2}" srcOrd="7" destOrd="0" presId="urn:microsoft.com/office/officeart/2005/8/layout/process5"/>
    <dgm:cxn modelId="{BD4BC6C2-C78C-46AC-8051-0EB2696E6875}" type="presParOf" srcId="{24A9349F-A91F-42C8-A8FA-21D7E3A4A0E2}" destId="{2C34789D-C190-486D-9CAA-5F2D4F656025}" srcOrd="0" destOrd="0" presId="urn:microsoft.com/office/officeart/2005/8/layout/process5"/>
    <dgm:cxn modelId="{2044D3C8-8CA6-475B-B353-92276C1E28F3}" type="presParOf" srcId="{8ABFAA8A-C2D4-4130-B110-8D07E10386DA}" destId="{863EF600-F533-4006-AD45-C9AF684F193E}" srcOrd="8" destOrd="0" presId="urn:microsoft.com/office/officeart/2005/8/layout/process5"/>
    <dgm:cxn modelId="{16603635-EED9-41AC-B04C-9D86A3CBCEFB}" type="presParOf" srcId="{8ABFAA8A-C2D4-4130-B110-8D07E10386DA}" destId="{889C81D0-8A8C-4D6E-90BF-564F820AE5B7}" srcOrd="9" destOrd="0" presId="urn:microsoft.com/office/officeart/2005/8/layout/process5"/>
    <dgm:cxn modelId="{E703B286-9585-46C2-8116-AEAB14BEA804}" type="presParOf" srcId="{889C81D0-8A8C-4D6E-90BF-564F820AE5B7}" destId="{B38D6672-04F3-4F92-A2CF-EE66CEDF34E7}" srcOrd="0" destOrd="0" presId="urn:microsoft.com/office/officeart/2005/8/layout/process5"/>
    <dgm:cxn modelId="{F91234C2-F884-4F89-97FC-85B19750A112}" type="presParOf" srcId="{8ABFAA8A-C2D4-4130-B110-8D07E10386DA}" destId="{96ED06CD-8B45-498B-A377-4D36C3CF5481}" srcOrd="10" destOrd="0" presId="urn:microsoft.com/office/officeart/2005/8/layout/process5"/>
    <dgm:cxn modelId="{0C33ECFB-1A30-4D86-8B51-90A7076FF74D}" type="presParOf" srcId="{8ABFAA8A-C2D4-4130-B110-8D07E10386DA}" destId="{02B43068-994E-40C4-A7F7-A459B445DE38}" srcOrd="11" destOrd="0" presId="urn:microsoft.com/office/officeart/2005/8/layout/process5"/>
    <dgm:cxn modelId="{B4A5F3E0-460E-4C7D-8B67-4612E4438D62}" type="presParOf" srcId="{02B43068-994E-40C4-A7F7-A459B445DE38}" destId="{0FD68C80-9340-448F-85AA-7D1FC749D4E0}" srcOrd="0" destOrd="0" presId="urn:microsoft.com/office/officeart/2005/8/layout/process5"/>
    <dgm:cxn modelId="{EF6E46CA-D701-4ACB-9A19-E179AC944159}" type="presParOf" srcId="{8ABFAA8A-C2D4-4130-B110-8D07E10386DA}" destId="{FDB4CDA0-9C86-49AA-8B26-15A4F4F67706}" srcOrd="12" destOrd="0" presId="urn:microsoft.com/office/officeart/2005/8/layout/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3DDC2E-DB04-407A-8E04-B3D16C28C8E5}">
      <dsp:nvSpPr>
        <dsp:cNvPr id="0" name=""/>
        <dsp:cNvSpPr/>
      </dsp:nvSpPr>
      <dsp:spPr>
        <a:xfrm rot="5400000">
          <a:off x="6738184" y="-3744641"/>
          <a:ext cx="1300746" cy="8793089"/>
        </a:xfrm>
        <a:prstGeom prst="round2SameRect">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ln>
        <a:effectLst>
          <a:softEdge rad="12700"/>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100000"/>
            </a:lnSpc>
            <a:spcBef>
              <a:spcPct val="0"/>
            </a:spcBef>
            <a:spcAft>
              <a:spcPct val="15000"/>
            </a:spcAft>
            <a:buChar char="•"/>
          </a:pPr>
          <a:r>
            <a:rPr lang="en-US" sz="1800" kern="1200" dirty="0">
              <a:effectLst/>
              <a:latin typeface="Times New Roman" panose="02020603050405020304" pitchFamily="18" charset="0"/>
              <a:ea typeface="Calibri" panose="020F0502020204030204" pitchFamily="34" charset="0"/>
              <a:cs typeface="Times New Roman" panose="02020603050405020304" pitchFamily="18" charset="0"/>
            </a:rPr>
            <a:t>It occurs due to differences in bilirubin metabolism as there is increased production of bilirubin due to decreased lifespan of red blood cells, decreased bilirubin clearance due to deficiency of uridine diphosphate glucuronosyltransferase (UGT) and increased enterohepatic circulation.</a:t>
          </a:r>
          <a:endParaRPr lang="en-US" sz="1800" kern="1200" dirty="0"/>
        </a:p>
      </dsp:txBody>
      <dsp:txXfrm rot="-5400000">
        <a:off x="2992013" y="65027"/>
        <a:ext cx="8729592" cy="1173752"/>
      </dsp:txXfrm>
    </dsp:sp>
    <dsp:sp modelId="{D60EC099-79CF-4631-86F2-7C457FFB531D}">
      <dsp:nvSpPr>
        <dsp:cNvPr id="0" name=""/>
        <dsp:cNvSpPr/>
      </dsp:nvSpPr>
      <dsp:spPr>
        <a:xfrm>
          <a:off x="495" y="137970"/>
          <a:ext cx="2991516" cy="1027865"/>
        </a:xfrm>
        <a:prstGeom prst="roundRect">
          <a:avLst/>
        </a:prstGeom>
        <a:blipFill rotWithShape="1">
          <a:blip xmlns:r="http://schemas.openxmlformats.org/officeDocument/2006/relationships" r:embed="rId1">
            <a:duotone>
              <a:schemeClr val="accent1">
                <a:hueOff val="0"/>
                <a:satOff val="0"/>
                <a:lumOff val="0"/>
                <a:alphaOff val="0"/>
                <a:shade val="36000"/>
                <a:satMod val="120000"/>
              </a:schemeClr>
              <a:schemeClr val="accent1">
                <a:hueOff val="0"/>
                <a:satOff val="0"/>
                <a:lumOff val="0"/>
                <a:alphaOff val="0"/>
                <a:tint val="40000"/>
              </a:schemeClr>
            </a:duotone>
          </a:blip>
          <a:tile tx="0" ty="0" sx="60000" sy="59000" flip="none" algn="tl"/>
        </a:blipFill>
        <a:ln>
          <a:noFill/>
        </a:ln>
        <a:effectLst>
          <a:softEdge rad="12700"/>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37160" tIns="68580" rIns="137160" bIns="68580" numCol="1" spcCol="1270" anchor="ctr" anchorCtr="0">
          <a:noAutofit/>
        </a:bodyPr>
        <a:lstStyle/>
        <a:p>
          <a:pPr marL="0" lvl="0" indent="0" algn="ctr" defTabSz="1600200">
            <a:lnSpc>
              <a:spcPct val="90000"/>
            </a:lnSpc>
            <a:spcBef>
              <a:spcPct val="0"/>
            </a:spcBef>
            <a:spcAft>
              <a:spcPct val="35000"/>
            </a:spcAft>
            <a:buNone/>
          </a:pPr>
          <a:r>
            <a:rPr lang="en-US" sz="3600" kern="1200" dirty="0">
              <a:effectLst/>
              <a:latin typeface="Times New Roman" panose="02020603050405020304" pitchFamily="18" charset="0"/>
              <a:ea typeface="Calibri" panose="020F0502020204030204" pitchFamily="34" charset="0"/>
              <a:cs typeface="Times New Roman" panose="02020603050405020304" pitchFamily="18" charset="0"/>
            </a:rPr>
            <a:t>Physiological jaundice </a:t>
          </a:r>
          <a:endParaRPr lang="en-US" sz="3600" kern="1200" dirty="0"/>
        </a:p>
      </dsp:txBody>
      <dsp:txXfrm>
        <a:off x="50671" y="188146"/>
        <a:ext cx="2891164" cy="927513"/>
      </dsp:txXfrm>
    </dsp:sp>
    <dsp:sp modelId="{D6F66682-7E6F-46E8-9326-782AA754729F}">
      <dsp:nvSpPr>
        <dsp:cNvPr id="0" name=""/>
        <dsp:cNvSpPr/>
      </dsp:nvSpPr>
      <dsp:spPr>
        <a:xfrm rot="5400000">
          <a:off x="6734775" y="-2363334"/>
          <a:ext cx="1300746" cy="8794560"/>
        </a:xfrm>
        <a:prstGeom prst="round2SameRect">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ln>
        <a:effectLst>
          <a:softEdge rad="12700"/>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100000"/>
            </a:lnSpc>
            <a:spcBef>
              <a:spcPct val="0"/>
            </a:spcBef>
            <a:spcAft>
              <a:spcPct val="15000"/>
            </a:spcAft>
            <a:buChar char="•"/>
          </a:pPr>
          <a:r>
            <a:rPr lang="en-US" sz="1800" kern="1200" dirty="0">
              <a:effectLst/>
              <a:latin typeface="Times New Roman" panose="02020603050405020304" pitchFamily="18" charset="0"/>
              <a:ea typeface="Times New Roman" panose="02020603050405020304" pitchFamily="18" charset="0"/>
              <a:cs typeface="Times New Roman" panose="02020603050405020304" pitchFamily="18" charset="0"/>
            </a:rPr>
            <a:t>It is observed on the first day of birth. There is a rapid increase in the bilirubin which can be due to immune mediated hemolysis as ABO and Rhesus incompatibility, non-immune mediated such as cephalohematoma, RBC membrane defects. The increase in the serum bilirubin levels is higher than 5mg/dl/day and presence of this for greater than 14 days is considered as pathological jaundice.</a:t>
          </a:r>
          <a:endParaRPr lang="en-US" sz="1800" kern="1200" dirty="0"/>
        </a:p>
      </dsp:txBody>
      <dsp:txXfrm rot="-5400000">
        <a:off x="2987869" y="1447069"/>
        <a:ext cx="8731063" cy="1173752"/>
      </dsp:txXfrm>
    </dsp:sp>
    <dsp:sp modelId="{0803B52E-1FC2-43CE-90D6-11F578172A89}">
      <dsp:nvSpPr>
        <dsp:cNvPr id="0" name=""/>
        <dsp:cNvSpPr/>
      </dsp:nvSpPr>
      <dsp:spPr>
        <a:xfrm>
          <a:off x="495" y="1585660"/>
          <a:ext cx="2987372" cy="896571"/>
        </a:xfrm>
        <a:prstGeom prst="roundRect">
          <a:avLst/>
        </a:prstGeom>
        <a:blipFill rotWithShape="1">
          <a:blip xmlns:r="http://schemas.openxmlformats.org/officeDocument/2006/relationships" r:embed="rId1">
            <a:duotone>
              <a:schemeClr val="accent1">
                <a:hueOff val="0"/>
                <a:satOff val="0"/>
                <a:lumOff val="0"/>
                <a:alphaOff val="0"/>
                <a:shade val="36000"/>
                <a:satMod val="120000"/>
              </a:schemeClr>
              <a:schemeClr val="accent1">
                <a:hueOff val="0"/>
                <a:satOff val="0"/>
                <a:lumOff val="0"/>
                <a:alphaOff val="0"/>
                <a:tint val="40000"/>
              </a:schemeClr>
            </a:duotone>
          </a:blip>
          <a:tile tx="0" ty="0" sx="60000" sy="59000" flip="none" algn="tl"/>
        </a:blipFill>
        <a:ln>
          <a:noFill/>
        </a:ln>
        <a:effectLst>
          <a:softEdge rad="12700"/>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99060" tIns="49530" rIns="99060" bIns="49530" numCol="1" spcCol="1270" anchor="ctr" anchorCtr="0">
          <a:noAutofit/>
        </a:bodyPr>
        <a:lstStyle/>
        <a:p>
          <a:pPr marL="0" lvl="0" indent="0" algn="ctr" defTabSz="1155700">
            <a:lnSpc>
              <a:spcPct val="90000"/>
            </a:lnSpc>
            <a:spcBef>
              <a:spcPct val="0"/>
            </a:spcBef>
            <a:spcAft>
              <a:spcPct val="35000"/>
            </a:spcAft>
            <a:buNone/>
          </a:pPr>
          <a:r>
            <a:rPr lang="en-US" sz="2600" kern="1200" dirty="0">
              <a:effectLst/>
              <a:latin typeface="Times New Roman" panose="02020603050405020304" pitchFamily="18" charset="0"/>
              <a:ea typeface="Times New Roman" panose="02020603050405020304" pitchFamily="18" charset="0"/>
              <a:cs typeface="Times New Roman" panose="02020603050405020304" pitchFamily="18" charset="0"/>
            </a:rPr>
            <a:t>Pathological jaundice </a:t>
          </a:r>
          <a:endParaRPr lang="en-US" sz="2600" kern="1200" dirty="0"/>
        </a:p>
      </dsp:txBody>
      <dsp:txXfrm>
        <a:off x="44262" y="1629427"/>
        <a:ext cx="2899838" cy="809037"/>
      </dsp:txXfrm>
    </dsp:sp>
    <dsp:sp modelId="{9D8297DB-1BB6-4F59-90BD-09F9ADA2055A}">
      <dsp:nvSpPr>
        <dsp:cNvPr id="0" name=""/>
        <dsp:cNvSpPr/>
      </dsp:nvSpPr>
      <dsp:spPr>
        <a:xfrm rot="5400000">
          <a:off x="6754175" y="-963400"/>
          <a:ext cx="1300746" cy="8758779"/>
        </a:xfrm>
        <a:prstGeom prst="round2SameRect">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ln>
        <a:effectLst>
          <a:softEdge rad="12700"/>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effectLst/>
              <a:latin typeface="Times New Roman" panose="02020603050405020304" pitchFamily="18" charset="0"/>
              <a:ea typeface="Times New Roman" panose="02020603050405020304" pitchFamily="18" charset="0"/>
              <a:cs typeface="Times New Roman" panose="02020603050405020304" pitchFamily="18" charset="0"/>
            </a:rPr>
            <a:t>It is caused from maternal red cell alloimmunization when the baby born is Rh-positive to a Rh-negative mother and Rh-positive father. Here the mother’s immunoglobulin antibodies i.e., IgG crosses the placenta and enters the fetal circulation causing several symptoms of mild to severe hemolytic anemia.</a:t>
          </a:r>
          <a:endParaRPr lang="en-US" sz="1800" kern="1200" dirty="0"/>
        </a:p>
      </dsp:txBody>
      <dsp:txXfrm rot="-5400000">
        <a:off x="3025159" y="2829113"/>
        <a:ext cx="8695282" cy="1173752"/>
      </dsp:txXfrm>
    </dsp:sp>
    <dsp:sp modelId="{2FBE6272-0275-44A1-AA67-9BE9EC09C770}">
      <dsp:nvSpPr>
        <dsp:cNvPr id="0" name=""/>
        <dsp:cNvSpPr/>
      </dsp:nvSpPr>
      <dsp:spPr>
        <a:xfrm>
          <a:off x="495" y="2900430"/>
          <a:ext cx="3024663" cy="1031117"/>
        </a:xfrm>
        <a:prstGeom prst="roundRect">
          <a:avLst/>
        </a:prstGeom>
        <a:blipFill rotWithShape="1">
          <a:blip xmlns:r="http://schemas.openxmlformats.org/officeDocument/2006/relationships" r:embed="rId1">
            <a:duotone>
              <a:schemeClr val="accent1">
                <a:hueOff val="0"/>
                <a:satOff val="0"/>
                <a:lumOff val="0"/>
                <a:alphaOff val="0"/>
                <a:shade val="36000"/>
                <a:satMod val="120000"/>
              </a:schemeClr>
              <a:schemeClr val="accent1">
                <a:hueOff val="0"/>
                <a:satOff val="0"/>
                <a:lumOff val="0"/>
                <a:alphaOff val="0"/>
                <a:tint val="40000"/>
              </a:schemeClr>
            </a:duotone>
          </a:blip>
          <a:tile tx="0" ty="0" sx="60000" sy="59000" flip="none" algn="tl"/>
        </a:blipFill>
        <a:ln>
          <a:noFill/>
        </a:ln>
        <a:effectLst>
          <a:softEdge rad="12700"/>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99060" tIns="49530" rIns="99060" bIns="49530" numCol="1" spcCol="1270" anchor="ctr" anchorCtr="0">
          <a:noAutofit/>
        </a:bodyPr>
        <a:lstStyle/>
        <a:p>
          <a:pPr marL="0" lvl="0" indent="0" algn="ctr" defTabSz="1155700">
            <a:lnSpc>
              <a:spcPct val="90000"/>
            </a:lnSpc>
            <a:spcBef>
              <a:spcPct val="0"/>
            </a:spcBef>
            <a:spcAft>
              <a:spcPct val="35000"/>
            </a:spcAft>
            <a:buNone/>
          </a:pPr>
          <a:r>
            <a:rPr lang="en-US" sz="2600" kern="1200" dirty="0">
              <a:effectLst/>
              <a:latin typeface="Times New Roman" panose="02020603050405020304" pitchFamily="18" charset="0"/>
              <a:ea typeface="Times New Roman" panose="02020603050405020304" pitchFamily="18" charset="0"/>
              <a:cs typeface="Times New Roman" panose="02020603050405020304" pitchFamily="18" charset="0"/>
            </a:rPr>
            <a:t>Rhesus hemolytic disease </a:t>
          </a:r>
          <a:endParaRPr lang="en-US" sz="2600" kern="1200" dirty="0"/>
        </a:p>
      </dsp:txBody>
      <dsp:txXfrm>
        <a:off x="50830" y="2950765"/>
        <a:ext cx="2923993" cy="930447"/>
      </dsp:txXfrm>
    </dsp:sp>
    <dsp:sp modelId="{24789385-6B3D-4A20-A4A4-7660B02A0E50}">
      <dsp:nvSpPr>
        <dsp:cNvPr id="0" name=""/>
        <dsp:cNvSpPr/>
      </dsp:nvSpPr>
      <dsp:spPr>
        <a:xfrm rot="5400000">
          <a:off x="6786048" y="413865"/>
          <a:ext cx="1300746" cy="8698352"/>
        </a:xfrm>
        <a:prstGeom prst="round2SameRect">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ln>
        <a:effectLst>
          <a:softEdge rad="12700"/>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effectLst/>
              <a:latin typeface="Times New Roman" panose="02020603050405020304" pitchFamily="18" charset="0"/>
              <a:ea typeface="Times New Roman" panose="02020603050405020304" pitchFamily="18" charset="0"/>
              <a:cs typeface="Times New Roman" panose="02020603050405020304" pitchFamily="18" charset="0"/>
            </a:rPr>
            <a:t>Infants with family history of G6PD deficiency has greater chances of severe jaundice. It is the deficiency of an enzyme in RBCs which plays a vital role in hexose monophosphate pathway.</a:t>
          </a:r>
          <a:endParaRPr lang="en-US" sz="1800" kern="1200" dirty="0"/>
        </a:p>
      </dsp:txBody>
      <dsp:txXfrm rot="-5400000">
        <a:off x="3087246" y="4176165"/>
        <a:ext cx="8634855" cy="1173752"/>
      </dsp:txXfrm>
    </dsp:sp>
    <dsp:sp modelId="{2AAC2723-02BF-4AF0-AA75-3F96F187DFFE}">
      <dsp:nvSpPr>
        <dsp:cNvPr id="0" name=""/>
        <dsp:cNvSpPr/>
      </dsp:nvSpPr>
      <dsp:spPr>
        <a:xfrm>
          <a:off x="495" y="4393418"/>
          <a:ext cx="3084585" cy="809226"/>
        </a:xfrm>
        <a:prstGeom prst="roundRect">
          <a:avLst/>
        </a:prstGeom>
        <a:blipFill rotWithShape="1">
          <a:blip xmlns:r="http://schemas.openxmlformats.org/officeDocument/2006/relationships" r:embed="rId1">
            <a:duotone>
              <a:schemeClr val="accent1">
                <a:hueOff val="0"/>
                <a:satOff val="0"/>
                <a:lumOff val="0"/>
                <a:alphaOff val="0"/>
                <a:shade val="36000"/>
                <a:satMod val="120000"/>
              </a:schemeClr>
              <a:schemeClr val="accent1">
                <a:hueOff val="0"/>
                <a:satOff val="0"/>
                <a:lumOff val="0"/>
                <a:alphaOff val="0"/>
                <a:tint val="40000"/>
              </a:schemeClr>
            </a:duotone>
          </a:blip>
          <a:tile tx="0" ty="0" sx="60000" sy="59000" flip="none" algn="tl"/>
        </a:blipFill>
        <a:ln>
          <a:noFill/>
        </a:ln>
        <a:effectLst>
          <a:softEdge rad="12700"/>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99060" tIns="49530" rIns="99060" bIns="49530" numCol="1" spcCol="1270" anchor="ctr" anchorCtr="0">
          <a:noAutofit/>
        </a:bodyPr>
        <a:lstStyle/>
        <a:p>
          <a:pPr marL="0" lvl="0" indent="0" algn="ctr" defTabSz="1155700">
            <a:lnSpc>
              <a:spcPct val="90000"/>
            </a:lnSpc>
            <a:spcBef>
              <a:spcPct val="0"/>
            </a:spcBef>
            <a:spcAft>
              <a:spcPct val="35000"/>
            </a:spcAft>
            <a:buNone/>
          </a:pPr>
          <a:r>
            <a:rPr lang="en-US" sz="2600" kern="1200" dirty="0">
              <a:effectLst/>
              <a:latin typeface="Times New Roman" panose="02020603050405020304" pitchFamily="18" charset="0"/>
              <a:ea typeface="Times New Roman" panose="02020603050405020304" pitchFamily="18" charset="0"/>
              <a:cs typeface="Times New Roman" panose="02020603050405020304" pitchFamily="18" charset="0"/>
            </a:rPr>
            <a:t>G6PD deficiency </a:t>
          </a:r>
          <a:endParaRPr lang="en-US" sz="2600" kern="1200" dirty="0"/>
        </a:p>
      </dsp:txBody>
      <dsp:txXfrm>
        <a:off x="39998" y="4432921"/>
        <a:ext cx="3005579" cy="73022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57D4B9-E440-4E09-BFA5-02AF80DF958E}">
      <dsp:nvSpPr>
        <dsp:cNvPr id="0" name=""/>
        <dsp:cNvSpPr/>
      </dsp:nvSpPr>
      <dsp:spPr>
        <a:xfrm>
          <a:off x="44" y="173189"/>
          <a:ext cx="4264598" cy="604800"/>
        </a:xfrm>
        <a:prstGeom prst="rect">
          <a:avLst/>
        </a:prstGeom>
        <a:blipFill rotWithShape="1">
          <a:blip xmlns:r="http://schemas.openxmlformats.org/officeDocument/2006/relationships" r:embed="rId1">
            <a:duotone>
              <a:schemeClr val="accent1">
                <a:hueOff val="0"/>
                <a:satOff val="0"/>
                <a:lumOff val="0"/>
                <a:alphaOff val="0"/>
                <a:shade val="36000"/>
                <a:satMod val="120000"/>
              </a:schemeClr>
              <a:schemeClr val="accent1">
                <a:hueOff val="0"/>
                <a:satOff val="0"/>
                <a:lumOff val="0"/>
                <a:alphaOff val="0"/>
                <a:tint val="40000"/>
              </a:schemeClr>
            </a:duotone>
          </a:blip>
          <a:tile tx="0" ty="0" sx="60000" sy="59000" flip="none" algn="tl"/>
        </a:blipFill>
        <a:ln w="6350" cap="flat" cmpd="sng" algn="ctr">
          <a:solidFill>
            <a:schemeClr val="accent1">
              <a:hueOff val="0"/>
              <a:satOff val="0"/>
              <a:lumOff val="0"/>
              <a:alphaOff val="0"/>
            </a:schemeClr>
          </a:solidFill>
          <a:prstDash val="solid"/>
        </a:ln>
        <a:effectLst>
          <a:softEdge rad="12700"/>
        </a:effectLst>
      </dsp:spPr>
      <dsp:style>
        <a:lnRef idx="1">
          <a:scrgbClr r="0" g="0" b="0"/>
        </a:lnRef>
        <a:fillRef idx="3">
          <a:scrgbClr r="0" g="0" b="0"/>
        </a:fillRef>
        <a:effectRef idx="2">
          <a:scrgbClr r="0" g="0" b="0"/>
        </a:effectRef>
        <a:fontRef idx="minor">
          <a:schemeClr val="lt1"/>
        </a:fontRef>
      </dsp:style>
      <dsp:txBody>
        <a:bodyPr spcFirstLastPara="0" vert="horz" wrap="square" lIns="149352" tIns="85344" rIns="149352" bIns="85344" numCol="1" spcCol="1270" anchor="ctr" anchorCtr="0">
          <a:noAutofit/>
        </a:bodyPr>
        <a:lstStyle/>
        <a:p>
          <a:pPr marL="0" lvl="0" indent="0" algn="ctr" defTabSz="933450">
            <a:lnSpc>
              <a:spcPct val="90000"/>
            </a:lnSpc>
            <a:spcBef>
              <a:spcPct val="0"/>
            </a:spcBef>
            <a:spcAft>
              <a:spcPct val="35000"/>
            </a:spcAft>
            <a:buNone/>
          </a:pPr>
          <a:r>
            <a:rPr lang="en-US" sz="2100" kern="1200" dirty="0"/>
            <a:t>MATERNAL</a:t>
          </a:r>
        </a:p>
      </dsp:txBody>
      <dsp:txXfrm>
        <a:off x="44" y="173189"/>
        <a:ext cx="4264598" cy="604800"/>
      </dsp:txXfrm>
    </dsp:sp>
    <dsp:sp modelId="{B92DC63A-1D86-4F74-98B5-E30B7FD0D3B0}">
      <dsp:nvSpPr>
        <dsp:cNvPr id="0" name=""/>
        <dsp:cNvSpPr/>
      </dsp:nvSpPr>
      <dsp:spPr>
        <a:xfrm>
          <a:off x="44" y="777989"/>
          <a:ext cx="4264598" cy="4467487"/>
        </a:xfrm>
        <a:prstGeom prst="rect">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2014" tIns="112014" rIns="149352" bIns="168021" numCol="1" spcCol="1270" anchor="t" anchorCtr="0">
          <a:noAutofit/>
        </a:bodyPr>
        <a:lstStyle/>
        <a:p>
          <a:pPr marL="228600" lvl="1" indent="-228600" algn="l" defTabSz="933450">
            <a:lnSpc>
              <a:spcPct val="90000"/>
            </a:lnSpc>
            <a:spcBef>
              <a:spcPct val="0"/>
            </a:spcBef>
            <a:spcAft>
              <a:spcPct val="15000"/>
            </a:spcAft>
            <a:buChar char="•"/>
          </a:pPr>
          <a:r>
            <a:rPr lang="en-US" sz="2100" kern="1200" dirty="0"/>
            <a:t>Hypertension</a:t>
          </a:r>
        </a:p>
        <a:p>
          <a:pPr marL="228600" lvl="1" indent="-228600" algn="l" defTabSz="933450">
            <a:lnSpc>
              <a:spcPct val="90000"/>
            </a:lnSpc>
            <a:spcBef>
              <a:spcPct val="0"/>
            </a:spcBef>
            <a:spcAft>
              <a:spcPct val="15000"/>
            </a:spcAft>
            <a:buChar char="•"/>
          </a:pPr>
          <a:r>
            <a:rPr lang="en-US" sz="2100" kern="1200" dirty="0"/>
            <a:t>Diabetes mellitus</a:t>
          </a:r>
        </a:p>
        <a:p>
          <a:pPr marL="228600" lvl="1" indent="-228600" algn="l" defTabSz="933450">
            <a:lnSpc>
              <a:spcPct val="90000"/>
            </a:lnSpc>
            <a:spcBef>
              <a:spcPct val="0"/>
            </a:spcBef>
            <a:spcAft>
              <a:spcPct val="15000"/>
            </a:spcAft>
            <a:buChar char="•"/>
          </a:pPr>
          <a:r>
            <a:rPr lang="en-US" sz="2100" kern="1200" dirty="0"/>
            <a:t>Preeclampsia</a:t>
          </a:r>
        </a:p>
        <a:p>
          <a:pPr marL="228600" lvl="1" indent="-228600" algn="l" defTabSz="933450">
            <a:lnSpc>
              <a:spcPct val="90000"/>
            </a:lnSpc>
            <a:spcBef>
              <a:spcPct val="0"/>
            </a:spcBef>
            <a:spcAft>
              <a:spcPct val="15000"/>
            </a:spcAft>
            <a:buChar char="•"/>
          </a:pPr>
          <a:r>
            <a:rPr lang="en-US" sz="2100" kern="1200" dirty="0"/>
            <a:t>Vaginal bleeding</a:t>
          </a:r>
        </a:p>
        <a:p>
          <a:pPr marL="228600" lvl="1" indent="-228600" algn="l" defTabSz="933450">
            <a:lnSpc>
              <a:spcPct val="90000"/>
            </a:lnSpc>
            <a:spcBef>
              <a:spcPct val="0"/>
            </a:spcBef>
            <a:spcAft>
              <a:spcPct val="15000"/>
            </a:spcAft>
            <a:buChar char="•"/>
          </a:pPr>
          <a:r>
            <a:rPr lang="en-US" sz="2100" kern="1200" dirty="0"/>
            <a:t>Premature rupture membranes</a:t>
          </a:r>
        </a:p>
        <a:p>
          <a:pPr marL="228600" lvl="1" indent="-228600" algn="l" defTabSz="933450">
            <a:lnSpc>
              <a:spcPct val="90000"/>
            </a:lnSpc>
            <a:spcBef>
              <a:spcPct val="0"/>
            </a:spcBef>
            <a:spcAft>
              <a:spcPct val="15000"/>
            </a:spcAft>
            <a:buChar char="•"/>
          </a:pPr>
          <a:r>
            <a:rPr lang="en-US" sz="2100" kern="1200" dirty="0"/>
            <a:t>Improper lactation</a:t>
          </a:r>
        </a:p>
        <a:p>
          <a:pPr marL="228600" lvl="1" indent="-228600" algn="l" defTabSz="933450">
            <a:lnSpc>
              <a:spcPct val="90000"/>
            </a:lnSpc>
            <a:spcBef>
              <a:spcPct val="0"/>
            </a:spcBef>
            <a:spcAft>
              <a:spcPct val="15000"/>
            </a:spcAft>
            <a:buChar char="•"/>
          </a:pPr>
          <a:r>
            <a:rPr lang="en-US" sz="2100" kern="1200" dirty="0"/>
            <a:t>Breast problems</a:t>
          </a:r>
        </a:p>
        <a:p>
          <a:pPr marL="228600" lvl="1" indent="-228600" algn="l" defTabSz="933450">
            <a:lnSpc>
              <a:spcPct val="90000"/>
            </a:lnSpc>
            <a:spcBef>
              <a:spcPct val="0"/>
            </a:spcBef>
            <a:spcAft>
              <a:spcPct val="15000"/>
            </a:spcAft>
            <a:buChar char="•"/>
          </a:pPr>
          <a:r>
            <a:rPr lang="en-US" sz="2100" kern="1200" dirty="0"/>
            <a:t>Blood group incompatibilities</a:t>
          </a:r>
        </a:p>
        <a:p>
          <a:pPr marL="228600" lvl="1" indent="-228600" algn="l" defTabSz="933450">
            <a:lnSpc>
              <a:spcPct val="90000"/>
            </a:lnSpc>
            <a:spcBef>
              <a:spcPct val="0"/>
            </a:spcBef>
            <a:spcAft>
              <a:spcPct val="15000"/>
            </a:spcAft>
            <a:buChar char="•"/>
          </a:pPr>
          <a:r>
            <a:rPr lang="en-US" sz="2100" kern="1200" dirty="0"/>
            <a:t>Type of delivery</a:t>
          </a:r>
        </a:p>
        <a:p>
          <a:pPr marL="228600" lvl="1" indent="-228600" algn="l" defTabSz="933450">
            <a:lnSpc>
              <a:spcPct val="90000"/>
            </a:lnSpc>
            <a:spcBef>
              <a:spcPct val="0"/>
            </a:spcBef>
            <a:spcAft>
              <a:spcPct val="15000"/>
            </a:spcAft>
            <a:buChar char="•"/>
          </a:pPr>
          <a:r>
            <a:rPr lang="en-US" sz="2100" kern="1200" dirty="0"/>
            <a:t>Term of delivery</a:t>
          </a:r>
        </a:p>
      </dsp:txBody>
      <dsp:txXfrm>
        <a:off x="44" y="777989"/>
        <a:ext cx="4264598" cy="4467487"/>
      </dsp:txXfrm>
    </dsp:sp>
    <dsp:sp modelId="{E8407AAD-FA7F-48B9-BA8A-826744702974}">
      <dsp:nvSpPr>
        <dsp:cNvPr id="0" name=""/>
        <dsp:cNvSpPr/>
      </dsp:nvSpPr>
      <dsp:spPr>
        <a:xfrm>
          <a:off x="4861686" y="173189"/>
          <a:ext cx="4264598" cy="604800"/>
        </a:xfrm>
        <a:prstGeom prst="rect">
          <a:avLst/>
        </a:prstGeom>
        <a:blipFill rotWithShape="1">
          <a:blip xmlns:r="http://schemas.openxmlformats.org/officeDocument/2006/relationships" r:embed="rId1">
            <a:duotone>
              <a:schemeClr val="accent1">
                <a:hueOff val="0"/>
                <a:satOff val="0"/>
                <a:lumOff val="0"/>
                <a:alphaOff val="0"/>
                <a:shade val="36000"/>
                <a:satMod val="120000"/>
              </a:schemeClr>
              <a:schemeClr val="accent1">
                <a:hueOff val="0"/>
                <a:satOff val="0"/>
                <a:lumOff val="0"/>
                <a:alphaOff val="0"/>
                <a:tint val="40000"/>
              </a:schemeClr>
            </a:duotone>
          </a:blip>
          <a:tile tx="0" ty="0" sx="60000" sy="59000" flip="none" algn="tl"/>
        </a:blipFill>
        <a:ln w="6350" cap="flat" cmpd="sng" algn="ctr">
          <a:solidFill>
            <a:schemeClr val="accent1">
              <a:hueOff val="0"/>
              <a:satOff val="0"/>
              <a:lumOff val="0"/>
              <a:alphaOff val="0"/>
            </a:schemeClr>
          </a:solidFill>
          <a:prstDash val="solid"/>
        </a:ln>
        <a:effectLst>
          <a:softEdge rad="12700"/>
        </a:effectLst>
      </dsp:spPr>
      <dsp:style>
        <a:lnRef idx="1">
          <a:scrgbClr r="0" g="0" b="0"/>
        </a:lnRef>
        <a:fillRef idx="3">
          <a:scrgbClr r="0" g="0" b="0"/>
        </a:fillRef>
        <a:effectRef idx="2">
          <a:scrgbClr r="0" g="0" b="0"/>
        </a:effectRef>
        <a:fontRef idx="minor">
          <a:schemeClr val="lt1"/>
        </a:fontRef>
      </dsp:style>
      <dsp:txBody>
        <a:bodyPr spcFirstLastPara="0" vert="horz" wrap="square" lIns="149352" tIns="85344" rIns="149352" bIns="85344" numCol="1" spcCol="1270" anchor="ctr" anchorCtr="0">
          <a:noAutofit/>
        </a:bodyPr>
        <a:lstStyle/>
        <a:p>
          <a:pPr marL="0" lvl="0" indent="0" algn="ctr" defTabSz="933450">
            <a:lnSpc>
              <a:spcPct val="90000"/>
            </a:lnSpc>
            <a:spcBef>
              <a:spcPct val="0"/>
            </a:spcBef>
            <a:spcAft>
              <a:spcPct val="35000"/>
            </a:spcAft>
            <a:buNone/>
          </a:pPr>
          <a:r>
            <a:rPr lang="en-US" sz="2100" kern="1200" dirty="0"/>
            <a:t>NEONATAL</a:t>
          </a:r>
        </a:p>
      </dsp:txBody>
      <dsp:txXfrm>
        <a:off x="4861686" y="173189"/>
        <a:ext cx="4264598" cy="604800"/>
      </dsp:txXfrm>
    </dsp:sp>
    <dsp:sp modelId="{DEFA1D8B-5892-4FAB-AA38-7FCDDD018F1C}">
      <dsp:nvSpPr>
        <dsp:cNvPr id="0" name=""/>
        <dsp:cNvSpPr/>
      </dsp:nvSpPr>
      <dsp:spPr>
        <a:xfrm>
          <a:off x="4861686" y="777989"/>
          <a:ext cx="4264598" cy="4467487"/>
        </a:xfrm>
        <a:prstGeom prst="rect">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2014" tIns="112014" rIns="149352" bIns="168021" numCol="1" spcCol="1270" anchor="t" anchorCtr="0">
          <a:noAutofit/>
        </a:bodyPr>
        <a:lstStyle/>
        <a:p>
          <a:pPr marL="228600" lvl="1" indent="-228600" algn="l" defTabSz="933450">
            <a:lnSpc>
              <a:spcPct val="90000"/>
            </a:lnSpc>
            <a:spcBef>
              <a:spcPct val="0"/>
            </a:spcBef>
            <a:spcAft>
              <a:spcPct val="15000"/>
            </a:spcAft>
            <a:buChar char="•"/>
          </a:pPr>
          <a:r>
            <a:rPr lang="en-US" sz="2100" kern="1200" dirty="0"/>
            <a:t>Blood group incompatibilities</a:t>
          </a:r>
        </a:p>
        <a:p>
          <a:pPr marL="228600" lvl="1" indent="-228600" algn="l" defTabSz="933450">
            <a:lnSpc>
              <a:spcPct val="90000"/>
            </a:lnSpc>
            <a:spcBef>
              <a:spcPct val="0"/>
            </a:spcBef>
            <a:spcAft>
              <a:spcPct val="15000"/>
            </a:spcAft>
            <a:buChar char="•"/>
          </a:pPr>
          <a:r>
            <a:rPr lang="en-US" sz="2100" kern="1200" dirty="0"/>
            <a:t>Sex</a:t>
          </a:r>
        </a:p>
        <a:p>
          <a:pPr marL="228600" lvl="1" indent="-228600" algn="l" defTabSz="933450">
            <a:lnSpc>
              <a:spcPct val="90000"/>
            </a:lnSpc>
            <a:spcBef>
              <a:spcPct val="0"/>
            </a:spcBef>
            <a:spcAft>
              <a:spcPct val="15000"/>
            </a:spcAft>
            <a:buChar char="•"/>
          </a:pPr>
          <a:r>
            <a:rPr lang="en-US" sz="2100" kern="1200" dirty="0"/>
            <a:t>Weight</a:t>
          </a:r>
        </a:p>
        <a:p>
          <a:pPr marL="228600" lvl="1" indent="-228600" algn="l" defTabSz="933450">
            <a:lnSpc>
              <a:spcPct val="90000"/>
            </a:lnSpc>
            <a:spcBef>
              <a:spcPct val="0"/>
            </a:spcBef>
            <a:spcAft>
              <a:spcPct val="15000"/>
            </a:spcAft>
            <a:buChar char="•"/>
          </a:pPr>
          <a:r>
            <a:rPr lang="en-US" sz="2100" kern="1200" dirty="0"/>
            <a:t>Gestational age</a:t>
          </a:r>
        </a:p>
        <a:p>
          <a:pPr marL="228600" lvl="1" indent="-228600" algn="l" defTabSz="933450">
            <a:lnSpc>
              <a:spcPct val="90000"/>
            </a:lnSpc>
            <a:spcBef>
              <a:spcPct val="0"/>
            </a:spcBef>
            <a:spcAft>
              <a:spcPct val="15000"/>
            </a:spcAft>
            <a:buChar char="•"/>
          </a:pPr>
          <a:r>
            <a:rPr lang="en-US" sz="2100" kern="1200" dirty="0"/>
            <a:t>Cephalohematoma</a:t>
          </a:r>
        </a:p>
        <a:p>
          <a:pPr marL="228600" lvl="1" indent="-228600" algn="l" defTabSz="933450">
            <a:lnSpc>
              <a:spcPct val="90000"/>
            </a:lnSpc>
            <a:spcBef>
              <a:spcPct val="0"/>
            </a:spcBef>
            <a:spcAft>
              <a:spcPct val="15000"/>
            </a:spcAft>
            <a:buChar char="•"/>
          </a:pPr>
          <a:r>
            <a:rPr lang="en-US" sz="2100" kern="1200" dirty="0"/>
            <a:t>Difficulty in feeding</a:t>
          </a:r>
        </a:p>
        <a:p>
          <a:pPr marL="228600" lvl="1" indent="-228600" algn="l" defTabSz="933450">
            <a:lnSpc>
              <a:spcPct val="90000"/>
            </a:lnSpc>
            <a:spcBef>
              <a:spcPct val="0"/>
            </a:spcBef>
            <a:spcAft>
              <a:spcPct val="15000"/>
            </a:spcAft>
            <a:buChar char="•"/>
          </a:pPr>
          <a:r>
            <a:rPr lang="en-US" sz="2100" kern="1200" dirty="0"/>
            <a:t>Gastro intestinal obstruction</a:t>
          </a:r>
        </a:p>
        <a:p>
          <a:pPr marL="228600" lvl="1" indent="-228600" algn="l" defTabSz="933450">
            <a:lnSpc>
              <a:spcPct val="90000"/>
            </a:lnSpc>
            <a:spcBef>
              <a:spcPct val="0"/>
            </a:spcBef>
            <a:spcAft>
              <a:spcPct val="15000"/>
            </a:spcAft>
            <a:buChar char="•"/>
          </a:pPr>
          <a:r>
            <a:rPr lang="en-US" sz="2100" kern="1200" dirty="0"/>
            <a:t>Sepsis</a:t>
          </a:r>
        </a:p>
        <a:p>
          <a:pPr marL="228600" lvl="1" indent="-228600" algn="l" defTabSz="933450">
            <a:lnSpc>
              <a:spcPct val="90000"/>
            </a:lnSpc>
            <a:spcBef>
              <a:spcPct val="0"/>
            </a:spcBef>
            <a:spcAft>
              <a:spcPct val="15000"/>
            </a:spcAft>
            <a:buChar char="•"/>
          </a:pPr>
          <a:r>
            <a:rPr lang="en-US" sz="2100" kern="1200" dirty="0"/>
            <a:t>Hypothyroidism</a:t>
          </a:r>
        </a:p>
        <a:p>
          <a:pPr marL="228600" lvl="1" indent="-228600" algn="l" defTabSz="933450">
            <a:lnSpc>
              <a:spcPct val="90000"/>
            </a:lnSpc>
            <a:spcBef>
              <a:spcPct val="0"/>
            </a:spcBef>
            <a:spcAft>
              <a:spcPct val="15000"/>
            </a:spcAft>
            <a:buChar char="•"/>
          </a:pPr>
          <a:r>
            <a:rPr lang="en-US" sz="2100" kern="1200" dirty="0"/>
            <a:t>G6PD deficiency </a:t>
          </a:r>
        </a:p>
        <a:p>
          <a:pPr marL="228600" lvl="1" indent="-228600" algn="l" defTabSz="933450">
            <a:lnSpc>
              <a:spcPct val="90000"/>
            </a:lnSpc>
            <a:spcBef>
              <a:spcPct val="0"/>
            </a:spcBef>
            <a:spcAft>
              <a:spcPct val="15000"/>
            </a:spcAft>
            <a:buChar char="•"/>
          </a:pPr>
          <a:r>
            <a:rPr lang="en-US" sz="2100" kern="1200" dirty="0"/>
            <a:t>Hemolytic anemia</a:t>
          </a:r>
        </a:p>
        <a:p>
          <a:pPr marL="228600" lvl="1" indent="-228600" algn="l" defTabSz="933450">
            <a:lnSpc>
              <a:spcPct val="90000"/>
            </a:lnSpc>
            <a:spcBef>
              <a:spcPct val="0"/>
            </a:spcBef>
            <a:spcAft>
              <a:spcPct val="15000"/>
            </a:spcAft>
            <a:buChar char="•"/>
          </a:pPr>
          <a:r>
            <a:rPr lang="en-US" sz="2100" kern="1200" dirty="0"/>
            <a:t>Previous sibling with significant jaundice</a:t>
          </a:r>
        </a:p>
      </dsp:txBody>
      <dsp:txXfrm>
        <a:off x="4861686" y="777989"/>
        <a:ext cx="4264598" cy="446748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0B0F97-02FF-45E3-B079-1653FDF35792}">
      <dsp:nvSpPr>
        <dsp:cNvPr id="0" name=""/>
        <dsp:cNvSpPr/>
      </dsp:nvSpPr>
      <dsp:spPr>
        <a:xfrm>
          <a:off x="0" y="710892"/>
          <a:ext cx="7642087" cy="630000"/>
        </a:xfrm>
        <a:prstGeom prst="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ln>
        <a:effectLst>
          <a:softEdge rad="12700"/>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 modelId="{007BDCEA-4264-426B-AA2F-2E199D912A56}">
      <dsp:nvSpPr>
        <dsp:cNvPr id="0" name=""/>
        <dsp:cNvSpPr/>
      </dsp:nvSpPr>
      <dsp:spPr>
        <a:xfrm>
          <a:off x="382104" y="341892"/>
          <a:ext cx="5349460" cy="738000"/>
        </a:xfrm>
        <a:prstGeom prst="roundRect">
          <a:avLst/>
        </a:prstGeom>
        <a:blipFill rotWithShape="1">
          <a:blip xmlns:r="http://schemas.openxmlformats.org/officeDocument/2006/relationships" r:embed="rId1">
            <a:duotone>
              <a:schemeClr val="accent1">
                <a:hueOff val="0"/>
                <a:satOff val="0"/>
                <a:lumOff val="0"/>
                <a:alphaOff val="0"/>
                <a:shade val="36000"/>
                <a:satMod val="120000"/>
              </a:schemeClr>
              <a:schemeClr val="accent1">
                <a:hueOff val="0"/>
                <a:satOff val="0"/>
                <a:lumOff val="0"/>
                <a:alphaOff val="0"/>
                <a:tint val="40000"/>
              </a:schemeClr>
            </a:duotone>
          </a:blip>
          <a:tile tx="0" ty="0" sx="60000" sy="59000" flip="none" algn="tl"/>
        </a:blipFill>
        <a:ln>
          <a:noFill/>
        </a:ln>
        <a:effectLst>
          <a:softEdge rad="12700"/>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2197" tIns="0" rIns="202197" bIns="0" numCol="1" spcCol="1270" anchor="ctr" anchorCtr="0">
          <a:noAutofit/>
        </a:bodyPr>
        <a:lstStyle/>
        <a:p>
          <a:pPr marL="0" lvl="0" indent="0" algn="l" defTabSz="1111250">
            <a:lnSpc>
              <a:spcPct val="90000"/>
            </a:lnSpc>
            <a:spcBef>
              <a:spcPct val="0"/>
            </a:spcBef>
            <a:spcAft>
              <a:spcPct val="35000"/>
            </a:spcAft>
            <a:buFont typeface="Wingdings" panose="05000000000000000000" pitchFamily="2" charset="2"/>
            <a:buNone/>
          </a:pPr>
          <a:r>
            <a:rPr lang="en-US" sz="2500" kern="1200" dirty="0">
              <a:effectLst/>
              <a:latin typeface="Times New Roman" panose="02020603050405020304" pitchFamily="18" charset="0"/>
              <a:ea typeface="Times New Roman" panose="02020603050405020304" pitchFamily="18" charset="0"/>
              <a:cs typeface="Times New Roman" panose="02020603050405020304" pitchFamily="18" charset="0"/>
            </a:rPr>
            <a:t>Yellowing in the sclera, soles of feet, palms and inside of their mouth.</a:t>
          </a:r>
          <a:endParaRPr lang="en-US" sz="2500" kern="1200" dirty="0"/>
        </a:p>
      </dsp:txBody>
      <dsp:txXfrm>
        <a:off x="418130" y="377918"/>
        <a:ext cx="5277408" cy="665948"/>
      </dsp:txXfrm>
    </dsp:sp>
    <dsp:sp modelId="{FE0F6DA9-474E-494A-8267-41C8F392E4BB}">
      <dsp:nvSpPr>
        <dsp:cNvPr id="0" name=""/>
        <dsp:cNvSpPr/>
      </dsp:nvSpPr>
      <dsp:spPr>
        <a:xfrm>
          <a:off x="0" y="1844893"/>
          <a:ext cx="7642087" cy="630000"/>
        </a:xfrm>
        <a:prstGeom prst="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ln>
        <a:effectLst>
          <a:softEdge rad="12700"/>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 modelId="{5969FE0C-C635-42CD-B2D2-29D992660BDB}">
      <dsp:nvSpPr>
        <dsp:cNvPr id="0" name=""/>
        <dsp:cNvSpPr/>
      </dsp:nvSpPr>
      <dsp:spPr>
        <a:xfrm>
          <a:off x="382104" y="1475892"/>
          <a:ext cx="5349460" cy="738000"/>
        </a:xfrm>
        <a:prstGeom prst="roundRect">
          <a:avLst/>
        </a:prstGeom>
        <a:blipFill rotWithShape="1">
          <a:blip xmlns:r="http://schemas.openxmlformats.org/officeDocument/2006/relationships" r:embed="rId1">
            <a:duotone>
              <a:schemeClr val="accent1">
                <a:hueOff val="0"/>
                <a:satOff val="0"/>
                <a:lumOff val="0"/>
                <a:alphaOff val="0"/>
                <a:shade val="36000"/>
                <a:satMod val="120000"/>
              </a:schemeClr>
              <a:schemeClr val="accent1">
                <a:hueOff val="0"/>
                <a:satOff val="0"/>
                <a:lumOff val="0"/>
                <a:alphaOff val="0"/>
                <a:tint val="40000"/>
              </a:schemeClr>
            </a:duotone>
          </a:blip>
          <a:tile tx="0" ty="0" sx="60000" sy="59000" flip="none" algn="tl"/>
        </a:blipFill>
        <a:ln>
          <a:noFill/>
        </a:ln>
        <a:effectLst>
          <a:softEdge rad="12700"/>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2197" tIns="0" rIns="202197" bIns="0" numCol="1" spcCol="1270" anchor="ctr" anchorCtr="0">
          <a:noAutofit/>
        </a:bodyPr>
        <a:lstStyle/>
        <a:p>
          <a:pPr marL="0" lvl="0" indent="0" algn="l" defTabSz="1111250">
            <a:lnSpc>
              <a:spcPct val="90000"/>
            </a:lnSpc>
            <a:spcBef>
              <a:spcPct val="0"/>
            </a:spcBef>
            <a:spcAft>
              <a:spcPct val="35000"/>
            </a:spcAft>
            <a:buFont typeface="Wingdings" panose="05000000000000000000" pitchFamily="2" charset="2"/>
            <a:buNone/>
          </a:pPr>
          <a:r>
            <a:rPr lang="en-US" sz="2500" kern="1200" dirty="0">
              <a:effectLst/>
              <a:latin typeface="Times New Roman" panose="02020603050405020304" pitchFamily="18" charset="0"/>
              <a:ea typeface="Times New Roman" panose="02020603050405020304" pitchFamily="18" charset="0"/>
              <a:cs typeface="Times New Roman" panose="02020603050405020304" pitchFamily="18" charset="0"/>
            </a:rPr>
            <a:t>The neonate will be sleepy.</a:t>
          </a:r>
          <a:endParaRPr lang="en-US" sz="2500" kern="1200" dirty="0"/>
        </a:p>
      </dsp:txBody>
      <dsp:txXfrm>
        <a:off x="418130" y="1511918"/>
        <a:ext cx="5277408" cy="665948"/>
      </dsp:txXfrm>
    </dsp:sp>
    <dsp:sp modelId="{EE4330AA-B8CB-45D0-BC5A-03A97F0FE281}">
      <dsp:nvSpPr>
        <dsp:cNvPr id="0" name=""/>
        <dsp:cNvSpPr/>
      </dsp:nvSpPr>
      <dsp:spPr>
        <a:xfrm>
          <a:off x="0" y="2978893"/>
          <a:ext cx="7642087" cy="630000"/>
        </a:xfrm>
        <a:prstGeom prst="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ln>
        <a:effectLst>
          <a:softEdge rad="12700"/>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 modelId="{1E0E8860-629A-4AAC-B64D-6A6FDFC4ABD6}">
      <dsp:nvSpPr>
        <dsp:cNvPr id="0" name=""/>
        <dsp:cNvSpPr/>
      </dsp:nvSpPr>
      <dsp:spPr>
        <a:xfrm>
          <a:off x="410529" y="2656859"/>
          <a:ext cx="5349460" cy="738000"/>
        </a:xfrm>
        <a:prstGeom prst="roundRect">
          <a:avLst/>
        </a:prstGeom>
        <a:blipFill rotWithShape="1">
          <a:blip xmlns:r="http://schemas.openxmlformats.org/officeDocument/2006/relationships" r:embed="rId1">
            <a:duotone>
              <a:schemeClr val="accent1">
                <a:hueOff val="0"/>
                <a:satOff val="0"/>
                <a:lumOff val="0"/>
                <a:alphaOff val="0"/>
                <a:shade val="36000"/>
                <a:satMod val="120000"/>
              </a:schemeClr>
              <a:schemeClr val="accent1">
                <a:hueOff val="0"/>
                <a:satOff val="0"/>
                <a:lumOff val="0"/>
                <a:alphaOff val="0"/>
                <a:tint val="40000"/>
              </a:schemeClr>
            </a:duotone>
          </a:blip>
          <a:tile tx="0" ty="0" sx="60000" sy="59000" flip="none" algn="tl"/>
        </a:blipFill>
        <a:ln>
          <a:noFill/>
        </a:ln>
        <a:effectLst>
          <a:softEdge rad="12700"/>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2197" tIns="0" rIns="202197" bIns="0" numCol="1" spcCol="1270" anchor="ctr" anchorCtr="0">
          <a:noAutofit/>
        </a:bodyPr>
        <a:lstStyle/>
        <a:p>
          <a:pPr marL="0" lvl="0" indent="0" algn="l" defTabSz="1111250">
            <a:lnSpc>
              <a:spcPct val="90000"/>
            </a:lnSpc>
            <a:spcBef>
              <a:spcPct val="0"/>
            </a:spcBef>
            <a:spcAft>
              <a:spcPct val="35000"/>
            </a:spcAft>
            <a:buFont typeface="Wingdings" panose="05000000000000000000" pitchFamily="2" charset="2"/>
            <a:buNone/>
          </a:pPr>
          <a:r>
            <a:rPr lang="en-US" sz="2500" kern="1200" dirty="0">
              <a:effectLst/>
              <a:latin typeface="Times New Roman" panose="02020603050405020304" pitchFamily="18" charset="0"/>
              <a:ea typeface="Times New Roman" panose="02020603050405020304" pitchFamily="18" charset="0"/>
              <a:cs typeface="Times New Roman" panose="02020603050405020304" pitchFamily="18" charset="0"/>
            </a:rPr>
            <a:t>The newborn may also not will to feed.</a:t>
          </a:r>
          <a:endParaRPr lang="en-US" sz="2500" kern="1200" dirty="0"/>
        </a:p>
      </dsp:txBody>
      <dsp:txXfrm>
        <a:off x="446555" y="2692885"/>
        <a:ext cx="5277408" cy="665948"/>
      </dsp:txXfrm>
    </dsp:sp>
    <dsp:sp modelId="{9632271E-ED33-4C91-B9AA-B427C7540F3A}">
      <dsp:nvSpPr>
        <dsp:cNvPr id="0" name=""/>
        <dsp:cNvSpPr/>
      </dsp:nvSpPr>
      <dsp:spPr>
        <a:xfrm>
          <a:off x="0" y="4112893"/>
          <a:ext cx="7642087" cy="630000"/>
        </a:xfrm>
        <a:prstGeom prst="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ln>
        <a:effectLst>
          <a:softEdge rad="12700"/>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 modelId="{206C0AEB-0170-47E1-BE1B-D41F51BB4F23}">
      <dsp:nvSpPr>
        <dsp:cNvPr id="0" name=""/>
        <dsp:cNvSpPr/>
      </dsp:nvSpPr>
      <dsp:spPr>
        <a:xfrm>
          <a:off x="382104" y="3743893"/>
          <a:ext cx="5349460" cy="738000"/>
        </a:xfrm>
        <a:prstGeom prst="roundRect">
          <a:avLst/>
        </a:prstGeom>
        <a:blipFill rotWithShape="1">
          <a:blip xmlns:r="http://schemas.openxmlformats.org/officeDocument/2006/relationships" r:embed="rId1">
            <a:duotone>
              <a:schemeClr val="accent1">
                <a:hueOff val="0"/>
                <a:satOff val="0"/>
                <a:lumOff val="0"/>
                <a:alphaOff val="0"/>
                <a:shade val="36000"/>
                <a:satMod val="120000"/>
              </a:schemeClr>
              <a:schemeClr val="accent1">
                <a:hueOff val="0"/>
                <a:satOff val="0"/>
                <a:lumOff val="0"/>
                <a:alphaOff val="0"/>
                <a:tint val="40000"/>
              </a:schemeClr>
            </a:duotone>
          </a:blip>
          <a:tile tx="0" ty="0" sx="60000" sy="59000" flip="none" algn="tl"/>
        </a:blipFill>
        <a:ln>
          <a:noFill/>
        </a:ln>
        <a:effectLst>
          <a:softEdge rad="12700"/>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2197" tIns="0" rIns="202197" bIns="0" numCol="1" spcCol="1270" anchor="ctr" anchorCtr="0">
          <a:noAutofit/>
        </a:bodyPr>
        <a:lstStyle/>
        <a:p>
          <a:pPr marL="0" lvl="0" indent="0" algn="l" defTabSz="1111250">
            <a:lnSpc>
              <a:spcPct val="90000"/>
            </a:lnSpc>
            <a:spcBef>
              <a:spcPct val="0"/>
            </a:spcBef>
            <a:spcAft>
              <a:spcPct val="35000"/>
            </a:spcAft>
            <a:buNone/>
          </a:pPr>
          <a:r>
            <a:rPr lang="en-US" sz="2500" kern="1200" dirty="0">
              <a:effectLst/>
              <a:latin typeface="Times New Roman" panose="02020603050405020304" pitchFamily="18" charset="0"/>
              <a:ea typeface="Times New Roman" panose="02020603050405020304" pitchFamily="18" charset="0"/>
              <a:cs typeface="Times New Roman" panose="02020603050405020304" pitchFamily="18" charset="0"/>
            </a:rPr>
            <a:t>Newborn have dark, yellow urine and pale stools</a:t>
          </a:r>
          <a:r>
            <a:rPr lang="en-US" sz="2500" kern="1200" dirty="0">
              <a:latin typeface="Times New Roman" panose="02020603050405020304" pitchFamily="18" charset="0"/>
              <a:cs typeface="Times New Roman" panose="02020603050405020304" pitchFamily="18" charset="0"/>
            </a:rPr>
            <a:t>.</a:t>
          </a:r>
        </a:p>
      </dsp:txBody>
      <dsp:txXfrm>
        <a:off x="418130" y="3779919"/>
        <a:ext cx="5277408" cy="66594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9910F3-BF21-4102-ADE7-C7376850DD00}">
      <dsp:nvSpPr>
        <dsp:cNvPr id="0" name=""/>
        <dsp:cNvSpPr/>
      </dsp:nvSpPr>
      <dsp:spPr>
        <a:xfrm>
          <a:off x="0" y="63551"/>
          <a:ext cx="7085496" cy="818999"/>
        </a:xfrm>
        <a:prstGeom prst="roundRect">
          <a:avLst/>
        </a:prstGeom>
        <a:blipFill rotWithShape="1">
          <a:blip xmlns:r="http://schemas.openxmlformats.org/officeDocument/2006/relationships" r:embed="rId1">
            <a:duotone>
              <a:schemeClr val="accent1">
                <a:hueOff val="0"/>
                <a:satOff val="0"/>
                <a:lumOff val="0"/>
                <a:alphaOff val="0"/>
                <a:shade val="36000"/>
                <a:satMod val="120000"/>
              </a:schemeClr>
              <a:schemeClr val="accent1">
                <a:hueOff val="0"/>
                <a:satOff val="0"/>
                <a:lumOff val="0"/>
                <a:alphaOff val="0"/>
                <a:tint val="40000"/>
              </a:schemeClr>
            </a:duotone>
          </a:blip>
          <a:tile tx="0" ty="0" sx="60000" sy="59000" flip="none" algn="tl"/>
        </a:blipFill>
        <a:ln>
          <a:noFill/>
        </a:ln>
        <a:effectLst>
          <a:softEdge rad="12700"/>
        </a:effectLst>
      </dsp:spPr>
      <dsp:style>
        <a:lnRef idx="0">
          <a:scrgbClr r="0" g="0" b="0"/>
        </a:lnRef>
        <a:fillRef idx="3">
          <a:scrgbClr r="0" g="0" b="0"/>
        </a:fillRef>
        <a:effectRef idx="2">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pPr>
          <a:r>
            <a:rPr lang="en-US" sz="3500" kern="1200" dirty="0"/>
            <a:t>Phototherapy </a:t>
          </a:r>
        </a:p>
      </dsp:txBody>
      <dsp:txXfrm>
        <a:off x="39980" y="103531"/>
        <a:ext cx="7005536" cy="739039"/>
      </dsp:txXfrm>
    </dsp:sp>
    <dsp:sp modelId="{AD6D3DD5-7CFE-4215-9599-A395C2CAC321}">
      <dsp:nvSpPr>
        <dsp:cNvPr id="0" name=""/>
        <dsp:cNvSpPr/>
      </dsp:nvSpPr>
      <dsp:spPr>
        <a:xfrm>
          <a:off x="0" y="983351"/>
          <a:ext cx="7085496" cy="818999"/>
        </a:xfrm>
        <a:prstGeom prst="roundRect">
          <a:avLst/>
        </a:prstGeom>
        <a:blipFill rotWithShape="1">
          <a:blip xmlns:r="http://schemas.openxmlformats.org/officeDocument/2006/relationships" r:embed="rId1">
            <a:duotone>
              <a:schemeClr val="accent1">
                <a:hueOff val="0"/>
                <a:satOff val="0"/>
                <a:lumOff val="0"/>
                <a:alphaOff val="0"/>
                <a:shade val="36000"/>
                <a:satMod val="120000"/>
              </a:schemeClr>
              <a:schemeClr val="accent1">
                <a:hueOff val="0"/>
                <a:satOff val="0"/>
                <a:lumOff val="0"/>
                <a:alphaOff val="0"/>
                <a:tint val="40000"/>
              </a:schemeClr>
            </a:duotone>
          </a:blip>
          <a:tile tx="0" ty="0" sx="60000" sy="59000" flip="none" algn="tl"/>
        </a:blipFill>
        <a:ln>
          <a:noFill/>
        </a:ln>
        <a:effectLst>
          <a:softEdge rad="12700"/>
        </a:effectLst>
      </dsp:spPr>
      <dsp:style>
        <a:lnRef idx="0">
          <a:scrgbClr r="0" g="0" b="0"/>
        </a:lnRef>
        <a:fillRef idx="3">
          <a:scrgbClr r="0" g="0" b="0"/>
        </a:fillRef>
        <a:effectRef idx="2">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pPr>
          <a:r>
            <a:rPr lang="en-US" sz="3500" kern="1200" dirty="0"/>
            <a:t>Exchange transfusion</a:t>
          </a:r>
        </a:p>
      </dsp:txBody>
      <dsp:txXfrm>
        <a:off x="39980" y="1023331"/>
        <a:ext cx="7005536" cy="739039"/>
      </dsp:txXfrm>
    </dsp:sp>
    <dsp:sp modelId="{7845DAA8-76B3-431C-9A70-A3E0F85BF489}">
      <dsp:nvSpPr>
        <dsp:cNvPr id="0" name=""/>
        <dsp:cNvSpPr/>
      </dsp:nvSpPr>
      <dsp:spPr>
        <a:xfrm>
          <a:off x="0" y="1903151"/>
          <a:ext cx="7085496" cy="818999"/>
        </a:xfrm>
        <a:prstGeom prst="roundRect">
          <a:avLst/>
        </a:prstGeom>
        <a:blipFill rotWithShape="1">
          <a:blip xmlns:r="http://schemas.openxmlformats.org/officeDocument/2006/relationships" r:embed="rId1">
            <a:duotone>
              <a:schemeClr val="accent1">
                <a:hueOff val="0"/>
                <a:satOff val="0"/>
                <a:lumOff val="0"/>
                <a:alphaOff val="0"/>
                <a:shade val="36000"/>
                <a:satMod val="120000"/>
              </a:schemeClr>
              <a:schemeClr val="accent1">
                <a:hueOff val="0"/>
                <a:satOff val="0"/>
                <a:lumOff val="0"/>
                <a:alphaOff val="0"/>
                <a:tint val="40000"/>
              </a:schemeClr>
            </a:duotone>
          </a:blip>
          <a:tile tx="0" ty="0" sx="60000" sy="59000" flip="none" algn="tl"/>
        </a:blipFill>
        <a:ln>
          <a:noFill/>
        </a:ln>
        <a:effectLst>
          <a:softEdge rad="12700"/>
        </a:effectLst>
      </dsp:spPr>
      <dsp:style>
        <a:lnRef idx="0">
          <a:scrgbClr r="0" g="0" b="0"/>
        </a:lnRef>
        <a:fillRef idx="3">
          <a:scrgbClr r="0" g="0" b="0"/>
        </a:fillRef>
        <a:effectRef idx="2">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pPr>
          <a:r>
            <a:rPr lang="en-US" sz="3500" kern="1200" dirty="0"/>
            <a:t>Pharmacological therapy</a:t>
          </a:r>
        </a:p>
      </dsp:txBody>
      <dsp:txXfrm>
        <a:off x="39980" y="1943131"/>
        <a:ext cx="7005536" cy="739039"/>
      </dsp:txXfrm>
    </dsp:sp>
    <dsp:sp modelId="{23403F2D-C637-4F3D-8CB8-A2AC29DCF617}">
      <dsp:nvSpPr>
        <dsp:cNvPr id="0" name=""/>
        <dsp:cNvSpPr/>
      </dsp:nvSpPr>
      <dsp:spPr>
        <a:xfrm>
          <a:off x="0" y="2722151"/>
          <a:ext cx="7085496" cy="13403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4964" tIns="44450" rIns="248920" bIns="44450" numCol="1" spcCol="1270" anchor="t" anchorCtr="0">
          <a:noAutofit/>
        </a:bodyPr>
        <a:lstStyle/>
        <a:p>
          <a:pPr marL="228600" lvl="1" indent="-228600" algn="l" defTabSz="1200150">
            <a:lnSpc>
              <a:spcPct val="90000"/>
            </a:lnSpc>
            <a:spcBef>
              <a:spcPct val="0"/>
            </a:spcBef>
            <a:spcAft>
              <a:spcPct val="20000"/>
            </a:spcAft>
            <a:buChar char="•"/>
          </a:pPr>
          <a:r>
            <a:rPr lang="en-US" sz="2700" kern="1200" dirty="0" err="1"/>
            <a:t>Phenobaritone</a:t>
          </a:r>
          <a:endParaRPr lang="en-US" sz="2700" kern="1200" dirty="0"/>
        </a:p>
        <a:p>
          <a:pPr marL="228600" lvl="1" indent="-228600" algn="l" defTabSz="1200150">
            <a:lnSpc>
              <a:spcPct val="90000"/>
            </a:lnSpc>
            <a:spcBef>
              <a:spcPct val="0"/>
            </a:spcBef>
            <a:spcAft>
              <a:spcPct val="20000"/>
            </a:spcAft>
            <a:buChar char="•"/>
          </a:pPr>
          <a:r>
            <a:rPr lang="en-US" sz="2700" kern="1200" dirty="0"/>
            <a:t>Intravenous immunoglobulins</a:t>
          </a:r>
        </a:p>
        <a:p>
          <a:pPr marL="228600" lvl="1" indent="-228600" algn="l" defTabSz="1200150">
            <a:lnSpc>
              <a:spcPct val="90000"/>
            </a:lnSpc>
            <a:spcBef>
              <a:spcPct val="0"/>
            </a:spcBef>
            <a:spcAft>
              <a:spcPct val="20000"/>
            </a:spcAft>
            <a:buChar char="•"/>
          </a:pPr>
          <a:r>
            <a:rPr lang="en-US" sz="2700" kern="1200" dirty="0" err="1"/>
            <a:t>Mettaloporphyrins</a:t>
          </a:r>
          <a:r>
            <a:rPr lang="en-US" sz="2700" kern="1200" dirty="0"/>
            <a:t>  </a:t>
          </a:r>
        </a:p>
      </dsp:txBody>
      <dsp:txXfrm>
        <a:off x="0" y="2722151"/>
        <a:ext cx="7085496" cy="134032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E5FBC8-7F10-47B1-988A-16C4C8659C8B}">
      <dsp:nvSpPr>
        <dsp:cNvPr id="0" name=""/>
        <dsp:cNvSpPr/>
      </dsp:nvSpPr>
      <dsp:spPr>
        <a:xfrm>
          <a:off x="0" y="33291"/>
          <a:ext cx="6096000" cy="514800"/>
        </a:xfrm>
        <a:prstGeom prst="roundRect">
          <a:avLst/>
        </a:prstGeom>
        <a:blipFill rotWithShape="1">
          <a:blip xmlns:r="http://schemas.openxmlformats.org/officeDocument/2006/relationships" r:embed="rId1">
            <a:duotone>
              <a:schemeClr val="accent1">
                <a:hueOff val="0"/>
                <a:satOff val="0"/>
                <a:lumOff val="0"/>
                <a:alphaOff val="0"/>
                <a:shade val="36000"/>
                <a:satMod val="120000"/>
              </a:schemeClr>
              <a:schemeClr val="accent1">
                <a:hueOff val="0"/>
                <a:satOff val="0"/>
                <a:lumOff val="0"/>
                <a:alphaOff val="0"/>
                <a:tint val="40000"/>
              </a:schemeClr>
            </a:duotone>
          </a:blip>
          <a:tile tx="0" ty="0" sx="60000" sy="59000" flip="none" algn="tl"/>
        </a:blipFill>
        <a:ln>
          <a:noFill/>
        </a:ln>
        <a:effectLst>
          <a:softEdge rad="12700"/>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Font typeface="Wingdings" panose="05000000000000000000" pitchFamily="2" charset="2"/>
            <a:buNone/>
          </a:pPr>
          <a:r>
            <a:rPr lang="en-US" sz="2200" kern="1200" dirty="0">
              <a:effectLst/>
              <a:latin typeface="Times New Roman" panose="02020603050405020304" pitchFamily="18" charset="0"/>
              <a:ea typeface="Times New Roman" panose="02020603050405020304" pitchFamily="18" charset="0"/>
              <a:cs typeface="Times New Roman" panose="02020603050405020304" pitchFamily="18" charset="0"/>
            </a:rPr>
            <a:t>Cerebral Palsy</a:t>
          </a:r>
          <a:endParaRPr lang="en-US" sz="2200" kern="1200" dirty="0"/>
        </a:p>
      </dsp:txBody>
      <dsp:txXfrm>
        <a:off x="25130" y="58421"/>
        <a:ext cx="6045740" cy="464540"/>
      </dsp:txXfrm>
    </dsp:sp>
    <dsp:sp modelId="{B2C21AE9-178F-417A-9CF6-1C506B9BD6F3}">
      <dsp:nvSpPr>
        <dsp:cNvPr id="0" name=""/>
        <dsp:cNvSpPr/>
      </dsp:nvSpPr>
      <dsp:spPr>
        <a:xfrm>
          <a:off x="0" y="611451"/>
          <a:ext cx="6096000" cy="514800"/>
        </a:xfrm>
        <a:prstGeom prst="roundRect">
          <a:avLst/>
        </a:prstGeom>
        <a:blipFill rotWithShape="1">
          <a:blip xmlns:r="http://schemas.openxmlformats.org/officeDocument/2006/relationships" r:embed="rId1">
            <a:duotone>
              <a:schemeClr val="accent1">
                <a:hueOff val="0"/>
                <a:satOff val="0"/>
                <a:lumOff val="0"/>
                <a:alphaOff val="0"/>
                <a:shade val="36000"/>
                <a:satMod val="120000"/>
              </a:schemeClr>
              <a:schemeClr val="accent1">
                <a:hueOff val="0"/>
                <a:satOff val="0"/>
                <a:lumOff val="0"/>
                <a:alphaOff val="0"/>
                <a:tint val="40000"/>
              </a:schemeClr>
            </a:duotone>
          </a:blip>
          <a:tile tx="0" ty="0" sx="60000" sy="59000" flip="none" algn="tl"/>
        </a:blipFill>
        <a:ln>
          <a:noFill/>
        </a:ln>
        <a:effectLst>
          <a:softEdge rad="12700"/>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Font typeface="Wingdings" panose="05000000000000000000" pitchFamily="2" charset="2"/>
            <a:buNone/>
          </a:pPr>
          <a:r>
            <a:rPr lang="en-US" sz="2200" kern="1200" dirty="0">
              <a:latin typeface="Times New Roman" panose="02020603050405020304" pitchFamily="18" charset="0"/>
              <a:ea typeface="Calibri" panose="020F0502020204030204" pitchFamily="34" charset="0"/>
              <a:cs typeface="Times New Roman" panose="02020603050405020304" pitchFamily="18" charset="0"/>
            </a:rPr>
            <a:t>Deafness </a:t>
          </a:r>
          <a:endParaRPr lang="en-US" sz="2200" kern="1200" dirty="0"/>
        </a:p>
      </dsp:txBody>
      <dsp:txXfrm>
        <a:off x="25130" y="636581"/>
        <a:ext cx="6045740" cy="464540"/>
      </dsp:txXfrm>
    </dsp:sp>
    <dsp:sp modelId="{90172301-1EB5-4CDA-BDF2-A8A3FDBE1B61}">
      <dsp:nvSpPr>
        <dsp:cNvPr id="0" name=""/>
        <dsp:cNvSpPr/>
      </dsp:nvSpPr>
      <dsp:spPr>
        <a:xfrm>
          <a:off x="0" y="1189612"/>
          <a:ext cx="6096000" cy="514800"/>
        </a:xfrm>
        <a:prstGeom prst="roundRect">
          <a:avLst/>
        </a:prstGeom>
        <a:blipFill rotWithShape="1">
          <a:blip xmlns:r="http://schemas.openxmlformats.org/officeDocument/2006/relationships" r:embed="rId1">
            <a:duotone>
              <a:schemeClr val="accent1">
                <a:hueOff val="0"/>
                <a:satOff val="0"/>
                <a:lumOff val="0"/>
                <a:alphaOff val="0"/>
                <a:shade val="36000"/>
                <a:satMod val="120000"/>
              </a:schemeClr>
              <a:schemeClr val="accent1">
                <a:hueOff val="0"/>
                <a:satOff val="0"/>
                <a:lumOff val="0"/>
                <a:alphaOff val="0"/>
                <a:tint val="40000"/>
              </a:schemeClr>
            </a:duotone>
          </a:blip>
          <a:tile tx="0" ty="0" sx="60000" sy="59000" flip="none" algn="tl"/>
        </a:blipFill>
        <a:ln>
          <a:noFill/>
        </a:ln>
        <a:effectLst>
          <a:softEdge rad="12700"/>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t>Kernicterus</a:t>
          </a:r>
        </a:p>
      </dsp:txBody>
      <dsp:txXfrm>
        <a:off x="25130" y="1214742"/>
        <a:ext cx="6045740" cy="46454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C8A5D2-361E-4295-8DD5-740D11826509}">
      <dsp:nvSpPr>
        <dsp:cNvPr id="0" name=""/>
        <dsp:cNvSpPr/>
      </dsp:nvSpPr>
      <dsp:spPr>
        <a:xfrm rot="16200000">
          <a:off x="735233" y="-735233"/>
          <a:ext cx="1793985" cy="3264451"/>
        </a:xfrm>
        <a:prstGeom prst="round1Rect">
          <a:avLst/>
        </a:prstGeom>
        <a:blipFill rotWithShape="1">
          <a:blip xmlns:r="http://schemas.openxmlformats.org/officeDocument/2006/relationships" r:embed="rId1">
            <a:duotone>
              <a:schemeClr val="accent1">
                <a:hueOff val="0"/>
                <a:satOff val="0"/>
                <a:lumOff val="0"/>
                <a:alphaOff val="0"/>
                <a:shade val="36000"/>
                <a:satMod val="120000"/>
              </a:schemeClr>
              <a:schemeClr val="accent1">
                <a:hueOff val="0"/>
                <a:satOff val="0"/>
                <a:lumOff val="0"/>
                <a:alphaOff val="0"/>
                <a:tint val="40000"/>
              </a:schemeClr>
            </a:duotone>
          </a:blip>
          <a:tile tx="0" ty="0" sx="60000" sy="59000" flip="none" algn="tl"/>
        </a:blipFill>
        <a:ln>
          <a:noFill/>
        </a:ln>
        <a:effectLst>
          <a:softEdge rad="12700"/>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Font typeface="Wingdings" panose="05000000000000000000" pitchFamily="2" charset="2"/>
            <a:buNone/>
          </a:pPr>
          <a:r>
            <a:rPr lang="en-US" sz="2000" kern="1200" dirty="0">
              <a:effectLst/>
              <a:latin typeface="Times New Roman" panose="02020603050405020304" pitchFamily="18" charset="0"/>
              <a:ea typeface="Calibri" panose="020F0502020204030204" pitchFamily="34" charset="0"/>
              <a:cs typeface="Gautami" panose="020B0502040204020203" pitchFamily="34" charset="0"/>
            </a:rPr>
            <a:t>To assess the risk of jaundice in neonates.</a:t>
          </a:r>
          <a:endParaRPr lang="en-US" sz="2000" kern="1200" dirty="0"/>
        </a:p>
      </dsp:txBody>
      <dsp:txXfrm rot="5400000">
        <a:off x="0" y="0"/>
        <a:ext cx="3264451" cy="1345489"/>
      </dsp:txXfrm>
    </dsp:sp>
    <dsp:sp modelId="{35C69C27-B83C-4465-8647-22D0AE0ED6AE}">
      <dsp:nvSpPr>
        <dsp:cNvPr id="0" name=""/>
        <dsp:cNvSpPr/>
      </dsp:nvSpPr>
      <dsp:spPr>
        <a:xfrm>
          <a:off x="3264451" y="0"/>
          <a:ext cx="3264451" cy="1793985"/>
        </a:xfrm>
        <a:prstGeom prst="round1Rect">
          <a:avLst/>
        </a:prstGeom>
        <a:blipFill rotWithShape="1">
          <a:blip xmlns:r="http://schemas.openxmlformats.org/officeDocument/2006/relationships" r:embed="rId1">
            <a:duotone>
              <a:schemeClr val="accent1">
                <a:hueOff val="0"/>
                <a:satOff val="0"/>
                <a:lumOff val="0"/>
                <a:alphaOff val="0"/>
                <a:shade val="36000"/>
                <a:satMod val="120000"/>
              </a:schemeClr>
              <a:schemeClr val="accent1">
                <a:hueOff val="0"/>
                <a:satOff val="0"/>
                <a:lumOff val="0"/>
                <a:alphaOff val="0"/>
                <a:tint val="40000"/>
              </a:schemeClr>
            </a:duotone>
          </a:blip>
          <a:tile tx="0" ty="0" sx="60000" sy="59000" flip="none" algn="tl"/>
        </a:blipFill>
        <a:ln>
          <a:noFill/>
        </a:ln>
        <a:effectLst>
          <a:softEdge rad="12700"/>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Font typeface="Wingdings" panose="05000000000000000000" pitchFamily="2" charset="2"/>
            <a:buNone/>
          </a:pPr>
          <a:r>
            <a:rPr lang="en-US" sz="2000" kern="1200" dirty="0">
              <a:effectLst/>
              <a:latin typeface="Times New Roman" panose="02020603050405020304" pitchFamily="18" charset="0"/>
              <a:ea typeface="Calibri" panose="020F0502020204030204" pitchFamily="34" charset="0"/>
              <a:cs typeface="Gautami" panose="020B0502040204020203" pitchFamily="34" charset="0"/>
            </a:rPr>
            <a:t>To assess mother’s knowledge on neonatal jaundice.</a:t>
          </a:r>
          <a:endParaRPr lang="en-US" sz="2000" kern="1200" dirty="0"/>
        </a:p>
      </dsp:txBody>
      <dsp:txXfrm>
        <a:off x="3264451" y="0"/>
        <a:ext cx="3264451" cy="1345489"/>
      </dsp:txXfrm>
    </dsp:sp>
    <dsp:sp modelId="{9887AEB3-A4C4-4563-B477-041DF482B624}">
      <dsp:nvSpPr>
        <dsp:cNvPr id="0" name=""/>
        <dsp:cNvSpPr/>
      </dsp:nvSpPr>
      <dsp:spPr>
        <a:xfrm rot="10800000">
          <a:off x="0" y="1793985"/>
          <a:ext cx="3264451" cy="1793985"/>
        </a:xfrm>
        <a:prstGeom prst="round1Rect">
          <a:avLst/>
        </a:prstGeom>
        <a:blipFill rotWithShape="1">
          <a:blip xmlns:r="http://schemas.openxmlformats.org/officeDocument/2006/relationships" r:embed="rId1">
            <a:duotone>
              <a:schemeClr val="accent1">
                <a:hueOff val="0"/>
                <a:satOff val="0"/>
                <a:lumOff val="0"/>
                <a:alphaOff val="0"/>
                <a:shade val="36000"/>
                <a:satMod val="120000"/>
              </a:schemeClr>
              <a:schemeClr val="accent1">
                <a:hueOff val="0"/>
                <a:satOff val="0"/>
                <a:lumOff val="0"/>
                <a:alphaOff val="0"/>
                <a:tint val="40000"/>
              </a:schemeClr>
            </a:duotone>
          </a:blip>
          <a:tile tx="0" ty="0" sx="60000" sy="59000" flip="none" algn="tl"/>
        </a:blipFill>
        <a:ln>
          <a:noFill/>
        </a:ln>
        <a:effectLst>
          <a:softEdge rad="12700"/>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Font typeface="Wingdings" panose="05000000000000000000" pitchFamily="2" charset="2"/>
            <a:buNone/>
          </a:pPr>
          <a:r>
            <a:rPr lang="en-US" sz="2000" kern="1200" dirty="0">
              <a:effectLst/>
              <a:latin typeface="Times New Roman" panose="02020603050405020304" pitchFamily="18" charset="0"/>
              <a:ea typeface="Calibri" panose="020F0502020204030204" pitchFamily="34" charset="0"/>
              <a:cs typeface="Gautami" panose="020B0502040204020203" pitchFamily="34" charset="0"/>
            </a:rPr>
            <a:t>To compare full term with pre term neonates both having neonatal jaundice.</a:t>
          </a:r>
          <a:endParaRPr lang="en-US" sz="2000" kern="1200" dirty="0"/>
        </a:p>
      </dsp:txBody>
      <dsp:txXfrm rot="10800000">
        <a:off x="0" y="2242481"/>
        <a:ext cx="3264451" cy="1345489"/>
      </dsp:txXfrm>
    </dsp:sp>
    <dsp:sp modelId="{57FF522A-88D8-439B-941F-256C58273EEB}">
      <dsp:nvSpPr>
        <dsp:cNvPr id="0" name=""/>
        <dsp:cNvSpPr/>
      </dsp:nvSpPr>
      <dsp:spPr>
        <a:xfrm rot="5400000">
          <a:off x="3999684" y="1058752"/>
          <a:ext cx="1793985" cy="3264451"/>
        </a:xfrm>
        <a:prstGeom prst="round1Rect">
          <a:avLst/>
        </a:prstGeom>
        <a:blipFill rotWithShape="1">
          <a:blip xmlns:r="http://schemas.openxmlformats.org/officeDocument/2006/relationships" r:embed="rId1">
            <a:duotone>
              <a:schemeClr val="accent1">
                <a:hueOff val="0"/>
                <a:satOff val="0"/>
                <a:lumOff val="0"/>
                <a:alphaOff val="0"/>
                <a:shade val="36000"/>
                <a:satMod val="120000"/>
              </a:schemeClr>
              <a:schemeClr val="accent1">
                <a:hueOff val="0"/>
                <a:satOff val="0"/>
                <a:lumOff val="0"/>
                <a:alphaOff val="0"/>
                <a:tint val="40000"/>
              </a:schemeClr>
            </a:duotone>
          </a:blip>
          <a:tile tx="0" ty="0" sx="60000" sy="59000" flip="none" algn="tl"/>
        </a:blipFill>
        <a:ln>
          <a:noFill/>
        </a:ln>
        <a:effectLst>
          <a:softEdge rad="12700"/>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Font typeface="Wingdings" panose="05000000000000000000" pitchFamily="2" charset="2"/>
            <a:buNone/>
          </a:pPr>
          <a:r>
            <a:rPr lang="en-US" sz="2000" kern="1200" dirty="0">
              <a:effectLst/>
              <a:latin typeface="Times New Roman" panose="02020603050405020304" pitchFamily="18" charset="0"/>
              <a:ea typeface="Calibri" panose="020F0502020204030204" pitchFamily="34" charset="0"/>
              <a:cs typeface="Gautami" panose="020B0502040204020203" pitchFamily="34" charset="0"/>
            </a:rPr>
            <a:t>To educate mothers regarding neonatal jaundice and increase their awareness.</a:t>
          </a:r>
          <a:endParaRPr lang="en-US" sz="2000" kern="1200" dirty="0"/>
        </a:p>
      </dsp:txBody>
      <dsp:txXfrm rot="-5400000">
        <a:off x="3264451" y="2242481"/>
        <a:ext cx="3264451" cy="1345489"/>
      </dsp:txXfrm>
    </dsp:sp>
    <dsp:sp modelId="{FA46D005-AF4F-4315-BE6B-8EBB23D926E1}">
      <dsp:nvSpPr>
        <dsp:cNvPr id="0" name=""/>
        <dsp:cNvSpPr/>
      </dsp:nvSpPr>
      <dsp:spPr>
        <a:xfrm>
          <a:off x="2285116" y="1345489"/>
          <a:ext cx="1958670" cy="896992"/>
        </a:xfrm>
        <a:prstGeom prst="roundRect">
          <a:avLst/>
        </a:prstGeom>
        <a:solidFill>
          <a:schemeClr val="accent1">
            <a:tint val="60000"/>
            <a:hueOff val="0"/>
            <a:satOff val="0"/>
            <a:lumOff val="0"/>
            <a:alphaOff val="0"/>
          </a:schemeClr>
        </a:solidFill>
        <a:ln>
          <a:noFill/>
        </a:ln>
        <a:effectLst>
          <a:softEdge rad="12700"/>
        </a:effectLst>
        <a:scene3d>
          <a:camera prst="orthographicFront"/>
          <a:lightRig rig="threePt" dir="t">
            <a:rot lat="0" lon="0" rev="7500000"/>
          </a:lightRig>
        </a:scene3d>
        <a:sp3d z="152400" extrusionH="63500" prstMaterial="matte">
          <a:bevelT w="50800" h="190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effectLst/>
              <a:latin typeface="Times New Roman" panose="02020603050405020304" pitchFamily="18" charset="0"/>
              <a:ea typeface="Calibri" panose="020F0502020204030204" pitchFamily="34" charset="0"/>
              <a:cs typeface="Gautami" panose="020B0502040204020203" pitchFamily="34" charset="0"/>
            </a:rPr>
            <a:t>OBJECTIVES</a:t>
          </a:r>
          <a:endParaRPr lang="en-US" sz="2000" kern="1200" dirty="0"/>
        </a:p>
      </dsp:txBody>
      <dsp:txXfrm>
        <a:off x="2328904" y="1389277"/>
        <a:ext cx="1871094" cy="809416"/>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3E270A-0BC6-4634-8987-C46A2A4D9834}">
      <dsp:nvSpPr>
        <dsp:cNvPr id="0" name=""/>
        <dsp:cNvSpPr/>
      </dsp:nvSpPr>
      <dsp:spPr>
        <a:xfrm>
          <a:off x="4690" y="779319"/>
          <a:ext cx="2050584" cy="1230350"/>
        </a:xfrm>
        <a:prstGeom prst="roundRect">
          <a:avLst>
            <a:gd name="adj" fmla="val 10000"/>
          </a:avLst>
        </a:prstGeom>
        <a:blipFill rotWithShape="1">
          <a:blip xmlns:r="http://schemas.openxmlformats.org/officeDocument/2006/relationships" r:embed="rId1">
            <a:duotone>
              <a:schemeClr val="accent1">
                <a:hueOff val="0"/>
                <a:satOff val="0"/>
                <a:lumOff val="0"/>
                <a:alphaOff val="0"/>
                <a:shade val="36000"/>
                <a:satMod val="120000"/>
              </a:schemeClr>
              <a:schemeClr val="accent1">
                <a:hueOff val="0"/>
                <a:satOff val="0"/>
                <a:lumOff val="0"/>
                <a:alphaOff val="0"/>
                <a:tint val="40000"/>
              </a:schemeClr>
            </a:duotone>
          </a:blip>
          <a:tile tx="0" ty="0" sx="60000" sy="59000" flip="none" algn="tl"/>
        </a:blipFill>
        <a:ln>
          <a:noFill/>
        </a:ln>
        <a:effectLst>
          <a:softEdge rad="12700"/>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Selecting the department of study, topic and review relevant scientific literature</a:t>
          </a:r>
        </a:p>
      </dsp:txBody>
      <dsp:txXfrm>
        <a:off x="40726" y="815355"/>
        <a:ext cx="1978512" cy="1158278"/>
      </dsp:txXfrm>
    </dsp:sp>
    <dsp:sp modelId="{4FB39156-5574-4C89-B0B9-FC44EF96128E}">
      <dsp:nvSpPr>
        <dsp:cNvPr id="0" name=""/>
        <dsp:cNvSpPr/>
      </dsp:nvSpPr>
      <dsp:spPr>
        <a:xfrm>
          <a:off x="2235725" y="1140222"/>
          <a:ext cx="434723" cy="508544"/>
        </a:xfrm>
        <a:prstGeom prst="rightArrow">
          <a:avLst>
            <a:gd name="adj1" fmla="val 60000"/>
            <a:gd name="adj2" fmla="val 50000"/>
          </a:avLst>
        </a:prstGeom>
        <a:blipFill rotWithShape="1">
          <a:blip xmlns:r="http://schemas.openxmlformats.org/officeDocument/2006/relationships" r:embed="rId1">
            <a:duotone>
              <a:schemeClr val="accent1">
                <a:tint val="60000"/>
                <a:hueOff val="0"/>
                <a:satOff val="0"/>
                <a:lumOff val="0"/>
                <a:alphaOff val="0"/>
                <a:shade val="36000"/>
                <a:satMod val="120000"/>
              </a:schemeClr>
              <a:schemeClr val="accent1">
                <a:tint val="60000"/>
                <a:hueOff val="0"/>
                <a:satOff val="0"/>
                <a:lumOff val="0"/>
                <a:alphaOff val="0"/>
                <a:tint val="40000"/>
              </a:schemeClr>
            </a:duotone>
          </a:blip>
          <a:tile tx="0" ty="0" sx="60000" sy="59000" flip="none" algn="tl"/>
        </a:blipFill>
        <a:ln>
          <a:noFill/>
        </a:ln>
        <a:effectLst>
          <a:softEdge rad="12700"/>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a:off x="2235725" y="1241931"/>
        <a:ext cx="304306" cy="305126"/>
      </dsp:txXfrm>
    </dsp:sp>
    <dsp:sp modelId="{EEE06C26-7D8B-4B2C-857D-CE4A3B678BA8}">
      <dsp:nvSpPr>
        <dsp:cNvPr id="0" name=""/>
        <dsp:cNvSpPr/>
      </dsp:nvSpPr>
      <dsp:spPr>
        <a:xfrm>
          <a:off x="2875508" y="779319"/>
          <a:ext cx="2050584" cy="1230350"/>
        </a:xfrm>
        <a:prstGeom prst="roundRect">
          <a:avLst>
            <a:gd name="adj" fmla="val 10000"/>
          </a:avLst>
        </a:prstGeom>
        <a:blipFill rotWithShape="1">
          <a:blip xmlns:r="http://schemas.openxmlformats.org/officeDocument/2006/relationships" r:embed="rId1">
            <a:duotone>
              <a:schemeClr val="accent1">
                <a:hueOff val="0"/>
                <a:satOff val="0"/>
                <a:lumOff val="0"/>
                <a:alphaOff val="0"/>
                <a:shade val="36000"/>
                <a:satMod val="120000"/>
              </a:schemeClr>
              <a:schemeClr val="accent1">
                <a:hueOff val="0"/>
                <a:satOff val="0"/>
                <a:lumOff val="0"/>
                <a:alphaOff val="0"/>
                <a:tint val="40000"/>
              </a:schemeClr>
            </a:duotone>
          </a:blip>
          <a:tile tx="0" ty="0" sx="60000" sy="59000" flip="none" algn="tl"/>
        </a:blipFill>
        <a:ln>
          <a:noFill/>
        </a:ln>
        <a:effectLst>
          <a:softEdge rad="12700"/>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Establishing title, aim and objectives of the study</a:t>
          </a:r>
        </a:p>
      </dsp:txBody>
      <dsp:txXfrm>
        <a:off x="2911544" y="815355"/>
        <a:ext cx="1978512" cy="1158278"/>
      </dsp:txXfrm>
    </dsp:sp>
    <dsp:sp modelId="{E08C42F2-8C83-4344-9E62-51A7712CEAF7}">
      <dsp:nvSpPr>
        <dsp:cNvPr id="0" name=""/>
        <dsp:cNvSpPr/>
      </dsp:nvSpPr>
      <dsp:spPr>
        <a:xfrm>
          <a:off x="5106544" y="1140222"/>
          <a:ext cx="434723" cy="508544"/>
        </a:xfrm>
        <a:prstGeom prst="rightArrow">
          <a:avLst>
            <a:gd name="adj1" fmla="val 60000"/>
            <a:gd name="adj2" fmla="val 50000"/>
          </a:avLst>
        </a:prstGeom>
        <a:blipFill rotWithShape="1">
          <a:blip xmlns:r="http://schemas.openxmlformats.org/officeDocument/2006/relationships" r:embed="rId1">
            <a:duotone>
              <a:schemeClr val="accent1">
                <a:tint val="60000"/>
                <a:hueOff val="0"/>
                <a:satOff val="0"/>
                <a:lumOff val="0"/>
                <a:alphaOff val="0"/>
                <a:shade val="36000"/>
                <a:satMod val="120000"/>
              </a:schemeClr>
              <a:schemeClr val="accent1">
                <a:tint val="60000"/>
                <a:hueOff val="0"/>
                <a:satOff val="0"/>
                <a:lumOff val="0"/>
                <a:alphaOff val="0"/>
                <a:tint val="40000"/>
              </a:schemeClr>
            </a:duotone>
          </a:blip>
          <a:tile tx="0" ty="0" sx="60000" sy="59000" flip="none" algn="tl"/>
        </a:blipFill>
        <a:ln>
          <a:noFill/>
        </a:ln>
        <a:effectLst>
          <a:softEdge rad="12700"/>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a:off x="5106544" y="1241931"/>
        <a:ext cx="304306" cy="305126"/>
      </dsp:txXfrm>
    </dsp:sp>
    <dsp:sp modelId="{3609FCE5-571B-403D-8CED-D6F26B29A5EE}">
      <dsp:nvSpPr>
        <dsp:cNvPr id="0" name=""/>
        <dsp:cNvSpPr/>
      </dsp:nvSpPr>
      <dsp:spPr>
        <a:xfrm>
          <a:off x="5746326" y="779319"/>
          <a:ext cx="2050584" cy="1230350"/>
        </a:xfrm>
        <a:prstGeom prst="roundRect">
          <a:avLst>
            <a:gd name="adj" fmla="val 10000"/>
          </a:avLst>
        </a:prstGeom>
        <a:blipFill rotWithShape="1">
          <a:blip xmlns:r="http://schemas.openxmlformats.org/officeDocument/2006/relationships" r:embed="rId1">
            <a:duotone>
              <a:schemeClr val="accent1">
                <a:hueOff val="0"/>
                <a:satOff val="0"/>
                <a:lumOff val="0"/>
                <a:alphaOff val="0"/>
                <a:shade val="36000"/>
                <a:satMod val="120000"/>
              </a:schemeClr>
              <a:schemeClr val="accent1">
                <a:hueOff val="0"/>
                <a:satOff val="0"/>
                <a:lumOff val="0"/>
                <a:alphaOff val="0"/>
                <a:tint val="40000"/>
              </a:schemeClr>
            </a:duotone>
          </a:blip>
          <a:tile tx="0" ty="0" sx="60000" sy="59000" flip="none" algn="tl"/>
        </a:blipFill>
        <a:ln>
          <a:noFill/>
        </a:ln>
        <a:effectLst>
          <a:softEdge rad="12700"/>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Getting approval from the head of institution and hospital authorities</a:t>
          </a:r>
        </a:p>
      </dsp:txBody>
      <dsp:txXfrm>
        <a:off x="5782362" y="815355"/>
        <a:ext cx="1978512" cy="1158278"/>
      </dsp:txXfrm>
    </dsp:sp>
    <dsp:sp modelId="{8D7E1B3F-A222-4F12-BE39-D6AEBCB216BF}">
      <dsp:nvSpPr>
        <dsp:cNvPr id="0" name=""/>
        <dsp:cNvSpPr/>
      </dsp:nvSpPr>
      <dsp:spPr>
        <a:xfrm>
          <a:off x="7977362" y="1140222"/>
          <a:ext cx="434723" cy="508544"/>
        </a:xfrm>
        <a:prstGeom prst="rightArrow">
          <a:avLst>
            <a:gd name="adj1" fmla="val 60000"/>
            <a:gd name="adj2" fmla="val 50000"/>
          </a:avLst>
        </a:prstGeom>
        <a:blipFill rotWithShape="1">
          <a:blip xmlns:r="http://schemas.openxmlformats.org/officeDocument/2006/relationships" r:embed="rId1">
            <a:duotone>
              <a:schemeClr val="accent1">
                <a:tint val="60000"/>
                <a:hueOff val="0"/>
                <a:satOff val="0"/>
                <a:lumOff val="0"/>
                <a:alphaOff val="0"/>
                <a:shade val="36000"/>
                <a:satMod val="120000"/>
              </a:schemeClr>
              <a:schemeClr val="accent1">
                <a:tint val="60000"/>
                <a:hueOff val="0"/>
                <a:satOff val="0"/>
                <a:lumOff val="0"/>
                <a:alphaOff val="0"/>
                <a:tint val="40000"/>
              </a:schemeClr>
            </a:duotone>
          </a:blip>
          <a:tile tx="0" ty="0" sx="60000" sy="59000" flip="none" algn="tl"/>
        </a:blipFill>
        <a:ln>
          <a:noFill/>
        </a:ln>
        <a:effectLst>
          <a:softEdge rad="12700"/>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a:off x="7977362" y="1241931"/>
        <a:ext cx="304306" cy="305126"/>
      </dsp:txXfrm>
    </dsp:sp>
    <dsp:sp modelId="{3D24BC8D-6738-4036-A8BB-CC213A277963}">
      <dsp:nvSpPr>
        <dsp:cNvPr id="0" name=""/>
        <dsp:cNvSpPr/>
      </dsp:nvSpPr>
      <dsp:spPr>
        <a:xfrm>
          <a:off x="8617144" y="779319"/>
          <a:ext cx="2050584" cy="1230350"/>
        </a:xfrm>
        <a:prstGeom prst="roundRect">
          <a:avLst>
            <a:gd name="adj" fmla="val 10000"/>
          </a:avLst>
        </a:prstGeom>
        <a:blipFill rotWithShape="1">
          <a:blip xmlns:r="http://schemas.openxmlformats.org/officeDocument/2006/relationships" r:embed="rId1">
            <a:duotone>
              <a:schemeClr val="accent1">
                <a:hueOff val="0"/>
                <a:satOff val="0"/>
                <a:lumOff val="0"/>
                <a:alphaOff val="0"/>
                <a:shade val="36000"/>
                <a:satMod val="120000"/>
              </a:schemeClr>
              <a:schemeClr val="accent1">
                <a:hueOff val="0"/>
                <a:satOff val="0"/>
                <a:lumOff val="0"/>
                <a:alphaOff val="0"/>
                <a:tint val="40000"/>
              </a:schemeClr>
            </a:duotone>
          </a:blip>
          <a:tile tx="0" ty="0" sx="60000" sy="59000" flip="none" algn="tl"/>
        </a:blipFill>
        <a:ln>
          <a:noFill/>
        </a:ln>
        <a:effectLst>
          <a:softEdge rad="12700"/>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Designing the data collection form</a:t>
          </a:r>
        </a:p>
      </dsp:txBody>
      <dsp:txXfrm>
        <a:off x="8653180" y="815355"/>
        <a:ext cx="1978512" cy="1158278"/>
      </dsp:txXfrm>
    </dsp:sp>
    <dsp:sp modelId="{24A9349F-A91F-42C8-A8FA-21D7E3A4A0E2}">
      <dsp:nvSpPr>
        <dsp:cNvPr id="0" name=""/>
        <dsp:cNvSpPr/>
      </dsp:nvSpPr>
      <dsp:spPr>
        <a:xfrm rot="5400000">
          <a:off x="9425074" y="2153211"/>
          <a:ext cx="434723" cy="508544"/>
        </a:xfrm>
        <a:prstGeom prst="rightArrow">
          <a:avLst>
            <a:gd name="adj1" fmla="val 60000"/>
            <a:gd name="adj2" fmla="val 50000"/>
          </a:avLst>
        </a:prstGeom>
        <a:blipFill rotWithShape="1">
          <a:blip xmlns:r="http://schemas.openxmlformats.org/officeDocument/2006/relationships" r:embed="rId1">
            <a:duotone>
              <a:schemeClr val="accent1">
                <a:tint val="60000"/>
                <a:hueOff val="0"/>
                <a:satOff val="0"/>
                <a:lumOff val="0"/>
                <a:alphaOff val="0"/>
                <a:shade val="36000"/>
                <a:satMod val="120000"/>
              </a:schemeClr>
              <a:schemeClr val="accent1">
                <a:tint val="60000"/>
                <a:hueOff val="0"/>
                <a:satOff val="0"/>
                <a:lumOff val="0"/>
                <a:alphaOff val="0"/>
                <a:tint val="40000"/>
              </a:schemeClr>
            </a:duotone>
          </a:blip>
          <a:tile tx="0" ty="0" sx="60000" sy="59000" flip="none" algn="tl"/>
        </a:blipFill>
        <a:ln>
          <a:noFill/>
        </a:ln>
        <a:effectLst>
          <a:softEdge rad="12700"/>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rot="-5400000">
        <a:off x="9489873" y="2190122"/>
        <a:ext cx="305126" cy="304306"/>
      </dsp:txXfrm>
    </dsp:sp>
    <dsp:sp modelId="{863EF600-F533-4006-AD45-C9AF684F193E}">
      <dsp:nvSpPr>
        <dsp:cNvPr id="0" name=""/>
        <dsp:cNvSpPr/>
      </dsp:nvSpPr>
      <dsp:spPr>
        <a:xfrm>
          <a:off x="8617144" y="2829903"/>
          <a:ext cx="2050584" cy="1230350"/>
        </a:xfrm>
        <a:prstGeom prst="roundRect">
          <a:avLst>
            <a:gd name="adj" fmla="val 10000"/>
          </a:avLst>
        </a:prstGeom>
        <a:blipFill rotWithShape="1">
          <a:blip xmlns:r="http://schemas.openxmlformats.org/officeDocument/2006/relationships" r:embed="rId1">
            <a:duotone>
              <a:schemeClr val="accent1">
                <a:hueOff val="0"/>
                <a:satOff val="0"/>
                <a:lumOff val="0"/>
                <a:alphaOff val="0"/>
                <a:shade val="36000"/>
                <a:satMod val="120000"/>
              </a:schemeClr>
              <a:schemeClr val="accent1">
                <a:hueOff val="0"/>
                <a:satOff val="0"/>
                <a:lumOff val="0"/>
                <a:alphaOff val="0"/>
                <a:tint val="40000"/>
              </a:schemeClr>
            </a:duotone>
          </a:blip>
          <a:tile tx="0" ty="0" sx="60000" sy="59000" flip="none" algn="tl"/>
        </a:blipFill>
        <a:ln>
          <a:noFill/>
        </a:ln>
        <a:effectLst>
          <a:softEdge rad="12700"/>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Selection of patients based on inclusion and exclusion criteria</a:t>
          </a:r>
        </a:p>
      </dsp:txBody>
      <dsp:txXfrm>
        <a:off x="8653180" y="2865939"/>
        <a:ext cx="1978512" cy="1158278"/>
      </dsp:txXfrm>
    </dsp:sp>
    <dsp:sp modelId="{889C81D0-8A8C-4D6E-90BF-564F820AE5B7}">
      <dsp:nvSpPr>
        <dsp:cNvPr id="0" name=""/>
        <dsp:cNvSpPr/>
      </dsp:nvSpPr>
      <dsp:spPr>
        <a:xfrm rot="10800000">
          <a:off x="8001969" y="3190806"/>
          <a:ext cx="434723" cy="508544"/>
        </a:xfrm>
        <a:prstGeom prst="rightArrow">
          <a:avLst>
            <a:gd name="adj1" fmla="val 60000"/>
            <a:gd name="adj2" fmla="val 50000"/>
          </a:avLst>
        </a:prstGeom>
        <a:blipFill rotWithShape="1">
          <a:blip xmlns:r="http://schemas.openxmlformats.org/officeDocument/2006/relationships" r:embed="rId1">
            <a:duotone>
              <a:schemeClr val="accent1">
                <a:tint val="60000"/>
                <a:hueOff val="0"/>
                <a:satOff val="0"/>
                <a:lumOff val="0"/>
                <a:alphaOff val="0"/>
                <a:shade val="36000"/>
                <a:satMod val="120000"/>
              </a:schemeClr>
              <a:schemeClr val="accent1">
                <a:tint val="60000"/>
                <a:hueOff val="0"/>
                <a:satOff val="0"/>
                <a:lumOff val="0"/>
                <a:alphaOff val="0"/>
                <a:tint val="40000"/>
              </a:schemeClr>
            </a:duotone>
          </a:blip>
          <a:tile tx="0" ty="0" sx="60000" sy="59000" flip="none" algn="tl"/>
        </a:blipFill>
        <a:ln>
          <a:noFill/>
        </a:ln>
        <a:effectLst>
          <a:softEdge rad="12700"/>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rot="10800000">
        <a:off x="8132386" y="3292515"/>
        <a:ext cx="304306" cy="305126"/>
      </dsp:txXfrm>
    </dsp:sp>
    <dsp:sp modelId="{96ED06CD-8B45-498B-A377-4D36C3CF5481}">
      <dsp:nvSpPr>
        <dsp:cNvPr id="0" name=""/>
        <dsp:cNvSpPr/>
      </dsp:nvSpPr>
      <dsp:spPr>
        <a:xfrm>
          <a:off x="5746326" y="2829903"/>
          <a:ext cx="2050584" cy="1230350"/>
        </a:xfrm>
        <a:prstGeom prst="roundRect">
          <a:avLst>
            <a:gd name="adj" fmla="val 10000"/>
          </a:avLst>
        </a:prstGeom>
        <a:blipFill rotWithShape="1">
          <a:blip xmlns:r="http://schemas.openxmlformats.org/officeDocument/2006/relationships" r:embed="rId1">
            <a:duotone>
              <a:schemeClr val="accent1">
                <a:hueOff val="0"/>
                <a:satOff val="0"/>
                <a:lumOff val="0"/>
                <a:alphaOff val="0"/>
                <a:shade val="36000"/>
                <a:satMod val="120000"/>
              </a:schemeClr>
              <a:schemeClr val="accent1">
                <a:hueOff val="0"/>
                <a:satOff val="0"/>
                <a:lumOff val="0"/>
                <a:alphaOff val="0"/>
                <a:tint val="40000"/>
              </a:schemeClr>
            </a:duotone>
          </a:blip>
          <a:tile tx="0" ty="0" sx="60000" sy="59000" flip="none" algn="tl"/>
        </a:blipFill>
        <a:ln>
          <a:noFill/>
        </a:ln>
        <a:effectLst>
          <a:softEdge rad="12700"/>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Getting the consent from patient</a:t>
          </a:r>
        </a:p>
      </dsp:txBody>
      <dsp:txXfrm>
        <a:off x="5782362" y="2865939"/>
        <a:ext cx="1978512" cy="1158278"/>
      </dsp:txXfrm>
    </dsp:sp>
    <dsp:sp modelId="{02B43068-994E-40C4-A7F7-A459B445DE38}">
      <dsp:nvSpPr>
        <dsp:cNvPr id="0" name=""/>
        <dsp:cNvSpPr/>
      </dsp:nvSpPr>
      <dsp:spPr>
        <a:xfrm rot="10800000">
          <a:off x="5131151" y="3190806"/>
          <a:ext cx="434723" cy="508544"/>
        </a:xfrm>
        <a:prstGeom prst="rightArrow">
          <a:avLst>
            <a:gd name="adj1" fmla="val 60000"/>
            <a:gd name="adj2" fmla="val 50000"/>
          </a:avLst>
        </a:prstGeom>
        <a:blipFill rotWithShape="1">
          <a:blip xmlns:r="http://schemas.openxmlformats.org/officeDocument/2006/relationships" r:embed="rId1">
            <a:duotone>
              <a:schemeClr val="accent1">
                <a:tint val="60000"/>
                <a:hueOff val="0"/>
                <a:satOff val="0"/>
                <a:lumOff val="0"/>
                <a:alphaOff val="0"/>
                <a:shade val="36000"/>
                <a:satMod val="120000"/>
              </a:schemeClr>
              <a:schemeClr val="accent1">
                <a:tint val="60000"/>
                <a:hueOff val="0"/>
                <a:satOff val="0"/>
                <a:lumOff val="0"/>
                <a:alphaOff val="0"/>
                <a:tint val="40000"/>
              </a:schemeClr>
            </a:duotone>
          </a:blip>
          <a:tile tx="0" ty="0" sx="60000" sy="59000" flip="none" algn="tl"/>
        </a:blipFill>
        <a:ln>
          <a:noFill/>
        </a:ln>
        <a:effectLst>
          <a:softEdge rad="12700"/>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rot="10800000">
        <a:off x="5261568" y="3292515"/>
        <a:ext cx="304306" cy="305126"/>
      </dsp:txXfrm>
    </dsp:sp>
    <dsp:sp modelId="{FDB4CDA0-9C86-49AA-8B26-15A4F4F67706}">
      <dsp:nvSpPr>
        <dsp:cNvPr id="0" name=""/>
        <dsp:cNvSpPr/>
      </dsp:nvSpPr>
      <dsp:spPr>
        <a:xfrm>
          <a:off x="2875508" y="2829903"/>
          <a:ext cx="2050584" cy="1230350"/>
        </a:xfrm>
        <a:prstGeom prst="roundRect">
          <a:avLst>
            <a:gd name="adj" fmla="val 10000"/>
          </a:avLst>
        </a:prstGeom>
        <a:blipFill rotWithShape="1">
          <a:blip xmlns:r="http://schemas.openxmlformats.org/officeDocument/2006/relationships" r:embed="rId1">
            <a:duotone>
              <a:schemeClr val="accent1">
                <a:hueOff val="0"/>
                <a:satOff val="0"/>
                <a:lumOff val="0"/>
                <a:alphaOff val="0"/>
                <a:shade val="36000"/>
                <a:satMod val="120000"/>
              </a:schemeClr>
              <a:schemeClr val="accent1">
                <a:hueOff val="0"/>
                <a:satOff val="0"/>
                <a:lumOff val="0"/>
                <a:alphaOff val="0"/>
                <a:tint val="40000"/>
              </a:schemeClr>
            </a:duotone>
          </a:blip>
          <a:tile tx="0" ty="0" sx="60000" sy="59000" flip="none" algn="tl"/>
        </a:blipFill>
        <a:ln>
          <a:noFill/>
        </a:ln>
        <a:effectLst>
          <a:softEdge rad="12700"/>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Tabulating the data, analyzing using statistical tools and submitting the report</a:t>
          </a:r>
        </a:p>
      </dsp:txBody>
      <dsp:txXfrm>
        <a:off x="2911544" y="2865939"/>
        <a:ext cx="1978512" cy="1158278"/>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matrix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rot="270" type="round1Rect" r:blip="">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txAnchorVert" val="t"/>
                  <dgm:param type="parTxLTRAlign" val="l"/>
                  <dgm:param type="parTxRTLAlign" val="r"/>
                </dgm:alg>
              </dgm:if>
              <dgm:else name="Name7">
                <dgm:alg type="tx"/>
              </dgm:else>
            </dgm:choose>
            <dgm:shape xmlns:r="http://schemas.openxmlformats.org/officeDocument/2006/relationships" rot="270" type="rect" r:blip=""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txAnchorVert" val="t"/>
                  <dgm:param type="parTxLTRAlign" val="l"/>
                  <dgm:param type="parTxRTLAlign" val="r"/>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rot="180" type="round1Rect" r:blip="">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txAnchorVert" val="t"/>
                  <dgm:param type="parTxLTRAlign" val="l"/>
                  <dgm:param type="parTxRTLAlign" val="r"/>
                </dgm:alg>
              </dgm:if>
              <dgm:else name="Name25">
                <dgm:alg type="tx"/>
              </dgm:else>
            </dgm:choose>
            <dgm:shape xmlns:r="http://schemas.openxmlformats.org/officeDocument/2006/relationships" rot="180" type="rect" r:blip=""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rot="90" type="round1Rect" r:blip="">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txAnchorVert" val="t"/>
                  <dgm:param type="parTxLTRAlign" val="l"/>
                  <dgm:param type="parTxRTLAlign" val="r"/>
                </dgm:alg>
              </dgm:if>
              <dgm:else name="Name34">
                <dgm:alg type="tx"/>
              </dgm:else>
            </dgm:choose>
            <dgm:shape xmlns:r="http://schemas.openxmlformats.org/officeDocument/2006/relationships" rot="90" type="rect" r:blip=""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layout7.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3" Type="http://schemas.microsoft.com/office/2007/relationships/hdphoto" Target="../media/hdphoto2.wdp" /><Relationship Id="rId2" Type="http://schemas.openxmlformats.org/officeDocument/2006/relationships/image" Target="../media/image4.png" /><Relationship Id="rId1" Type="http://schemas.openxmlformats.org/officeDocument/2006/relationships/slideMaster" Target="../slideMasters/slideMaster1.xml" /><Relationship Id="rId5" Type="http://schemas.microsoft.com/office/2007/relationships/hdphoto" Target="../media/hdphoto1.wdp" /><Relationship Id="rId4" Type="http://schemas.openxmlformats.org/officeDocument/2006/relationships/image" Target="../media/image3.png"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3" Type="http://schemas.microsoft.com/office/2007/relationships/hdphoto" Target="../media/hdphoto2.wdp" /><Relationship Id="rId2" Type="http://schemas.openxmlformats.org/officeDocument/2006/relationships/image" Target="../media/image4.png" /><Relationship Id="rId1" Type="http://schemas.openxmlformats.org/officeDocument/2006/relationships/slideMaster" Target="../slideMasters/slideMaster1.xml" /><Relationship Id="rId5" Type="http://schemas.microsoft.com/office/2007/relationships/hdphoto" Target="../media/hdphoto1.wdp" /><Relationship Id="rId4" Type="http://schemas.openxmlformats.org/officeDocument/2006/relationships/image" Target="../media/image3.png"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3" Type="http://schemas.microsoft.com/office/2007/relationships/hdphoto" Target="../media/hdphoto2.wdp" /><Relationship Id="rId2" Type="http://schemas.openxmlformats.org/officeDocument/2006/relationships/image" Target="../media/image4.png" /><Relationship Id="rId1" Type="http://schemas.openxmlformats.org/officeDocument/2006/relationships/slideMaster" Target="../slideMasters/slideMaster1.xml" /><Relationship Id="rId5" Type="http://schemas.microsoft.com/office/2007/relationships/hdphoto" Target="../media/hdphoto1.wdp" /><Relationship Id="rId4" Type="http://schemas.openxmlformats.org/officeDocument/2006/relationships/image" Target="../media/image2.png" /></Relationships>
</file>

<file path=ppt/slideLayouts/_rels/slideLayout9.xml.rels><?xml version="1.0" encoding="UTF-8" standalone="yes"?>
<Relationships xmlns="http://schemas.openxmlformats.org/package/2006/relationships"><Relationship Id="rId3" Type="http://schemas.microsoft.com/office/2007/relationships/hdphoto" Target="../media/hdphoto2.wdp" /><Relationship Id="rId2" Type="http://schemas.openxmlformats.org/officeDocument/2006/relationships/image" Target="../media/image4.png" /><Relationship Id="rId1" Type="http://schemas.openxmlformats.org/officeDocument/2006/relationships/slideMaster" Target="../slideMasters/slideMaster1.xml" /><Relationship Id="rId5" Type="http://schemas.microsoft.com/office/2007/relationships/hdphoto" Target="../media/hdphoto1.wdp" /><Relationship Id="rId4" Type="http://schemas.openxmlformats.org/officeDocument/2006/relationships/image" Target="../media/image2.png"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AA5AFEE-0E02-4337-8D48-010ED54AAAB7}" type="datetimeFigureOut">
              <a:rPr lang="en-US" smtClean="0"/>
              <a:t>6/27/2022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A568B75F-1359-4D10-B5DB-A9CCF2232A1E}" type="slidenum">
              <a:rPr lang="en-US" smtClean="0"/>
              <a:t>‹#›</a:t>
            </a:fld>
            <a:endParaRPr lang="en-US"/>
          </a:p>
        </p:txBody>
      </p:sp>
    </p:spTree>
    <p:extLst>
      <p:ext uri="{BB962C8B-B14F-4D97-AF65-F5344CB8AC3E}">
        <p14:creationId xmlns:p14="http://schemas.microsoft.com/office/powerpoint/2010/main" val="25703332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AA5AFEE-0E02-4337-8D48-010ED54AAAB7}" type="datetimeFigureOut">
              <a:rPr lang="en-US" smtClean="0"/>
              <a:t>6/27/2022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568B75F-1359-4D10-B5DB-A9CCF2232A1E}" type="slidenum">
              <a:rPr lang="en-US" smtClean="0"/>
              <a:t>‹#›</a:t>
            </a:fld>
            <a:endParaRPr lang="en-US"/>
          </a:p>
        </p:txBody>
      </p:sp>
    </p:spTree>
    <p:extLst>
      <p:ext uri="{BB962C8B-B14F-4D97-AF65-F5344CB8AC3E}">
        <p14:creationId xmlns:p14="http://schemas.microsoft.com/office/powerpoint/2010/main" val="5507017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DAA5AFEE-0E02-4337-8D48-010ED54AAAB7}" type="datetimeFigureOut">
              <a:rPr lang="en-US" smtClean="0"/>
              <a:t>6/27/2022</a:t>
            </a:fld>
            <a:endParaRPr lang="en-US"/>
          </a:p>
        </p:txBody>
      </p:sp>
      <p:sp>
        <p:nvSpPr>
          <p:cNvPr id="5" name="Footer Placeholder 4"/>
          <p:cNvSpPr>
            <a:spLocks noGrp="1"/>
          </p:cNvSpPr>
          <p:nvPr>
            <p:ph type="ftr" sz="quarter" idx="11"/>
          </p:nvPr>
        </p:nvSpPr>
        <p:spPr>
          <a:xfrm>
            <a:off x="2182708" y="6272784"/>
            <a:ext cx="6327648" cy="365125"/>
          </a:xfrm>
        </p:spPr>
        <p:txBody>
          <a:bodyPr/>
          <a:lstStyle/>
          <a:p>
            <a:endParaRPr lang="en-US"/>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A568B75F-1359-4D10-B5DB-A9CCF2232A1E}" type="slidenum">
              <a:rPr lang="en-US" smtClean="0"/>
              <a:t>‹#›</a:t>
            </a:fld>
            <a:endParaRPr lang="en-US"/>
          </a:p>
        </p:txBody>
      </p:sp>
    </p:spTree>
    <p:extLst>
      <p:ext uri="{BB962C8B-B14F-4D97-AF65-F5344CB8AC3E}">
        <p14:creationId xmlns:p14="http://schemas.microsoft.com/office/powerpoint/2010/main" val="33450571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AA5AFEE-0E02-4337-8D48-010ED54AAAB7}" type="datetimeFigureOut">
              <a:rPr lang="en-US" smtClean="0"/>
              <a:t>6/27/2022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568B75F-1359-4D10-B5DB-A9CCF2232A1E}" type="slidenum">
              <a:rPr lang="en-US" smtClean="0"/>
              <a:t>‹#›</a:t>
            </a:fld>
            <a:endParaRPr lang="en-US"/>
          </a:p>
        </p:txBody>
      </p:sp>
    </p:spTree>
    <p:extLst>
      <p:ext uri="{BB962C8B-B14F-4D97-AF65-F5344CB8AC3E}">
        <p14:creationId xmlns:p14="http://schemas.microsoft.com/office/powerpoint/2010/main" val="21883246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AA5AFEE-0E02-4337-8D48-010ED54AAAB7}" type="datetimeFigureOut">
              <a:rPr lang="en-US" smtClean="0"/>
              <a:t>6/27/2022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568B75F-1359-4D10-B5DB-A9CCF2232A1E}" type="slidenum">
              <a:rPr lang="en-US" smtClean="0"/>
              <a:t>‹#›</a:t>
            </a:fld>
            <a:endParaRPr lang="en-US"/>
          </a:p>
        </p:txBody>
      </p:sp>
    </p:spTree>
    <p:extLst>
      <p:ext uri="{BB962C8B-B14F-4D97-AF65-F5344CB8AC3E}">
        <p14:creationId xmlns:p14="http://schemas.microsoft.com/office/powerpoint/2010/main" val="1470488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AA5AFEE-0E02-4337-8D48-010ED54AAAB7}" type="datetimeFigureOut">
              <a:rPr lang="en-US" smtClean="0"/>
              <a:t>6/27/2022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568B75F-1359-4D10-B5DB-A9CCF2232A1E}" type="slidenum">
              <a:rPr lang="en-US" smtClean="0"/>
              <a:t>‹#›</a:t>
            </a:fld>
            <a:endParaRPr lang="en-US"/>
          </a:p>
        </p:txBody>
      </p:sp>
    </p:spTree>
    <p:extLst>
      <p:ext uri="{BB962C8B-B14F-4D97-AF65-F5344CB8AC3E}">
        <p14:creationId xmlns:p14="http://schemas.microsoft.com/office/powerpoint/2010/main" val="19006442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AA5AFEE-0E02-4337-8D48-010ED54AAAB7}" type="datetimeFigureOut">
              <a:rPr lang="en-US" smtClean="0"/>
              <a:t>6/27/2022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568B75F-1359-4D10-B5DB-A9CCF2232A1E}" type="slidenum">
              <a:rPr lang="en-US" smtClean="0"/>
              <a:t>‹#›</a:t>
            </a:fld>
            <a:endParaRPr lang="en-US"/>
          </a:p>
        </p:txBody>
      </p:sp>
    </p:spTree>
    <p:extLst>
      <p:ext uri="{BB962C8B-B14F-4D97-AF65-F5344CB8AC3E}">
        <p14:creationId xmlns:p14="http://schemas.microsoft.com/office/powerpoint/2010/main" val="1771782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AA5AFEE-0E02-4337-8D48-010ED54AAAB7}" type="datetimeFigureOut">
              <a:rPr lang="en-US" smtClean="0"/>
              <a:t>6/27/2022</a:t>
            </a:fld>
            <a:endParaRPr lang="en-US"/>
          </a:p>
        </p:txBody>
      </p:sp>
      <p:sp>
        <p:nvSpPr>
          <p:cNvPr id="6" name="Footer Placeholder 5"/>
          <p:cNvSpPr>
            <a:spLocks noGrp="1"/>
          </p:cNvSpPr>
          <p:nvPr>
            <p:ph type="ftr" sz="quarter" idx="11"/>
          </p:nvPr>
        </p:nvSpPr>
        <p:spPr/>
        <p:txBody>
          <a:bodyPr/>
          <a:lstStyle/>
          <a:p>
            <a:endParaRPr lang="en-US"/>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A568B75F-1359-4D10-B5DB-A9CCF2232A1E}" type="slidenum">
              <a:rPr lang="en-US" smtClean="0"/>
              <a:t>‹#›</a:t>
            </a:fld>
            <a:endParaRPr lang="en-US"/>
          </a:p>
        </p:txBody>
      </p:sp>
    </p:spTree>
    <p:extLst>
      <p:ext uri="{BB962C8B-B14F-4D97-AF65-F5344CB8AC3E}">
        <p14:creationId xmlns:p14="http://schemas.microsoft.com/office/powerpoint/2010/main" val="31027101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AA5AFEE-0E02-4337-8D48-010ED54AAAB7}" type="datetimeFigureOut">
              <a:rPr lang="en-US" smtClean="0"/>
              <a:t>6/27/2022</a:t>
            </a:fld>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A568B75F-1359-4D10-B5DB-A9CCF2232A1E}" type="slidenum">
              <a:rPr lang="en-US" smtClean="0"/>
              <a:t>‹#›</a:t>
            </a:fld>
            <a:endParaRPr lang="en-US"/>
          </a:p>
        </p:txBody>
      </p:sp>
    </p:spTree>
    <p:extLst>
      <p:ext uri="{BB962C8B-B14F-4D97-AF65-F5344CB8AC3E}">
        <p14:creationId xmlns:p14="http://schemas.microsoft.com/office/powerpoint/2010/main" val="40898328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AA5AFEE-0E02-4337-8D48-010ED54AAAB7}" type="datetimeFigureOut">
              <a:rPr lang="en-US" smtClean="0"/>
              <a:t>6/27/2022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568B75F-1359-4D10-B5DB-A9CCF2232A1E}" type="slidenum">
              <a:rPr lang="en-US" smtClean="0"/>
              <a:t>‹#›</a:t>
            </a:fld>
            <a:endParaRPr lang="en-US"/>
          </a:p>
        </p:txBody>
      </p:sp>
    </p:spTree>
    <p:extLst>
      <p:ext uri="{BB962C8B-B14F-4D97-AF65-F5344CB8AC3E}">
        <p14:creationId xmlns:p14="http://schemas.microsoft.com/office/powerpoint/2010/main" val="10386179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AA5AFEE-0E02-4337-8D48-010ED54AAAB7}" type="datetimeFigureOut">
              <a:rPr lang="en-US" smtClean="0"/>
              <a:t>6/27/2022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568B75F-1359-4D10-B5DB-A9CCF2232A1E}" type="slidenum">
              <a:rPr lang="en-US" smtClean="0"/>
              <a:t>‹#›</a:t>
            </a:fld>
            <a:endParaRPr lang="en-US"/>
          </a:p>
        </p:txBody>
      </p:sp>
    </p:spTree>
    <p:extLst>
      <p:ext uri="{BB962C8B-B14F-4D97-AF65-F5344CB8AC3E}">
        <p14:creationId xmlns:p14="http://schemas.microsoft.com/office/powerpoint/2010/main" val="1425930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image" Target="../media/image2.png"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image" Target="../media/image3.png"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microsoft.com/office/2007/relationships/hdphoto" Target="../media/hdphoto1.wdp"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DAA5AFEE-0E02-4337-8D48-010ED54AAAB7}" type="datetimeFigureOut">
              <a:rPr lang="en-US" smtClean="0"/>
              <a:t>6/27/2022</a:t>
            </a:fld>
            <a:endParaRPr lang="en-US"/>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A568B75F-1359-4D10-B5DB-A9CCF2232A1E}" type="slidenum">
              <a:rPr lang="en-US" smtClean="0"/>
              <a:t>‹#›</a:t>
            </a:fld>
            <a:endParaRPr lang="en-US"/>
          </a:p>
        </p:txBody>
      </p:sp>
    </p:spTree>
    <p:extLst>
      <p:ext uri="{BB962C8B-B14F-4D97-AF65-F5344CB8AC3E}">
        <p14:creationId xmlns:p14="http://schemas.microsoft.com/office/powerpoint/2010/main" val="1528441244"/>
      </p:ext>
    </p:extLst>
  </p:cSld>
  <p:clrMap bg1="lt1" tx1="dk1" bg2="lt2" tx2="dk2" accent1="accent1" accent2="accent2" accent3="accent3" accent4="accent4" accent5="accent5" accent6="accent6" hlink="hlink" folHlink="folHlink"/>
  <p:sldLayoutIdLst>
    <p:sldLayoutId id="2147483766" r:id="rId1"/>
    <p:sldLayoutId id="2147483767" r:id="rId2"/>
    <p:sldLayoutId id="2147483768" r:id="rId3"/>
    <p:sldLayoutId id="2147483769" r:id="rId4"/>
    <p:sldLayoutId id="2147483770" r:id="rId5"/>
    <p:sldLayoutId id="2147483771" r:id="rId6"/>
    <p:sldLayoutId id="2147483772" r:id="rId7"/>
    <p:sldLayoutId id="2147483773" r:id="rId8"/>
    <p:sldLayoutId id="2147483774" r:id="rId9"/>
    <p:sldLayoutId id="2147483775" r:id="rId10"/>
    <p:sldLayoutId id="2147483776" r:id="rId11"/>
  </p:sldLayoutIdLst>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 /><Relationship Id="rId2" Type="http://schemas.openxmlformats.org/officeDocument/2006/relationships/diagramData" Target="../diagrams/data1.xml" /><Relationship Id="rId1" Type="http://schemas.openxmlformats.org/officeDocument/2006/relationships/slideLayout" Target="../slideLayouts/slideLayout7.xml" /><Relationship Id="rId6" Type="http://schemas.microsoft.com/office/2007/relationships/diagramDrawing" Target="../diagrams/drawing1.xml" /><Relationship Id="rId5" Type="http://schemas.openxmlformats.org/officeDocument/2006/relationships/diagramColors" Target="../diagrams/colors1.xml" /><Relationship Id="rId4" Type="http://schemas.openxmlformats.org/officeDocument/2006/relationships/diagramQuickStyle" Target="../diagrams/quickStyle1.xml" /></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 /><Relationship Id="rId2" Type="http://schemas.openxmlformats.org/officeDocument/2006/relationships/diagramData" Target="../diagrams/data2.xml" /><Relationship Id="rId1" Type="http://schemas.openxmlformats.org/officeDocument/2006/relationships/slideLayout" Target="../slideLayouts/slideLayout7.xml" /><Relationship Id="rId6" Type="http://schemas.microsoft.com/office/2007/relationships/diagramDrawing" Target="../diagrams/drawing2.xml" /><Relationship Id="rId5" Type="http://schemas.openxmlformats.org/officeDocument/2006/relationships/diagramColors" Target="../diagrams/colors2.xml" /><Relationship Id="rId4" Type="http://schemas.openxmlformats.org/officeDocument/2006/relationships/diagramQuickStyle" Target="../diagrams/quickStyle2.xml" /></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3.xml" /><Relationship Id="rId7" Type="http://schemas.microsoft.com/office/2007/relationships/diagramDrawing" Target="../diagrams/drawing3.xml" /><Relationship Id="rId2" Type="http://schemas.openxmlformats.org/officeDocument/2006/relationships/image" Target="../media/image5.jpeg" /><Relationship Id="rId1" Type="http://schemas.openxmlformats.org/officeDocument/2006/relationships/slideLayout" Target="../slideLayouts/slideLayout7.xml" /><Relationship Id="rId6" Type="http://schemas.openxmlformats.org/officeDocument/2006/relationships/diagramColors" Target="../diagrams/colors3.xml" /><Relationship Id="rId5" Type="http://schemas.openxmlformats.org/officeDocument/2006/relationships/diagramQuickStyle" Target="../diagrams/quickStyle3.xml" /><Relationship Id="rId4" Type="http://schemas.openxmlformats.org/officeDocument/2006/relationships/diagramLayout" Target="../diagrams/layout3.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4.xml" /><Relationship Id="rId2" Type="http://schemas.openxmlformats.org/officeDocument/2006/relationships/diagramData" Target="../diagrams/data4.xml" /><Relationship Id="rId1" Type="http://schemas.openxmlformats.org/officeDocument/2006/relationships/slideLayout" Target="../slideLayouts/slideLayout7.xml" /><Relationship Id="rId6" Type="http://schemas.microsoft.com/office/2007/relationships/diagramDrawing" Target="../diagrams/drawing4.xml" /><Relationship Id="rId5" Type="http://schemas.openxmlformats.org/officeDocument/2006/relationships/diagramColors" Target="../diagrams/colors4.xml" /><Relationship Id="rId4" Type="http://schemas.openxmlformats.org/officeDocument/2006/relationships/diagramQuickStyle" Target="../diagrams/quickStyle4.xml" /></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5.xml" /><Relationship Id="rId7" Type="http://schemas.microsoft.com/office/2007/relationships/diagramDrawing" Target="../diagrams/drawing5.xml" /><Relationship Id="rId2" Type="http://schemas.openxmlformats.org/officeDocument/2006/relationships/image" Target="../media/image6.jpeg" /><Relationship Id="rId1" Type="http://schemas.openxmlformats.org/officeDocument/2006/relationships/slideLayout" Target="../slideLayouts/slideLayout7.xml" /><Relationship Id="rId6" Type="http://schemas.openxmlformats.org/officeDocument/2006/relationships/diagramColors" Target="../diagrams/colors5.xml" /><Relationship Id="rId5" Type="http://schemas.openxmlformats.org/officeDocument/2006/relationships/diagramQuickStyle" Target="../diagrams/quickStyle5.xml" /><Relationship Id="rId4" Type="http://schemas.openxmlformats.org/officeDocument/2006/relationships/diagramLayout" Target="../diagrams/layout5.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 /></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6.xml" /><Relationship Id="rId2" Type="http://schemas.openxmlformats.org/officeDocument/2006/relationships/diagramData" Target="../diagrams/data6.xml" /><Relationship Id="rId1" Type="http://schemas.openxmlformats.org/officeDocument/2006/relationships/slideLayout" Target="../slideLayouts/slideLayout7.xml" /><Relationship Id="rId6" Type="http://schemas.microsoft.com/office/2007/relationships/diagramDrawing" Target="../diagrams/drawing6.xml" /><Relationship Id="rId5" Type="http://schemas.openxmlformats.org/officeDocument/2006/relationships/diagramColors" Target="../diagrams/colors6.xml" /><Relationship Id="rId4" Type="http://schemas.openxmlformats.org/officeDocument/2006/relationships/diagramQuickStyle" Target="../diagrams/quickStyle6.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 /></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7.xml" /><Relationship Id="rId2" Type="http://schemas.openxmlformats.org/officeDocument/2006/relationships/diagramData" Target="../diagrams/data7.xml" /><Relationship Id="rId1" Type="http://schemas.openxmlformats.org/officeDocument/2006/relationships/slideLayout" Target="../slideLayouts/slideLayout7.xml" /><Relationship Id="rId6" Type="http://schemas.microsoft.com/office/2007/relationships/diagramDrawing" Target="../diagrams/drawing7.xml" /><Relationship Id="rId5" Type="http://schemas.openxmlformats.org/officeDocument/2006/relationships/diagramColors" Target="../diagrams/colors7.xml" /><Relationship Id="rId4" Type="http://schemas.openxmlformats.org/officeDocument/2006/relationships/diagramQuickStyle" Target="../diagrams/quickStyle7.xml" /></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 /></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27.xml.rels><?xml version="1.0" encoding="UTF-8" standalone="yes"?>
<Relationships xmlns="http://schemas.openxmlformats.org/package/2006/relationships"><Relationship Id="rId2" Type="http://schemas.openxmlformats.org/officeDocument/2006/relationships/image" Target="../media/image7.png" /><Relationship Id="rId1" Type="http://schemas.openxmlformats.org/officeDocument/2006/relationships/slideLayout" Target="../slideLayouts/slideLayout7.xml" /></Relationships>
</file>

<file path=ppt/slides/_rels/slide28.xml.rels><?xml version="1.0" encoding="UTF-8" standalone="yes"?>
<Relationships xmlns="http://schemas.openxmlformats.org/package/2006/relationships"><Relationship Id="rId2" Type="http://schemas.openxmlformats.org/officeDocument/2006/relationships/image" Target="../media/image7.png" /><Relationship Id="rId1" Type="http://schemas.openxmlformats.org/officeDocument/2006/relationships/slideLayout" Target="../slideLayouts/slideLayout7.xml" /></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 /></Relationships>
</file>

<file path=ppt/slides/_rels/slide30.xml.rels><?xml version="1.0" encoding="UTF-8" standalone="yes"?>
<Relationships xmlns="http://schemas.openxmlformats.org/package/2006/relationships"><Relationship Id="rId2" Type="http://schemas.openxmlformats.org/officeDocument/2006/relationships/chart" Target="../charts/chart1.xml" /><Relationship Id="rId1" Type="http://schemas.openxmlformats.org/officeDocument/2006/relationships/slideLayout" Target="../slideLayouts/slideLayout7.xml" /></Relationships>
</file>

<file path=ppt/slides/_rels/slide31.xml.rels><?xml version="1.0" encoding="UTF-8" standalone="yes"?>
<Relationships xmlns="http://schemas.openxmlformats.org/package/2006/relationships"><Relationship Id="rId2" Type="http://schemas.openxmlformats.org/officeDocument/2006/relationships/chart" Target="../charts/chart2.xml" /><Relationship Id="rId1" Type="http://schemas.openxmlformats.org/officeDocument/2006/relationships/slideLayout" Target="../slideLayouts/slideLayout7.xml" /></Relationships>
</file>

<file path=ppt/slides/_rels/slide32.xml.rels><?xml version="1.0" encoding="UTF-8" standalone="yes"?>
<Relationships xmlns="http://schemas.openxmlformats.org/package/2006/relationships"><Relationship Id="rId2" Type="http://schemas.openxmlformats.org/officeDocument/2006/relationships/chart" Target="../charts/chart3.xml" /><Relationship Id="rId1" Type="http://schemas.openxmlformats.org/officeDocument/2006/relationships/slideLayout" Target="../slideLayouts/slideLayout7.xml" /></Relationships>
</file>

<file path=ppt/slides/_rels/slide33.xml.rels><?xml version="1.0" encoding="UTF-8" standalone="yes"?>
<Relationships xmlns="http://schemas.openxmlformats.org/package/2006/relationships"><Relationship Id="rId2" Type="http://schemas.openxmlformats.org/officeDocument/2006/relationships/chart" Target="../charts/chart4.xml" /><Relationship Id="rId1" Type="http://schemas.openxmlformats.org/officeDocument/2006/relationships/slideLayout" Target="../slideLayouts/slideLayout7.xml" /></Relationships>
</file>

<file path=ppt/slides/_rels/slide34.xml.rels><?xml version="1.0" encoding="UTF-8" standalone="yes"?>
<Relationships xmlns="http://schemas.openxmlformats.org/package/2006/relationships"><Relationship Id="rId2" Type="http://schemas.openxmlformats.org/officeDocument/2006/relationships/chart" Target="../charts/chart5.xml" /><Relationship Id="rId1" Type="http://schemas.openxmlformats.org/officeDocument/2006/relationships/slideLayout" Target="../slideLayouts/slideLayout7.xml" /></Relationships>
</file>

<file path=ppt/slides/_rels/slide35.xml.rels><?xml version="1.0" encoding="UTF-8" standalone="yes"?>
<Relationships xmlns="http://schemas.openxmlformats.org/package/2006/relationships"><Relationship Id="rId2" Type="http://schemas.openxmlformats.org/officeDocument/2006/relationships/chart" Target="../charts/chart6.xml" /><Relationship Id="rId1" Type="http://schemas.openxmlformats.org/officeDocument/2006/relationships/slideLayout" Target="../slideLayouts/slideLayout7.xml" /></Relationships>
</file>

<file path=ppt/slides/_rels/slide36.xml.rels><?xml version="1.0" encoding="UTF-8" standalone="yes"?>
<Relationships xmlns="http://schemas.openxmlformats.org/package/2006/relationships"><Relationship Id="rId2" Type="http://schemas.openxmlformats.org/officeDocument/2006/relationships/chart" Target="../charts/chart7.xml" /><Relationship Id="rId1" Type="http://schemas.openxmlformats.org/officeDocument/2006/relationships/slideLayout" Target="../slideLayouts/slideLayout7.xml" /></Relationships>
</file>

<file path=ppt/slides/_rels/slide37.xml.rels><?xml version="1.0" encoding="UTF-8" standalone="yes"?>
<Relationships xmlns="http://schemas.openxmlformats.org/package/2006/relationships"><Relationship Id="rId2" Type="http://schemas.openxmlformats.org/officeDocument/2006/relationships/chart" Target="../charts/chart8.xml" /><Relationship Id="rId1" Type="http://schemas.openxmlformats.org/officeDocument/2006/relationships/slideLayout" Target="../slideLayouts/slideLayout7.xml" /></Relationships>
</file>

<file path=ppt/slides/_rels/slide38.xml.rels><?xml version="1.0" encoding="UTF-8" standalone="yes"?>
<Relationships xmlns="http://schemas.openxmlformats.org/package/2006/relationships"><Relationship Id="rId2" Type="http://schemas.openxmlformats.org/officeDocument/2006/relationships/chart" Target="../charts/chart9.xml" /><Relationship Id="rId1" Type="http://schemas.openxmlformats.org/officeDocument/2006/relationships/slideLayout" Target="../slideLayouts/slideLayout7.xml" /></Relationships>
</file>

<file path=ppt/slides/_rels/slide39.xml.rels><?xml version="1.0" encoding="UTF-8" standalone="yes"?>
<Relationships xmlns="http://schemas.openxmlformats.org/package/2006/relationships"><Relationship Id="rId2" Type="http://schemas.openxmlformats.org/officeDocument/2006/relationships/chart" Target="../charts/chart10.xml" /><Relationship Id="rId1" Type="http://schemas.openxmlformats.org/officeDocument/2006/relationships/slideLayout" Target="../slideLayouts/slideLayout7.xml" /></Relationships>
</file>

<file path=ppt/slides/_rels/slide40.xml.rels><?xml version="1.0" encoding="UTF-8" standalone="yes"?>
<Relationships xmlns="http://schemas.openxmlformats.org/package/2006/relationships"><Relationship Id="rId2" Type="http://schemas.openxmlformats.org/officeDocument/2006/relationships/chart" Target="../charts/chart11.xml" /><Relationship Id="rId1" Type="http://schemas.openxmlformats.org/officeDocument/2006/relationships/slideLayout" Target="../slideLayouts/slideLayout7.xml" /></Relationships>
</file>

<file path=ppt/slides/_rels/slide41.xml.rels><?xml version="1.0" encoding="UTF-8" standalone="yes"?>
<Relationships xmlns="http://schemas.openxmlformats.org/package/2006/relationships"><Relationship Id="rId2" Type="http://schemas.openxmlformats.org/officeDocument/2006/relationships/chart" Target="../charts/chart12.xml" /><Relationship Id="rId1" Type="http://schemas.openxmlformats.org/officeDocument/2006/relationships/slideLayout" Target="../slideLayouts/slideLayout7.xml" /></Relationships>
</file>

<file path=ppt/slides/_rels/slide42.xml.rels><?xml version="1.0" encoding="UTF-8" standalone="yes"?>
<Relationships xmlns="http://schemas.openxmlformats.org/package/2006/relationships"><Relationship Id="rId2" Type="http://schemas.openxmlformats.org/officeDocument/2006/relationships/chart" Target="../charts/chart13.xml" /><Relationship Id="rId1" Type="http://schemas.openxmlformats.org/officeDocument/2006/relationships/slideLayout" Target="../slideLayouts/slideLayout7.xml" /></Relationships>
</file>

<file path=ppt/slides/_rels/slide43.xml.rels><?xml version="1.0" encoding="UTF-8" standalone="yes"?>
<Relationships xmlns="http://schemas.openxmlformats.org/package/2006/relationships"><Relationship Id="rId2" Type="http://schemas.openxmlformats.org/officeDocument/2006/relationships/chart" Target="../charts/chart14.xml" /><Relationship Id="rId1" Type="http://schemas.openxmlformats.org/officeDocument/2006/relationships/slideLayout" Target="../slideLayouts/slideLayout7.xml" /></Relationships>
</file>

<file path=ppt/slides/_rels/slide44.xml.rels><?xml version="1.0" encoding="UTF-8" standalone="yes"?>
<Relationships xmlns="http://schemas.openxmlformats.org/package/2006/relationships"><Relationship Id="rId2" Type="http://schemas.openxmlformats.org/officeDocument/2006/relationships/chart" Target="../charts/chart15.xml" /><Relationship Id="rId1" Type="http://schemas.openxmlformats.org/officeDocument/2006/relationships/slideLayout" Target="../slideLayouts/slideLayout7.xml" /></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 /></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 /></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 /></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 /></Relationships>
</file>

<file path=ppt/slides/_rels/slide60.xml.rels><?xml version="1.0" encoding="UTF-8" standalone="yes"?>
<Relationships xmlns="http://schemas.openxmlformats.org/package/2006/relationships"><Relationship Id="rId3" Type="http://schemas.openxmlformats.org/officeDocument/2006/relationships/hyperlink" Target="DATA%20COLLECTION%20FORM.pdf" TargetMode="External" /><Relationship Id="rId2" Type="http://schemas.openxmlformats.org/officeDocument/2006/relationships/hyperlink" Target="PATIENT%20CONSENT%20FORM.pdf" TargetMode="External" /><Relationship Id="rId1" Type="http://schemas.openxmlformats.org/officeDocument/2006/relationships/slideLayout" Target="../slideLayouts/slideLayout7.xml" /><Relationship Id="rId6" Type="http://schemas.openxmlformats.org/officeDocument/2006/relationships/hyperlink" Target="PATIENT%20INFORMATION%20LEAFLET%20-%20HINDI.pdf" TargetMode="External" /><Relationship Id="rId5" Type="http://schemas.openxmlformats.org/officeDocument/2006/relationships/hyperlink" Target="PATIENT%20INFORMATION%20LEAFLET-%20TELUGU.pdf" TargetMode="External" /><Relationship Id="rId4" Type="http://schemas.openxmlformats.org/officeDocument/2006/relationships/hyperlink" Target="PATIENT%20INFORMATIONLEAFLET-%20ENGLISH.pdf" TargetMode="External" /></Relationships>
</file>

<file path=ppt/slides/_rels/slide61.xml.rels><?xml version="1.0" encoding="UTF-8" standalone="yes"?>
<Relationships xmlns="http://schemas.openxmlformats.org/package/2006/relationships"><Relationship Id="rId8" Type="http://schemas.openxmlformats.org/officeDocument/2006/relationships/hyperlink" Target="https://www.aafp.org/afp/2014/0601/p873.html" TargetMode="External" /><Relationship Id="rId3" Type="http://schemas.openxmlformats.org/officeDocument/2006/relationships/hyperlink" Target="https://www.ncbi.nlm.nih.gov/pmc/articles/PMC4935699/" TargetMode="External" /><Relationship Id="rId7" Type="http://schemas.openxmlformats.org/officeDocument/2006/relationships/hyperlink" Target="https://www.ncbi.nlm.nih.gov/pmc/articles/PMC4440981/#!po=17.4051" TargetMode="External" /><Relationship Id="rId2" Type="http://schemas.openxmlformats.org/officeDocument/2006/relationships/hyperlink" Target="https://www.ncbi.nlm.nih.gov/books/NBK532930/" TargetMode="External" /><Relationship Id="rId1" Type="http://schemas.openxmlformats.org/officeDocument/2006/relationships/slideLayout" Target="../slideLayouts/slideLayout7.xml" /><Relationship Id="rId6" Type="http://schemas.openxmlformats.org/officeDocument/2006/relationships/hyperlink" Target="https://www.analesdepediatria.org/en-guidelines-for-prevention-detection-management-articulo-S234128791730162X" TargetMode="External" /><Relationship Id="rId5" Type="http://schemas.openxmlformats.org/officeDocument/2006/relationships/hyperlink" Target="https://www.ncbi.nlm.nih.gov/pmc/articles/PMC6394357/" TargetMode="External" /><Relationship Id="rId4" Type="http://schemas.openxmlformats.org/officeDocument/2006/relationships/hyperlink" Target="https://www.ncbi.nlm.nih.gov/pmc/articles/PMC4656866/" TargetMode="External" /></Relationships>
</file>

<file path=ppt/slides/_rels/slide62.xml.rels><?xml version="1.0" encoding="UTF-8" standalone="yes"?>
<Relationships xmlns="http://schemas.openxmlformats.org/package/2006/relationships"><Relationship Id="rId3" Type="http://schemas.openxmlformats.org/officeDocument/2006/relationships/hyperlink" Target="http://www.aimjournal.ir/Article/aim-6727" TargetMode="External" /><Relationship Id="rId7" Type="http://schemas.openxmlformats.org/officeDocument/2006/relationships/hyperlink" Target="https://www.ncbi.nlm.nih.gov/pmc/articles/PMC7036439/" TargetMode="External" /><Relationship Id="rId2" Type="http://schemas.openxmlformats.org/officeDocument/2006/relationships/hyperlink" Target="https://www.ncbi.nlm.nih.gov/pmc/articles/PMC7942262/" TargetMode="External" /><Relationship Id="rId1" Type="http://schemas.openxmlformats.org/officeDocument/2006/relationships/slideLayout" Target="../slideLayouts/slideLayout7.xml" /><Relationship Id="rId6" Type="http://schemas.openxmlformats.org/officeDocument/2006/relationships/hyperlink" Target="https://www.scielo.cl/scielo.php?script=sci_arttext&amp;pid=S0370-41062019005000702&amp;lng=en&amp;nrm=iso&amp;tlng=en" TargetMode="External" /><Relationship Id="rId5" Type="http://schemas.openxmlformats.org/officeDocument/2006/relationships/hyperlink" Target="https://www.ncbi.nlm.nih.gov/pmc/articles/PMC7511639/" TargetMode="External" /><Relationship Id="rId4" Type="http://schemas.openxmlformats.org/officeDocument/2006/relationships/hyperlink" Target="https://www.njcponline.com/article.asp?issn=1119-3077;year=2013;volume=16;issue=2;spage=188;epage=194;aulast=Egube" TargetMode="External" /></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18B96-C00E-39B9-63CF-0341C97E893D}"/>
              </a:ext>
            </a:extLst>
          </p:cNvPr>
          <p:cNvSpPr>
            <a:spLocks noGrp="1"/>
          </p:cNvSpPr>
          <p:nvPr>
            <p:ph type="ctrTitle"/>
          </p:nvPr>
        </p:nvSpPr>
        <p:spPr/>
        <p:txBody>
          <a:bodyPr/>
          <a:lstStyle/>
          <a:p>
            <a:pPr algn="ctr"/>
            <a:r>
              <a:rPr lang="en-US" sz="4400" b="1" dirty="0">
                <a:solidFill>
                  <a:srgbClr val="17365D"/>
                </a:solidFill>
                <a:effectLst/>
                <a:latin typeface="Times New Roman" panose="02020603050405020304" pitchFamily="18" charset="0"/>
                <a:ea typeface="Times New Roman" panose="02020603050405020304" pitchFamily="18" charset="0"/>
              </a:rPr>
              <a:t>A PROSPECTIVE OBSERVATIONAL STUDY ON RISK ASSESSMENT AND MOTHER’S KNOWLEDGE ON NEONATAL JAUNDICE</a:t>
            </a:r>
            <a:endParaRPr lang="en-US" sz="4400" dirty="0"/>
          </a:p>
        </p:txBody>
      </p:sp>
      <p:sp>
        <p:nvSpPr>
          <p:cNvPr id="3" name="Subtitle 2">
            <a:extLst>
              <a:ext uri="{FF2B5EF4-FFF2-40B4-BE49-F238E27FC236}">
                <a16:creationId xmlns:a16="http://schemas.microsoft.com/office/drawing/2014/main" id="{AE77604B-2D3D-2FD3-C7FF-C410DD4F6515}"/>
              </a:ext>
            </a:extLst>
          </p:cNvPr>
          <p:cNvSpPr>
            <a:spLocks noGrp="1"/>
          </p:cNvSpPr>
          <p:nvPr>
            <p:ph type="subTitle" idx="1"/>
          </p:nvPr>
        </p:nvSpPr>
        <p:spPr>
          <a:xfrm>
            <a:off x="1069847" y="4428877"/>
            <a:ext cx="10465661" cy="2468880"/>
          </a:xfrm>
        </p:spPr>
        <p:txBody>
          <a:bodyPr>
            <a:normAutofit/>
          </a:bodyPr>
          <a:lstStyle/>
          <a:p>
            <a:pPr marL="0" marR="0" algn="ctr">
              <a:lnSpc>
                <a:spcPct val="107000"/>
              </a:lnSpc>
              <a:spcBef>
                <a:spcPts val="0"/>
              </a:spcBef>
              <a:spcAft>
                <a:spcPts val="0"/>
              </a:spcAft>
            </a:pPr>
            <a:r>
              <a:rPr lang="en-US" sz="1800" b="1" dirty="0">
                <a:solidFill>
                  <a:srgbClr val="002060"/>
                </a:solidFill>
                <a:effectLst/>
                <a:latin typeface="Times New Roman" panose="02020603050405020304" pitchFamily="18" charset="0"/>
                <a:ea typeface="Times New Roman" panose="02020603050405020304" pitchFamily="18" charset="0"/>
                <a:cs typeface="Gautami" panose="020B0502040204020203" pitchFamily="34" charset="0"/>
              </a:rPr>
              <a:t>GARGI MONDAL	           (17BU1T0007)</a:t>
            </a:r>
            <a:endParaRPr lang="en-US" sz="1800" dirty="0">
              <a:effectLst/>
              <a:latin typeface="Calibri" panose="020F0502020204030204" pitchFamily="34" charset="0"/>
              <a:ea typeface="Calibri" panose="020F0502020204030204" pitchFamily="34" charset="0"/>
              <a:cs typeface="Gautami" panose="020B0502040204020203" pitchFamily="34" charset="0"/>
            </a:endParaRPr>
          </a:p>
          <a:p>
            <a:pPr marL="0" marR="0" algn="ctr">
              <a:lnSpc>
                <a:spcPct val="107000"/>
              </a:lnSpc>
              <a:spcBef>
                <a:spcPts val="0"/>
              </a:spcBef>
              <a:spcAft>
                <a:spcPts val="0"/>
              </a:spcAft>
            </a:pPr>
            <a:r>
              <a:rPr lang="en-US" sz="1800" b="1" dirty="0">
                <a:solidFill>
                  <a:srgbClr val="002060"/>
                </a:solidFill>
                <a:effectLst/>
                <a:latin typeface="Times New Roman" panose="02020603050405020304" pitchFamily="18" charset="0"/>
                <a:ea typeface="Times New Roman" panose="02020603050405020304" pitchFamily="18" charset="0"/>
                <a:cs typeface="Gautami" panose="020B0502040204020203" pitchFamily="34" charset="0"/>
              </a:rPr>
              <a:t>KUNCHE SANDHYA                     (17BU1T0010)</a:t>
            </a:r>
            <a:endParaRPr lang="en-US" sz="1800" dirty="0">
              <a:effectLst/>
              <a:latin typeface="Calibri" panose="020F0502020204030204" pitchFamily="34" charset="0"/>
              <a:ea typeface="Calibri" panose="020F0502020204030204" pitchFamily="34" charset="0"/>
              <a:cs typeface="Gautami" panose="020B0502040204020203" pitchFamily="34" charset="0"/>
            </a:endParaRPr>
          </a:p>
          <a:p>
            <a:pPr marL="0" marR="0" algn="ctr">
              <a:lnSpc>
                <a:spcPct val="107000"/>
              </a:lnSpc>
              <a:spcBef>
                <a:spcPts val="0"/>
              </a:spcBef>
              <a:spcAft>
                <a:spcPts val="0"/>
              </a:spcAft>
            </a:pPr>
            <a:r>
              <a:rPr lang="en-US" sz="1800" b="1" dirty="0">
                <a:solidFill>
                  <a:srgbClr val="002060"/>
                </a:solidFill>
                <a:effectLst/>
                <a:latin typeface="Times New Roman" panose="02020603050405020304" pitchFamily="18" charset="0"/>
                <a:ea typeface="Times New Roman" panose="02020603050405020304" pitchFamily="18" charset="0"/>
                <a:cs typeface="Gautami" panose="020B0502040204020203" pitchFamily="34" charset="0"/>
              </a:rPr>
              <a:t>MANCHALA RAVI TEJA             (17BU1T0016)</a:t>
            </a:r>
            <a:endParaRPr lang="en-US" sz="1800" dirty="0">
              <a:effectLst/>
              <a:latin typeface="Calibri" panose="020F0502020204030204" pitchFamily="34" charset="0"/>
              <a:ea typeface="Calibri" panose="020F0502020204030204" pitchFamily="34" charset="0"/>
              <a:cs typeface="Gautami" panose="020B0502040204020203" pitchFamily="34" charset="0"/>
            </a:endParaRPr>
          </a:p>
          <a:p>
            <a:pPr marL="0" marR="0" algn="ctr">
              <a:lnSpc>
                <a:spcPct val="107000"/>
              </a:lnSpc>
              <a:spcBef>
                <a:spcPts val="0"/>
              </a:spcBef>
              <a:spcAft>
                <a:spcPts val="0"/>
              </a:spcAft>
            </a:pPr>
            <a:r>
              <a:rPr lang="en-US" sz="1800" b="1" dirty="0">
                <a:solidFill>
                  <a:srgbClr val="002060"/>
                </a:solidFill>
                <a:effectLst/>
                <a:latin typeface="Times New Roman" panose="02020603050405020304" pitchFamily="18" charset="0"/>
                <a:ea typeface="Times New Roman" panose="02020603050405020304" pitchFamily="18" charset="0"/>
                <a:cs typeface="Gautami" panose="020B0502040204020203" pitchFamily="34" charset="0"/>
              </a:rPr>
              <a:t>RAJANALA RATHNAKAR          (17BU1T0021)</a:t>
            </a:r>
            <a:endParaRPr lang="en-US" sz="1800" dirty="0">
              <a:effectLst/>
              <a:latin typeface="Calibri" panose="020F0502020204030204" pitchFamily="34" charset="0"/>
              <a:ea typeface="Calibri" panose="020F0502020204030204" pitchFamily="34" charset="0"/>
              <a:cs typeface="Gautami" panose="020B0502040204020203" pitchFamily="34" charset="0"/>
            </a:endParaRPr>
          </a:p>
          <a:p>
            <a:pPr algn="ctr"/>
            <a:r>
              <a:rPr lang="en-US" sz="1800" b="1" dirty="0">
                <a:solidFill>
                  <a:srgbClr val="663300"/>
                </a:solidFill>
                <a:effectLst/>
                <a:latin typeface="Times New Roman" panose="02020603050405020304" pitchFamily="18" charset="0"/>
                <a:ea typeface="Times New Roman" panose="02020603050405020304" pitchFamily="18" charset="0"/>
                <a:cs typeface="Gautami" panose="020B0502040204020203" pitchFamily="34" charset="0"/>
              </a:rPr>
              <a:t>UNDER THE ESTEEMED GUIDANCE OF </a:t>
            </a:r>
            <a:endParaRPr lang="en-US" sz="1800" dirty="0">
              <a:effectLst/>
              <a:latin typeface="Calibri" panose="020F0502020204030204" pitchFamily="34" charset="0"/>
              <a:ea typeface="Calibri" panose="020F0502020204030204" pitchFamily="34" charset="0"/>
              <a:cs typeface="Gautami" panose="020B0502040204020203" pitchFamily="34" charset="0"/>
            </a:endParaRPr>
          </a:p>
          <a:p>
            <a:pPr marL="0" marR="0" algn="ctr">
              <a:lnSpc>
                <a:spcPct val="107000"/>
              </a:lnSpc>
              <a:spcBef>
                <a:spcPts val="0"/>
              </a:spcBef>
              <a:spcAft>
                <a:spcPts val="0"/>
              </a:spcAft>
            </a:pPr>
            <a:r>
              <a:rPr lang="en-US" sz="1800" b="1" dirty="0">
                <a:solidFill>
                  <a:srgbClr val="31849B"/>
                </a:solidFill>
                <a:effectLst/>
                <a:latin typeface="Times New Roman" panose="02020603050405020304" pitchFamily="18" charset="0"/>
                <a:ea typeface="Times New Roman" panose="02020603050405020304" pitchFamily="18" charset="0"/>
                <a:cs typeface="Gautami" panose="020B0502040204020203" pitchFamily="34" charset="0"/>
              </a:rPr>
              <a:t>Dr. UDAY KUMAR KANDURI, MBBS, DCH, DNB, </a:t>
            </a:r>
            <a:r>
              <a:rPr lang="en-US" sz="1800" b="1" dirty="0">
                <a:solidFill>
                  <a:srgbClr val="31849B"/>
                </a:solidFill>
                <a:effectLst/>
                <a:latin typeface="Times New Roman" panose="02020603050405020304" pitchFamily="18" charset="0"/>
                <a:ea typeface="Times New Roman" panose="02020603050405020304" pitchFamily="18" charset="0"/>
              </a:rPr>
              <a:t>MRCPCH(UK), ESI HOSPITAL, NACHARAM</a:t>
            </a:r>
          </a:p>
          <a:p>
            <a:pPr marL="0" marR="0" algn="ctr">
              <a:lnSpc>
                <a:spcPct val="107000"/>
              </a:lnSpc>
              <a:spcBef>
                <a:spcPts val="0"/>
              </a:spcBef>
              <a:spcAft>
                <a:spcPts val="0"/>
              </a:spcAft>
            </a:pPr>
            <a:r>
              <a:rPr lang="en-US" sz="1800" b="1" dirty="0">
                <a:solidFill>
                  <a:srgbClr val="31849B"/>
                </a:solidFill>
                <a:effectLst/>
                <a:latin typeface="Times New Roman" panose="02020603050405020304" pitchFamily="18" charset="0"/>
                <a:ea typeface="Times New Roman" panose="02020603050405020304" pitchFamily="18" charset="0"/>
              </a:rPr>
              <a:t>Dr. GABRIELA KEERTHANA GONDHI, </a:t>
            </a:r>
            <a:r>
              <a:rPr lang="en-US" sz="1800" b="1" dirty="0" err="1">
                <a:solidFill>
                  <a:srgbClr val="31849B"/>
                </a:solidFill>
                <a:effectLst/>
                <a:latin typeface="Times New Roman" panose="02020603050405020304" pitchFamily="18" charset="0"/>
                <a:ea typeface="Times New Roman" panose="02020603050405020304" pitchFamily="18" charset="0"/>
              </a:rPr>
              <a:t>Pharm.D</a:t>
            </a:r>
            <a:r>
              <a:rPr lang="en-US" sz="1800" b="1" dirty="0">
                <a:solidFill>
                  <a:srgbClr val="31849B"/>
                </a:solidFill>
                <a:effectLst/>
                <a:latin typeface="Times New Roman" panose="02020603050405020304" pitchFamily="18" charset="0"/>
                <a:ea typeface="Times New Roman" panose="02020603050405020304" pitchFamily="18" charset="0"/>
              </a:rPr>
              <a:t>, MBA-HHSM, MLRIP</a:t>
            </a:r>
            <a:endParaRPr lang="en-US" dirty="0"/>
          </a:p>
        </p:txBody>
      </p:sp>
    </p:spTree>
    <p:extLst>
      <p:ext uri="{BB962C8B-B14F-4D97-AF65-F5344CB8AC3E}">
        <p14:creationId xmlns:p14="http://schemas.microsoft.com/office/powerpoint/2010/main" val="7999040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04ABC-91EA-F818-D6D1-73D8FDE8BC72}"/>
              </a:ext>
            </a:extLst>
          </p:cNvPr>
          <p:cNvSpPr>
            <a:spLocks noGrp="1"/>
          </p:cNvSpPr>
          <p:nvPr>
            <p:ph type="title"/>
          </p:nvPr>
        </p:nvSpPr>
        <p:spPr/>
        <p:txBody>
          <a:bodyPr/>
          <a:lstStyle/>
          <a:p>
            <a:r>
              <a:rPr lang="en-US" dirty="0"/>
              <a:t>WHY THIS STUDY?</a:t>
            </a:r>
          </a:p>
        </p:txBody>
      </p:sp>
    </p:spTree>
    <p:extLst>
      <p:ext uri="{BB962C8B-B14F-4D97-AF65-F5344CB8AC3E}">
        <p14:creationId xmlns:p14="http://schemas.microsoft.com/office/powerpoint/2010/main" val="38306807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D7E6A-A66B-84AB-BD2A-D9BAE25DE85C}"/>
              </a:ext>
            </a:extLst>
          </p:cNvPr>
          <p:cNvSpPr>
            <a:spLocks noGrp="1"/>
          </p:cNvSpPr>
          <p:nvPr>
            <p:ph type="title"/>
          </p:nvPr>
        </p:nvSpPr>
        <p:spPr/>
        <p:txBody>
          <a:bodyPr/>
          <a:lstStyle/>
          <a:p>
            <a:r>
              <a:rPr lang="en-US" dirty="0"/>
              <a:t>INTRODUCTION</a:t>
            </a:r>
          </a:p>
        </p:txBody>
      </p:sp>
    </p:spTree>
    <p:extLst>
      <p:ext uri="{BB962C8B-B14F-4D97-AF65-F5344CB8AC3E}">
        <p14:creationId xmlns:p14="http://schemas.microsoft.com/office/powerpoint/2010/main" val="21945273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E516BC1-CD76-1EB1-7A24-D04627A600A5}"/>
              </a:ext>
            </a:extLst>
          </p:cNvPr>
          <p:cNvSpPr txBox="1"/>
          <p:nvPr/>
        </p:nvSpPr>
        <p:spPr>
          <a:xfrm>
            <a:off x="921026" y="1905506"/>
            <a:ext cx="10349948" cy="3268459"/>
          </a:xfrm>
          <a:prstGeom prst="rect">
            <a:avLst/>
          </a:prstGeom>
          <a:noFill/>
        </p:spPr>
        <p:txBody>
          <a:bodyPr wrap="square">
            <a:spAutoFit/>
          </a:bodyPr>
          <a:lstStyle/>
          <a:p>
            <a:pPr marL="342900" indent="-342900">
              <a:lnSpc>
                <a:spcPct val="150000"/>
              </a:lnSpc>
              <a:buFont typeface="Wingdings" panose="05000000000000000000" pitchFamily="2" charset="2"/>
              <a:buChar char="§"/>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Neonatal jaundice is yellowish discoloration of skin, conjunctiva and sclera due to elevated serum or plasma bilirubin in the newborn period. It is typically a transient and mild event. </a:t>
            </a:r>
            <a:endParaRPr lang="en-US" sz="2000" baseline="30000" dirty="0">
              <a:latin typeface="Times New Roman" panose="02020603050405020304" pitchFamily="18" charset="0"/>
              <a:ea typeface="Calibri" panose="020F0502020204030204" pitchFamily="34" charset="0"/>
              <a:cs typeface="Times New Roman" panose="02020603050405020304" pitchFamily="18" charset="0"/>
            </a:endParaRPr>
          </a:p>
          <a:p>
            <a:pPr marL="342900" indent="-342900">
              <a:lnSpc>
                <a:spcPct val="150000"/>
              </a:lnSpc>
              <a:buFont typeface="Wingdings" panose="05000000000000000000" pitchFamily="2" charset="2"/>
              <a:buChar char="§"/>
            </a:pPr>
            <a:r>
              <a:rPr lang="en-US" sz="2000" b="0" i="0" dirty="0">
                <a:solidFill>
                  <a:srgbClr val="09142A"/>
                </a:solidFill>
                <a:effectLst/>
                <a:latin typeface="Times New Roman" panose="02020603050405020304" pitchFamily="18" charset="0"/>
                <a:cs typeface="Times New Roman" panose="02020603050405020304" pitchFamily="18" charset="0"/>
              </a:rPr>
              <a:t>About 50 percent of term and 80 percent of preterm infants develop jaundice in the first week of life.</a:t>
            </a:r>
            <a:endParaRPr lang="en-US" sz="2000" dirty="0">
              <a:solidFill>
                <a:srgbClr val="09142A"/>
              </a:solidFill>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Elevated bilirubin levels are toxic for development of Central nervous system and causes neurological and behavioral impairment.</a:t>
            </a:r>
          </a:p>
          <a:p>
            <a:pPr marL="342900" indent="-342900">
              <a:lnSpc>
                <a:spcPct val="150000"/>
              </a:lnSpc>
              <a:buFont typeface="Wingdings" panose="05000000000000000000" pitchFamily="2" charset="2"/>
              <a:buChar char="§"/>
            </a:pPr>
            <a:endParaRPr lang="en-US" sz="2000" dirty="0">
              <a:latin typeface="Times New Roman" panose="02020603050405020304" pitchFamily="18" charset="0"/>
              <a:cs typeface="Times New Roman" panose="02020603050405020304" pitchFamily="18" charset="0"/>
            </a:endParaRPr>
          </a:p>
        </p:txBody>
      </p:sp>
      <p:sp>
        <p:nvSpPr>
          <p:cNvPr id="2" name="Rectangle: Rounded Corners 1">
            <a:extLst>
              <a:ext uri="{FF2B5EF4-FFF2-40B4-BE49-F238E27FC236}">
                <a16:creationId xmlns:a16="http://schemas.microsoft.com/office/drawing/2014/main" id="{A976C637-3BDD-F561-24DB-F5B484072DB9}"/>
              </a:ext>
            </a:extLst>
          </p:cNvPr>
          <p:cNvSpPr/>
          <p:nvPr/>
        </p:nvSpPr>
        <p:spPr>
          <a:xfrm>
            <a:off x="3087756" y="304800"/>
            <a:ext cx="6016487" cy="993913"/>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4800" dirty="0">
                <a:latin typeface="Times New Roman" panose="02020603050405020304" pitchFamily="18" charset="0"/>
                <a:cs typeface="Times New Roman" panose="02020603050405020304" pitchFamily="18" charset="0"/>
              </a:rPr>
              <a:t>INTRODUCTION</a:t>
            </a:r>
          </a:p>
        </p:txBody>
      </p:sp>
    </p:spTree>
    <p:extLst>
      <p:ext uri="{BB962C8B-B14F-4D97-AF65-F5344CB8AC3E}">
        <p14:creationId xmlns:p14="http://schemas.microsoft.com/office/powerpoint/2010/main" val="23785640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75AEEA6-3A8F-9CAE-C117-261DFDD2E5A4}"/>
              </a:ext>
            </a:extLst>
          </p:cNvPr>
          <p:cNvSpPr txBox="1"/>
          <p:nvPr/>
        </p:nvSpPr>
        <p:spPr>
          <a:xfrm>
            <a:off x="642730" y="1197103"/>
            <a:ext cx="10628244" cy="498663"/>
          </a:xfrm>
          <a:prstGeom prst="rect">
            <a:avLst/>
          </a:prstGeom>
          <a:noFill/>
        </p:spPr>
        <p:txBody>
          <a:bodyPr wrap="square">
            <a:spAutoFit/>
          </a:bodyPr>
          <a:lstStyle/>
          <a:p>
            <a:pPr marL="0" marR="0" algn="just">
              <a:lnSpc>
                <a:spcPct val="150000"/>
              </a:lnSpc>
              <a:spcBef>
                <a:spcPts val="0"/>
              </a:spcBef>
              <a:spcAft>
                <a:spcPts val="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Neonatal jaundice is differentiated into several types.</a:t>
            </a:r>
          </a:p>
        </p:txBody>
      </p:sp>
      <p:sp>
        <p:nvSpPr>
          <p:cNvPr id="2" name="Rectangle: Single Corner Snipped 1">
            <a:extLst>
              <a:ext uri="{FF2B5EF4-FFF2-40B4-BE49-F238E27FC236}">
                <a16:creationId xmlns:a16="http://schemas.microsoft.com/office/drawing/2014/main" id="{F2C62CEA-3E9F-9F9D-6C43-D312FD8BA336}"/>
              </a:ext>
            </a:extLst>
          </p:cNvPr>
          <p:cNvSpPr/>
          <p:nvPr/>
        </p:nvSpPr>
        <p:spPr>
          <a:xfrm>
            <a:off x="4022033" y="202703"/>
            <a:ext cx="4147931" cy="625028"/>
          </a:xfrm>
          <a:prstGeom prst="snip1Rect">
            <a:avLst/>
          </a:prstGeom>
        </p:spPr>
        <p:style>
          <a:lnRef idx="0">
            <a:schemeClr val="dk1"/>
          </a:lnRef>
          <a:fillRef idx="3">
            <a:schemeClr val="dk1"/>
          </a:fillRef>
          <a:effectRef idx="3">
            <a:schemeClr val="dk1"/>
          </a:effectRef>
          <a:fontRef idx="minor">
            <a:schemeClr val="lt1"/>
          </a:fontRef>
        </p:style>
        <p:txBody>
          <a:bodyPr rtlCol="0" anchor="ctr"/>
          <a:lstStyle/>
          <a:p>
            <a:pPr algn="ctr"/>
            <a:r>
              <a:rPr lang="en-US" sz="4000" b="1" dirty="0">
                <a:effectLst/>
                <a:latin typeface="Times New Roman" panose="02020603050405020304" pitchFamily="18" charset="0"/>
                <a:ea typeface="Calibri" panose="020F0502020204030204" pitchFamily="34" charset="0"/>
                <a:cs typeface="Times New Roman" panose="02020603050405020304" pitchFamily="18" charset="0"/>
              </a:rPr>
              <a:t>ETIOLOGY</a:t>
            </a:r>
            <a:endParaRPr lang="en-US" sz="4000" dirty="0">
              <a:effectLst/>
              <a:latin typeface="Times New Roman" panose="02020603050405020304" pitchFamily="18" charset="0"/>
              <a:ea typeface="Calibri" panose="020F0502020204030204" pitchFamily="34" charset="0"/>
              <a:cs typeface="Times New Roman" panose="02020603050405020304" pitchFamily="18" charset="0"/>
            </a:endParaRPr>
          </a:p>
        </p:txBody>
      </p:sp>
      <p:graphicFrame>
        <p:nvGraphicFramePr>
          <p:cNvPr id="4" name="Diagram 3">
            <a:extLst>
              <a:ext uri="{FF2B5EF4-FFF2-40B4-BE49-F238E27FC236}">
                <a16:creationId xmlns:a16="http://schemas.microsoft.com/office/drawing/2014/main" id="{58143CAD-535B-8C63-7981-E52CE99ED0DB}"/>
              </a:ext>
            </a:extLst>
          </p:cNvPr>
          <p:cNvGraphicFramePr/>
          <p:nvPr>
            <p:extLst>
              <p:ext uri="{D42A27DB-BD31-4B8C-83A1-F6EECF244321}">
                <p14:modId xmlns:p14="http://schemas.microsoft.com/office/powerpoint/2010/main" val="3356481936"/>
              </p:ext>
            </p:extLst>
          </p:nvPr>
        </p:nvGraphicFramePr>
        <p:xfrm>
          <a:off x="203199" y="1083387"/>
          <a:ext cx="11785598" cy="54499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456955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Single Corner Snipped 1">
            <a:extLst>
              <a:ext uri="{FF2B5EF4-FFF2-40B4-BE49-F238E27FC236}">
                <a16:creationId xmlns:a16="http://schemas.microsoft.com/office/drawing/2014/main" id="{D91A9FBE-2ADD-3500-F6F2-57DBBC6C251A}"/>
              </a:ext>
            </a:extLst>
          </p:cNvPr>
          <p:cNvSpPr/>
          <p:nvPr/>
        </p:nvSpPr>
        <p:spPr>
          <a:xfrm>
            <a:off x="3886199" y="242459"/>
            <a:ext cx="4419602" cy="625028"/>
          </a:xfrm>
          <a:prstGeom prst="snip1Rect">
            <a:avLst/>
          </a:prstGeom>
        </p:spPr>
        <p:style>
          <a:lnRef idx="0">
            <a:schemeClr val="dk1"/>
          </a:lnRef>
          <a:fillRef idx="3">
            <a:schemeClr val="dk1"/>
          </a:fillRef>
          <a:effectRef idx="3">
            <a:schemeClr val="dk1"/>
          </a:effectRef>
          <a:fontRef idx="minor">
            <a:schemeClr val="lt1"/>
          </a:fontRef>
        </p:style>
        <p:txBody>
          <a:bodyPr rtlCol="0" anchor="ctr"/>
          <a:lstStyle/>
          <a:p>
            <a:pPr algn="ctr"/>
            <a:r>
              <a:rPr lang="en-US" sz="4000" b="1" dirty="0">
                <a:latin typeface="Times New Roman" panose="02020603050405020304" pitchFamily="18" charset="0"/>
                <a:ea typeface="Calibri" panose="020F0502020204030204" pitchFamily="34" charset="0"/>
                <a:cs typeface="Times New Roman" panose="02020603050405020304" pitchFamily="18" charset="0"/>
              </a:rPr>
              <a:t>RISK FACTORS</a:t>
            </a:r>
            <a:endParaRPr lang="en-US" sz="4000" dirty="0">
              <a:effectLst/>
              <a:latin typeface="Times New Roman" panose="02020603050405020304" pitchFamily="18" charset="0"/>
              <a:ea typeface="Calibri" panose="020F0502020204030204" pitchFamily="34" charset="0"/>
              <a:cs typeface="Times New Roman" panose="02020603050405020304" pitchFamily="18" charset="0"/>
            </a:endParaRPr>
          </a:p>
        </p:txBody>
      </p:sp>
      <p:graphicFrame>
        <p:nvGraphicFramePr>
          <p:cNvPr id="4" name="Diagram 3">
            <a:extLst>
              <a:ext uri="{FF2B5EF4-FFF2-40B4-BE49-F238E27FC236}">
                <a16:creationId xmlns:a16="http://schemas.microsoft.com/office/drawing/2014/main" id="{18EA501F-90EA-4504-E009-FEE414F90E1C}"/>
              </a:ext>
            </a:extLst>
          </p:cNvPr>
          <p:cNvGraphicFramePr/>
          <p:nvPr>
            <p:extLst>
              <p:ext uri="{D42A27DB-BD31-4B8C-83A1-F6EECF244321}">
                <p14:modId xmlns:p14="http://schemas.microsoft.com/office/powerpoint/2010/main" val="1975980486"/>
              </p:ext>
            </p:extLst>
          </p:nvPr>
        </p:nvGraphicFramePr>
        <p:xfrm>
          <a:off x="1532835" y="1037718"/>
          <a:ext cx="912633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308431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C6BC89D-A2BD-9A97-469A-1C0542CF539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502788" y="1845158"/>
            <a:ext cx="3270250" cy="2505075"/>
          </a:xfrm>
          <a:prstGeom prst="rect">
            <a:avLst/>
          </a:prstGeom>
        </p:spPr>
      </p:pic>
      <p:sp>
        <p:nvSpPr>
          <p:cNvPr id="5" name="Rectangle: Single Corner Snipped 4">
            <a:extLst>
              <a:ext uri="{FF2B5EF4-FFF2-40B4-BE49-F238E27FC236}">
                <a16:creationId xmlns:a16="http://schemas.microsoft.com/office/drawing/2014/main" id="{14581289-0017-0AFF-43A9-70016C0747A7}"/>
              </a:ext>
            </a:extLst>
          </p:cNvPr>
          <p:cNvSpPr/>
          <p:nvPr/>
        </p:nvSpPr>
        <p:spPr>
          <a:xfrm>
            <a:off x="2922104" y="437317"/>
            <a:ext cx="6347792" cy="691288"/>
          </a:xfrm>
          <a:prstGeom prst="snip1Rect">
            <a:avLst/>
          </a:prstGeom>
        </p:spPr>
        <p:style>
          <a:lnRef idx="0">
            <a:schemeClr val="dk1"/>
          </a:lnRef>
          <a:fillRef idx="3">
            <a:schemeClr val="dk1"/>
          </a:fillRef>
          <a:effectRef idx="3">
            <a:schemeClr val="dk1"/>
          </a:effectRef>
          <a:fontRef idx="minor">
            <a:schemeClr val="lt1"/>
          </a:fontRef>
        </p:style>
        <p:txBody>
          <a:bodyPr rtlCol="0" anchor="ctr"/>
          <a:lstStyle/>
          <a:p>
            <a:pPr algn="ctr"/>
            <a:r>
              <a:rPr lang="en-US" sz="4000" b="1" dirty="0">
                <a:latin typeface="Times New Roman" panose="02020603050405020304" pitchFamily="18" charset="0"/>
                <a:ea typeface="Calibri" panose="020F0502020204030204" pitchFamily="34" charset="0"/>
                <a:cs typeface="Times New Roman" panose="02020603050405020304" pitchFamily="18" charset="0"/>
              </a:rPr>
              <a:t>SIGNS AND SYMPTOMS</a:t>
            </a:r>
            <a:endParaRPr lang="en-US" sz="4000" dirty="0">
              <a:effectLst/>
              <a:latin typeface="Times New Roman" panose="02020603050405020304" pitchFamily="18" charset="0"/>
              <a:ea typeface="Calibri" panose="020F0502020204030204" pitchFamily="34" charset="0"/>
              <a:cs typeface="Times New Roman" panose="02020603050405020304" pitchFamily="18" charset="0"/>
            </a:endParaRPr>
          </a:p>
        </p:txBody>
      </p:sp>
      <p:graphicFrame>
        <p:nvGraphicFramePr>
          <p:cNvPr id="6" name="Diagram 5">
            <a:extLst>
              <a:ext uri="{FF2B5EF4-FFF2-40B4-BE49-F238E27FC236}">
                <a16:creationId xmlns:a16="http://schemas.microsoft.com/office/drawing/2014/main" id="{F36E32F4-79D5-2823-49AD-32B772616EA8}"/>
              </a:ext>
            </a:extLst>
          </p:cNvPr>
          <p:cNvGraphicFramePr/>
          <p:nvPr>
            <p:extLst>
              <p:ext uri="{D42A27DB-BD31-4B8C-83A1-F6EECF244321}">
                <p14:modId xmlns:p14="http://schemas.microsoft.com/office/powerpoint/2010/main" val="2171626820"/>
              </p:ext>
            </p:extLst>
          </p:nvPr>
        </p:nvGraphicFramePr>
        <p:xfrm>
          <a:off x="516144" y="1276260"/>
          <a:ext cx="7642087" cy="508478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398022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77B079B-5620-FC59-3481-954FCF419EE4}"/>
              </a:ext>
            </a:extLst>
          </p:cNvPr>
          <p:cNvSpPr txBox="1"/>
          <p:nvPr/>
        </p:nvSpPr>
        <p:spPr>
          <a:xfrm>
            <a:off x="384312" y="1092035"/>
            <a:ext cx="11423374" cy="5115311"/>
          </a:xfrm>
          <a:prstGeom prst="rect">
            <a:avLst/>
          </a:prstGeom>
          <a:noFill/>
        </p:spPr>
        <p:txBody>
          <a:bodyPr wrap="square">
            <a:spAutoFit/>
          </a:bodyPr>
          <a:lstStyle/>
          <a:p>
            <a:pPr>
              <a:lnSpc>
                <a:spcPct val="150000"/>
              </a:lnSpc>
            </a:pPr>
            <a:r>
              <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rPr>
              <a:t>Visual examination:</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 The diagnosis of neonatal jaundice varies during the 1st weeks of birth because visually all neonates have decrease in conjugation and excretion rate.</a:t>
            </a:r>
            <a:r>
              <a:rPr lang="en-US" sz="2000" baseline="300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The visual examination should be done including sclerae, blanched skin of limbs, torso, forehead and gums within 48 hours of birth under bright or natural </a:t>
            </a:r>
            <a:r>
              <a:rPr lang="en-US" sz="2000" dirty="0" err="1">
                <a:effectLst/>
                <a:latin typeface="Times New Roman" panose="02020603050405020304" pitchFamily="18" charset="0"/>
                <a:ea typeface="Times New Roman" panose="02020603050405020304" pitchFamily="18" charset="0"/>
                <a:cs typeface="Times New Roman" panose="02020603050405020304" pitchFamily="18" charset="0"/>
              </a:rPr>
              <a:t>light.The</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 staining of skin takes place in </a:t>
            </a:r>
            <a:r>
              <a:rPr lang="en-US" sz="2000" dirty="0" err="1">
                <a:effectLst/>
                <a:latin typeface="Times New Roman" panose="02020603050405020304" pitchFamily="18" charset="0"/>
                <a:ea typeface="Times New Roman" panose="02020603050405020304" pitchFamily="18" charset="0"/>
                <a:cs typeface="Times New Roman" panose="02020603050405020304" pitchFamily="18" charset="0"/>
              </a:rPr>
              <a:t>cephalo</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 caudal direction. By using a digital pressure, the doctor should pale the skin and observe the subcutaneous tissue and underlying color of skin. If the neonate is observed to have yellow skin beyond thighs, then immediately the bilirubin levels should be checked.</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pPr>
            <a:r>
              <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rPr>
              <a:t>Measuring direct bilirubin</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 The level of jaundice is based on values of direct bilirubin &gt;35 </a:t>
            </a:r>
            <a:r>
              <a:rPr lang="en-US" sz="2000" dirty="0" err="1">
                <a:effectLst/>
                <a:latin typeface="Times New Roman" panose="02020603050405020304" pitchFamily="18" charset="0"/>
                <a:ea typeface="Times New Roman" panose="02020603050405020304" pitchFamily="18" charset="0"/>
                <a:cs typeface="Times New Roman" panose="02020603050405020304" pitchFamily="18" charset="0"/>
              </a:rPr>
              <a:t>μmol</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/L or more than 15% of total serum bilirubin.</a:t>
            </a:r>
            <a:endParaRPr lang="en-US" sz="2000" baseline="300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nSpc>
                <a:spcPct val="150000"/>
              </a:lnSpc>
            </a:pPr>
            <a:r>
              <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rPr>
              <a:t>Stool examination</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 The stool color is to be checked for the neonates along with the bilirubin levels. Pale color stools are observed if the neonate is having jaundice.</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pPr>
            <a:endParaRPr lang="en-US" sz="2000" dirty="0">
              <a:latin typeface="Times New Roman" panose="02020603050405020304" pitchFamily="18" charset="0"/>
              <a:cs typeface="Times New Roman" panose="02020603050405020304" pitchFamily="18" charset="0"/>
            </a:endParaRPr>
          </a:p>
        </p:txBody>
      </p:sp>
      <p:sp>
        <p:nvSpPr>
          <p:cNvPr id="4" name="Rectangle: Single Corner Snipped 3">
            <a:extLst>
              <a:ext uri="{FF2B5EF4-FFF2-40B4-BE49-F238E27FC236}">
                <a16:creationId xmlns:a16="http://schemas.microsoft.com/office/drawing/2014/main" id="{E47A75DD-8D64-F7D4-0EF6-39245F44A6B2}"/>
              </a:ext>
            </a:extLst>
          </p:cNvPr>
          <p:cNvSpPr/>
          <p:nvPr/>
        </p:nvSpPr>
        <p:spPr>
          <a:xfrm>
            <a:off x="3922643" y="188989"/>
            <a:ext cx="3723861" cy="698907"/>
          </a:xfrm>
          <a:prstGeom prst="snip1Rect">
            <a:avLst/>
          </a:prstGeom>
        </p:spPr>
        <p:style>
          <a:lnRef idx="0">
            <a:schemeClr val="dk1"/>
          </a:lnRef>
          <a:fillRef idx="3">
            <a:schemeClr val="dk1"/>
          </a:fillRef>
          <a:effectRef idx="3">
            <a:schemeClr val="dk1"/>
          </a:effectRef>
          <a:fontRef idx="minor">
            <a:schemeClr val="lt1"/>
          </a:fontRef>
        </p:style>
        <p:txBody>
          <a:bodyPr rtlCol="0" anchor="ctr"/>
          <a:lstStyle/>
          <a:p>
            <a:pPr algn="ctr"/>
            <a:r>
              <a:rPr lang="en-US" sz="4000" b="1" dirty="0">
                <a:effectLst/>
                <a:latin typeface="Times New Roman" panose="02020603050405020304" pitchFamily="18" charset="0"/>
                <a:ea typeface="Calibri" panose="020F0502020204030204" pitchFamily="34" charset="0"/>
                <a:cs typeface="Times New Roman" panose="02020603050405020304" pitchFamily="18" charset="0"/>
              </a:rPr>
              <a:t>DIAGNOSIS</a:t>
            </a:r>
            <a:endParaRPr lang="en-US" sz="40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8618910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Single Corner Snipped 1">
            <a:extLst>
              <a:ext uri="{FF2B5EF4-FFF2-40B4-BE49-F238E27FC236}">
                <a16:creationId xmlns:a16="http://schemas.microsoft.com/office/drawing/2014/main" id="{CAF05B59-3495-1A27-D5C0-6DBD7FA18138}"/>
              </a:ext>
            </a:extLst>
          </p:cNvPr>
          <p:cNvSpPr/>
          <p:nvPr/>
        </p:nvSpPr>
        <p:spPr>
          <a:xfrm>
            <a:off x="4324515" y="302588"/>
            <a:ext cx="3542969" cy="713414"/>
          </a:xfrm>
          <a:prstGeom prst="snip1Rect">
            <a:avLst/>
          </a:prstGeom>
        </p:spPr>
        <p:style>
          <a:lnRef idx="0">
            <a:schemeClr val="dk1"/>
          </a:lnRef>
          <a:fillRef idx="3">
            <a:schemeClr val="dk1"/>
          </a:fillRef>
          <a:effectRef idx="3">
            <a:schemeClr val="dk1"/>
          </a:effectRef>
          <a:fontRef idx="minor">
            <a:schemeClr val="lt1"/>
          </a:fontRef>
        </p:style>
        <p:txBody>
          <a:bodyPr rtlCol="0" anchor="ctr"/>
          <a:lstStyle/>
          <a:p>
            <a:pPr algn="ctr"/>
            <a:r>
              <a:rPr lang="en-US" sz="4000" b="1" dirty="0">
                <a:effectLst/>
                <a:latin typeface="Times New Roman" panose="02020603050405020304" pitchFamily="18" charset="0"/>
                <a:ea typeface="Calibri" panose="020F0502020204030204" pitchFamily="34" charset="0"/>
                <a:cs typeface="Times New Roman" panose="02020603050405020304" pitchFamily="18" charset="0"/>
              </a:rPr>
              <a:t>TREATMENT</a:t>
            </a:r>
            <a:endParaRPr lang="en-US" sz="4000" dirty="0">
              <a:effectLst/>
              <a:latin typeface="Times New Roman" panose="02020603050405020304" pitchFamily="18" charset="0"/>
              <a:ea typeface="Calibri" panose="020F0502020204030204" pitchFamily="34" charset="0"/>
              <a:cs typeface="Times New Roman" panose="02020603050405020304" pitchFamily="18" charset="0"/>
            </a:endParaRPr>
          </a:p>
        </p:txBody>
      </p:sp>
      <p:graphicFrame>
        <p:nvGraphicFramePr>
          <p:cNvPr id="3" name="Diagram 2">
            <a:extLst>
              <a:ext uri="{FF2B5EF4-FFF2-40B4-BE49-F238E27FC236}">
                <a16:creationId xmlns:a16="http://schemas.microsoft.com/office/drawing/2014/main" id="{64A476C6-1864-B43C-B877-01694B2D44AC}"/>
              </a:ext>
            </a:extLst>
          </p:cNvPr>
          <p:cNvGraphicFramePr/>
          <p:nvPr>
            <p:extLst>
              <p:ext uri="{D42A27DB-BD31-4B8C-83A1-F6EECF244321}">
                <p14:modId xmlns:p14="http://schemas.microsoft.com/office/powerpoint/2010/main" val="867096858"/>
              </p:ext>
            </p:extLst>
          </p:nvPr>
        </p:nvGraphicFramePr>
        <p:xfrm>
          <a:off x="958574" y="1347121"/>
          <a:ext cx="7085496" cy="412602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368439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A50D23B-D72A-3532-7ED4-B3D66DF648C8}"/>
              </a:ext>
            </a:extLst>
          </p:cNvPr>
          <p:cNvSpPr txBox="1"/>
          <p:nvPr/>
        </p:nvSpPr>
        <p:spPr>
          <a:xfrm>
            <a:off x="815009" y="1339607"/>
            <a:ext cx="6692348" cy="579967"/>
          </a:xfrm>
          <a:prstGeom prst="rect">
            <a:avLst/>
          </a:prstGeom>
          <a:noFill/>
        </p:spPr>
        <p:txBody>
          <a:bodyPr wrap="square">
            <a:spAutoFit/>
          </a:bodyPr>
          <a:lstStyle/>
          <a:p>
            <a:pPr algn="just">
              <a:lnSpc>
                <a:spcPct val="150000"/>
              </a:lnSpc>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Complications are rare but are serious which include </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7" name="Picture 6">
            <a:extLst>
              <a:ext uri="{FF2B5EF4-FFF2-40B4-BE49-F238E27FC236}">
                <a16:creationId xmlns:a16="http://schemas.microsoft.com/office/drawing/2014/main" id="{F262334B-04FC-F3B8-16D4-DD595AA53C7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451021" y="2160049"/>
            <a:ext cx="2870200" cy="1278890"/>
          </a:xfrm>
          <a:prstGeom prst="rect">
            <a:avLst/>
          </a:prstGeom>
        </p:spPr>
      </p:pic>
      <p:graphicFrame>
        <p:nvGraphicFramePr>
          <p:cNvPr id="2" name="Diagram 1">
            <a:extLst>
              <a:ext uri="{FF2B5EF4-FFF2-40B4-BE49-F238E27FC236}">
                <a16:creationId xmlns:a16="http://schemas.microsoft.com/office/drawing/2014/main" id="{65672D7B-344F-B9D1-A115-1118518CAC46}"/>
              </a:ext>
            </a:extLst>
          </p:cNvPr>
          <p:cNvGraphicFramePr/>
          <p:nvPr>
            <p:extLst>
              <p:ext uri="{D42A27DB-BD31-4B8C-83A1-F6EECF244321}">
                <p14:modId xmlns:p14="http://schemas.microsoft.com/office/powerpoint/2010/main" val="2764480206"/>
              </p:ext>
            </p:extLst>
          </p:nvPr>
        </p:nvGraphicFramePr>
        <p:xfrm>
          <a:off x="870779" y="2160049"/>
          <a:ext cx="6096000" cy="17377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Rectangle: Single Corner Snipped 4">
            <a:extLst>
              <a:ext uri="{FF2B5EF4-FFF2-40B4-BE49-F238E27FC236}">
                <a16:creationId xmlns:a16="http://schemas.microsoft.com/office/drawing/2014/main" id="{C6C27AD5-444F-BB94-C4B0-5EACFF60BD54}"/>
              </a:ext>
            </a:extLst>
          </p:cNvPr>
          <p:cNvSpPr/>
          <p:nvPr/>
        </p:nvSpPr>
        <p:spPr>
          <a:xfrm>
            <a:off x="3727173" y="275286"/>
            <a:ext cx="4737653" cy="823846"/>
          </a:xfrm>
          <a:prstGeom prst="snip1Rect">
            <a:avLst/>
          </a:prstGeom>
        </p:spPr>
        <p:style>
          <a:lnRef idx="0">
            <a:schemeClr val="dk1"/>
          </a:lnRef>
          <a:fillRef idx="3">
            <a:schemeClr val="dk1"/>
          </a:fillRef>
          <a:effectRef idx="3">
            <a:schemeClr val="dk1"/>
          </a:effectRef>
          <a:fontRef idx="minor">
            <a:schemeClr val="lt1"/>
          </a:fontRef>
        </p:style>
        <p:txBody>
          <a:bodyPr rtlCol="0" anchor="ctr"/>
          <a:lstStyle/>
          <a:p>
            <a:pPr algn="ctr"/>
            <a:r>
              <a:rPr lang="en-US" sz="4000" b="1" dirty="0">
                <a:effectLst/>
                <a:latin typeface="Times New Roman" panose="02020603050405020304" pitchFamily="18" charset="0"/>
                <a:ea typeface="Times New Roman" panose="02020603050405020304" pitchFamily="18" charset="0"/>
                <a:cs typeface="Times New Roman" panose="02020603050405020304" pitchFamily="18" charset="0"/>
              </a:rPr>
              <a:t>COMPLICATIONS</a:t>
            </a:r>
            <a:endParaRPr lang="en-US" sz="40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5099832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3F47D98-8112-F600-6B3C-92CF322DAD54}"/>
              </a:ext>
            </a:extLst>
          </p:cNvPr>
          <p:cNvSpPr txBox="1"/>
          <p:nvPr/>
        </p:nvSpPr>
        <p:spPr>
          <a:xfrm>
            <a:off x="834887" y="2014329"/>
            <a:ext cx="10986052" cy="2246769"/>
          </a:xfrm>
          <a:prstGeom prst="rect">
            <a:avLst/>
          </a:prstGeom>
          <a:noFill/>
        </p:spPr>
        <p:txBody>
          <a:bodyPr wrap="square">
            <a:spAutoFit/>
          </a:bodyPr>
          <a:lstStyle/>
          <a:p>
            <a:pPr marL="342900" indent="-34290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Neonatal jaundice</a:t>
            </a:r>
            <a:r>
              <a:rPr lang="en-US" sz="2000" b="0" i="0" dirty="0">
                <a:effectLst/>
                <a:latin typeface="Times New Roman" panose="02020603050405020304" pitchFamily="18" charset="0"/>
                <a:cs typeface="Times New Roman" panose="02020603050405020304" pitchFamily="18" charset="0"/>
              </a:rPr>
              <a:t> is one of the most common disorders resulting in severe neurological sequelae globally and nationally. </a:t>
            </a:r>
          </a:p>
          <a:p>
            <a:pPr marL="342900" indent="-342900">
              <a:buFont typeface="Wingdings" panose="05000000000000000000" pitchFamily="2" charset="2"/>
              <a:buChar char="§"/>
            </a:pPr>
            <a:r>
              <a:rPr lang="en-US" sz="2000" b="0" i="0" dirty="0">
                <a:effectLst/>
                <a:latin typeface="Times New Roman" panose="02020603050405020304" pitchFamily="18" charset="0"/>
                <a:cs typeface="Times New Roman" panose="02020603050405020304" pitchFamily="18" charset="0"/>
              </a:rPr>
              <a:t>Timely and proper management to reduce these complications depends on the level of the mother’s knowledge about </a:t>
            </a:r>
            <a:r>
              <a:rPr lang="en-US" sz="2000" dirty="0">
                <a:latin typeface="Times New Roman" panose="02020603050405020304" pitchFamily="18" charset="0"/>
                <a:cs typeface="Times New Roman" panose="02020603050405020304" pitchFamily="18" charset="0"/>
              </a:rPr>
              <a:t>neonatal jaundice</a:t>
            </a:r>
            <a:r>
              <a:rPr lang="en-US" sz="2000" b="0" i="0" dirty="0">
                <a:effectLst/>
                <a:latin typeface="Times New Roman" panose="02020603050405020304" pitchFamily="18" charset="0"/>
                <a:cs typeface="Times New Roman" panose="02020603050405020304" pitchFamily="18" charset="0"/>
              </a:rPr>
              <a:t>. </a:t>
            </a:r>
          </a:p>
          <a:p>
            <a:pPr marL="342900" indent="-342900">
              <a:buFont typeface="Wingdings" panose="05000000000000000000" pitchFamily="2" charset="2"/>
              <a:buChar char="§"/>
            </a:pPr>
            <a:r>
              <a:rPr lang="en-US" sz="2000" b="0" i="0" dirty="0">
                <a:effectLst/>
                <a:latin typeface="Times New Roman" panose="02020603050405020304" pitchFamily="18" charset="0"/>
                <a:cs typeface="Times New Roman" panose="02020603050405020304" pitchFamily="18" charset="0"/>
              </a:rPr>
              <a:t>Early detection and treatment are the key elements to prevent severe neonatal jaundice. </a:t>
            </a:r>
          </a:p>
          <a:p>
            <a:pPr marL="342900" indent="-342900">
              <a:buFont typeface="Wingdings" panose="05000000000000000000" pitchFamily="2" charset="2"/>
              <a:buChar char="§"/>
            </a:pPr>
            <a:r>
              <a:rPr lang="en-US" sz="2000" b="0" i="0" dirty="0">
                <a:effectLst/>
                <a:latin typeface="Times New Roman" panose="02020603050405020304" pitchFamily="18" charset="0"/>
                <a:cs typeface="Times New Roman" panose="02020603050405020304" pitchFamily="18" charset="0"/>
              </a:rPr>
              <a:t>An understanding of the knowledge level in a specific population can help to identify the gaps and target areas for intervention. </a:t>
            </a:r>
            <a:endParaRPr lang="en-US" sz="2000" dirty="0">
              <a:latin typeface="Times New Roman" panose="02020603050405020304" pitchFamily="18" charset="0"/>
              <a:cs typeface="Times New Roman" panose="02020603050405020304" pitchFamily="18" charset="0"/>
            </a:endParaRPr>
          </a:p>
        </p:txBody>
      </p:sp>
      <p:sp>
        <p:nvSpPr>
          <p:cNvPr id="4" name="Rectangle: Single Corner Snipped 3">
            <a:extLst>
              <a:ext uri="{FF2B5EF4-FFF2-40B4-BE49-F238E27FC236}">
                <a16:creationId xmlns:a16="http://schemas.microsoft.com/office/drawing/2014/main" id="{4794EEDF-9D81-7285-0BC7-2EAF5BBC59C0}"/>
              </a:ext>
            </a:extLst>
          </p:cNvPr>
          <p:cNvSpPr/>
          <p:nvPr/>
        </p:nvSpPr>
        <p:spPr>
          <a:xfrm>
            <a:off x="1517374" y="288536"/>
            <a:ext cx="9157252" cy="1261968"/>
          </a:xfrm>
          <a:prstGeom prst="snip1Rect">
            <a:avLst/>
          </a:prstGeom>
        </p:spPr>
        <p:style>
          <a:lnRef idx="0">
            <a:schemeClr val="dk1"/>
          </a:lnRef>
          <a:fillRef idx="3">
            <a:schemeClr val="dk1"/>
          </a:fillRef>
          <a:effectRef idx="3">
            <a:schemeClr val="dk1"/>
          </a:effectRef>
          <a:fontRef idx="minor">
            <a:schemeClr val="lt1"/>
          </a:fontRef>
        </p:style>
        <p:txBody>
          <a:bodyPr rtlCol="0" anchor="ctr"/>
          <a:lstStyle/>
          <a:p>
            <a:pPr algn="ctr"/>
            <a:r>
              <a:rPr lang="en-US" sz="4000" b="1" dirty="0">
                <a:effectLst/>
                <a:latin typeface="Times New Roman" panose="02020603050405020304" pitchFamily="18" charset="0"/>
                <a:ea typeface="Calibri" panose="020F0502020204030204" pitchFamily="34" charset="0"/>
                <a:cs typeface="Times New Roman" panose="02020603050405020304" pitchFamily="18" charset="0"/>
              </a:rPr>
              <a:t>AWARENESS ON NEONATAL JAUNDICDE</a:t>
            </a:r>
            <a:endParaRPr lang="en-US" sz="40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8893811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0110C-8199-E3AF-4FE6-7712F95FFF9B}"/>
              </a:ext>
            </a:extLst>
          </p:cNvPr>
          <p:cNvSpPr>
            <a:spLocks noGrp="1"/>
          </p:cNvSpPr>
          <p:nvPr>
            <p:ph type="title"/>
          </p:nvPr>
        </p:nvSpPr>
        <p:spPr>
          <a:xfrm>
            <a:off x="2167127" y="1225296"/>
            <a:ext cx="9663801" cy="3520440"/>
          </a:xfrm>
        </p:spPr>
        <p:txBody>
          <a:bodyPr/>
          <a:lstStyle/>
          <a:p>
            <a:r>
              <a:rPr lang="en-US" sz="8000" dirty="0">
                <a:cs typeface="Times New Roman" panose="02020603050405020304" pitchFamily="18" charset="0"/>
              </a:rPr>
              <a:t>LITERATURE</a:t>
            </a:r>
            <a:r>
              <a:rPr lang="en-US" sz="8000" b="1" dirty="0">
                <a:cs typeface="Times New Roman" panose="02020603050405020304" pitchFamily="18" charset="0"/>
              </a:rPr>
              <a:t> </a:t>
            </a:r>
            <a:r>
              <a:rPr lang="en-US" sz="8000" dirty="0">
                <a:cs typeface="Times New Roman" panose="02020603050405020304" pitchFamily="18" charset="0"/>
              </a:rPr>
              <a:t>REVIEW</a:t>
            </a:r>
            <a:endParaRPr lang="en-US" dirty="0"/>
          </a:p>
        </p:txBody>
      </p:sp>
    </p:spTree>
    <p:extLst>
      <p:ext uri="{BB962C8B-B14F-4D97-AF65-F5344CB8AC3E}">
        <p14:creationId xmlns:p14="http://schemas.microsoft.com/office/powerpoint/2010/main" val="1674682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3527C03-2272-60D0-2118-F0D1BED71497}"/>
              </a:ext>
            </a:extLst>
          </p:cNvPr>
          <p:cNvSpPr txBox="1"/>
          <p:nvPr/>
        </p:nvSpPr>
        <p:spPr>
          <a:xfrm>
            <a:off x="556591" y="1373899"/>
            <a:ext cx="11078816" cy="3736279"/>
          </a:xfrm>
          <a:prstGeom prst="rect">
            <a:avLst/>
          </a:prstGeom>
          <a:noFill/>
        </p:spPr>
        <p:txBody>
          <a:bodyPr wrap="square">
            <a:spAutoFit/>
          </a:bodyPr>
          <a:lstStyle/>
          <a:p>
            <a:pPr marL="342900" marR="0" indent="-342900" algn="just">
              <a:lnSpc>
                <a:spcPct val="150000"/>
              </a:lnSpc>
              <a:spcBef>
                <a:spcPts val="0"/>
              </a:spcBef>
              <a:spcAft>
                <a:spcPts val="0"/>
              </a:spcAft>
              <a:buAutoNum type="arabicPeriod"/>
            </a:pPr>
            <a:r>
              <a:rPr lang="en-US" sz="2000" b="1" i="1" dirty="0" err="1">
                <a:effectLst/>
                <a:latin typeface="Times New Roman" panose="02020603050405020304" pitchFamily="18" charset="0"/>
                <a:ea typeface="Times New Roman" panose="02020603050405020304" pitchFamily="18" charset="0"/>
                <a:cs typeface="Gautami" panose="020B0502040204020203" pitchFamily="34" charset="0"/>
              </a:rPr>
              <a:t>Murekatete</a:t>
            </a:r>
            <a:r>
              <a:rPr lang="en-US" sz="2000" b="1" i="1" dirty="0">
                <a:effectLst/>
                <a:latin typeface="Times New Roman" panose="02020603050405020304" pitchFamily="18" charset="0"/>
                <a:ea typeface="Times New Roman" panose="02020603050405020304" pitchFamily="18" charset="0"/>
                <a:cs typeface="Gautami" panose="020B0502040204020203" pitchFamily="34" charset="0"/>
              </a:rPr>
              <a:t> C, </a:t>
            </a:r>
            <a:r>
              <a:rPr lang="en-US" sz="2000" b="1" i="1"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et al. </a:t>
            </a:r>
            <a:r>
              <a:rPr lang="en-US" sz="2000" b="1" i="1" dirty="0">
                <a:effectLst/>
                <a:latin typeface="Times New Roman" panose="02020603050405020304" pitchFamily="18" charset="0"/>
                <a:ea typeface="Times New Roman" panose="02020603050405020304" pitchFamily="18" charset="0"/>
                <a:cs typeface="Gautami" panose="020B0502040204020203" pitchFamily="34" charset="0"/>
              </a:rPr>
              <a:t>have performed retrospective cross-sectional design in district hospital in Rwanda titled “Neonatal Jaundice risk factors at a District Hospital in Rwanda'' published in Rwanda Journal of Medicine and Health Sciences, 2020, which states that</a:t>
            </a:r>
            <a:r>
              <a:rPr lang="en-US" sz="2000" dirty="0">
                <a:effectLst/>
                <a:latin typeface="Times New Roman" panose="02020603050405020304" pitchFamily="18" charset="0"/>
                <a:ea typeface="Times New Roman" panose="02020603050405020304" pitchFamily="18" charset="0"/>
                <a:cs typeface="Gautami" panose="020B0502040204020203" pitchFamily="34" charset="0"/>
              </a:rPr>
              <a:t> Hyperbilirubinemia can cause life-long brain damage so screening and prompt treatment is necessary. </a:t>
            </a:r>
          </a:p>
          <a:p>
            <a:pPr marL="285750" marR="0" indent="-285750" algn="just">
              <a:lnSpc>
                <a:spcPct val="150000"/>
              </a:lnSpc>
              <a:spcBef>
                <a:spcPts val="0"/>
              </a:spcBef>
              <a:spcAft>
                <a:spcPts val="0"/>
              </a:spcAft>
              <a:buFont typeface="Wingdings" panose="05000000000000000000" pitchFamily="2" charset="2"/>
              <a:buChar char="Ø"/>
            </a:pPr>
            <a:r>
              <a:rPr lang="en-US" sz="2000" dirty="0">
                <a:effectLst/>
                <a:latin typeface="Times New Roman" panose="02020603050405020304" pitchFamily="18" charset="0"/>
                <a:ea typeface="Times New Roman" panose="02020603050405020304" pitchFamily="18" charset="0"/>
                <a:cs typeface="Gautami" panose="020B0502040204020203" pitchFamily="34" charset="0"/>
              </a:rPr>
              <a:t>The goal of the study was to check neonatal jaundice risk factors in newborns. 210 files were selected by stratified proportional sampling for the years 2016-2018. </a:t>
            </a:r>
          </a:p>
          <a:p>
            <a:pPr marL="285750" marR="0" indent="-285750" algn="just">
              <a:lnSpc>
                <a:spcPct val="150000"/>
              </a:lnSpc>
              <a:spcBef>
                <a:spcPts val="0"/>
              </a:spcBef>
              <a:spcAft>
                <a:spcPts val="0"/>
              </a:spcAft>
              <a:buFont typeface="Wingdings" panose="05000000000000000000" pitchFamily="2" charset="2"/>
              <a:buChar char="Ø"/>
            </a:pPr>
            <a:r>
              <a:rPr lang="en-US" sz="2000" dirty="0">
                <a:effectLst/>
                <a:latin typeface="Times New Roman" panose="02020603050405020304" pitchFamily="18" charset="0"/>
                <a:ea typeface="Times New Roman" panose="02020603050405020304" pitchFamily="18" charset="0"/>
                <a:cs typeface="Gautami" panose="020B0502040204020203" pitchFamily="34" charset="0"/>
              </a:rPr>
              <a:t>The study discovered that Gestational age, blood group incompatibilities, Birth weight, neonatal gender, infections, prematurity and C-section were associated with neonatal jaundice.</a:t>
            </a:r>
            <a:endParaRPr lang="en-US" sz="2000" dirty="0">
              <a:effectLst/>
              <a:latin typeface="Calibri" panose="020F0502020204030204" pitchFamily="34" charset="0"/>
              <a:ea typeface="Calibri" panose="020F0502020204030204" pitchFamily="34" charset="0"/>
              <a:cs typeface="Gautami" panose="020B0502040204020203" pitchFamily="34" charset="0"/>
            </a:endParaRPr>
          </a:p>
        </p:txBody>
      </p:sp>
      <p:sp>
        <p:nvSpPr>
          <p:cNvPr id="4" name="Rectangle: Rounded Corners 3">
            <a:extLst>
              <a:ext uri="{FF2B5EF4-FFF2-40B4-BE49-F238E27FC236}">
                <a16:creationId xmlns:a16="http://schemas.microsoft.com/office/drawing/2014/main" id="{62D02455-C8BA-47D6-B4F5-59E70850B4E9}"/>
              </a:ext>
            </a:extLst>
          </p:cNvPr>
          <p:cNvSpPr/>
          <p:nvPr/>
        </p:nvSpPr>
        <p:spPr>
          <a:xfrm>
            <a:off x="2736573" y="185530"/>
            <a:ext cx="6718853" cy="993913"/>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4800" dirty="0">
                <a:latin typeface="Times New Roman" panose="02020603050405020304" pitchFamily="18" charset="0"/>
                <a:cs typeface="Times New Roman" panose="02020603050405020304" pitchFamily="18" charset="0"/>
              </a:rPr>
              <a:t>LITERATURE REVIEW</a:t>
            </a:r>
          </a:p>
        </p:txBody>
      </p:sp>
    </p:spTree>
    <p:extLst>
      <p:ext uri="{BB962C8B-B14F-4D97-AF65-F5344CB8AC3E}">
        <p14:creationId xmlns:p14="http://schemas.microsoft.com/office/powerpoint/2010/main" val="31777734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BC7A7DB-4A82-7B05-B740-B45FDD4B79A5}"/>
              </a:ext>
            </a:extLst>
          </p:cNvPr>
          <p:cNvSpPr txBox="1"/>
          <p:nvPr/>
        </p:nvSpPr>
        <p:spPr>
          <a:xfrm>
            <a:off x="424070" y="696084"/>
            <a:ext cx="11343860" cy="5121274"/>
          </a:xfrm>
          <a:prstGeom prst="rect">
            <a:avLst/>
          </a:prstGeom>
          <a:noFill/>
        </p:spPr>
        <p:txBody>
          <a:bodyPr wrap="square">
            <a:spAutoFit/>
          </a:bodyPr>
          <a:lstStyle/>
          <a:p>
            <a:pPr marL="0" marR="0" algn="just">
              <a:lnSpc>
                <a:spcPct val="150000"/>
              </a:lnSpc>
              <a:spcBef>
                <a:spcPts val="0"/>
              </a:spcBef>
              <a:spcAft>
                <a:spcPts val="0"/>
              </a:spcAft>
            </a:pPr>
            <a:r>
              <a:rPr lang="en-US" sz="2000" b="1" dirty="0">
                <a:effectLst/>
                <a:latin typeface="Times New Roman" panose="02020603050405020304" pitchFamily="18" charset="0"/>
                <a:ea typeface="Times New Roman" panose="02020603050405020304" pitchFamily="18" charset="0"/>
                <a:cs typeface="Gautami" panose="020B0502040204020203" pitchFamily="34" charset="0"/>
              </a:rPr>
              <a:t>2.</a:t>
            </a:r>
            <a:r>
              <a:rPr lang="en-US" sz="2000" dirty="0">
                <a:effectLst/>
                <a:latin typeface="Times New Roman" panose="02020603050405020304" pitchFamily="18" charset="0"/>
                <a:ea typeface="Times New Roman" panose="02020603050405020304" pitchFamily="18" charset="0"/>
                <a:cs typeface="Gautami" panose="020B0502040204020203" pitchFamily="34" charset="0"/>
              </a:rPr>
              <a:t> </a:t>
            </a:r>
            <a:r>
              <a:rPr lang="en-US" sz="2000" b="1" i="1" dirty="0">
                <a:effectLst/>
                <a:latin typeface="Times New Roman" panose="02020603050405020304" pitchFamily="18" charset="0"/>
                <a:ea typeface="Times New Roman" panose="02020603050405020304" pitchFamily="18" charset="0"/>
                <a:cs typeface="Gautami" panose="020B0502040204020203" pitchFamily="34" charset="0"/>
              </a:rPr>
              <a:t>Goodman, </a:t>
            </a:r>
            <a:r>
              <a:rPr lang="en-US" sz="2000" b="1" i="1"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et al. </a:t>
            </a:r>
            <a:r>
              <a:rPr lang="en-US" sz="2000" b="1" i="1" dirty="0">
                <a:effectLst/>
                <a:latin typeface="Times New Roman" panose="02020603050405020304" pitchFamily="18" charset="0"/>
                <a:ea typeface="Times New Roman" panose="02020603050405020304" pitchFamily="18" charset="0"/>
                <a:cs typeface="Gautami" panose="020B0502040204020203" pitchFamily="34" charset="0"/>
              </a:rPr>
              <a:t>have performed a descriptive cross - sectional study in </a:t>
            </a:r>
            <a:r>
              <a:rPr lang="en-US" sz="2000" b="1" i="1" dirty="0" err="1">
                <a:effectLst/>
                <a:latin typeface="Times New Roman" panose="02020603050405020304" pitchFamily="18" charset="0"/>
                <a:ea typeface="Times New Roman" panose="02020603050405020304" pitchFamily="18" charset="0"/>
                <a:cs typeface="Gautami" panose="020B0502040204020203" pitchFamily="34" charset="0"/>
              </a:rPr>
              <a:t>Mosan</a:t>
            </a:r>
            <a:r>
              <a:rPr lang="en-US" sz="2000" b="1" i="1" dirty="0">
                <a:effectLst/>
                <a:latin typeface="Times New Roman" panose="02020603050405020304" pitchFamily="18" charset="0"/>
                <a:ea typeface="Times New Roman" panose="02020603050405020304" pitchFamily="18" charset="0"/>
                <a:cs typeface="Gautami" panose="020B0502040204020203" pitchFamily="34" charset="0"/>
              </a:rPr>
              <a:t> - Okunola community, Lagos, Nigeria titled, “Neonatal Jaundice: knowledge, attitude and practices of mothers in </a:t>
            </a:r>
            <a:r>
              <a:rPr lang="en-US" sz="2000" b="1" i="1" dirty="0" err="1">
                <a:effectLst/>
                <a:latin typeface="Times New Roman" panose="02020603050405020304" pitchFamily="18" charset="0"/>
                <a:ea typeface="Times New Roman" panose="02020603050405020304" pitchFamily="18" charset="0"/>
                <a:cs typeface="Gautami" panose="020B0502040204020203" pitchFamily="34" charset="0"/>
              </a:rPr>
              <a:t>Mosan</a:t>
            </a:r>
            <a:r>
              <a:rPr lang="en-US" sz="2000" b="1" i="1" dirty="0">
                <a:effectLst/>
                <a:latin typeface="Times New Roman" panose="02020603050405020304" pitchFamily="18" charset="0"/>
                <a:ea typeface="Times New Roman" panose="02020603050405020304" pitchFamily="18" charset="0"/>
                <a:cs typeface="Gautami" panose="020B0502040204020203" pitchFamily="34" charset="0"/>
              </a:rPr>
              <a:t> - Okunola community, Lagos, Nigeria” published in Nigerian postgraduate medical journal, 2015, which states that</a:t>
            </a:r>
            <a:r>
              <a:rPr lang="en-US" sz="2000" dirty="0">
                <a:effectLst/>
                <a:latin typeface="Times New Roman" panose="02020603050405020304" pitchFamily="18" charset="0"/>
                <a:ea typeface="Times New Roman" panose="02020603050405020304" pitchFamily="18" charset="0"/>
                <a:cs typeface="Gautami" panose="020B0502040204020203" pitchFamily="34" charset="0"/>
              </a:rPr>
              <a:t> there were many misconceptions about neonatal jaundice where knowledge gaps need to be addressed and filled. </a:t>
            </a:r>
          </a:p>
          <a:p>
            <a:pPr marL="342900" marR="0" indent="-342900" algn="just">
              <a:lnSpc>
                <a:spcPct val="150000"/>
              </a:lnSpc>
              <a:spcBef>
                <a:spcPts val="0"/>
              </a:spcBef>
              <a:spcAft>
                <a:spcPts val="0"/>
              </a:spcAft>
              <a:buFont typeface="Wingdings" panose="05000000000000000000" pitchFamily="2" charset="2"/>
              <a:buChar char="Ø"/>
            </a:pPr>
            <a:r>
              <a:rPr lang="en-US" sz="2000" dirty="0">
                <a:effectLst/>
                <a:latin typeface="Times New Roman" panose="02020603050405020304" pitchFamily="18" charset="0"/>
                <a:ea typeface="Times New Roman" panose="02020603050405020304" pitchFamily="18" charset="0"/>
                <a:cs typeface="Gautami" panose="020B0502040204020203" pitchFamily="34" charset="0"/>
              </a:rPr>
              <a:t>The study intended to judge the knowledge and preventive practices of mothers in the </a:t>
            </a:r>
            <a:r>
              <a:rPr lang="en-US" sz="2000" dirty="0" err="1">
                <a:effectLst/>
                <a:latin typeface="Times New Roman" panose="02020603050405020304" pitchFamily="18" charset="0"/>
                <a:ea typeface="Times New Roman" panose="02020603050405020304" pitchFamily="18" charset="0"/>
                <a:cs typeface="Gautami" panose="020B0502040204020203" pitchFamily="34" charset="0"/>
              </a:rPr>
              <a:t>Mosan</a:t>
            </a:r>
            <a:r>
              <a:rPr lang="en-US" sz="2000" dirty="0">
                <a:effectLst/>
                <a:latin typeface="Times New Roman" panose="02020603050405020304" pitchFamily="18" charset="0"/>
                <a:ea typeface="Times New Roman" panose="02020603050405020304" pitchFamily="18" charset="0"/>
                <a:cs typeface="Gautami" panose="020B0502040204020203" pitchFamily="34" charset="0"/>
              </a:rPr>
              <a:t> - Okunola community. </a:t>
            </a:r>
          </a:p>
          <a:p>
            <a:pPr marL="342900" marR="0" indent="-342900" algn="just">
              <a:lnSpc>
                <a:spcPct val="150000"/>
              </a:lnSpc>
              <a:spcBef>
                <a:spcPts val="0"/>
              </a:spcBef>
              <a:spcAft>
                <a:spcPts val="0"/>
              </a:spcAft>
              <a:buFont typeface="Wingdings" panose="05000000000000000000" pitchFamily="2" charset="2"/>
              <a:buChar char="Ø"/>
            </a:pPr>
            <a:r>
              <a:rPr lang="en-US" sz="2000" dirty="0">
                <a:effectLst/>
                <a:latin typeface="Times New Roman" panose="02020603050405020304" pitchFamily="18" charset="0"/>
                <a:ea typeface="Times New Roman" panose="02020603050405020304" pitchFamily="18" charset="0"/>
                <a:cs typeface="Gautami" panose="020B0502040204020203" pitchFamily="34" charset="0"/>
              </a:rPr>
              <a:t>This study included 358 women and found that the awareness of neonatal jaundice was 75.4%. If the baby developed neonatal jaundice 90.4% mothers had willingness to take the baby to hospital. </a:t>
            </a:r>
          </a:p>
          <a:p>
            <a:pPr marL="342900" marR="0" indent="-342900" algn="just">
              <a:lnSpc>
                <a:spcPct val="150000"/>
              </a:lnSpc>
              <a:spcBef>
                <a:spcPts val="0"/>
              </a:spcBef>
              <a:spcAft>
                <a:spcPts val="0"/>
              </a:spcAft>
              <a:buFont typeface="Wingdings" panose="05000000000000000000" pitchFamily="2" charset="2"/>
              <a:buChar char="Ø"/>
            </a:pPr>
            <a:r>
              <a:rPr lang="en-US" sz="2000" dirty="0">
                <a:effectLst/>
                <a:latin typeface="Times New Roman" panose="02020603050405020304" pitchFamily="18" charset="0"/>
                <a:ea typeface="Times New Roman" panose="02020603050405020304" pitchFamily="18" charset="0"/>
                <a:cs typeface="Gautami" panose="020B0502040204020203" pitchFamily="34" charset="0"/>
              </a:rPr>
              <a:t>The study also found out that the awareness was high but the knowledge about causes, complications and danger signs was low.</a:t>
            </a:r>
            <a:endParaRPr lang="en-US" sz="2000" dirty="0">
              <a:effectLst/>
              <a:latin typeface="Calibri" panose="020F0502020204030204" pitchFamily="34" charset="0"/>
              <a:ea typeface="Calibri" panose="020F0502020204030204" pitchFamily="34" charset="0"/>
              <a:cs typeface="Gautami" panose="020B0502040204020203" pitchFamily="34" charset="0"/>
            </a:endParaRPr>
          </a:p>
        </p:txBody>
      </p:sp>
    </p:spTree>
    <p:extLst>
      <p:ext uri="{BB962C8B-B14F-4D97-AF65-F5344CB8AC3E}">
        <p14:creationId xmlns:p14="http://schemas.microsoft.com/office/powerpoint/2010/main" val="41478673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C613BC1-A926-7418-1B9E-1AC5D8BF14E4}"/>
              </a:ext>
            </a:extLst>
          </p:cNvPr>
          <p:cNvSpPr txBox="1"/>
          <p:nvPr/>
        </p:nvSpPr>
        <p:spPr>
          <a:xfrm>
            <a:off x="308113" y="175866"/>
            <a:ext cx="11575773" cy="5582939"/>
          </a:xfrm>
          <a:prstGeom prst="rect">
            <a:avLst/>
          </a:prstGeom>
          <a:noFill/>
        </p:spPr>
        <p:txBody>
          <a:bodyPr wrap="square">
            <a:spAutoFit/>
          </a:bodyPr>
          <a:lstStyle/>
          <a:p>
            <a:pPr marL="0" marR="0" algn="just">
              <a:lnSpc>
                <a:spcPct val="150000"/>
              </a:lnSpc>
              <a:spcBef>
                <a:spcPts val="0"/>
              </a:spcBef>
              <a:spcAft>
                <a:spcPts val="0"/>
              </a:spcAft>
            </a:pPr>
            <a:r>
              <a:rPr lang="en-US" sz="2000" b="1" dirty="0">
                <a:latin typeface="Times New Roman" panose="02020603050405020304" pitchFamily="18" charset="0"/>
                <a:ea typeface="Times New Roman" panose="02020603050405020304" pitchFamily="18" charset="0"/>
                <a:cs typeface="Gautami" panose="020B0502040204020203" pitchFamily="34" charset="0"/>
              </a:rPr>
              <a:t>3.</a:t>
            </a:r>
            <a:r>
              <a:rPr lang="en-US" sz="2000" dirty="0">
                <a:effectLst/>
                <a:latin typeface="Times New Roman" panose="02020603050405020304" pitchFamily="18" charset="0"/>
                <a:ea typeface="Times New Roman" panose="02020603050405020304" pitchFamily="18" charset="0"/>
                <a:cs typeface="Gautami" panose="020B0502040204020203" pitchFamily="34" charset="0"/>
              </a:rPr>
              <a:t> </a:t>
            </a:r>
            <a:r>
              <a:rPr lang="en-US" sz="2000" b="1" i="1" dirty="0" err="1">
                <a:effectLst/>
                <a:latin typeface="Times New Roman" panose="02020603050405020304" pitchFamily="18" charset="0"/>
                <a:ea typeface="Times New Roman" panose="02020603050405020304" pitchFamily="18" charset="0"/>
                <a:cs typeface="Gautami" panose="020B0502040204020203" pitchFamily="34" charset="0"/>
              </a:rPr>
              <a:t>Asmamaw</a:t>
            </a:r>
            <a:r>
              <a:rPr lang="en-US" sz="2000" b="1" i="1" dirty="0">
                <a:effectLst/>
                <a:latin typeface="Times New Roman" panose="02020603050405020304" pitchFamily="18" charset="0"/>
                <a:ea typeface="Times New Roman" panose="02020603050405020304" pitchFamily="18" charset="0"/>
                <a:cs typeface="Gautami" panose="020B0502040204020203" pitchFamily="34" charset="0"/>
              </a:rPr>
              <a:t> </a:t>
            </a:r>
            <a:r>
              <a:rPr lang="en-US" sz="2000" b="1" i="1" dirty="0" err="1">
                <a:effectLst/>
                <a:latin typeface="Times New Roman" panose="02020603050405020304" pitchFamily="18" charset="0"/>
                <a:ea typeface="Times New Roman" panose="02020603050405020304" pitchFamily="18" charset="0"/>
                <a:cs typeface="Gautami" panose="020B0502040204020203" pitchFamily="34" charset="0"/>
              </a:rPr>
              <a:t>Demis</a:t>
            </a:r>
            <a:r>
              <a:rPr lang="en-US" sz="2000" b="1" i="1" dirty="0">
                <a:effectLst/>
                <a:latin typeface="Times New Roman" panose="02020603050405020304" pitchFamily="18" charset="0"/>
                <a:ea typeface="Times New Roman" panose="02020603050405020304" pitchFamily="18" charset="0"/>
                <a:cs typeface="Gautami" panose="020B0502040204020203" pitchFamily="34" charset="0"/>
              </a:rPr>
              <a:t>, </a:t>
            </a:r>
            <a:r>
              <a:rPr lang="en-US" sz="2000" b="1" i="1"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et al. </a:t>
            </a:r>
            <a:r>
              <a:rPr lang="en-US" sz="2000" b="1" i="1" dirty="0">
                <a:effectLst/>
                <a:latin typeface="Times New Roman" panose="02020603050405020304" pitchFamily="18" charset="0"/>
                <a:ea typeface="Times New Roman" panose="02020603050405020304" pitchFamily="18" charset="0"/>
                <a:cs typeface="Gautami" panose="020B0502040204020203" pitchFamily="34" charset="0"/>
              </a:rPr>
              <a:t>have performed a cross-sectional study in Amhara region, Ethiopia, titled “Knowledge on neonatal jaundice and its associated factors among mothers in north Ethiopia: a facility-based cross-sectional study” published in BMJ open, 2021, which states that</a:t>
            </a:r>
            <a:r>
              <a:rPr lang="en-US" sz="2000" dirty="0">
                <a:effectLst/>
                <a:latin typeface="Times New Roman" panose="02020603050405020304" pitchFamily="18" charset="0"/>
                <a:ea typeface="Times New Roman" panose="02020603050405020304" pitchFamily="18" charset="0"/>
                <a:cs typeface="Gautami" panose="020B0502040204020203" pitchFamily="34" charset="0"/>
              </a:rPr>
              <a:t> poor decision and slow seeking of medical care by mothers can be due to lack of information or wrong information. </a:t>
            </a:r>
          </a:p>
          <a:p>
            <a:pPr marL="342900" marR="0" indent="-342900" algn="just">
              <a:lnSpc>
                <a:spcPct val="150000"/>
              </a:lnSpc>
              <a:spcBef>
                <a:spcPts val="0"/>
              </a:spcBef>
              <a:spcAft>
                <a:spcPts val="0"/>
              </a:spcAft>
              <a:buFont typeface="Wingdings" panose="05000000000000000000" pitchFamily="2" charset="2"/>
              <a:buChar char="Ø"/>
            </a:pPr>
            <a:r>
              <a:rPr lang="en-US" sz="2000" dirty="0">
                <a:effectLst/>
                <a:latin typeface="Times New Roman" panose="02020603050405020304" pitchFamily="18" charset="0"/>
                <a:ea typeface="Times New Roman" panose="02020603050405020304" pitchFamily="18" charset="0"/>
                <a:cs typeface="Gautami" panose="020B0502040204020203" pitchFamily="34" charset="0"/>
              </a:rPr>
              <a:t>The intention of the study was to determine mother’s knowledge and associated factors on neonatal jaundice in Northern Ethiopia. </a:t>
            </a:r>
          </a:p>
          <a:p>
            <a:pPr marL="342900" marR="0" indent="-342900" algn="just">
              <a:lnSpc>
                <a:spcPct val="150000"/>
              </a:lnSpc>
              <a:spcBef>
                <a:spcPts val="0"/>
              </a:spcBef>
              <a:spcAft>
                <a:spcPts val="0"/>
              </a:spcAft>
              <a:buFont typeface="Wingdings" panose="05000000000000000000" pitchFamily="2" charset="2"/>
              <a:buChar char="Ø"/>
            </a:pPr>
            <a:r>
              <a:rPr lang="en-US" sz="2000" dirty="0">
                <a:effectLst/>
                <a:latin typeface="Times New Roman" panose="02020603050405020304" pitchFamily="18" charset="0"/>
                <a:ea typeface="Times New Roman" panose="02020603050405020304" pitchFamily="18" charset="0"/>
                <a:cs typeface="Gautami" panose="020B0502040204020203" pitchFamily="34" charset="0"/>
              </a:rPr>
              <a:t>The mothers who had a favorable approach towards neonatal jaundice have good knowledge. </a:t>
            </a:r>
            <a:r>
              <a:rPr lang="en-US" sz="200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mother’s attitude on Neonatal jaundice, Antenatal care follow up, child history of Neonatal jaundice, current child history of Neonatal jaundice, and residence were variables that had a significant association with mother’s knowledge on Neonatal jaundice. </a:t>
            </a:r>
          </a:p>
          <a:p>
            <a:pPr marL="342900" marR="0" indent="-342900" algn="just">
              <a:lnSpc>
                <a:spcPct val="150000"/>
              </a:lnSpc>
              <a:spcBef>
                <a:spcPts val="0"/>
              </a:spcBef>
              <a:spcAft>
                <a:spcPts val="0"/>
              </a:spcAft>
              <a:buFont typeface="Wingdings" panose="05000000000000000000" pitchFamily="2" charset="2"/>
              <a:buChar char="Ø"/>
            </a:pPr>
            <a:r>
              <a:rPr lang="en-US" sz="200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The study inferred that awareness about prevention can be increased by conducting education programs on neonatal jaundice.</a:t>
            </a:r>
            <a:endParaRPr lang="en-US" sz="2000" dirty="0">
              <a:effectLst/>
              <a:latin typeface="Calibri" panose="020F0502020204030204" pitchFamily="34" charset="0"/>
              <a:ea typeface="Calibri" panose="020F0502020204030204" pitchFamily="34" charset="0"/>
              <a:cs typeface="Gautami" panose="020B0502040204020203" pitchFamily="34" charset="0"/>
            </a:endParaRPr>
          </a:p>
        </p:txBody>
      </p:sp>
    </p:spTree>
    <p:extLst>
      <p:ext uri="{BB962C8B-B14F-4D97-AF65-F5344CB8AC3E}">
        <p14:creationId xmlns:p14="http://schemas.microsoft.com/office/powerpoint/2010/main" val="24880927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D5DC3CE-ACE4-5D4A-716C-D2A6A6FB7DBB}"/>
              </a:ext>
            </a:extLst>
          </p:cNvPr>
          <p:cNvSpPr txBox="1"/>
          <p:nvPr/>
        </p:nvSpPr>
        <p:spPr>
          <a:xfrm>
            <a:off x="589722" y="492487"/>
            <a:ext cx="11012556" cy="4659609"/>
          </a:xfrm>
          <a:prstGeom prst="rect">
            <a:avLst/>
          </a:prstGeom>
          <a:noFill/>
        </p:spPr>
        <p:txBody>
          <a:bodyPr wrap="square">
            <a:spAutoFit/>
          </a:bodyPr>
          <a:lstStyle/>
          <a:p>
            <a:pPr marL="0" marR="0" algn="just">
              <a:lnSpc>
                <a:spcPct val="150000"/>
              </a:lnSpc>
              <a:spcBef>
                <a:spcPts val="0"/>
              </a:spcBef>
              <a:spcAft>
                <a:spcPts val="0"/>
              </a:spcAft>
            </a:pPr>
            <a:r>
              <a:rPr lang="en-US" sz="2000" b="1" dirty="0">
                <a:solidFill>
                  <a:srgbClr val="000000"/>
                </a:solidFill>
                <a:latin typeface="Times New Roman" panose="02020603050405020304" pitchFamily="18" charset="0"/>
                <a:ea typeface="Times New Roman" panose="02020603050405020304" pitchFamily="18" charset="0"/>
                <a:cs typeface="Gautami" panose="020B0502040204020203" pitchFamily="34" charset="0"/>
              </a:rPr>
              <a:t>4.</a:t>
            </a:r>
            <a:r>
              <a:rPr lang="en-US" sz="200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 </a:t>
            </a:r>
            <a:r>
              <a:rPr lang="en-US" sz="2000" b="1" i="1"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Hassan </a:t>
            </a:r>
            <a:r>
              <a:rPr lang="en-US" sz="2000" b="1" i="1" dirty="0" err="1">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Boskabadi</a:t>
            </a:r>
            <a:r>
              <a:rPr lang="en-US" sz="2000" b="1" i="1"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 et al. have performed a systematic review, titled “Evaluation of maternal risk factors in neonatal hyperbilirubinemia” published in archives of Iranian medicine,2020, which states that</a:t>
            </a:r>
            <a:r>
              <a:rPr lang="en-US" sz="200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 controlling jaundice can be effective if the predisposing factors for neonatal jaundice are identified. </a:t>
            </a:r>
          </a:p>
          <a:p>
            <a:pPr marL="342900" marR="0" indent="-342900" algn="just">
              <a:lnSpc>
                <a:spcPct val="150000"/>
              </a:lnSpc>
              <a:spcBef>
                <a:spcPts val="0"/>
              </a:spcBef>
              <a:spcAft>
                <a:spcPts val="0"/>
              </a:spcAft>
              <a:buFont typeface="Wingdings" panose="05000000000000000000" pitchFamily="2" charset="2"/>
              <a:buChar char="Ø"/>
            </a:pPr>
            <a:r>
              <a:rPr lang="en-US" sz="200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The study systematically reviewed maternal risk factors in neonatal jaundice. This study took 17 related articles from different databases. </a:t>
            </a:r>
          </a:p>
          <a:p>
            <a:pPr marL="342900" marR="0" indent="-342900" algn="just">
              <a:lnSpc>
                <a:spcPct val="150000"/>
              </a:lnSpc>
              <a:spcBef>
                <a:spcPts val="0"/>
              </a:spcBef>
              <a:spcAft>
                <a:spcPts val="0"/>
              </a:spcAft>
              <a:buFont typeface="Wingdings" panose="05000000000000000000" pitchFamily="2" charset="2"/>
              <a:buChar char="Ø"/>
            </a:pPr>
            <a:r>
              <a:rPr lang="en-US" sz="200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The study concluded with list of maternal risk factors includes pregnancy problems(prematurity, premature rupture of membrane, negative), maternal diseases(hypertension, diabetes, preeclampsia), labor problems(type of delivery, cephalohematoma, delayed labor, complications), breastfeeding problems(breast problems, reduced feeding) and other factors like maternal age, first delivery, abortion history.</a:t>
            </a:r>
            <a:endParaRPr lang="en-US" sz="2000" dirty="0">
              <a:effectLst/>
              <a:latin typeface="Calibri" panose="020F0502020204030204" pitchFamily="34" charset="0"/>
              <a:ea typeface="Calibri" panose="020F0502020204030204" pitchFamily="34" charset="0"/>
              <a:cs typeface="Gautami" panose="020B0502040204020203" pitchFamily="34" charset="0"/>
            </a:endParaRPr>
          </a:p>
        </p:txBody>
      </p:sp>
    </p:spTree>
    <p:extLst>
      <p:ext uri="{BB962C8B-B14F-4D97-AF65-F5344CB8AC3E}">
        <p14:creationId xmlns:p14="http://schemas.microsoft.com/office/powerpoint/2010/main" val="18119919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8EF5404-C34C-294E-AEB3-E28918F0F67A}"/>
              </a:ext>
            </a:extLst>
          </p:cNvPr>
          <p:cNvSpPr txBox="1"/>
          <p:nvPr/>
        </p:nvSpPr>
        <p:spPr>
          <a:xfrm>
            <a:off x="868017" y="532243"/>
            <a:ext cx="10455965" cy="5582939"/>
          </a:xfrm>
          <a:prstGeom prst="rect">
            <a:avLst/>
          </a:prstGeom>
          <a:noFill/>
        </p:spPr>
        <p:txBody>
          <a:bodyPr wrap="square">
            <a:spAutoFit/>
          </a:bodyPr>
          <a:lstStyle/>
          <a:p>
            <a:pPr marL="0" marR="0" algn="just">
              <a:lnSpc>
                <a:spcPct val="150000"/>
              </a:lnSpc>
              <a:spcBef>
                <a:spcPts val="0"/>
              </a:spcBef>
              <a:spcAft>
                <a:spcPts val="0"/>
              </a:spcAft>
            </a:pPr>
            <a:r>
              <a:rPr lang="en-US" sz="2000" b="1" dirty="0">
                <a:solidFill>
                  <a:srgbClr val="000000"/>
                </a:solidFill>
                <a:latin typeface="Times New Roman" panose="02020603050405020304" pitchFamily="18" charset="0"/>
                <a:ea typeface="Times New Roman" panose="02020603050405020304" pitchFamily="18" charset="0"/>
                <a:cs typeface="Gautami" panose="020B0502040204020203" pitchFamily="34" charset="0"/>
              </a:rPr>
              <a:t>5.</a:t>
            </a:r>
            <a:r>
              <a:rPr lang="en-US" sz="200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 </a:t>
            </a:r>
            <a:r>
              <a:rPr lang="en-US" sz="2000" b="1" i="1" dirty="0" err="1">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Egube</a:t>
            </a:r>
            <a:r>
              <a:rPr lang="en-US" sz="2000" b="1" i="1"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 BA, et al. have performed a descriptive cross-sectional study in ante-natal clinic of University of Benin teaching hospital in Benin city, Nigeria, titled “Neonatal jaundice and its management: knowledge, attitude and practice among expectant mothers attending antenatal clinic at university of Benin teaching hospital” Benin city, Nigeria published in </a:t>
            </a:r>
            <a:r>
              <a:rPr lang="en-US" sz="2000" b="1" i="1" dirty="0">
                <a:solidFill>
                  <a:srgbClr val="222222"/>
                </a:solidFill>
                <a:effectLst/>
                <a:latin typeface="Times New Roman" panose="02020603050405020304" pitchFamily="18" charset="0"/>
                <a:ea typeface="Times New Roman" panose="02020603050405020304" pitchFamily="18" charset="0"/>
                <a:cs typeface="Gautami" panose="020B0502040204020203" pitchFamily="34" charset="0"/>
              </a:rPr>
              <a:t>Nigerian journal of clinical practice,</a:t>
            </a:r>
            <a:r>
              <a:rPr lang="en-US" sz="2000" b="1" i="1"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 2013, which states that</a:t>
            </a:r>
            <a:r>
              <a:rPr lang="en-US" sz="200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 one of the major causes for neonatal mortality is neonatal jaundice. </a:t>
            </a:r>
          </a:p>
          <a:p>
            <a:pPr marL="342900" marR="0" indent="-342900" algn="just">
              <a:lnSpc>
                <a:spcPct val="150000"/>
              </a:lnSpc>
              <a:spcBef>
                <a:spcPts val="0"/>
              </a:spcBef>
              <a:spcAft>
                <a:spcPts val="0"/>
              </a:spcAft>
              <a:buFont typeface="Wingdings" panose="05000000000000000000" pitchFamily="2" charset="2"/>
              <a:buChar char="Ø"/>
            </a:pPr>
            <a:r>
              <a:rPr lang="en-US" sz="200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Neonatal jaundice very high in sub-Saharan Africa, Asia and Latin America. </a:t>
            </a:r>
          </a:p>
          <a:p>
            <a:pPr marL="342900" marR="0" indent="-342900" algn="just">
              <a:lnSpc>
                <a:spcPct val="150000"/>
              </a:lnSpc>
              <a:spcBef>
                <a:spcPts val="0"/>
              </a:spcBef>
              <a:spcAft>
                <a:spcPts val="0"/>
              </a:spcAft>
              <a:buFont typeface="Wingdings" panose="05000000000000000000" pitchFamily="2" charset="2"/>
              <a:buChar char="Ø"/>
            </a:pPr>
            <a:r>
              <a:rPr lang="en-US" sz="200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The study included 389 expectant mothers attended ante-natal clinic in 2005.The study learned that 85.9% knew about neonatal jaundice, 77.4% knew how to detect neonatal jaundice. 71.7% knew of treatment of neonatal jaundice, 67% knew the complication. </a:t>
            </a:r>
          </a:p>
          <a:p>
            <a:pPr marL="342900" marR="0" indent="-342900" algn="just">
              <a:lnSpc>
                <a:spcPct val="150000"/>
              </a:lnSpc>
              <a:spcBef>
                <a:spcPts val="0"/>
              </a:spcBef>
              <a:spcAft>
                <a:spcPts val="0"/>
              </a:spcAft>
              <a:buFont typeface="Wingdings" panose="05000000000000000000" pitchFamily="2" charset="2"/>
              <a:buChar char="Ø"/>
            </a:pPr>
            <a:r>
              <a:rPr lang="en-US" sz="200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The study stated that knowledge level about Neonatal jaundice was influenced by the education level and previous babies with Neonatal jaundice.</a:t>
            </a:r>
            <a:endParaRPr lang="en-US" sz="2000" dirty="0">
              <a:effectLst/>
              <a:latin typeface="Calibri" panose="020F0502020204030204" pitchFamily="34" charset="0"/>
              <a:ea typeface="Calibri" panose="020F0502020204030204" pitchFamily="34" charset="0"/>
              <a:cs typeface="Gautami" panose="020B0502040204020203" pitchFamily="34" charset="0"/>
            </a:endParaRPr>
          </a:p>
        </p:txBody>
      </p:sp>
    </p:spTree>
    <p:extLst>
      <p:ext uri="{BB962C8B-B14F-4D97-AF65-F5344CB8AC3E}">
        <p14:creationId xmlns:p14="http://schemas.microsoft.com/office/powerpoint/2010/main" val="37878391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FE7C07-D513-2A90-B82F-7DD39104049F}"/>
              </a:ext>
            </a:extLst>
          </p:cNvPr>
          <p:cNvSpPr>
            <a:spLocks noGrp="1"/>
          </p:cNvSpPr>
          <p:nvPr>
            <p:ph type="title"/>
          </p:nvPr>
        </p:nvSpPr>
        <p:spPr/>
        <p:txBody>
          <a:bodyPr/>
          <a:lstStyle/>
          <a:p>
            <a:r>
              <a:rPr lang="en-US" dirty="0"/>
              <a:t>AIMS AND OBJECTIVES</a:t>
            </a:r>
          </a:p>
        </p:txBody>
      </p:sp>
    </p:spTree>
    <p:extLst>
      <p:ext uri="{BB962C8B-B14F-4D97-AF65-F5344CB8AC3E}">
        <p14:creationId xmlns:p14="http://schemas.microsoft.com/office/powerpoint/2010/main" val="10103783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2DEF903-45D1-2B15-F891-03E841EBABB0}"/>
              </a:ext>
            </a:extLst>
          </p:cNvPr>
          <p:cNvSpPr txBox="1"/>
          <p:nvPr/>
        </p:nvSpPr>
        <p:spPr>
          <a:xfrm>
            <a:off x="3670853" y="1318591"/>
            <a:ext cx="5459896" cy="463397"/>
          </a:xfrm>
          <a:prstGeom prst="rect">
            <a:avLst/>
          </a:prstGeom>
          <a:noFill/>
        </p:spPr>
        <p:txBody>
          <a:bodyPr wrap="square">
            <a:spAutoFit/>
          </a:bodyPr>
          <a:lstStyle/>
          <a:p>
            <a:pPr marL="0" marR="0" algn="just">
              <a:lnSpc>
                <a:spcPct val="150000"/>
              </a:lnSpc>
              <a:spcBef>
                <a:spcPts val="0"/>
              </a:spcBef>
              <a:spcAft>
                <a:spcPts val="0"/>
              </a:spcAft>
            </a:pPr>
            <a:r>
              <a:rPr lang="en-US" sz="1800" dirty="0">
                <a:effectLst/>
                <a:latin typeface="Times New Roman" panose="02020603050405020304" pitchFamily="18" charset="0"/>
                <a:ea typeface="Calibri" panose="020F0502020204030204" pitchFamily="34" charset="0"/>
                <a:cs typeface="Gautami" panose="020B0502040204020203" pitchFamily="34" charset="0"/>
              </a:rPr>
              <a:t> </a:t>
            </a:r>
            <a:endParaRPr lang="en-US" sz="1600" dirty="0">
              <a:effectLst/>
              <a:latin typeface="Calibri" panose="020F0502020204030204" pitchFamily="34" charset="0"/>
              <a:ea typeface="Calibri" panose="020F0502020204030204" pitchFamily="34" charset="0"/>
              <a:cs typeface="Gautami" panose="020B0502040204020203" pitchFamily="34" charset="0"/>
            </a:endParaRPr>
          </a:p>
        </p:txBody>
      </p:sp>
      <p:sp>
        <p:nvSpPr>
          <p:cNvPr id="4" name="Rectangle: Rounded Corners 3">
            <a:extLst>
              <a:ext uri="{FF2B5EF4-FFF2-40B4-BE49-F238E27FC236}">
                <a16:creationId xmlns:a16="http://schemas.microsoft.com/office/drawing/2014/main" id="{1B0F7149-EEDE-096A-116C-723A23BCA73C}"/>
              </a:ext>
            </a:extLst>
          </p:cNvPr>
          <p:cNvSpPr/>
          <p:nvPr/>
        </p:nvSpPr>
        <p:spPr>
          <a:xfrm>
            <a:off x="2292626" y="209411"/>
            <a:ext cx="7606747" cy="993913"/>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marL="0" marR="0" algn="ctr">
              <a:spcBef>
                <a:spcPts val="0"/>
              </a:spcBef>
              <a:spcAft>
                <a:spcPts val="0"/>
              </a:spcAft>
            </a:pPr>
            <a:r>
              <a:rPr lang="en-US" sz="4000" b="1" dirty="0">
                <a:effectLst/>
                <a:latin typeface="Times New Roman" panose="02020603050405020304" pitchFamily="18" charset="0"/>
                <a:ea typeface="Calibri" panose="020F0502020204030204" pitchFamily="34" charset="0"/>
                <a:cs typeface="Gautami" panose="020B0502040204020203" pitchFamily="34" charset="0"/>
              </a:rPr>
              <a:t>AIMS AND OBJECTIVES</a:t>
            </a:r>
            <a:endParaRPr lang="en-US" sz="4000" dirty="0">
              <a:effectLst/>
              <a:latin typeface="Calibri" panose="020F0502020204030204" pitchFamily="34" charset="0"/>
              <a:ea typeface="Calibri" panose="020F0502020204030204" pitchFamily="34" charset="0"/>
              <a:cs typeface="Gautami" panose="020B0502040204020203" pitchFamily="34" charset="0"/>
            </a:endParaRPr>
          </a:p>
        </p:txBody>
      </p:sp>
      <p:graphicFrame>
        <p:nvGraphicFramePr>
          <p:cNvPr id="2" name="Diagram 1">
            <a:extLst>
              <a:ext uri="{FF2B5EF4-FFF2-40B4-BE49-F238E27FC236}">
                <a16:creationId xmlns:a16="http://schemas.microsoft.com/office/drawing/2014/main" id="{DCEC89E2-2CD5-9215-400D-32788321F219}"/>
              </a:ext>
            </a:extLst>
          </p:cNvPr>
          <p:cNvGraphicFramePr/>
          <p:nvPr>
            <p:extLst>
              <p:ext uri="{D42A27DB-BD31-4B8C-83A1-F6EECF244321}">
                <p14:modId xmlns:p14="http://schemas.microsoft.com/office/powerpoint/2010/main" val="1985790021"/>
              </p:ext>
            </p:extLst>
          </p:nvPr>
        </p:nvGraphicFramePr>
        <p:xfrm>
          <a:off x="5269949" y="1951438"/>
          <a:ext cx="6528903" cy="358797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5" name="Group 4">
            <a:extLst>
              <a:ext uri="{FF2B5EF4-FFF2-40B4-BE49-F238E27FC236}">
                <a16:creationId xmlns:a16="http://schemas.microsoft.com/office/drawing/2014/main" id="{4CFCE06A-8923-2687-DF08-6CE2D8BF48A0}"/>
              </a:ext>
            </a:extLst>
          </p:cNvPr>
          <p:cNvGrpSpPr/>
          <p:nvPr/>
        </p:nvGrpSpPr>
        <p:grpSpPr>
          <a:xfrm>
            <a:off x="1662928" y="2025877"/>
            <a:ext cx="1958670" cy="896992"/>
            <a:chOff x="2285116" y="1345489"/>
            <a:chExt cx="1958670" cy="896992"/>
          </a:xfrm>
          <a:scene3d>
            <a:camera prst="orthographicFront"/>
            <a:lightRig rig="threePt" dir="t">
              <a:rot lat="0" lon="0" rev="7500000"/>
            </a:lightRig>
          </a:scene3d>
        </p:grpSpPr>
        <p:sp>
          <p:nvSpPr>
            <p:cNvPr id="6" name="Rectangle: Rounded Corners 5">
              <a:extLst>
                <a:ext uri="{FF2B5EF4-FFF2-40B4-BE49-F238E27FC236}">
                  <a16:creationId xmlns:a16="http://schemas.microsoft.com/office/drawing/2014/main" id="{37FA3805-044E-92ED-023B-7D86AB3F1DB7}"/>
                </a:ext>
              </a:extLst>
            </p:cNvPr>
            <p:cNvSpPr/>
            <p:nvPr/>
          </p:nvSpPr>
          <p:spPr>
            <a:xfrm>
              <a:off x="2285116" y="1345489"/>
              <a:ext cx="1958670" cy="896992"/>
            </a:xfrm>
            <a:prstGeom prst="roundRect">
              <a:avLst/>
            </a:prstGeom>
            <a:sp3d z="152400" extrusionH="63500" prstMaterial="matte">
              <a:bevelT w="50800" h="19050" prst="relaxedInset"/>
              <a:contourClr>
                <a:schemeClr val="bg1"/>
              </a:contourClr>
            </a:sp3d>
          </p:spPr>
          <p:style>
            <a:lnRef idx="0">
              <a:schemeClr val="lt1">
                <a:hueOff val="0"/>
                <a:satOff val="0"/>
                <a:lumOff val="0"/>
                <a:alphaOff val="0"/>
              </a:schemeClr>
            </a:lnRef>
            <a:fillRef idx="1">
              <a:schemeClr val="accent1">
                <a:tint val="60000"/>
                <a:hueOff val="0"/>
                <a:satOff val="0"/>
                <a:lumOff val="0"/>
                <a:alphaOff val="0"/>
              </a:schemeClr>
            </a:fillRef>
            <a:effectRef idx="2">
              <a:schemeClr val="accent1">
                <a:tint val="60000"/>
                <a:hueOff val="0"/>
                <a:satOff val="0"/>
                <a:lumOff val="0"/>
                <a:alphaOff val="0"/>
              </a:schemeClr>
            </a:effectRef>
            <a:fontRef idx="minor">
              <a:schemeClr val="dk1">
                <a:hueOff val="0"/>
                <a:satOff val="0"/>
                <a:lumOff val="0"/>
                <a:alphaOff val="0"/>
              </a:schemeClr>
            </a:fontRef>
          </p:style>
        </p:sp>
        <p:sp>
          <p:nvSpPr>
            <p:cNvPr id="7" name="Rectangle: Rounded Corners 4">
              <a:extLst>
                <a:ext uri="{FF2B5EF4-FFF2-40B4-BE49-F238E27FC236}">
                  <a16:creationId xmlns:a16="http://schemas.microsoft.com/office/drawing/2014/main" id="{15A356EC-E10A-5851-34D9-E9EE2E698F5D}"/>
                </a:ext>
              </a:extLst>
            </p:cNvPr>
            <p:cNvSpPr txBox="1"/>
            <p:nvPr/>
          </p:nvSpPr>
          <p:spPr>
            <a:xfrm>
              <a:off x="2328904" y="1389277"/>
              <a:ext cx="1871094" cy="809416"/>
            </a:xfrm>
            <a:prstGeom prst="rect">
              <a:avLst/>
            </a:prstGeom>
            <a:sp3d z="152400"/>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effectLst/>
                  <a:latin typeface="Times New Roman" panose="02020603050405020304" pitchFamily="18" charset="0"/>
                  <a:ea typeface="Calibri" panose="020F0502020204030204" pitchFamily="34" charset="0"/>
                  <a:cs typeface="Gautami" panose="020B0502040204020203" pitchFamily="34" charset="0"/>
                </a:rPr>
                <a:t>AIM</a:t>
              </a:r>
              <a:endParaRPr lang="en-US" sz="2000" kern="1200" dirty="0"/>
            </a:p>
          </p:txBody>
        </p:sp>
      </p:grpSp>
      <p:grpSp>
        <p:nvGrpSpPr>
          <p:cNvPr id="8" name="Group 7">
            <a:extLst>
              <a:ext uri="{FF2B5EF4-FFF2-40B4-BE49-F238E27FC236}">
                <a16:creationId xmlns:a16="http://schemas.microsoft.com/office/drawing/2014/main" id="{E7807BC8-E617-C92B-6066-F8F6E6CC7959}"/>
              </a:ext>
            </a:extLst>
          </p:cNvPr>
          <p:cNvGrpSpPr/>
          <p:nvPr/>
        </p:nvGrpSpPr>
        <p:grpSpPr>
          <a:xfrm>
            <a:off x="1010037" y="2922869"/>
            <a:ext cx="3264451" cy="1793985"/>
            <a:chOff x="0" y="0"/>
            <a:chExt cx="3264451" cy="1793985"/>
          </a:xfrm>
          <a:scene3d>
            <a:camera prst="orthographicFront"/>
            <a:lightRig rig="threePt" dir="t">
              <a:rot lat="0" lon="0" rev="7500000"/>
            </a:lightRig>
          </a:scene3d>
        </p:grpSpPr>
        <p:sp>
          <p:nvSpPr>
            <p:cNvPr id="9" name="Rectangle: Single Corner Rounded 8">
              <a:extLst>
                <a:ext uri="{FF2B5EF4-FFF2-40B4-BE49-F238E27FC236}">
                  <a16:creationId xmlns:a16="http://schemas.microsoft.com/office/drawing/2014/main" id="{983884EC-81D2-D848-91A0-5AE4105FEB9D}"/>
                </a:ext>
              </a:extLst>
            </p:cNvPr>
            <p:cNvSpPr/>
            <p:nvPr/>
          </p:nvSpPr>
          <p:spPr>
            <a:xfrm rot="16200000">
              <a:off x="735233" y="-735233"/>
              <a:ext cx="1793985" cy="3264451"/>
            </a:xfrm>
            <a:prstGeom prst="round1Rect">
              <a:avLst/>
            </a:prstGeom>
            <a:sp3d prstMaterial="plastic">
              <a:bevelT w="127000" h="25400" prst="relaxedInset"/>
            </a:sp3d>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10" name="Rectangle: Single Corner Rounded 4">
              <a:extLst>
                <a:ext uri="{FF2B5EF4-FFF2-40B4-BE49-F238E27FC236}">
                  <a16:creationId xmlns:a16="http://schemas.microsoft.com/office/drawing/2014/main" id="{CACCF24A-923A-3963-E088-3B58B63131F4}"/>
                </a:ext>
              </a:extLst>
            </p:cNvPr>
            <p:cNvSpPr txBox="1"/>
            <p:nvPr/>
          </p:nvSpPr>
          <p:spPr>
            <a:xfrm rot="21600000">
              <a:off x="0" y="0"/>
              <a:ext cx="3264451" cy="1345489"/>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142240" tIns="142240" rIns="142240" bIns="142240" numCol="1" spcCol="1270" anchor="ctr" anchorCtr="0">
              <a:noAutofit/>
            </a:bodyPr>
            <a:lstStyle/>
            <a:p>
              <a:pPr marL="0" marR="0" algn="ctr">
                <a:lnSpc>
                  <a:spcPct val="150000"/>
                </a:lnSpc>
                <a:spcBef>
                  <a:spcPts val="0"/>
                </a:spcBef>
                <a:spcAft>
                  <a:spcPts val="0"/>
                </a:spcAft>
              </a:pPr>
              <a:r>
                <a:rPr lang="en-US" sz="2000" dirty="0">
                  <a:effectLst/>
                  <a:latin typeface="Times New Roman" panose="02020603050405020304" pitchFamily="18" charset="0"/>
                  <a:ea typeface="Calibri" panose="020F0502020204030204" pitchFamily="34" charset="0"/>
                  <a:cs typeface="Gautami" panose="020B0502040204020203" pitchFamily="34" charset="0"/>
                </a:rPr>
                <a:t>To assess the risk and mother’s knowledge on neonatal jaundice.</a:t>
              </a:r>
              <a:endParaRPr lang="en-US" sz="1800" dirty="0">
                <a:effectLst/>
                <a:latin typeface="Calibri" panose="020F0502020204030204" pitchFamily="34" charset="0"/>
                <a:ea typeface="Calibri" panose="020F0502020204030204" pitchFamily="34" charset="0"/>
                <a:cs typeface="Gautami" panose="020B0502040204020203" pitchFamily="34" charset="0"/>
              </a:endParaRPr>
            </a:p>
          </p:txBody>
        </p:sp>
      </p:grpSp>
    </p:spTree>
    <p:extLst>
      <p:ext uri="{BB962C8B-B14F-4D97-AF65-F5344CB8AC3E}">
        <p14:creationId xmlns:p14="http://schemas.microsoft.com/office/powerpoint/2010/main" val="26425260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0D0A8-56F6-7317-B786-5151FEC74A38}"/>
              </a:ext>
            </a:extLst>
          </p:cNvPr>
          <p:cNvSpPr>
            <a:spLocks noGrp="1"/>
          </p:cNvSpPr>
          <p:nvPr>
            <p:ph type="title"/>
          </p:nvPr>
        </p:nvSpPr>
        <p:spPr/>
        <p:txBody>
          <a:bodyPr/>
          <a:lstStyle/>
          <a:p>
            <a:r>
              <a:rPr lang="en-US" dirty="0"/>
              <a:t>PLAN OF WORK</a:t>
            </a:r>
          </a:p>
        </p:txBody>
      </p:sp>
    </p:spTree>
    <p:extLst>
      <p:ext uri="{BB962C8B-B14F-4D97-AF65-F5344CB8AC3E}">
        <p14:creationId xmlns:p14="http://schemas.microsoft.com/office/powerpoint/2010/main" val="4322636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FCE2DA17-545C-CA1F-C46E-B0562D7D39FD}"/>
              </a:ext>
            </a:extLst>
          </p:cNvPr>
          <p:cNvGraphicFramePr/>
          <p:nvPr>
            <p:extLst>
              <p:ext uri="{D42A27DB-BD31-4B8C-83A1-F6EECF244321}">
                <p14:modId xmlns:p14="http://schemas.microsoft.com/office/powerpoint/2010/main" val="74853211"/>
              </p:ext>
            </p:extLst>
          </p:nvPr>
        </p:nvGraphicFramePr>
        <p:xfrm>
          <a:off x="896728" y="1229923"/>
          <a:ext cx="10672419" cy="483957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Rectangle: Rounded Corners 2">
            <a:extLst>
              <a:ext uri="{FF2B5EF4-FFF2-40B4-BE49-F238E27FC236}">
                <a16:creationId xmlns:a16="http://schemas.microsoft.com/office/drawing/2014/main" id="{1AD5DB93-DCC2-7792-0FFC-617ED471B9C3}"/>
              </a:ext>
            </a:extLst>
          </p:cNvPr>
          <p:cNvSpPr/>
          <p:nvPr/>
        </p:nvSpPr>
        <p:spPr>
          <a:xfrm>
            <a:off x="2292625" y="140526"/>
            <a:ext cx="7606747" cy="993913"/>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marL="0" marR="0" algn="ctr">
              <a:spcBef>
                <a:spcPts val="0"/>
              </a:spcBef>
              <a:spcAft>
                <a:spcPts val="0"/>
              </a:spcAft>
            </a:pPr>
            <a:r>
              <a:rPr lang="en-US" sz="4000" b="1" dirty="0">
                <a:latin typeface="Times New Roman" panose="02020603050405020304" pitchFamily="18" charset="0"/>
                <a:ea typeface="Calibri" panose="020F0502020204030204" pitchFamily="34" charset="0"/>
                <a:cs typeface="Gautami" panose="020B0502040204020203" pitchFamily="34" charset="0"/>
              </a:rPr>
              <a:t>PLAN OF WORK</a:t>
            </a:r>
            <a:endParaRPr lang="en-US" sz="4000" dirty="0">
              <a:effectLst/>
              <a:latin typeface="Calibri" panose="020F0502020204030204" pitchFamily="34" charset="0"/>
              <a:ea typeface="Calibri" panose="020F0502020204030204" pitchFamily="34" charset="0"/>
              <a:cs typeface="Gautami" panose="020B0502040204020203" pitchFamily="34" charset="0"/>
            </a:endParaRPr>
          </a:p>
        </p:txBody>
      </p:sp>
    </p:spTree>
    <p:extLst>
      <p:ext uri="{BB962C8B-B14F-4D97-AF65-F5344CB8AC3E}">
        <p14:creationId xmlns:p14="http://schemas.microsoft.com/office/powerpoint/2010/main" val="23404981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68341-EE56-0903-9629-BB13F487E7C2}"/>
              </a:ext>
            </a:extLst>
          </p:cNvPr>
          <p:cNvSpPr>
            <a:spLocks noGrp="1"/>
          </p:cNvSpPr>
          <p:nvPr>
            <p:ph type="title"/>
          </p:nvPr>
        </p:nvSpPr>
        <p:spPr/>
        <p:txBody>
          <a:bodyPr/>
          <a:lstStyle/>
          <a:p>
            <a:r>
              <a:rPr lang="en-US" dirty="0"/>
              <a:t>METHODOLOGY</a:t>
            </a:r>
          </a:p>
        </p:txBody>
      </p:sp>
    </p:spTree>
    <p:extLst>
      <p:ext uri="{BB962C8B-B14F-4D97-AF65-F5344CB8AC3E}">
        <p14:creationId xmlns:p14="http://schemas.microsoft.com/office/powerpoint/2010/main" val="22243279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4A89792-9249-5C1B-C2C9-82E97966E875}"/>
              </a:ext>
            </a:extLst>
          </p:cNvPr>
          <p:cNvSpPr txBox="1"/>
          <p:nvPr/>
        </p:nvSpPr>
        <p:spPr>
          <a:xfrm>
            <a:off x="172278" y="1203324"/>
            <a:ext cx="11847443" cy="4653646"/>
          </a:xfrm>
          <a:prstGeom prst="rect">
            <a:avLst/>
          </a:prstGeom>
          <a:noFill/>
        </p:spPr>
        <p:txBody>
          <a:bodyPr wrap="square">
            <a:spAutoFit/>
          </a:bodyPr>
          <a:lstStyle/>
          <a:p>
            <a:pPr marL="0" marR="0" algn="just">
              <a:lnSpc>
                <a:spcPct val="150000"/>
              </a:lnSpc>
              <a:spcBef>
                <a:spcPts val="0"/>
              </a:spcBef>
              <a:spcAft>
                <a:spcPts val="0"/>
              </a:spcAft>
            </a:pPr>
            <a:r>
              <a:rPr lang="en-US" sz="2000" b="1" u="sng" dirty="0">
                <a:solidFill>
                  <a:schemeClr val="accent1">
                    <a:lumMod val="75000"/>
                  </a:schemeClr>
                </a:solidFill>
                <a:effectLst/>
                <a:latin typeface="Times New Roman" panose="02020603050405020304" pitchFamily="18" charset="0"/>
                <a:ea typeface="Calibri" panose="020F0502020204030204" pitchFamily="34" charset="0"/>
                <a:cs typeface="Times New Roman" panose="02020603050405020304" pitchFamily="18" charset="0"/>
              </a:rPr>
              <a:t>STUDY DESIGN</a:t>
            </a:r>
            <a:endParaRPr lang="en-US" sz="2000" dirty="0">
              <a:solidFill>
                <a:schemeClr val="accent1">
                  <a:lumMod val="75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50000"/>
              </a:lnSpc>
              <a:spcBef>
                <a:spcPts val="0"/>
              </a:spcBef>
              <a:spcAft>
                <a:spcPts val="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This study design is prospective observational study.</a:t>
            </a:r>
          </a:p>
          <a:p>
            <a:pPr marL="0" marR="0" algn="just">
              <a:lnSpc>
                <a:spcPct val="150000"/>
              </a:lnSpc>
              <a:spcBef>
                <a:spcPts val="0"/>
              </a:spcBef>
              <a:spcAft>
                <a:spcPts val="0"/>
              </a:spcAft>
            </a:pPr>
            <a:r>
              <a:rPr lang="en-US" sz="2000" b="1" u="sng" dirty="0">
                <a:solidFill>
                  <a:schemeClr val="accent1">
                    <a:lumMod val="75000"/>
                  </a:schemeClr>
                </a:solidFill>
                <a:effectLst/>
                <a:latin typeface="Times New Roman" panose="02020603050405020304" pitchFamily="18" charset="0"/>
                <a:ea typeface="Calibri" panose="020F0502020204030204" pitchFamily="34" charset="0"/>
                <a:cs typeface="Times New Roman" panose="02020603050405020304" pitchFamily="18" charset="0"/>
              </a:rPr>
              <a:t>STUDY SITE</a:t>
            </a:r>
            <a:endParaRPr lang="en-US" sz="2000" dirty="0">
              <a:solidFill>
                <a:schemeClr val="accent1">
                  <a:lumMod val="75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50000"/>
              </a:lnSpc>
              <a:spcBef>
                <a:spcPts val="0"/>
              </a:spcBef>
              <a:spcAft>
                <a:spcPts val="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The study will be conducted in IN PATIENT and OUT PATIENT facilities of Department of Pediatrics, ESI Hospital, a 500 bedded tertiary Care Hospital located in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Nacharam</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Hyderabad, Telangana.</a:t>
            </a:r>
          </a:p>
          <a:p>
            <a:pPr marL="0" marR="0" algn="just">
              <a:lnSpc>
                <a:spcPct val="150000"/>
              </a:lnSpc>
              <a:spcBef>
                <a:spcPts val="0"/>
              </a:spcBef>
              <a:spcAft>
                <a:spcPts val="0"/>
              </a:spcAft>
            </a:pPr>
            <a:r>
              <a:rPr lang="en-US" sz="2000" b="1" u="sng" dirty="0">
                <a:solidFill>
                  <a:schemeClr val="accent1">
                    <a:lumMod val="75000"/>
                  </a:schemeClr>
                </a:solidFill>
                <a:effectLst/>
                <a:latin typeface="Times New Roman" panose="02020603050405020304" pitchFamily="18" charset="0"/>
                <a:ea typeface="Calibri" panose="020F0502020204030204" pitchFamily="34" charset="0"/>
                <a:cs typeface="Times New Roman" panose="02020603050405020304" pitchFamily="18" charset="0"/>
              </a:rPr>
              <a:t>STUDY PERIOD AND DURATION</a:t>
            </a:r>
            <a:endParaRPr lang="en-US" sz="2000" dirty="0">
              <a:solidFill>
                <a:schemeClr val="accent1">
                  <a:lumMod val="75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50000"/>
              </a:lnSpc>
              <a:spcBef>
                <a:spcPts val="0"/>
              </a:spcBef>
              <a:spcAft>
                <a:spcPts val="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The study period is of 6 months i.e., from November 2021 to April 2022.</a:t>
            </a:r>
          </a:p>
          <a:p>
            <a:pPr marL="0" marR="0" algn="just">
              <a:lnSpc>
                <a:spcPct val="150000"/>
              </a:lnSpc>
              <a:spcBef>
                <a:spcPts val="0"/>
              </a:spcBef>
              <a:spcAft>
                <a:spcPts val="0"/>
              </a:spcAft>
            </a:pPr>
            <a:r>
              <a:rPr lang="en-US" sz="2000" b="1" u="sng" dirty="0">
                <a:solidFill>
                  <a:schemeClr val="accent1">
                    <a:lumMod val="75000"/>
                  </a:schemeClr>
                </a:solidFill>
                <a:effectLst/>
                <a:latin typeface="Times New Roman" panose="02020603050405020304" pitchFamily="18" charset="0"/>
                <a:ea typeface="Calibri" panose="020F0502020204030204" pitchFamily="34" charset="0"/>
                <a:cs typeface="Times New Roman" panose="02020603050405020304" pitchFamily="18" charset="0"/>
              </a:rPr>
              <a:t>STUDY POPULATION</a:t>
            </a:r>
            <a:endParaRPr lang="en-US" sz="2000" dirty="0">
              <a:solidFill>
                <a:schemeClr val="accent1">
                  <a:lumMod val="75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50000"/>
              </a:lnSpc>
              <a:spcBef>
                <a:spcPts val="0"/>
              </a:spcBef>
              <a:spcAft>
                <a:spcPts val="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106 subjects were recruited in the study, 11 subjects we excluded. Therefore, we completed the study with 95 subjects.</a:t>
            </a:r>
          </a:p>
        </p:txBody>
      </p:sp>
      <p:sp>
        <p:nvSpPr>
          <p:cNvPr id="5" name="Rectangle: Rounded Corners 4">
            <a:extLst>
              <a:ext uri="{FF2B5EF4-FFF2-40B4-BE49-F238E27FC236}">
                <a16:creationId xmlns:a16="http://schemas.microsoft.com/office/drawing/2014/main" id="{35B3BD41-70E5-BD8D-AEF7-3A180C6F3A61}"/>
              </a:ext>
            </a:extLst>
          </p:cNvPr>
          <p:cNvSpPr/>
          <p:nvPr/>
        </p:nvSpPr>
        <p:spPr>
          <a:xfrm>
            <a:off x="2292625" y="209411"/>
            <a:ext cx="7606747" cy="993913"/>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marL="0" marR="0" algn="ctr">
              <a:spcBef>
                <a:spcPts val="0"/>
              </a:spcBef>
              <a:spcAft>
                <a:spcPts val="0"/>
              </a:spcAft>
            </a:pPr>
            <a:r>
              <a:rPr lang="en-US" sz="4000" b="1" dirty="0">
                <a:effectLst/>
                <a:latin typeface="Times New Roman" panose="02020603050405020304" pitchFamily="18" charset="0"/>
                <a:ea typeface="Calibri" panose="020F0502020204030204" pitchFamily="34" charset="0"/>
                <a:cs typeface="Gautami" panose="020B0502040204020203" pitchFamily="34" charset="0"/>
              </a:rPr>
              <a:t>METHODOLOGY</a:t>
            </a:r>
            <a:endParaRPr lang="en-US" sz="4000" dirty="0">
              <a:effectLst/>
              <a:latin typeface="Calibri" panose="020F0502020204030204" pitchFamily="34" charset="0"/>
              <a:ea typeface="Calibri" panose="020F0502020204030204" pitchFamily="34" charset="0"/>
              <a:cs typeface="Gautami" panose="020B0502040204020203" pitchFamily="34" charset="0"/>
            </a:endParaRPr>
          </a:p>
        </p:txBody>
      </p:sp>
    </p:spTree>
    <p:extLst>
      <p:ext uri="{BB962C8B-B14F-4D97-AF65-F5344CB8AC3E}">
        <p14:creationId xmlns:p14="http://schemas.microsoft.com/office/powerpoint/2010/main" val="11619180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6D28E2B-7AE9-B4F2-3FB9-3CA24B4FB1E7}"/>
              </a:ext>
            </a:extLst>
          </p:cNvPr>
          <p:cNvSpPr txBox="1"/>
          <p:nvPr/>
        </p:nvSpPr>
        <p:spPr>
          <a:xfrm>
            <a:off x="357809" y="554857"/>
            <a:ext cx="11476382" cy="6038641"/>
          </a:xfrm>
          <a:prstGeom prst="rect">
            <a:avLst/>
          </a:prstGeom>
          <a:noFill/>
        </p:spPr>
        <p:txBody>
          <a:bodyPr wrap="square">
            <a:spAutoFit/>
          </a:bodyPr>
          <a:lstStyle/>
          <a:p>
            <a:pPr marL="0" marR="0" algn="just">
              <a:lnSpc>
                <a:spcPct val="150000"/>
              </a:lnSpc>
              <a:spcBef>
                <a:spcPts val="0"/>
              </a:spcBef>
              <a:spcAft>
                <a:spcPts val="0"/>
              </a:spcAft>
            </a:pPr>
            <a:r>
              <a:rPr lang="en-US" sz="2000" b="1" u="sng" dirty="0">
                <a:solidFill>
                  <a:schemeClr val="accent1">
                    <a:lumMod val="75000"/>
                  </a:schemeClr>
                </a:solidFill>
                <a:effectLst/>
                <a:latin typeface="Times New Roman" panose="02020603050405020304" pitchFamily="18" charset="0"/>
                <a:ea typeface="Calibri" panose="020F0502020204030204" pitchFamily="34" charset="0"/>
                <a:cs typeface="Times New Roman" panose="02020603050405020304" pitchFamily="18" charset="0"/>
              </a:rPr>
              <a:t>SELECTION OF SUBJECTS AND RECRUITMENT PROCEDURE</a:t>
            </a:r>
            <a:endParaRPr lang="en-US" sz="2000" dirty="0">
              <a:solidFill>
                <a:schemeClr val="accent1">
                  <a:lumMod val="75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50000"/>
              </a:lnSpc>
              <a:spcBef>
                <a:spcPts val="0"/>
              </a:spcBef>
              <a:spcAft>
                <a:spcPts val="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The study subjects will be selected from Department of Pediatrics based on the following inclusion and exclusion criteria.</a:t>
            </a:r>
          </a:p>
          <a:p>
            <a:pPr marL="0" marR="0" algn="just">
              <a:lnSpc>
                <a:spcPct val="150000"/>
              </a:lnSpc>
              <a:spcBef>
                <a:spcPts val="0"/>
              </a:spcBef>
              <a:spcAft>
                <a:spcPts val="0"/>
              </a:spcAft>
            </a:pPr>
            <a:endParaRPr lang="en-US" sz="2000" b="1" u="sng" dirty="0">
              <a:solidFill>
                <a:schemeClr val="accent1">
                  <a:lumMod val="75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indent="-342900" algn="just">
              <a:lnSpc>
                <a:spcPct val="150000"/>
              </a:lnSpc>
              <a:spcBef>
                <a:spcPts val="0"/>
              </a:spcBef>
              <a:spcAft>
                <a:spcPts val="0"/>
              </a:spcAft>
              <a:buFont typeface="Wingdings" panose="05000000000000000000" pitchFamily="2" charset="2"/>
              <a:buChar char="v"/>
            </a:pPr>
            <a:r>
              <a:rPr lang="en-US" sz="2000" b="1" u="sng" dirty="0">
                <a:solidFill>
                  <a:schemeClr val="accent1">
                    <a:lumMod val="75000"/>
                  </a:schemeClr>
                </a:solidFill>
                <a:effectLst/>
                <a:latin typeface="Times New Roman" panose="02020603050405020304" pitchFamily="18" charset="0"/>
                <a:ea typeface="Calibri" panose="020F0502020204030204" pitchFamily="34" charset="0"/>
                <a:cs typeface="Times New Roman" panose="02020603050405020304" pitchFamily="18" charset="0"/>
              </a:rPr>
              <a:t>INCLUSION CRITERIA:</a:t>
            </a:r>
            <a:endParaRPr lang="en-US" sz="2000" dirty="0">
              <a:solidFill>
                <a:schemeClr val="accent1">
                  <a:lumMod val="75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p>
            <a:pPr marL="800100" lvl="1" indent="-342900" algn="just">
              <a:lnSpc>
                <a:spcPct val="150000"/>
              </a:lnSpc>
              <a:buFont typeface="Wingdings" panose="05000000000000000000" pitchFamily="2" charset="2"/>
              <a:buChar char=""/>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All the babies born during the study period along with their mothers.</a:t>
            </a:r>
          </a:p>
          <a:p>
            <a:pPr marL="800100" lvl="1" indent="-342900" algn="just">
              <a:lnSpc>
                <a:spcPct val="150000"/>
              </a:lnSpc>
              <a:buFont typeface="Wingdings" panose="05000000000000000000" pitchFamily="2" charset="2"/>
              <a:buChar char=""/>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Babies of age ≤28 days.</a:t>
            </a:r>
          </a:p>
          <a:p>
            <a:pPr marL="800100" lvl="1" indent="-342900" algn="just">
              <a:lnSpc>
                <a:spcPct val="150000"/>
              </a:lnSpc>
              <a:buFont typeface="Wingdings" panose="05000000000000000000" pitchFamily="2" charset="2"/>
              <a:buChar char=""/>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Mothers who can understand, answer the questions and willing to participate.</a:t>
            </a:r>
          </a:p>
          <a:p>
            <a:pPr marL="342900" marR="0" indent="-342900" algn="just">
              <a:lnSpc>
                <a:spcPct val="150000"/>
              </a:lnSpc>
              <a:spcBef>
                <a:spcPts val="0"/>
              </a:spcBef>
              <a:spcAft>
                <a:spcPts val="0"/>
              </a:spcAft>
              <a:buFont typeface="Wingdings" panose="05000000000000000000" pitchFamily="2" charset="2"/>
              <a:buChar char="v"/>
            </a:pPr>
            <a:r>
              <a:rPr lang="en-US" sz="2000" b="1" u="sng" dirty="0">
                <a:solidFill>
                  <a:schemeClr val="accent1">
                    <a:lumMod val="75000"/>
                  </a:schemeClr>
                </a:solidFill>
                <a:effectLst/>
                <a:latin typeface="Times New Roman" panose="02020603050405020304" pitchFamily="18" charset="0"/>
                <a:ea typeface="Calibri" panose="020F0502020204030204" pitchFamily="34" charset="0"/>
                <a:cs typeface="Times New Roman" panose="02020603050405020304" pitchFamily="18" charset="0"/>
              </a:rPr>
              <a:t>EXCLUSION CRITERIA:</a:t>
            </a:r>
            <a:endParaRPr lang="en-US" sz="2000" dirty="0">
              <a:solidFill>
                <a:schemeClr val="accent1">
                  <a:lumMod val="75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p>
            <a:pPr marL="800100" lvl="1" indent="-342900" algn="just">
              <a:lnSpc>
                <a:spcPct val="150000"/>
              </a:lnSpc>
              <a:buFont typeface="Wingdings" panose="05000000000000000000" pitchFamily="2" charset="2"/>
              <a:buChar char=""/>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Babies of age &gt; 28 days.</a:t>
            </a:r>
          </a:p>
          <a:p>
            <a:pPr marL="800100" lvl="1" indent="-342900" algn="just">
              <a:lnSpc>
                <a:spcPct val="150000"/>
              </a:lnSpc>
              <a:buFont typeface="Wingdings" panose="05000000000000000000" pitchFamily="2" charset="2"/>
              <a:buChar char=""/>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Babies who are sick and ventilated.</a:t>
            </a:r>
          </a:p>
          <a:p>
            <a:pPr marL="800100" lvl="1" indent="-342900" algn="just">
              <a:lnSpc>
                <a:spcPct val="150000"/>
              </a:lnSpc>
              <a:buFont typeface="Wingdings" panose="05000000000000000000" pitchFamily="2" charset="2"/>
              <a:buChar char=""/>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Mothers who are not willing to participate.</a:t>
            </a:r>
          </a:p>
          <a:p>
            <a:pPr marL="800100" lvl="1" indent="-342900" algn="just">
              <a:lnSpc>
                <a:spcPct val="150000"/>
              </a:lnSpc>
              <a:buFont typeface="Wingdings" panose="05000000000000000000" pitchFamily="2" charset="2"/>
              <a:buChar char=""/>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Mothers who can’t give complete information.</a:t>
            </a:r>
          </a:p>
        </p:txBody>
      </p:sp>
    </p:spTree>
    <p:extLst>
      <p:ext uri="{BB962C8B-B14F-4D97-AF65-F5344CB8AC3E}">
        <p14:creationId xmlns:p14="http://schemas.microsoft.com/office/powerpoint/2010/main" val="41477657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88E5CE3-4927-85EC-963A-2327961FC138}"/>
              </a:ext>
            </a:extLst>
          </p:cNvPr>
          <p:cNvSpPr txBox="1"/>
          <p:nvPr/>
        </p:nvSpPr>
        <p:spPr>
          <a:xfrm>
            <a:off x="490330" y="472751"/>
            <a:ext cx="11118574" cy="4197944"/>
          </a:xfrm>
          <a:prstGeom prst="rect">
            <a:avLst/>
          </a:prstGeom>
          <a:noFill/>
        </p:spPr>
        <p:txBody>
          <a:bodyPr wrap="square">
            <a:spAutoFit/>
          </a:bodyPr>
          <a:lstStyle/>
          <a:p>
            <a:pPr marL="0" marR="0" algn="just">
              <a:lnSpc>
                <a:spcPct val="150000"/>
              </a:lnSpc>
              <a:spcBef>
                <a:spcPts val="0"/>
              </a:spcBef>
              <a:spcAft>
                <a:spcPts val="0"/>
              </a:spcAft>
            </a:pPr>
            <a:r>
              <a:rPr lang="en-US" sz="2000" b="1" u="sng" dirty="0">
                <a:solidFill>
                  <a:schemeClr val="accent1">
                    <a:lumMod val="75000"/>
                  </a:schemeClr>
                </a:solidFill>
                <a:effectLst/>
                <a:latin typeface="Times New Roman" panose="02020603050405020304" pitchFamily="18" charset="0"/>
                <a:ea typeface="Calibri" panose="020F0502020204030204" pitchFamily="34" charset="0"/>
                <a:cs typeface="Times New Roman" panose="02020603050405020304" pitchFamily="18" charset="0"/>
              </a:rPr>
              <a:t>DROP OUTS</a:t>
            </a:r>
            <a:r>
              <a:rPr lang="en-US" sz="2000" b="1" dirty="0">
                <a:solidFill>
                  <a:schemeClr val="accent1">
                    <a:lumMod val="75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dirty="0">
              <a:solidFill>
                <a:schemeClr val="accent1">
                  <a:lumMod val="75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50000"/>
              </a:lnSpc>
              <a:spcBef>
                <a:spcPts val="0"/>
              </a:spcBef>
              <a:spcAft>
                <a:spcPts val="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Out of 106 subjects recruited in the study, 11 subjects we excluded due to incomplete data. Therefore, we completed the study with 95 subjects.</a:t>
            </a:r>
          </a:p>
          <a:p>
            <a:pPr marL="0" marR="0" algn="just">
              <a:lnSpc>
                <a:spcPct val="150000"/>
              </a:lnSpc>
              <a:spcBef>
                <a:spcPts val="0"/>
              </a:spcBef>
              <a:spcAft>
                <a:spcPts val="0"/>
              </a:spcAft>
            </a:pPr>
            <a:r>
              <a:rPr lang="en-US" sz="2000" b="1" u="none" strike="noStrike"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50000"/>
              </a:lnSpc>
              <a:spcBef>
                <a:spcPts val="0"/>
              </a:spcBef>
              <a:spcAft>
                <a:spcPts val="0"/>
              </a:spcAft>
            </a:pPr>
            <a:r>
              <a:rPr lang="en-US" sz="2000" b="1" u="sng" dirty="0">
                <a:solidFill>
                  <a:schemeClr val="accent1">
                    <a:lumMod val="75000"/>
                  </a:schemeClr>
                </a:solidFill>
                <a:effectLst/>
                <a:latin typeface="Times New Roman" panose="02020603050405020304" pitchFamily="18" charset="0"/>
                <a:ea typeface="Calibri" panose="020F0502020204030204" pitchFamily="34" charset="0"/>
                <a:cs typeface="Times New Roman" panose="02020603050405020304" pitchFamily="18" charset="0"/>
              </a:rPr>
              <a:t>PATIENT DATA COLLECTION FORM:</a:t>
            </a:r>
            <a:endParaRPr lang="en-US" sz="2000" dirty="0">
              <a:solidFill>
                <a:schemeClr val="accent1">
                  <a:lumMod val="75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50000"/>
              </a:lnSpc>
              <a:spcBef>
                <a:spcPts val="0"/>
              </a:spcBef>
              <a:spcAft>
                <a:spcPts val="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 Suitable patient data collection form was prepared with the help of a physician. It includes patient demographic data (name, age, gender, weight, blood group, pre/full term, medical history) mother’s demographic data (name, age, weight, blood group, lactation, personal history, medical and medication history, knowledge about jaundice).</a:t>
            </a:r>
          </a:p>
        </p:txBody>
      </p:sp>
    </p:spTree>
    <p:extLst>
      <p:ext uri="{BB962C8B-B14F-4D97-AF65-F5344CB8AC3E}">
        <p14:creationId xmlns:p14="http://schemas.microsoft.com/office/powerpoint/2010/main" val="1129582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55D5884-E5EA-C250-F696-EAA8C5F91D9E}"/>
              </a:ext>
            </a:extLst>
          </p:cNvPr>
          <p:cNvSpPr txBox="1"/>
          <p:nvPr/>
        </p:nvSpPr>
        <p:spPr>
          <a:xfrm>
            <a:off x="583096" y="335845"/>
            <a:ext cx="10482470" cy="5121274"/>
          </a:xfrm>
          <a:prstGeom prst="rect">
            <a:avLst/>
          </a:prstGeom>
          <a:noFill/>
        </p:spPr>
        <p:txBody>
          <a:bodyPr wrap="square">
            <a:spAutoFit/>
          </a:bodyPr>
          <a:lstStyle/>
          <a:p>
            <a:pPr marL="0" marR="0" algn="just">
              <a:lnSpc>
                <a:spcPct val="150000"/>
              </a:lnSpc>
              <a:spcBef>
                <a:spcPts val="0"/>
              </a:spcBef>
              <a:spcAft>
                <a:spcPts val="0"/>
              </a:spcAft>
            </a:pPr>
            <a:r>
              <a:rPr lang="en-US" sz="2000" b="1" u="sng" dirty="0">
                <a:solidFill>
                  <a:schemeClr val="accent1">
                    <a:lumMod val="75000"/>
                  </a:schemeClr>
                </a:solidFill>
                <a:effectLst/>
                <a:latin typeface="Times New Roman" panose="02020603050405020304" pitchFamily="18" charset="0"/>
                <a:ea typeface="Calibri" panose="020F0502020204030204" pitchFamily="34" charset="0"/>
                <a:cs typeface="Times New Roman" panose="02020603050405020304" pitchFamily="18" charset="0"/>
              </a:rPr>
              <a:t>STATISTICAL TOOLS:</a:t>
            </a:r>
            <a:endParaRPr lang="en-US" sz="2000" dirty="0">
              <a:solidFill>
                <a:schemeClr val="accent1">
                  <a:lumMod val="75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50000"/>
              </a:lnSpc>
              <a:spcBef>
                <a:spcPts val="0"/>
              </a:spcBef>
              <a:spcAft>
                <a:spcPts val="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We used Microsoft excel to perform chi-square test and unpaired t-test. We calculated mean, standard deviation and p value using excel.</a:t>
            </a:r>
          </a:p>
          <a:p>
            <a:pPr marL="0" marR="0" algn="just">
              <a:lnSpc>
                <a:spcPct val="150000"/>
              </a:lnSpc>
              <a:spcBef>
                <a:spcPts val="0"/>
              </a:spcBef>
              <a:spcAft>
                <a:spcPts val="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p>
          <a:p>
            <a:pPr marL="0" marR="0" algn="just">
              <a:lnSpc>
                <a:spcPct val="150000"/>
              </a:lnSpc>
              <a:spcBef>
                <a:spcPts val="0"/>
              </a:spcBef>
              <a:spcAft>
                <a:spcPts val="0"/>
              </a:spcAft>
            </a:pPr>
            <a:r>
              <a:rPr lang="en-US" sz="2000" b="1" u="sng" dirty="0">
                <a:solidFill>
                  <a:schemeClr val="accent1">
                    <a:lumMod val="75000"/>
                  </a:schemeClr>
                </a:solidFill>
                <a:effectLst/>
                <a:latin typeface="Times New Roman" panose="02020603050405020304" pitchFamily="18" charset="0"/>
                <a:ea typeface="Calibri" panose="020F0502020204030204" pitchFamily="34" charset="0"/>
                <a:cs typeface="Times New Roman" panose="02020603050405020304" pitchFamily="18" charset="0"/>
              </a:rPr>
              <a:t>PATIENT COUNSELLING:</a:t>
            </a:r>
            <a:endParaRPr lang="en-US" sz="2000" dirty="0">
              <a:solidFill>
                <a:schemeClr val="accent1">
                  <a:lumMod val="75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Wingdings" panose="05000000000000000000" pitchFamily="2" charset="2"/>
              <a:buChar char=""/>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All the mothers included in the study were given education about neonatal jaundice. The counselling session was 5-10 minutes. The mothers were counselled in a language they understand (Telugu, Hindi or English).</a:t>
            </a:r>
          </a:p>
          <a:p>
            <a:pPr marL="342900" marR="0" lvl="0" indent="-342900" algn="just">
              <a:lnSpc>
                <a:spcPct val="150000"/>
              </a:lnSpc>
              <a:spcBef>
                <a:spcPts val="0"/>
              </a:spcBef>
              <a:spcAft>
                <a:spcPts val="0"/>
              </a:spcAft>
              <a:buFont typeface="Wingdings" panose="05000000000000000000" pitchFamily="2" charset="2"/>
              <a:buChar char=""/>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They were counselled regarding causes, signs and symptoms, complications and prevention of neonatal jaundice.</a:t>
            </a:r>
          </a:p>
          <a:p>
            <a:pPr marL="342900" marR="0" lvl="0" indent="-342900" algn="just">
              <a:lnSpc>
                <a:spcPct val="150000"/>
              </a:lnSpc>
              <a:spcBef>
                <a:spcPts val="0"/>
              </a:spcBef>
              <a:spcAft>
                <a:spcPts val="0"/>
              </a:spcAft>
              <a:buFont typeface="Wingdings" panose="05000000000000000000" pitchFamily="2" charset="2"/>
              <a:buChar char=""/>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Patient information leaflet was given to the mothers at the end of the counselling session.</a:t>
            </a:r>
          </a:p>
        </p:txBody>
      </p:sp>
    </p:spTree>
    <p:extLst>
      <p:ext uri="{BB962C8B-B14F-4D97-AF65-F5344CB8AC3E}">
        <p14:creationId xmlns:p14="http://schemas.microsoft.com/office/powerpoint/2010/main" val="39218459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9A83AD1-C1FB-1636-18CF-9C26CFB8E7CB}"/>
              </a:ext>
            </a:extLst>
          </p:cNvPr>
          <p:cNvPicPr>
            <a:picLocks noChangeAspect="1"/>
          </p:cNvPicPr>
          <p:nvPr/>
        </p:nvPicPr>
        <p:blipFill rotWithShape="1">
          <a:blip r:embed="rId2">
            <a:extLst>
              <a:ext uri="{28A0092B-C50C-407E-A947-70E740481C1C}">
                <a14:useLocalDpi xmlns:a14="http://schemas.microsoft.com/office/drawing/2010/main" val="0"/>
              </a:ext>
            </a:extLst>
          </a:blip>
          <a:srcRect l="6579" t="8761" r="4429" b="38210"/>
          <a:stretch/>
        </p:blipFill>
        <p:spPr>
          <a:xfrm>
            <a:off x="2332383" y="861392"/>
            <a:ext cx="7977808" cy="5735524"/>
          </a:xfrm>
          <a:prstGeom prst="rect">
            <a:avLst/>
          </a:prstGeom>
        </p:spPr>
      </p:pic>
      <p:sp>
        <p:nvSpPr>
          <p:cNvPr id="4" name="TextBox 3">
            <a:extLst>
              <a:ext uri="{FF2B5EF4-FFF2-40B4-BE49-F238E27FC236}">
                <a16:creationId xmlns:a16="http://schemas.microsoft.com/office/drawing/2014/main" id="{9B5DD4FC-D224-CFE4-4220-289EE20ABD05}"/>
              </a:ext>
            </a:extLst>
          </p:cNvPr>
          <p:cNvSpPr txBox="1"/>
          <p:nvPr/>
        </p:nvSpPr>
        <p:spPr>
          <a:xfrm>
            <a:off x="781877" y="261084"/>
            <a:ext cx="8110332" cy="584775"/>
          </a:xfrm>
          <a:prstGeom prst="rect">
            <a:avLst/>
          </a:prstGeom>
          <a:noFill/>
        </p:spPr>
        <p:txBody>
          <a:bodyPr wrap="square" rtlCol="0">
            <a:spAutoFit/>
          </a:bodyPr>
          <a:lstStyle/>
          <a:p>
            <a:r>
              <a:rPr lang="en-US" sz="3200" b="1" dirty="0">
                <a:solidFill>
                  <a:schemeClr val="accent1"/>
                </a:solidFill>
                <a:latin typeface="Times New Roman" panose="02020603050405020304" pitchFamily="18" charset="0"/>
                <a:cs typeface="Times New Roman" panose="02020603050405020304" pitchFamily="18" charset="0"/>
              </a:rPr>
              <a:t>QUESTIONARE FOR RISK FACTORS </a:t>
            </a:r>
          </a:p>
        </p:txBody>
      </p:sp>
    </p:spTree>
    <p:extLst>
      <p:ext uri="{BB962C8B-B14F-4D97-AF65-F5344CB8AC3E}">
        <p14:creationId xmlns:p14="http://schemas.microsoft.com/office/powerpoint/2010/main" val="15841846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A71A25F-C28B-D2D4-D7C7-1DF13B314401}"/>
              </a:ext>
            </a:extLst>
          </p:cNvPr>
          <p:cNvPicPr>
            <a:picLocks noChangeAspect="1"/>
          </p:cNvPicPr>
          <p:nvPr/>
        </p:nvPicPr>
        <p:blipFill rotWithShape="1">
          <a:blip r:embed="rId2">
            <a:extLst>
              <a:ext uri="{28A0092B-C50C-407E-A947-70E740481C1C}">
                <a14:useLocalDpi xmlns:a14="http://schemas.microsoft.com/office/drawing/2010/main" val="0"/>
              </a:ext>
            </a:extLst>
          </a:blip>
          <a:srcRect l="5525" t="61790" r="6535" b="25989"/>
          <a:stretch/>
        </p:blipFill>
        <p:spPr>
          <a:xfrm>
            <a:off x="503582" y="1544393"/>
            <a:ext cx="10548730" cy="1768650"/>
          </a:xfrm>
          <a:prstGeom prst="rect">
            <a:avLst/>
          </a:prstGeom>
        </p:spPr>
      </p:pic>
      <p:sp>
        <p:nvSpPr>
          <p:cNvPr id="4" name="TextBox 3">
            <a:extLst>
              <a:ext uri="{FF2B5EF4-FFF2-40B4-BE49-F238E27FC236}">
                <a16:creationId xmlns:a16="http://schemas.microsoft.com/office/drawing/2014/main" id="{F9F06391-9AEF-64B3-065F-810B6F26C2C2}"/>
              </a:ext>
            </a:extLst>
          </p:cNvPr>
          <p:cNvSpPr txBox="1"/>
          <p:nvPr/>
        </p:nvSpPr>
        <p:spPr>
          <a:xfrm>
            <a:off x="901147" y="491195"/>
            <a:ext cx="9356035" cy="646331"/>
          </a:xfrm>
          <a:prstGeom prst="rect">
            <a:avLst/>
          </a:prstGeom>
          <a:noFill/>
        </p:spPr>
        <p:txBody>
          <a:bodyPr wrap="square">
            <a:spAutoFit/>
          </a:bodyPr>
          <a:lstStyle/>
          <a:p>
            <a:r>
              <a:rPr lang="en-US" sz="3200" b="1" dirty="0">
                <a:solidFill>
                  <a:schemeClr val="accent1"/>
                </a:solidFill>
                <a:latin typeface="Times New Roman" panose="02020603050405020304" pitchFamily="18" charset="0"/>
                <a:cs typeface="Times New Roman" panose="02020603050405020304" pitchFamily="18" charset="0"/>
              </a:rPr>
              <a:t>QUESTIONARE FOR MOTHER’S KNOWLEDGE</a:t>
            </a:r>
            <a:r>
              <a:rPr lang="en-US" sz="3600" b="1" dirty="0">
                <a:solidFill>
                  <a:schemeClr val="accent1"/>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9643636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E474B-D48D-6DDE-CE50-3F606902DE54}"/>
              </a:ext>
            </a:extLst>
          </p:cNvPr>
          <p:cNvSpPr>
            <a:spLocks noGrp="1"/>
          </p:cNvSpPr>
          <p:nvPr>
            <p:ph type="title"/>
          </p:nvPr>
        </p:nvSpPr>
        <p:spPr/>
        <p:txBody>
          <a:bodyPr/>
          <a:lstStyle/>
          <a:p>
            <a:r>
              <a:rPr lang="en-US" dirty="0"/>
              <a:t>RESULTS</a:t>
            </a:r>
          </a:p>
        </p:txBody>
      </p:sp>
    </p:spTree>
    <p:extLst>
      <p:ext uri="{BB962C8B-B14F-4D97-AF65-F5344CB8AC3E}">
        <p14:creationId xmlns:p14="http://schemas.microsoft.com/office/powerpoint/2010/main" val="3690661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hart 4">
            <a:extLst>
              <a:ext uri="{FF2B5EF4-FFF2-40B4-BE49-F238E27FC236}">
                <a16:creationId xmlns:a16="http://schemas.microsoft.com/office/drawing/2014/main" id="{F12DCEC1-1696-4244-AEB0-2899BD9BBE01}"/>
              </a:ext>
            </a:extLst>
          </p:cNvPr>
          <p:cNvGraphicFramePr/>
          <p:nvPr>
            <p:extLst>
              <p:ext uri="{D42A27DB-BD31-4B8C-83A1-F6EECF244321}">
                <p14:modId xmlns:p14="http://schemas.microsoft.com/office/powerpoint/2010/main" val="1498855279"/>
              </p:ext>
            </p:extLst>
          </p:nvPr>
        </p:nvGraphicFramePr>
        <p:xfrm>
          <a:off x="1749286" y="2618295"/>
          <a:ext cx="8693426" cy="3794125"/>
        </p:xfrm>
        <a:graphic>
          <a:graphicData uri="http://schemas.openxmlformats.org/drawingml/2006/chart">
            <c:chart xmlns:c="http://schemas.openxmlformats.org/drawingml/2006/chart" xmlns:r="http://schemas.openxmlformats.org/officeDocument/2006/relationships" r:id="rId2"/>
          </a:graphicData>
        </a:graphic>
      </p:graphicFrame>
      <p:sp>
        <p:nvSpPr>
          <p:cNvPr id="4" name="Rectangle: Rounded Corners 3">
            <a:extLst>
              <a:ext uri="{FF2B5EF4-FFF2-40B4-BE49-F238E27FC236}">
                <a16:creationId xmlns:a16="http://schemas.microsoft.com/office/drawing/2014/main" id="{01F579DD-7AD5-42B2-6DBC-9C333CDA5BD6}"/>
              </a:ext>
            </a:extLst>
          </p:cNvPr>
          <p:cNvSpPr/>
          <p:nvPr/>
        </p:nvSpPr>
        <p:spPr>
          <a:xfrm>
            <a:off x="3220278" y="169655"/>
            <a:ext cx="5751442" cy="993913"/>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marL="0" marR="0" algn="ctr">
              <a:spcBef>
                <a:spcPts val="0"/>
              </a:spcBef>
              <a:spcAft>
                <a:spcPts val="0"/>
              </a:spcAft>
            </a:pPr>
            <a:r>
              <a:rPr lang="en-US" sz="4000" b="1" dirty="0">
                <a:effectLst/>
                <a:latin typeface="Times New Roman" panose="02020603050405020304" pitchFamily="18" charset="0"/>
                <a:ea typeface="Calibri" panose="020F0502020204030204" pitchFamily="34" charset="0"/>
                <a:cs typeface="Gautami" panose="020B0502040204020203" pitchFamily="34" charset="0"/>
              </a:rPr>
              <a:t>RESULTS</a:t>
            </a:r>
            <a:endParaRPr lang="en-US" sz="4000" dirty="0">
              <a:effectLst/>
              <a:latin typeface="Calibri" panose="020F0502020204030204" pitchFamily="34" charset="0"/>
              <a:ea typeface="Calibri" panose="020F0502020204030204" pitchFamily="34" charset="0"/>
              <a:cs typeface="Gautami" panose="020B0502040204020203" pitchFamily="34" charset="0"/>
            </a:endParaRPr>
          </a:p>
        </p:txBody>
      </p:sp>
      <p:sp>
        <p:nvSpPr>
          <p:cNvPr id="6" name="Rectangle: Single Corner Snipped 5">
            <a:extLst>
              <a:ext uri="{FF2B5EF4-FFF2-40B4-BE49-F238E27FC236}">
                <a16:creationId xmlns:a16="http://schemas.microsoft.com/office/drawing/2014/main" id="{0438DD3E-FDA0-2647-0698-3C966C5922BF}"/>
              </a:ext>
            </a:extLst>
          </p:cNvPr>
          <p:cNvSpPr/>
          <p:nvPr/>
        </p:nvSpPr>
        <p:spPr>
          <a:xfrm>
            <a:off x="1134716" y="1479843"/>
            <a:ext cx="9922566" cy="691288"/>
          </a:xfrm>
          <a:prstGeom prst="snip1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400" b="1" dirty="0">
                <a:effectLst/>
                <a:latin typeface="Times New Roman" panose="02020603050405020304" pitchFamily="18" charset="0"/>
                <a:ea typeface="Calibri" panose="020F0502020204030204" pitchFamily="34" charset="0"/>
              </a:rPr>
              <a:t>DISTRIBUTION OF STUDY POPULATION(MOTHERS) BASED ON AGE</a:t>
            </a:r>
            <a:endParaRPr lang="en-US" sz="2400" dirty="0"/>
          </a:p>
        </p:txBody>
      </p:sp>
    </p:spTree>
    <p:extLst>
      <p:ext uri="{BB962C8B-B14F-4D97-AF65-F5344CB8AC3E}">
        <p14:creationId xmlns:p14="http://schemas.microsoft.com/office/powerpoint/2010/main" val="39337020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hart 4">
            <a:extLst>
              <a:ext uri="{FF2B5EF4-FFF2-40B4-BE49-F238E27FC236}">
                <a16:creationId xmlns:a16="http://schemas.microsoft.com/office/drawing/2014/main" id="{BA38608D-C134-4470-4AD6-5BF65C746DD3}"/>
              </a:ext>
            </a:extLst>
          </p:cNvPr>
          <p:cNvGraphicFramePr/>
          <p:nvPr>
            <p:extLst>
              <p:ext uri="{D42A27DB-BD31-4B8C-83A1-F6EECF244321}">
                <p14:modId xmlns:p14="http://schemas.microsoft.com/office/powerpoint/2010/main" val="3940409120"/>
              </p:ext>
            </p:extLst>
          </p:nvPr>
        </p:nvGraphicFramePr>
        <p:xfrm>
          <a:off x="2332383" y="1757362"/>
          <a:ext cx="7527234" cy="4707473"/>
        </p:xfrm>
        <a:graphic>
          <a:graphicData uri="http://schemas.openxmlformats.org/drawingml/2006/chart">
            <c:chart xmlns:c="http://schemas.openxmlformats.org/drawingml/2006/chart" xmlns:r="http://schemas.openxmlformats.org/officeDocument/2006/relationships" r:id="rId2"/>
          </a:graphicData>
        </a:graphic>
      </p:graphicFrame>
      <p:sp>
        <p:nvSpPr>
          <p:cNvPr id="4" name="Rectangle: Single Corner Snipped 3">
            <a:extLst>
              <a:ext uri="{FF2B5EF4-FFF2-40B4-BE49-F238E27FC236}">
                <a16:creationId xmlns:a16="http://schemas.microsoft.com/office/drawing/2014/main" id="{70E915CB-76E4-D843-38D4-3708EDD31543}"/>
              </a:ext>
            </a:extLst>
          </p:cNvPr>
          <p:cNvSpPr/>
          <p:nvPr/>
        </p:nvSpPr>
        <p:spPr>
          <a:xfrm>
            <a:off x="1134716" y="393165"/>
            <a:ext cx="9922566" cy="691288"/>
          </a:xfrm>
          <a:prstGeom prst="snip1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400" b="1" dirty="0">
                <a:effectLst/>
                <a:latin typeface="Times New Roman" panose="02020603050405020304" pitchFamily="18" charset="0"/>
                <a:ea typeface="Calibri" panose="020F0502020204030204" pitchFamily="34" charset="0"/>
              </a:rPr>
              <a:t>DISTRIBUTION OF STUDY POPULATION(NEONATES) BASED ON SEX</a:t>
            </a:r>
            <a:endParaRPr lang="en-US" sz="2400" dirty="0"/>
          </a:p>
        </p:txBody>
      </p:sp>
    </p:spTree>
    <p:extLst>
      <p:ext uri="{BB962C8B-B14F-4D97-AF65-F5344CB8AC3E}">
        <p14:creationId xmlns:p14="http://schemas.microsoft.com/office/powerpoint/2010/main" val="2186477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hart 3">
            <a:extLst>
              <a:ext uri="{FF2B5EF4-FFF2-40B4-BE49-F238E27FC236}">
                <a16:creationId xmlns:a16="http://schemas.microsoft.com/office/drawing/2014/main" id="{1E78C873-E809-A20D-8C4C-F0AA6F54EB99}"/>
              </a:ext>
            </a:extLst>
          </p:cNvPr>
          <p:cNvGraphicFramePr/>
          <p:nvPr>
            <p:extLst>
              <p:ext uri="{D42A27DB-BD31-4B8C-83A1-F6EECF244321}">
                <p14:modId xmlns:p14="http://schemas.microsoft.com/office/powerpoint/2010/main" val="1344789923"/>
              </p:ext>
            </p:extLst>
          </p:nvPr>
        </p:nvGraphicFramePr>
        <p:xfrm>
          <a:off x="2331070" y="1460430"/>
          <a:ext cx="7529859" cy="4834352"/>
        </p:xfrm>
        <a:graphic>
          <a:graphicData uri="http://schemas.openxmlformats.org/drawingml/2006/chart">
            <c:chart xmlns:c="http://schemas.openxmlformats.org/drawingml/2006/chart" xmlns:r="http://schemas.openxmlformats.org/officeDocument/2006/relationships" r:id="rId2"/>
          </a:graphicData>
        </a:graphic>
      </p:graphicFrame>
      <p:sp>
        <p:nvSpPr>
          <p:cNvPr id="5" name="Rectangle: Single Corner Snipped 4">
            <a:extLst>
              <a:ext uri="{FF2B5EF4-FFF2-40B4-BE49-F238E27FC236}">
                <a16:creationId xmlns:a16="http://schemas.microsoft.com/office/drawing/2014/main" id="{04747F59-DBA2-FD2E-AF0E-A50D36B805CF}"/>
              </a:ext>
            </a:extLst>
          </p:cNvPr>
          <p:cNvSpPr/>
          <p:nvPr/>
        </p:nvSpPr>
        <p:spPr>
          <a:xfrm>
            <a:off x="1134716" y="406418"/>
            <a:ext cx="9922566" cy="691288"/>
          </a:xfrm>
          <a:prstGeom prst="snip1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400" b="1" dirty="0">
                <a:effectLst/>
                <a:latin typeface="Times New Roman" panose="02020603050405020304" pitchFamily="18" charset="0"/>
                <a:ea typeface="Calibri" panose="020F0502020204030204" pitchFamily="34" charset="0"/>
              </a:rPr>
              <a:t>DISTRIBUTION OF STUDY POPULATION(NEONATES) BASED ON BIRTH WEIGHT AND PRE-TERM OR FULL TERM</a:t>
            </a:r>
            <a:endParaRPr lang="en-US" sz="2400" dirty="0"/>
          </a:p>
        </p:txBody>
      </p:sp>
    </p:spTree>
    <p:extLst>
      <p:ext uri="{BB962C8B-B14F-4D97-AF65-F5344CB8AC3E}">
        <p14:creationId xmlns:p14="http://schemas.microsoft.com/office/powerpoint/2010/main" val="17897069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hart 3">
            <a:extLst>
              <a:ext uri="{FF2B5EF4-FFF2-40B4-BE49-F238E27FC236}">
                <a16:creationId xmlns:a16="http://schemas.microsoft.com/office/drawing/2014/main" id="{92495EC9-F4D6-73AF-4366-C460E8A9E3E9}"/>
              </a:ext>
            </a:extLst>
          </p:cNvPr>
          <p:cNvGraphicFramePr/>
          <p:nvPr>
            <p:extLst>
              <p:ext uri="{D42A27DB-BD31-4B8C-83A1-F6EECF244321}">
                <p14:modId xmlns:p14="http://schemas.microsoft.com/office/powerpoint/2010/main" val="3250232437"/>
              </p:ext>
            </p:extLst>
          </p:nvPr>
        </p:nvGraphicFramePr>
        <p:xfrm>
          <a:off x="2370282" y="1841471"/>
          <a:ext cx="7451436" cy="4241275"/>
        </p:xfrm>
        <a:graphic>
          <a:graphicData uri="http://schemas.openxmlformats.org/drawingml/2006/chart">
            <c:chart xmlns:c="http://schemas.openxmlformats.org/drawingml/2006/chart" xmlns:r="http://schemas.openxmlformats.org/officeDocument/2006/relationships" r:id="rId2"/>
          </a:graphicData>
        </a:graphic>
      </p:graphicFrame>
      <p:sp>
        <p:nvSpPr>
          <p:cNvPr id="5" name="Rectangle: Single Corner Snipped 4">
            <a:extLst>
              <a:ext uri="{FF2B5EF4-FFF2-40B4-BE49-F238E27FC236}">
                <a16:creationId xmlns:a16="http://schemas.microsoft.com/office/drawing/2014/main" id="{9FDDDB7F-87B1-7582-52CC-21938E9ABF40}"/>
              </a:ext>
            </a:extLst>
          </p:cNvPr>
          <p:cNvSpPr/>
          <p:nvPr/>
        </p:nvSpPr>
        <p:spPr>
          <a:xfrm>
            <a:off x="1134717" y="429610"/>
            <a:ext cx="9922566" cy="691288"/>
          </a:xfrm>
          <a:prstGeom prst="snip1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400" b="1" dirty="0">
                <a:effectLst/>
                <a:latin typeface="Times New Roman" panose="02020603050405020304" pitchFamily="18" charset="0"/>
                <a:ea typeface="Calibri" panose="020F0502020204030204" pitchFamily="34" charset="0"/>
              </a:rPr>
              <a:t>DISTRIBUTION OF STUDY POPULATION BASED ON RESIDENCY</a:t>
            </a:r>
            <a:endParaRPr lang="en-US" sz="2400" dirty="0"/>
          </a:p>
        </p:txBody>
      </p:sp>
    </p:spTree>
    <p:extLst>
      <p:ext uri="{BB962C8B-B14F-4D97-AF65-F5344CB8AC3E}">
        <p14:creationId xmlns:p14="http://schemas.microsoft.com/office/powerpoint/2010/main" val="26847905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hart 4">
            <a:extLst>
              <a:ext uri="{FF2B5EF4-FFF2-40B4-BE49-F238E27FC236}">
                <a16:creationId xmlns:a16="http://schemas.microsoft.com/office/drawing/2014/main" id="{95252CF9-7781-7E3C-2936-57D2A0CBCDF9}"/>
              </a:ext>
            </a:extLst>
          </p:cNvPr>
          <p:cNvGraphicFramePr/>
          <p:nvPr>
            <p:extLst>
              <p:ext uri="{D42A27DB-BD31-4B8C-83A1-F6EECF244321}">
                <p14:modId xmlns:p14="http://schemas.microsoft.com/office/powerpoint/2010/main" val="3010941241"/>
              </p:ext>
            </p:extLst>
          </p:nvPr>
        </p:nvGraphicFramePr>
        <p:xfrm>
          <a:off x="1804825" y="2077235"/>
          <a:ext cx="8582349" cy="4124782"/>
        </p:xfrm>
        <a:graphic>
          <a:graphicData uri="http://schemas.openxmlformats.org/drawingml/2006/chart">
            <c:chart xmlns:c="http://schemas.openxmlformats.org/drawingml/2006/chart" xmlns:r="http://schemas.openxmlformats.org/officeDocument/2006/relationships" r:id="rId2"/>
          </a:graphicData>
        </a:graphic>
      </p:graphicFrame>
      <p:sp>
        <p:nvSpPr>
          <p:cNvPr id="4" name="Rectangle: Single Corner Snipped 3">
            <a:extLst>
              <a:ext uri="{FF2B5EF4-FFF2-40B4-BE49-F238E27FC236}">
                <a16:creationId xmlns:a16="http://schemas.microsoft.com/office/drawing/2014/main" id="{0A37C733-93B2-4F83-1918-82479B1B353F}"/>
              </a:ext>
            </a:extLst>
          </p:cNvPr>
          <p:cNvSpPr/>
          <p:nvPr/>
        </p:nvSpPr>
        <p:spPr>
          <a:xfrm>
            <a:off x="1134717" y="429610"/>
            <a:ext cx="9922566" cy="691288"/>
          </a:xfrm>
          <a:prstGeom prst="snip1Rect">
            <a:avLst/>
          </a:prstGeom>
        </p:spPr>
        <p:style>
          <a:lnRef idx="1">
            <a:schemeClr val="accent3"/>
          </a:lnRef>
          <a:fillRef idx="2">
            <a:schemeClr val="accent3"/>
          </a:fillRef>
          <a:effectRef idx="1">
            <a:schemeClr val="accent3"/>
          </a:effectRef>
          <a:fontRef idx="minor">
            <a:schemeClr val="dk1"/>
          </a:fontRef>
        </p:style>
        <p:txBody>
          <a:bodyPr rtlCol="0" anchor="ctr"/>
          <a:lstStyle/>
          <a:p>
            <a:pPr marL="0" marR="0" algn="ctr">
              <a:spcBef>
                <a:spcPts val="0"/>
              </a:spcBef>
              <a:spcAft>
                <a:spcPts val="0"/>
              </a:spcAft>
            </a:pPr>
            <a:r>
              <a:rPr lang="en-US" sz="2400" b="1" dirty="0">
                <a:effectLst/>
                <a:latin typeface="Times New Roman" panose="02020603050405020304" pitchFamily="18" charset="0"/>
                <a:ea typeface="Calibri" panose="020F0502020204030204" pitchFamily="34" charset="0"/>
                <a:cs typeface="Gautami" panose="020B0502040204020203" pitchFamily="34" charset="0"/>
              </a:rPr>
              <a:t>DISTRIBUTION OF STUDY POPULATION(MOTHERS) BASED ON THEIR MARITAL LIFE</a:t>
            </a:r>
            <a:endParaRPr lang="en-US" sz="2000" dirty="0">
              <a:effectLst/>
              <a:latin typeface="Calibri" panose="020F0502020204030204" pitchFamily="34" charset="0"/>
              <a:ea typeface="Calibri" panose="020F0502020204030204" pitchFamily="34" charset="0"/>
              <a:cs typeface="Gautami" panose="020B0502040204020203" pitchFamily="34" charset="0"/>
            </a:endParaRPr>
          </a:p>
        </p:txBody>
      </p:sp>
    </p:spTree>
    <p:extLst>
      <p:ext uri="{BB962C8B-B14F-4D97-AF65-F5344CB8AC3E}">
        <p14:creationId xmlns:p14="http://schemas.microsoft.com/office/powerpoint/2010/main" val="12649905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hart 4">
            <a:extLst>
              <a:ext uri="{FF2B5EF4-FFF2-40B4-BE49-F238E27FC236}">
                <a16:creationId xmlns:a16="http://schemas.microsoft.com/office/drawing/2014/main" id="{C5A26316-2458-80CF-33FA-B856E744A1AA}"/>
              </a:ext>
            </a:extLst>
          </p:cNvPr>
          <p:cNvGraphicFramePr/>
          <p:nvPr>
            <p:extLst>
              <p:ext uri="{D42A27DB-BD31-4B8C-83A1-F6EECF244321}">
                <p14:modId xmlns:p14="http://schemas.microsoft.com/office/powerpoint/2010/main" val="824325384"/>
              </p:ext>
            </p:extLst>
          </p:nvPr>
        </p:nvGraphicFramePr>
        <p:xfrm>
          <a:off x="1981200" y="1920874"/>
          <a:ext cx="8229600" cy="4400413"/>
        </p:xfrm>
        <a:graphic>
          <a:graphicData uri="http://schemas.openxmlformats.org/drawingml/2006/chart">
            <c:chart xmlns:c="http://schemas.openxmlformats.org/drawingml/2006/chart" xmlns:r="http://schemas.openxmlformats.org/officeDocument/2006/relationships" r:id="rId2"/>
          </a:graphicData>
        </a:graphic>
      </p:graphicFrame>
      <p:sp>
        <p:nvSpPr>
          <p:cNvPr id="7" name="Rectangle: Single Corner Snipped 6">
            <a:extLst>
              <a:ext uri="{FF2B5EF4-FFF2-40B4-BE49-F238E27FC236}">
                <a16:creationId xmlns:a16="http://schemas.microsoft.com/office/drawing/2014/main" id="{8DD41C2E-797F-5621-99F2-7E135AC1B7D5}"/>
              </a:ext>
            </a:extLst>
          </p:cNvPr>
          <p:cNvSpPr/>
          <p:nvPr/>
        </p:nvSpPr>
        <p:spPr>
          <a:xfrm>
            <a:off x="1134717" y="429610"/>
            <a:ext cx="9922566" cy="816094"/>
          </a:xfrm>
          <a:prstGeom prst="snip1Rect">
            <a:avLst/>
          </a:prstGeom>
        </p:spPr>
        <p:style>
          <a:lnRef idx="1">
            <a:schemeClr val="accent3"/>
          </a:lnRef>
          <a:fillRef idx="2">
            <a:schemeClr val="accent3"/>
          </a:fillRef>
          <a:effectRef idx="1">
            <a:schemeClr val="accent3"/>
          </a:effectRef>
          <a:fontRef idx="minor">
            <a:schemeClr val="dk1"/>
          </a:fontRef>
        </p:style>
        <p:txBody>
          <a:bodyPr rtlCol="0" anchor="ctr"/>
          <a:lstStyle/>
          <a:p>
            <a:pPr marL="0" marR="0" algn="ctr">
              <a:spcBef>
                <a:spcPts val="0"/>
              </a:spcBef>
              <a:spcAft>
                <a:spcPts val="0"/>
              </a:spcAft>
            </a:pPr>
            <a:r>
              <a:rPr lang="en-US" sz="2400" b="1" dirty="0">
                <a:effectLst/>
                <a:latin typeface="Times New Roman" panose="02020603050405020304" pitchFamily="18" charset="0"/>
                <a:ea typeface="Calibri" panose="020F0502020204030204" pitchFamily="34" charset="0"/>
                <a:cs typeface="Gautami" panose="020B0502040204020203" pitchFamily="34" charset="0"/>
              </a:rPr>
              <a:t>DISTRIBUTION OF STUDY POPULATION(MOTHERS) BASED ON EDUCATION QUALIFICATION</a:t>
            </a:r>
            <a:endParaRPr lang="en-US" sz="2000" dirty="0">
              <a:effectLst/>
              <a:latin typeface="Calibri" panose="020F0502020204030204" pitchFamily="34" charset="0"/>
              <a:ea typeface="Calibri" panose="020F0502020204030204" pitchFamily="34" charset="0"/>
              <a:cs typeface="Gautami" panose="020B0502040204020203" pitchFamily="34" charset="0"/>
            </a:endParaRPr>
          </a:p>
        </p:txBody>
      </p:sp>
    </p:spTree>
    <p:extLst>
      <p:ext uri="{BB962C8B-B14F-4D97-AF65-F5344CB8AC3E}">
        <p14:creationId xmlns:p14="http://schemas.microsoft.com/office/powerpoint/2010/main" val="133752072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hart 3">
            <a:extLst>
              <a:ext uri="{FF2B5EF4-FFF2-40B4-BE49-F238E27FC236}">
                <a16:creationId xmlns:a16="http://schemas.microsoft.com/office/drawing/2014/main" id="{BA73612D-4A0D-89E1-C4C1-FE4A12EEB552}"/>
              </a:ext>
            </a:extLst>
          </p:cNvPr>
          <p:cNvGraphicFramePr/>
          <p:nvPr>
            <p:extLst>
              <p:ext uri="{D42A27DB-BD31-4B8C-83A1-F6EECF244321}">
                <p14:modId xmlns:p14="http://schemas.microsoft.com/office/powerpoint/2010/main" val="1206610981"/>
              </p:ext>
            </p:extLst>
          </p:nvPr>
        </p:nvGraphicFramePr>
        <p:xfrm>
          <a:off x="2316645" y="2029240"/>
          <a:ext cx="7558709" cy="3987248"/>
        </p:xfrm>
        <a:graphic>
          <a:graphicData uri="http://schemas.openxmlformats.org/drawingml/2006/chart">
            <c:chart xmlns:c="http://schemas.openxmlformats.org/drawingml/2006/chart" xmlns:r="http://schemas.openxmlformats.org/officeDocument/2006/relationships" r:id="rId2"/>
          </a:graphicData>
        </a:graphic>
      </p:graphicFrame>
      <p:sp>
        <p:nvSpPr>
          <p:cNvPr id="5" name="Rectangle: Single Corner Snipped 4">
            <a:extLst>
              <a:ext uri="{FF2B5EF4-FFF2-40B4-BE49-F238E27FC236}">
                <a16:creationId xmlns:a16="http://schemas.microsoft.com/office/drawing/2014/main" id="{0035BA3D-DD3C-082B-5AB1-E6E2778E7AA6}"/>
              </a:ext>
            </a:extLst>
          </p:cNvPr>
          <p:cNvSpPr/>
          <p:nvPr/>
        </p:nvSpPr>
        <p:spPr>
          <a:xfrm>
            <a:off x="1134717" y="429610"/>
            <a:ext cx="9922566" cy="816094"/>
          </a:xfrm>
          <a:prstGeom prst="snip1Rect">
            <a:avLst/>
          </a:prstGeom>
        </p:spPr>
        <p:style>
          <a:lnRef idx="1">
            <a:schemeClr val="accent3"/>
          </a:lnRef>
          <a:fillRef idx="2">
            <a:schemeClr val="accent3"/>
          </a:fillRef>
          <a:effectRef idx="1">
            <a:schemeClr val="accent3"/>
          </a:effectRef>
          <a:fontRef idx="minor">
            <a:schemeClr val="dk1"/>
          </a:fontRef>
        </p:style>
        <p:txBody>
          <a:bodyPr rtlCol="0" anchor="ctr"/>
          <a:lstStyle/>
          <a:p>
            <a:pPr marL="0" marR="0" algn="ctr">
              <a:spcBef>
                <a:spcPts val="0"/>
              </a:spcBef>
              <a:spcAft>
                <a:spcPts val="0"/>
              </a:spcAft>
            </a:pPr>
            <a:r>
              <a:rPr lang="en-US" sz="2400" b="1" dirty="0">
                <a:effectLst/>
                <a:latin typeface="Times New Roman" panose="02020603050405020304" pitchFamily="18" charset="0"/>
                <a:ea typeface="Calibri" panose="020F0502020204030204" pitchFamily="34" charset="0"/>
                <a:cs typeface="Gautami" panose="020B0502040204020203" pitchFamily="34" charset="0"/>
              </a:rPr>
              <a:t>DISTRIBUTION OF STUDY POPULATION(MOTHERS) BASED ON TYPE OF DELIVERY</a:t>
            </a:r>
            <a:endParaRPr lang="en-US" sz="2000" dirty="0">
              <a:effectLst/>
              <a:latin typeface="Calibri" panose="020F0502020204030204" pitchFamily="34" charset="0"/>
              <a:ea typeface="Calibri" panose="020F0502020204030204" pitchFamily="34" charset="0"/>
              <a:cs typeface="Gautami" panose="020B0502040204020203" pitchFamily="34" charset="0"/>
            </a:endParaRPr>
          </a:p>
        </p:txBody>
      </p:sp>
    </p:spTree>
    <p:extLst>
      <p:ext uri="{BB962C8B-B14F-4D97-AF65-F5344CB8AC3E}">
        <p14:creationId xmlns:p14="http://schemas.microsoft.com/office/powerpoint/2010/main" val="241725278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hart 3">
            <a:extLst>
              <a:ext uri="{FF2B5EF4-FFF2-40B4-BE49-F238E27FC236}">
                <a16:creationId xmlns:a16="http://schemas.microsoft.com/office/drawing/2014/main" id="{9C33E636-6D0B-545D-13A6-E542518D2299}"/>
              </a:ext>
            </a:extLst>
          </p:cNvPr>
          <p:cNvGraphicFramePr/>
          <p:nvPr>
            <p:extLst>
              <p:ext uri="{D42A27DB-BD31-4B8C-83A1-F6EECF244321}">
                <p14:modId xmlns:p14="http://schemas.microsoft.com/office/powerpoint/2010/main" val="2124621455"/>
              </p:ext>
            </p:extLst>
          </p:nvPr>
        </p:nvGraphicFramePr>
        <p:xfrm>
          <a:off x="1954696" y="2056295"/>
          <a:ext cx="8282607" cy="4013200"/>
        </p:xfrm>
        <a:graphic>
          <a:graphicData uri="http://schemas.openxmlformats.org/drawingml/2006/chart">
            <c:chart xmlns:c="http://schemas.openxmlformats.org/drawingml/2006/chart" xmlns:r="http://schemas.openxmlformats.org/officeDocument/2006/relationships" r:id="rId2"/>
          </a:graphicData>
        </a:graphic>
      </p:graphicFrame>
      <p:sp>
        <p:nvSpPr>
          <p:cNvPr id="5" name="Rectangle: Single Corner Snipped 4">
            <a:extLst>
              <a:ext uri="{FF2B5EF4-FFF2-40B4-BE49-F238E27FC236}">
                <a16:creationId xmlns:a16="http://schemas.microsoft.com/office/drawing/2014/main" id="{AA57FD38-99A7-E129-0E4E-1D28128219E1}"/>
              </a:ext>
            </a:extLst>
          </p:cNvPr>
          <p:cNvSpPr/>
          <p:nvPr/>
        </p:nvSpPr>
        <p:spPr>
          <a:xfrm>
            <a:off x="1099930" y="429610"/>
            <a:ext cx="9957353" cy="816094"/>
          </a:xfrm>
          <a:prstGeom prst="snip1Rect">
            <a:avLst/>
          </a:prstGeom>
        </p:spPr>
        <p:style>
          <a:lnRef idx="1">
            <a:schemeClr val="accent3"/>
          </a:lnRef>
          <a:fillRef idx="2">
            <a:schemeClr val="accent3"/>
          </a:fillRef>
          <a:effectRef idx="1">
            <a:schemeClr val="accent3"/>
          </a:effectRef>
          <a:fontRef idx="minor">
            <a:schemeClr val="dk1"/>
          </a:fontRef>
        </p:style>
        <p:txBody>
          <a:bodyPr rtlCol="0" anchor="ctr"/>
          <a:lstStyle/>
          <a:p>
            <a:pPr marL="0" marR="0" algn="ctr">
              <a:spcBef>
                <a:spcPts val="0"/>
              </a:spcBef>
              <a:spcAft>
                <a:spcPts val="0"/>
              </a:spcAft>
            </a:pPr>
            <a:r>
              <a:rPr lang="en-US" sz="2400" b="1" dirty="0">
                <a:effectLst/>
                <a:latin typeface="Times New Roman" panose="02020603050405020304" pitchFamily="18" charset="0"/>
                <a:ea typeface="Calibri" panose="020F0502020204030204" pitchFamily="34" charset="0"/>
                <a:cs typeface="Gautami" panose="020B0502040204020203" pitchFamily="34" charset="0"/>
              </a:rPr>
              <a:t>DISTRIBUTION OF STUDY POPULATION(NEONATES) BASED ON DURATION OF JAUNDICE</a:t>
            </a:r>
            <a:endParaRPr lang="en-US" sz="2000" dirty="0">
              <a:effectLst/>
              <a:latin typeface="Calibri" panose="020F0502020204030204" pitchFamily="34" charset="0"/>
              <a:ea typeface="Calibri" panose="020F0502020204030204" pitchFamily="34" charset="0"/>
              <a:cs typeface="Gautami" panose="020B0502040204020203" pitchFamily="34" charset="0"/>
            </a:endParaRPr>
          </a:p>
        </p:txBody>
      </p:sp>
    </p:spTree>
    <p:extLst>
      <p:ext uri="{BB962C8B-B14F-4D97-AF65-F5344CB8AC3E}">
        <p14:creationId xmlns:p14="http://schemas.microsoft.com/office/powerpoint/2010/main" val="89960467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hart 4">
            <a:extLst>
              <a:ext uri="{FF2B5EF4-FFF2-40B4-BE49-F238E27FC236}">
                <a16:creationId xmlns:a16="http://schemas.microsoft.com/office/drawing/2014/main" id="{64450682-DD45-8F5F-277A-25E4F6A2F782}"/>
              </a:ext>
            </a:extLst>
          </p:cNvPr>
          <p:cNvGraphicFramePr/>
          <p:nvPr>
            <p:extLst>
              <p:ext uri="{D42A27DB-BD31-4B8C-83A1-F6EECF244321}">
                <p14:modId xmlns:p14="http://schemas.microsoft.com/office/powerpoint/2010/main" val="1632506835"/>
              </p:ext>
            </p:extLst>
          </p:nvPr>
        </p:nvGraphicFramePr>
        <p:xfrm>
          <a:off x="1510748" y="1854475"/>
          <a:ext cx="9157252" cy="4453560"/>
        </p:xfrm>
        <a:graphic>
          <a:graphicData uri="http://schemas.openxmlformats.org/drawingml/2006/chart">
            <c:chart xmlns:c="http://schemas.openxmlformats.org/drawingml/2006/chart" xmlns:r="http://schemas.openxmlformats.org/officeDocument/2006/relationships" r:id="rId2"/>
          </a:graphicData>
        </a:graphic>
      </p:graphicFrame>
      <p:sp>
        <p:nvSpPr>
          <p:cNvPr id="4" name="Rectangle: Single Corner Snipped 3">
            <a:extLst>
              <a:ext uri="{FF2B5EF4-FFF2-40B4-BE49-F238E27FC236}">
                <a16:creationId xmlns:a16="http://schemas.microsoft.com/office/drawing/2014/main" id="{0416F081-2A78-8247-056A-FCBF07E9C45C}"/>
              </a:ext>
            </a:extLst>
          </p:cNvPr>
          <p:cNvSpPr/>
          <p:nvPr/>
        </p:nvSpPr>
        <p:spPr>
          <a:xfrm>
            <a:off x="1099930" y="429610"/>
            <a:ext cx="9957353" cy="816094"/>
          </a:xfrm>
          <a:prstGeom prst="snip1Rect">
            <a:avLst/>
          </a:prstGeom>
        </p:spPr>
        <p:style>
          <a:lnRef idx="1">
            <a:schemeClr val="accent3"/>
          </a:lnRef>
          <a:fillRef idx="2">
            <a:schemeClr val="accent3"/>
          </a:fillRef>
          <a:effectRef idx="1">
            <a:schemeClr val="accent3"/>
          </a:effectRef>
          <a:fontRef idx="minor">
            <a:schemeClr val="dk1"/>
          </a:fontRef>
        </p:style>
        <p:txBody>
          <a:bodyPr rtlCol="0" anchor="ctr"/>
          <a:lstStyle/>
          <a:p>
            <a:pPr marL="0" marR="0" algn="ctr">
              <a:spcBef>
                <a:spcPts val="0"/>
              </a:spcBef>
              <a:spcAft>
                <a:spcPts val="0"/>
              </a:spcAft>
            </a:pPr>
            <a:r>
              <a:rPr lang="en-US" sz="2400" b="1" dirty="0">
                <a:effectLst/>
                <a:latin typeface="Times New Roman" panose="02020603050405020304" pitchFamily="18" charset="0"/>
                <a:ea typeface="Calibri" panose="020F0502020204030204" pitchFamily="34" charset="0"/>
                <a:cs typeface="Gautami" panose="020B0502040204020203" pitchFamily="34" charset="0"/>
              </a:rPr>
              <a:t>DISTRIBUTION OF STUDY POPULATION(MOTHERS) BASED ON RISK FACTORS RELATED TO MOTHER</a:t>
            </a:r>
            <a:endParaRPr lang="en-US" sz="2000" dirty="0">
              <a:effectLst/>
              <a:latin typeface="Calibri" panose="020F0502020204030204" pitchFamily="34" charset="0"/>
              <a:ea typeface="Calibri" panose="020F0502020204030204" pitchFamily="34" charset="0"/>
              <a:cs typeface="Gautami" panose="020B0502040204020203" pitchFamily="34" charset="0"/>
            </a:endParaRPr>
          </a:p>
        </p:txBody>
      </p:sp>
    </p:spTree>
    <p:extLst>
      <p:ext uri="{BB962C8B-B14F-4D97-AF65-F5344CB8AC3E}">
        <p14:creationId xmlns:p14="http://schemas.microsoft.com/office/powerpoint/2010/main" val="14515166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hart 3">
            <a:extLst>
              <a:ext uri="{FF2B5EF4-FFF2-40B4-BE49-F238E27FC236}">
                <a16:creationId xmlns:a16="http://schemas.microsoft.com/office/drawing/2014/main" id="{F72401EB-CAB2-0DE1-E9C7-9B44ED6A4AEA}"/>
              </a:ext>
            </a:extLst>
          </p:cNvPr>
          <p:cNvGraphicFramePr/>
          <p:nvPr>
            <p:extLst>
              <p:ext uri="{D42A27DB-BD31-4B8C-83A1-F6EECF244321}">
                <p14:modId xmlns:p14="http://schemas.microsoft.com/office/powerpoint/2010/main" val="2626328678"/>
              </p:ext>
            </p:extLst>
          </p:nvPr>
        </p:nvGraphicFramePr>
        <p:xfrm>
          <a:off x="1384852" y="2171147"/>
          <a:ext cx="9422296" cy="3924853"/>
        </p:xfrm>
        <a:graphic>
          <a:graphicData uri="http://schemas.openxmlformats.org/drawingml/2006/chart">
            <c:chart xmlns:c="http://schemas.openxmlformats.org/drawingml/2006/chart" xmlns:r="http://schemas.openxmlformats.org/officeDocument/2006/relationships" r:id="rId2"/>
          </a:graphicData>
        </a:graphic>
      </p:graphicFrame>
      <p:sp>
        <p:nvSpPr>
          <p:cNvPr id="5" name="Rectangle: Single Corner Snipped 4">
            <a:extLst>
              <a:ext uri="{FF2B5EF4-FFF2-40B4-BE49-F238E27FC236}">
                <a16:creationId xmlns:a16="http://schemas.microsoft.com/office/drawing/2014/main" id="{9167F52A-7B4E-8E78-FB29-D31CE0A8BF91}"/>
              </a:ext>
            </a:extLst>
          </p:cNvPr>
          <p:cNvSpPr/>
          <p:nvPr/>
        </p:nvSpPr>
        <p:spPr>
          <a:xfrm>
            <a:off x="1099930" y="429610"/>
            <a:ext cx="9957353" cy="816094"/>
          </a:xfrm>
          <a:prstGeom prst="snip1Rect">
            <a:avLst/>
          </a:prstGeom>
        </p:spPr>
        <p:style>
          <a:lnRef idx="1">
            <a:schemeClr val="accent3"/>
          </a:lnRef>
          <a:fillRef idx="2">
            <a:schemeClr val="accent3"/>
          </a:fillRef>
          <a:effectRef idx="1">
            <a:schemeClr val="accent3"/>
          </a:effectRef>
          <a:fontRef idx="minor">
            <a:schemeClr val="dk1"/>
          </a:fontRef>
        </p:style>
        <p:txBody>
          <a:bodyPr rtlCol="0" anchor="ctr"/>
          <a:lstStyle/>
          <a:p>
            <a:pPr marL="0" marR="0" algn="ctr">
              <a:spcBef>
                <a:spcPts val="0"/>
              </a:spcBef>
              <a:spcAft>
                <a:spcPts val="0"/>
              </a:spcAft>
            </a:pPr>
            <a:r>
              <a:rPr lang="en-US" sz="2400" b="1" dirty="0">
                <a:effectLst/>
                <a:latin typeface="Times New Roman" panose="02020603050405020304" pitchFamily="18" charset="0"/>
                <a:ea typeface="Calibri" panose="020F0502020204030204" pitchFamily="34" charset="0"/>
                <a:cs typeface="Gautami" panose="020B0502040204020203" pitchFamily="34" charset="0"/>
              </a:rPr>
              <a:t>DISTRIBUTION OF STUDY POPULATION(NEONATES) BASED ON RISK FACTORS RELATED TO NEONATES</a:t>
            </a:r>
            <a:endParaRPr lang="en-US" sz="2000" dirty="0">
              <a:effectLst/>
              <a:latin typeface="Calibri" panose="020F0502020204030204" pitchFamily="34" charset="0"/>
              <a:ea typeface="Calibri" panose="020F0502020204030204" pitchFamily="34" charset="0"/>
              <a:cs typeface="Gautami" panose="020B0502040204020203" pitchFamily="34" charset="0"/>
            </a:endParaRPr>
          </a:p>
        </p:txBody>
      </p:sp>
    </p:spTree>
    <p:extLst>
      <p:ext uri="{BB962C8B-B14F-4D97-AF65-F5344CB8AC3E}">
        <p14:creationId xmlns:p14="http://schemas.microsoft.com/office/powerpoint/2010/main" val="37103311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hart 4">
            <a:extLst>
              <a:ext uri="{FF2B5EF4-FFF2-40B4-BE49-F238E27FC236}">
                <a16:creationId xmlns:a16="http://schemas.microsoft.com/office/drawing/2014/main" id="{02BC7CCF-C686-E209-FE2A-9EF131DEF0D0}"/>
              </a:ext>
            </a:extLst>
          </p:cNvPr>
          <p:cNvGraphicFramePr/>
          <p:nvPr>
            <p:extLst>
              <p:ext uri="{D42A27DB-BD31-4B8C-83A1-F6EECF244321}">
                <p14:modId xmlns:p14="http://schemas.microsoft.com/office/powerpoint/2010/main" val="744235339"/>
              </p:ext>
            </p:extLst>
          </p:nvPr>
        </p:nvGraphicFramePr>
        <p:xfrm>
          <a:off x="1188554" y="1929296"/>
          <a:ext cx="9780104" cy="3914913"/>
        </p:xfrm>
        <a:graphic>
          <a:graphicData uri="http://schemas.openxmlformats.org/drawingml/2006/chart">
            <c:chart xmlns:c="http://schemas.openxmlformats.org/drawingml/2006/chart" xmlns:r="http://schemas.openxmlformats.org/officeDocument/2006/relationships" r:id="rId2"/>
          </a:graphicData>
        </a:graphic>
      </p:graphicFrame>
      <p:sp>
        <p:nvSpPr>
          <p:cNvPr id="4" name="Rectangle: Single Corner Snipped 3">
            <a:extLst>
              <a:ext uri="{FF2B5EF4-FFF2-40B4-BE49-F238E27FC236}">
                <a16:creationId xmlns:a16="http://schemas.microsoft.com/office/drawing/2014/main" id="{550D2E50-6802-B2D9-F673-A5FBC74845D5}"/>
              </a:ext>
            </a:extLst>
          </p:cNvPr>
          <p:cNvSpPr/>
          <p:nvPr/>
        </p:nvSpPr>
        <p:spPr>
          <a:xfrm>
            <a:off x="1099930" y="429610"/>
            <a:ext cx="9957353" cy="816094"/>
          </a:xfrm>
          <a:prstGeom prst="snip1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400" b="1" dirty="0">
                <a:effectLst/>
                <a:latin typeface="Times New Roman" panose="02020603050405020304" pitchFamily="18" charset="0"/>
                <a:ea typeface="Calibri" panose="020F0502020204030204" pitchFamily="34" charset="0"/>
              </a:rPr>
              <a:t>DISTRIBUTION OF STUDY POPULATION(NEONATES) BASED ON BILIRUBIN LEVELS ON DAY OF ADMISSION</a:t>
            </a:r>
            <a:endParaRPr lang="en-US" sz="2400" dirty="0"/>
          </a:p>
        </p:txBody>
      </p:sp>
    </p:spTree>
    <p:extLst>
      <p:ext uri="{BB962C8B-B14F-4D97-AF65-F5344CB8AC3E}">
        <p14:creationId xmlns:p14="http://schemas.microsoft.com/office/powerpoint/2010/main" val="180626080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hart 3">
            <a:extLst>
              <a:ext uri="{FF2B5EF4-FFF2-40B4-BE49-F238E27FC236}">
                <a16:creationId xmlns:a16="http://schemas.microsoft.com/office/drawing/2014/main" id="{3FE6673B-CE36-D0C7-C863-161E2C7DAF40}"/>
              </a:ext>
            </a:extLst>
          </p:cNvPr>
          <p:cNvGraphicFramePr/>
          <p:nvPr>
            <p:extLst>
              <p:ext uri="{D42A27DB-BD31-4B8C-83A1-F6EECF244321}">
                <p14:modId xmlns:p14="http://schemas.microsoft.com/office/powerpoint/2010/main" val="32437045"/>
              </p:ext>
            </p:extLst>
          </p:nvPr>
        </p:nvGraphicFramePr>
        <p:xfrm>
          <a:off x="1064315" y="2021109"/>
          <a:ext cx="10063369" cy="3770091"/>
        </p:xfrm>
        <a:graphic>
          <a:graphicData uri="http://schemas.openxmlformats.org/drawingml/2006/chart">
            <c:chart xmlns:c="http://schemas.openxmlformats.org/drawingml/2006/chart" xmlns:r="http://schemas.openxmlformats.org/officeDocument/2006/relationships" r:id="rId2"/>
          </a:graphicData>
        </a:graphic>
      </p:graphicFrame>
      <p:sp>
        <p:nvSpPr>
          <p:cNvPr id="5" name="Rectangle: Single Corner Snipped 4">
            <a:extLst>
              <a:ext uri="{FF2B5EF4-FFF2-40B4-BE49-F238E27FC236}">
                <a16:creationId xmlns:a16="http://schemas.microsoft.com/office/drawing/2014/main" id="{71541FB9-FC34-0DE7-6974-E754D1C1AFFC}"/>
              </a:ext>
            </a:extLst>
          </p:cNvPr>
          <p:cNvSpPr/>
          <p:nvPr/>
        </p:nvSpPr>
        <p:spPr>
          <a:xfrm>
            <a:off x="1139687" y="429610"/>
            <a:ext cx="9917596" cy="763086"/>
          </a:xfrm>
          <a:prstGeom prst="snip1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400" b="1" dirty="0">
                <a:effectLst/>
                <a:latin typeface="Times New Roman" panose="02020603050405020304" pitchFamily="18" charset="0"/>
                <a:ea typeface="Calibri" panose="020F0502020204030204" pitchFamily="34" charset="0"/>
              </a:rPr>
              <a:t>DISTRIBUTION OF STUDY POPULATION(NEONATES) BASED ON BILIRUBIN LEVELS ON DAY OF DISCHARGE</a:t>
            </a:r>
            <a:endParaRPr lang="en-US" sz="2400" dirty="0"/>
          </a:p>
        </p:txBody>
      </p:sp>
    </p:spTree>
    <p:extLst>
      <p:ext uri="{BB962C8B-B14F-4D97-AF65-F5344CB8AC3E}">
        <p14:creationId xmlns:p14="http://schemas.microsoft.com/office/powerpoint/2010/main" val="398450101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hart 4">
            <a:extLst>
              <a:ext uri="{FF2B5EF4-FFF2-40B4-BE49-F238E27FC236}">
                <a16:creationId xmlns:a16="http://schemas.microsoft.com/office/drawing/2014/main" id="{07607C72-206E-249C-CAC0-64CFE53968DD}"/>
              </a:ext>
            </a:extLst>
          </p:cNvPr>
          <p:cNvGraphicFramePr/>
          <p:nvPr>
            <p:extLst>
              <p:ext uri="{D42A27DB-BD31-4B8C-83A1-F6EECF244321}">
                <p14:modId xmlns:p14="http://schemas.microsoft.com/office/powerpoint/2010/main" val="4925580"/>
              </p:ext>
            </p:extLst>
          </p:nvPr>
        </p:nvGraphicFramePr>
        <p:xfrm>
          <a:off x="1524000" y="1745683"/>
          <a:ext cx="9144000" cy="4549099"/>
        </p:xfrm>
        <a:graphic>
          <a:graphicData uri="http://schemas.openxmlformats.org/drawingml/2006/chart">
            <c:chart xmlns:c="http://schemas.openxmlformats.org/drawingml/2006/chart" xmlns:r="http://schemas.openxmlformats.org/officeDocument/2006/relationships" r:id="rId2"/>
          </a:graphicData>
        </a:graphic>
      </p:graphicFrame>
      <p:sp>
        <p:nvSpPr>
          <p:cNvPr id="4" name="Rectangle: Single Corner Snipped 3">
            <a:extLst>
              <a:ext uri="{FF2B5EF4-FFF2-40B4-BE49-F238E27FC236}">
                <a16:creationId xmlns:a16="http://schemas.microsoft.com/office/drawing/2014/main" id="{6F6F4582-4A5C-C050-7391-DBB4AC83DBE5}"/>
              </a:ext>
            </a:extLst>
          </p:cNvPr>
          <p:cNvSpPr/>
          <p:nvPr/>
        </p:nvSpPr>
        <p:spPr>
          <a:xfrm>
            <a:off x="1139687" y="429610"/>
            <a:ext cx="9917596" cy="763086"/>
          </a:xfrm>
          <a:prstGeom prst="snip1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400" b="1" dirty="0">
                <a:effectLst/>
                <a:latin typeface="Times New Roman" panose="02020603050405020304" pitchFamily="18" charset="0"/>
                <a:ea typeface="Calibri" panose="020F0502020204030204" pitchFamily="34" charset="0"/>
              </a:rPr>
              <a:t>KNOWLEDGE OF MOTHERS ON NEONATAL JAUNDICE</a:t>
            </a:r>
            <a:endParaRPr lang="en-US" sz="2400" dirty="0"/>
          </a:p>
        </p:txBody>
      </p:sp>
    </p:spTree>
    <p:extLst>
      <p:ext uri="{BB962C8B-B14F-4D97-AF65-F5344CB8AC3E}">
        <p14:creationId xmlns:p14="http://schemas.microsoft.com/office/powerpoint/2010/main" val="286891306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hart 4">
            <a:extLst>
              <a:ext uri="{FF2B5EF4-FFF2-40B4-BE49-F238E27FC236}">
                <a16:creationId xmlns:a16="http://schemas.microsoft.com/office/drawing/2014/main" id="{AEDD40EC-F14E-788F-71EB-A6A9F495714E}"/>
              </a:ext>
            </a:extLst>
          </p:cNvPr>
          <p:cNvGraphicFramePr/>
          <p:nvPr>
            <p:extLst>
              <p:ext uri="{D42A27DB-BD31-4B8C-83A1-F6EECF244321}">
                <p14:modId xmlns:p14="http://schemas.microsoft.com/office/powerpoint/2010/main" val="979852175"/>
              </p:ext>
            </p:extLst>
          </p:nvPr>
        </p:nvGraphicFramePr>
        <p:xfrm>
          <a:off x="1199322" y="1837842"/>
          <a:ext cx="9793356" cy="3887098"/>
        </p:xfrm>
        <a:graphic>
          <a:graphicData uri="http://schemas.openxmlformats.org/drawingml/2006/chart">
            <c:chart xmlns:c="http://schemas.openxmlformats.org/drawingml/2006/chart" xmlns:r="http://schemas.openxmlformats.org/officeDocument/2006/relationships" r:id="rId2"/>
          </a:graphicData>
        </a:graphic>
      </p:graphicFrame>
      <p:sp>
        <p:nvSpPr>
          <p:cNvPr id="4" name="Rectangle: Single Corner Snipped 3">
            <a:extLst>
              <a:ext uri="{FF2B5EF4-FFF2-40B4-BE49-F238E27FC236}">
                <a16:creationId xmlns:a16="http://schemas.microsoft.com/office/drawing/2014/main" id="{A22D47C3-0783-8680-D3FC-C3987107A459}"/>
              </a:ext>
            </a:extLst>
          </p:cNvPr>
          <p:cNvSpPr/>
          <p:nvPr/>
        </p:nvSpPr>
        <p:spPr>
          <a:xfrm>
            <a:off x="1139687" y="389854"/>
            <a:ext cx="9917596" cy="763086"/>
          </a:xfrm>
          <a:prstGeom prst="snip1Rect">
            <a:avLst/>
          </a:prstGeom>
        </p:spPr>
        <p:style>
          <a:lnRef idx="1">
            <a:schemeClr val="accent3"/>
          </a:lnRef>
          <a:fillRef idx="2">
            <a:schemeClr val="accent3"/>
          </a:fillRef>
          <a:effectRef idx="1">
            <a:schemeClr val="accent3"/>
          </a:effectRef>
          <a:fontRef idx="minor">
            <a:schemeClr val="dk1"/>
          </a:fontRef>
        </p:style>
        <p:txBody>
          <a:bodyPr rtlCol="0" anchor="ctr"/>
          <a:lstStyle/>
          <a:p>
            <a:pPr marL="0" marR="0" algn="ctr">
              <a:spcBef>
                <a:spcPts val="0"/>
              </a:spcBef>
              <a:spcAft>
                <a:spcPts val="0"/>
              </a:spcAft>
            </a:pPr>
            <a:r>
              <a:rPr lang="en-US" sz="2400" b="1" dirty="0">
                <a:effectLst/>
                <a:latin typeface="Times New Roman" panose="02020603050405020304" pitchFamily="18" charset="0"/>
                <a:ea typeface="Calibri" panose="020F0502020204030204" pitchFamily="34" charset="0"/>
                <a:cs typeface="Gautami" panose="020B0502040204020203" pitchFamily="34" charset="0"/>
              </a:rPr>
              <a:t>KNOWLEDGE OF MOTHERS ABOUT SIGNS AND SYMPTOMS OF NEONATAL JAUNDICE</a:t>
            </a:r>
            <a:endParaRPr lang="en-US" sz="2000" dirty="0">
              <a:effectLst/>
              <a:latin typeface="Calibri" panose="020F0502020204030204" pitchFamily="34" charset="0"/>
              <a:ea typeface="Calibri" panose="020F0502020204030204" pitchFamily="34" charset="0"/>
              <a:cs typeface="Gautami" panose="020B0502040204020203" pitchFamily="34" charset="0"/>
            </a:endParaRPr>
          </a:p>
        </p:txBody>
      </p:sp>
    </p:spTree>
    <p:extLst>
      <p:ext uri="{BB962C8B-B14F-4D97-AF65-F5344CB8AC3E}">
        <p14:creationId xmlns:p14="http://schemas.microsoft.com/office/powerpoint/2010/main" val="372666220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hart 3">
            <a:extLst>
              <a:ext uri="{FF2B5EF4-FFF2-40B4-BE49-F238E27FC236}">
                <a16:creationId xmlns:a16="http://schemas.microsoft.com/office/drawing/2014/main" id="{435B0221-5BA5-289C-4805-C76C6D36508D}"/>
              </a:ext>
            </a:extLst>
          </p:cNvPr>
          <p:cNvGraphicFramePr/>
          <p:nvPr>
            <p:extLst>
              <p:ext uri="{D42A27DB-BD31-4B8C-83A1-F6EECF244321}">
                <p14:modId xmlns:p14="http://schemas.microsoft.com/office/powerpoint/2010/main" val="4007945657"/>
              </p:ext>
            </p:extLst>
          </p:nvPr>
        </p:nvGraphicFramePr>
        <p:xfrm>
          <a:off x="1384852" y="1789044"/>
          <a:ext cx="9422296" cy="4158600"/>
        </p:xfrm>
        <a:graphic>
          <a:graphicData uri="http://schemas.openxmlformats.org/drawingml/2006/chart">
            <c:chart xmlns:c="http://schemas.openxmlformats.org/drawingml/2006/chart" xmlns:r="http://schemas.openxmlformats.org/officeDocument/2006/relationships" r:id="rId2"/>
          </a:graphicData>
        </a:graphic>
      </p:graphicFrame>
      <p:sp>
        <p:nvSpPr>
          <p:cNvPr id="5" name="Rectangle: Single Corner Snipped 4">
            <a:extLst>
              <a:ext uri="{FF2B5EF4-FFF2-40B4-BE49-F238E27FC236}">
                <a16:creationId xmlns:a16="http://schemas.microsoft.com/office/drawing/2014/main" id="{BC466705-7F77-D4AB-7261-453D54363174}"/>
              </a:ext>
            </a:extLst>
          </p:cNvPr>
          <p:cNvSpPr/>
          <p:nvPr/>
        </p:nvSpPr>
        <p:spPr>
          <a:xfrm>
            <a:off x="1139687" y="389854"/>
            <a:ext cx="9917596" cy="763086"/>
          </a:xfrm>
          <a:prstGeom prst="snip1Rect">
            <a:avLst/>
          </a:prstGeom>
        </p:spPr>
        <p:style>
          <a:lnRef idx="1">
            <a:schemeClr val="accent3"/>
          </a:lnRef>
          <a:fillRef idx="2">
            <a:schemeClr val="accent3"/>
          </a:fillRef>
          <a:effectRef idx="1">
            <a:schemeClr val="accent3"/>
          </a:effectRef>
          <a:fontRef idx="minor">
            <a:schemeClr val="dk1"/>
          </a:fontRef>
        </p:style>
        <p:txBody>
          <a:bodyPr rtlCol="0" anchor="ctr"/>
          <a:lstStyle/>
          <a:p>
            <a:pPr marL="0" marR="0" algn="ctr">
              <a:spcBef>
                <a:spcPts val="0"/>
              </a:spcBef>
              <a:spcAft>
                <a:spcPts val="0"/>
              </a:spcAft>
            </a:pPr>
            <a:r>
              <a:rPr lang="en-US" sz="2400" b="1" dirty="0">
                <a:effectLst/>
                <a:latin typeface="Times New Roman" panose="02020603050405020304" pitchFamily="18" charset="0"/>
                <a:ea typeface="Calibri" panose="020F0502020204030204" pitchFamily="34" charset="0"/>
                <a:cs typeface="Gautami" panose="020B0502040204020203" pitchFamily="34" charset="0"/>
              </a:rPr>
              <a:t>KNOWLEDGE OF MOTHERS ON TREATMENT OF NEONATAL JAUNDICE</a:t>
            </a:r>
            <a:endParaRPr lang="en-US" sz="2000" dirty="0">
              <a:effectLst/>
              <a:latin typeface="Calibri" panose="020F0502020204030204" pitchFamily="34" charset="0"/>
              <a:ea typeface="Calibri" panose="020F0502020204030204" pitchFamily="34" charset="0"/>
              <a:cs typeface="Gautami" panose="020B0502040204020203" pitchFamily="34" charset="0"/>
            </a:endParaRPr>
          </a:p>
        </p:txBody>
      </p:sp>
    </p:spTree>
    <p:extLst>
      <p:ext uri="{BB962C8B-B14F-4D97-AF65-F5344CB8AC3E}">
        <p14:creationId xmlns:p14="http://schemas.microsoft.com/office/powerpoint/2010/main" val="184343833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E7179CF1-658C-DD63-0312-196999F2358E}"/>
              </a:ext>
            </a:extLst>
          </p:cNvPr>
          <p:cNvGraphicFramePr>
            <a:graphicFrameLocks noGrp="1"/>
          </p:cNvGraphicFramePr>
          <p:nvPr>
            <p:extLst>
              <p:ext uri="{D42A27DB-BD31-4B8C-83A1-F6EECF244321}">
                <p14:modId xmlns:p14="http://schemas.microsoft.com/office/powerpoint/2010/main" val="457883068"/>
              </p:ext>
            </p:extLst>
          </p:nvPr>
        </p:nvGraphicFramePr>
        <p:xfrm>
          <a:off x="715107" y="792681"/>
          <a:ext cx="10567182" cy="5852160"/>
        </p:xfrm>
        <a:graphic>
          <a:graphicData uri="http://schemas.openxmlformats.org/drawingml/2006/table">
            <a:tbl>
              <a:tblPr firstRow="1" bandRow="1">
                <a:tableStyleId>{2D5ABB26-0587-4C30-8999-92F81FD0307C}</a:tableStyleId>
              </a:tblPr>
              <a:tblGrid>
                <a:gridCol w="3950606">
                  <a:extLst>
                    <a:ext uri="{9D8B030D-6E8A-4147-A177-3AD203B41FA5}">
                      <a16:colId xmlns:a16="http://schemas.microsoft.com/office/drawing/2014/main" val="2256235243"/>
                    </a:ext>
                  </a:extLst>
                </a:gridCol>
                <a:gridCol w="4544579">
                  <a:extLst>
                    <a:ext uri="{9D8B030D-6E8A-4147-A177-3AD203B41FA5}">
                      <a16:colId xmlns:a16="http://schemas.microsoft.com/office/drawing/2014/main" val="734667763"/>
                    </a:ext>
                  </a:extLst>
                </a:gridCol>
                <a:gridCol w="2071997">
                  <a:extLst>
                    <a:ext uri="{9D8B030D-6E8A-4147-A177-3AD203B41FA5}">
                      <a16:colId xmlns:a16="http://schemas.microsoft.com/office/drawing/2014/main" val="3713597681"/>
                    </a:ext>
                  </a:extLst>
                </a:gridCol>
              </a:tblGrid>
              <a:tr h="318855">
                <a:tc>
                  <a:txBody>
                    <a:bodyPr/>
                    <a:lstStyle/>
                    <a:p>
                      <a:r>
                        <a:rPr lang="en-US" b="1" dirty="0"/>
                        <a:t>Parameter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1" dirty="0"/>
                        <a:t>Factors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1" dirty="0"/>
                        <a:t>P value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48164018"/>
                  </a:ext>
                </a:extLst>
              </a:tr>
              <a:tr h="318855">
                <a:tc rowSpan="4">
                  <a:txBody>
                    <a:bodyPr/>
                    <a:lstStyle/>
                    <a:p>
                      <a:endParaRPr lang="en-US" dirty="0"/>
                    </a:p>
                    <a:p>
                      <a:endParaRPr lang="en-US" dirty="0"/>
                    </a:p>
                    <a:p>
                      <a:r>
                        <a:rPr lang="en-US" dirty="0"/>
                        <a:t>Mother’s knowledge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Age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kern="1200" dirty="0">
                          <a:solidFill>
                            <a:schemeClr val="tx1"/>
                          </a:solidFill>
                          <a:effectLst/>
                          <a:latin typeface="+mn-lt"/>
                          <a:ea typeface="+mn-ea"/>
                          <a:cs typeface="+mn-cs"/>
                        </a:rPr>
                        <a:t>0.221782</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68829630"/>
                  </a:ext>
                </a:extLst>
              </a:tr>
              <a:tr h="318855">
                <a:tc v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Locality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kern="1200" dirty="0">
                          <a:solidFill>
                            <a:schemeClr val="tx1"/>
                          </a:solidFill>
                          <a:effectLst/>
                          <a:latin typeface="+mn-lt"/>
                          <a:ea typeface="+mn-ea"/>
                          <a:cs typeface="+mn-cs"/>
                        </a:rPr>
                        <a:t>0.78322</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8740046"/>
                  </a:ext>
                </a:extLst>
              </a:tr>
              <a:tr h="318855">
                <a:tc v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Primiparity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kern="1200" dirty="0">
                          <a:solidFill>
                            <a:schemeClr val="tx1"/>
                          </a:solidFill>
                          <a:effectLst/>
                          <a:latin typeface="+mn-lt"/>
                          <a:ea typeface="+mn-ea"/>
                          <a:cs typeface="+mn-cs"/>
                        </a:rPr>
                        <a:t>0.000167</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42454216"/>
                  </a:ext>
                </a:extLst>
              </a:tr>
              <a:tr h="318855">
                <a:tc v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Education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kern="1200" dirty="0">
                          <a:solidFill>
                            <a:schemeClr val="tx1"/>
                          </a:solidFill>
                          <a:effectLst/>
                          <a:latin typeface="+mn-lt"/>
                          <a:ea typeface="+mn-ea"/>
                          <a:cs typeface="+mn-cs"/>
                        </a:rPr>
                        <a:t>0.000736</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15567575"/>
                  </a:ext>
                </a:extLst>
              </a:tr>
              <a:tr h="318855">
                <a:tc rowSpan="5">
                  <a:txBody>
                    <a:bodyPr/>
                    <a:lstStyle/>
                    <a:p>
                      <a:endParaRPr lang="en-US" dirty="0"/>
                    </a:p>
                    <a:p>
                      <a:endParaRPr lang="en-US" dirty="0"/>
                    </a:p>
                    <a:p>
                      <a:r>
                        <a:rPr lang="en-US" dirty="0"/>
                        <a:t>Total serum bilirubin with maternal risk factors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No feeding during 1</a:t>
                      </a:r>
                      <a:r>
                        <a:rPr lang="en-US" baseline="30000" dirty="0"/>
                        <a:t>st</a:t>
                      </a:r>
                      <a:r>
                        <a:rPr lang="en-US" dirty="0"/>
                        <a:t> hour after birth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kern="1200" dirty="0">
                          <a:solidFill>
                            <a:schemeClr val="tx1"/>
                          </a:solidFill>
                          <a:effectLst/>
                          <a:latin typeface="+mn-lt"/>
                          <a:ea typeface="+mn-ea"/>
                          <a:cs typeface="+mn-cs"/>
                        </a:rPr>
                        <a:t>0.906782</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22248896"/>
                  </a:ext>
                </a:extLst>
              </a:tr>
              <a:tr h="318855">
                <a:tc v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Pre mature rupture of membrane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kern="1200" dirty="0">
                          <a:solidFill>
                            <a:schemeClr val="tx1"/>
                          </a:solidFill>
                          <a:effectLst/>
                          <a:latin typeface="+mn-lt"/>
                          <a:ea typeface="+mn-ea"/>
                          <a:cs typeface="+mn-cs"/>
                        </a:rPr>
                        <a:t>0.136583</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10893487"/>
                  </a:ext>
                </a:extLst>
              </a:tr>
              <a:tr h="318855">
                <a:tc v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Marital life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kern="1200" dirty="0">
                          <a:solidFill>
                            <a:schemeClr val="tx1"/>
                          </a:solidFill>
                          <a:effectLst/>
                          <a:latin typeface="+mn-lt"/>
                          <a:ea typeface="+mn-ea"/>
                          <a:cs typeface="+mn-cs"/>
                        </a:rPr>
                        <a:t>0.806963</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82033278"/>
                  </a:ext>
                </a:extLst>
              </a:tr>
              <a:tr h="318855">
                <a:tc v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Gestational diabetes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kern="1200" dirty="0">
                          <a:solidFill>
                            <a:schemeClr val="tx1"/>
                          </a:solidFill>
                          <a:effectLst/>
                          <a:latin typeface="+mn-lt"/>
                          <a:ea typeface="+mn-ea"/>
                          <a:cs typeface="+mn-cs"/>
                        </a:rPr>
                        <a:t>0.000131</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08348915"/>
                  </a:ext>
                </a:extLst>
              </a:tr>
              <a:tr h="318855">
                <a:tc v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Difficulty in feeding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kern="1200" dirty="0">
                          <a:solidFill>
                            <a:schemeClr val="tx1"/>
                          </a:solidFill>
                          <a:effectLst/>
                          <a:latin typeface="+mn-lt"/>
                          <a:ea typeface="+mn-ea"/>
                          <a:cs typeface="+mn-cs"/>
                        </a:rPr>
                        <a:t>0.079864</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53234079"/>
                  </a:ext>
                </a:extLst>
              </a:tr>
              <a:tr h="318855">
                <a:tc rowSpan="6">
                  <a:txBody>
                    <a:bodyPr/>
                    <a:lstStyle/>
                    <a:p>
                      <a:endParaRPr lang="en-US" dirty="0"/>
                    </a:p>
                    <a:p>
                      <a:endParaRPr lang="en-US" dirty="0"/>
                    </a:p>
                    <a:p>
                      <a:endParaRPr lang="en-US" dirty="0"/>
                    </a:p>
                    <a:p>
                      <a:r>
                        <a:rPr lang="en-US" dirty="0"/>
                        <a:t>Total serum bilirubin with neonatal risk factors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Sex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kern="1200" dirty="0">
                          <a:solidFill>
                            <a:schemeClr val="tx1"/>
                          </a:solidFill>
                          <a:effectLst/>
                          <a:latin typeface="+mn-lt"/>
                          <a:ea typeface="+mn-ea"/>
                          <a:cs typeface="+mn-cs"/>
                        </a:rPr>
                        <a:t>0.570795</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15940237"/>
                  </a:ext>
                </a:extLst>
              </a:tr>
              <a:tr h="318855">
                <a:tc v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Rh incompatibility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kern="1200" dirty="0">
                          <a:solidFill>
                            <a:schemeClr val="tx1"/>
                          </a:solidFill>
                          <a:effectLst/>
                          <a:latin typeface="+mn-lt"/>
                          <a:ea typeface="+mn-ea"/>
                          <a:cs typeface="+mn-cs"/>
                        </a:rPr>
                        <a:t>0.368256</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85519507"/>
                  </a:ext>
                </a:extLst>
              </a:tr>
              <a:tr h="318855">
                <a:tc vMerge="1">
                  <a:txBody>
                    <a:bodyPr/>
                    <a:lstStyle/>
                    <a:p>
                      <a:endParaRPr lang="en-US"/>
                    </a:p>
                  </a:txBody>
                  <a:tcPr/>
                </a:tc>
                <a:tc>
                  <a:txBody>
                    <a:bodyPr/>
                    <a:lstStyle/>
                    <a:p>
                      <a:r>
                        <a:rPr lang="en-US" dirty="0"/>
                        <a:t>ABO incompatibility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kern="1200" dirty="0">
                          <a:solidFill>
                            <a:schemeClr val="tx1"/>
                          </a:solidFill>
                          <a:effectLst/>
                          <a:latin typeface="+mn-lt"/>
                          <a:ea typeface="+mn-ea"/>
                          <a:cs typeface="+mn-cs"/>
                        </a:rPr>
                        <a:t>0.456893</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4435768"/>
                  </a:ext>
                </a:extLst>
              </a:tr>
              <a:tr h="318855">
                <a:tc v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Previous siblings with jaundice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kern="1200" dirty="0">
                          <a:solidFill>
                            <a:schemeClr val="tx1"/>
                          </a:solidFill>
                          <a:effectLst/>
                          <a:latin typeface="+mn-lt"/>
                          <a:ea typeface="+mn-ea"/>
                          <a:cs typeface="+mn-cs"/>
                        </a:rPr>
                        <a:t>0.061783</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04928186"/>
                  </a:ext>
                </a:extLst>
              </a:tr>
              <a:tr h="318855">
                <a:tc v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Term of pregnancy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kern="1200" dirty="0">
                          <a:solidFill>
                            <a:schemeClr val="tx1"/>
                          </a:solidFill>
                          <a:effectLst/>
                          <a:latin typeface="+mn-lt"/>
                          <a:ea typeface="+mn-ea"/>
                          <a:cs typeface="+mn-cs"/>
                        </a:rPr>
                        <a:t>0.181818</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62285809"/>
                  </a:ext>
                </a:extLst>
              </a:tr>
              <a:tr h="318855">
                <a:tc v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sepsis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kern="1200" dirty="0">
                          <a:solidFill>
                            <a:schemeClr val="tx1"/>
                          </a:solidFill>
                          <a:effectLst/>
                          <a:latin typeface="+mn-lt"/>
                          <a:ea typeface="+mn-ea"/>
                          <a:cs typeface="+mn-cs"/>
                        </a:rPr>
                        <a:t>0.116545</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40110790"/>
                  </a:ext>
                </a:extLst>
              </a:tr>
            </a:tbl>
          </a:graphicData>
        </a:graphic>
      </p:graphicFrame>
      <p:sp>
        <p:nvSpPr>
          <p:cNvPr id="5" name="Rectangle: Single Corner Snipped 4">
            <a:extLst>
              <a:ext uri="{FF2B5EF4-FFF2-40B4-BE49-F238E27FC236}">
                <a16:creationId xmlns:a16="http://schemas.microsoft.com/office/drawing/2014/main" id="{02B17962-4D86-1EBC-9C7B-54E9E6B45960}"/>
              </a:ext>
            </a:extLst>
          </p:cNvPr>
          <p:cNvSpPr/>
          <p:nvPr/>
        </p:nvSpPr>
        <p:spPr>
          <a:xfrm>
            <a:off x="3029345" y="125153"/>
            <a:ext cx="6133310" cy="479758"/>
          </a:xfrm>
          <a:prstGeom prst="snip1Rect">
            <a:avLst/>
          </a:prstGeom>
        </p:spPr>
        <p:style>
          <a:lnRef idx="1">
            <a:schemeClr val="accent3"/>
          </a:lnRef>
          <a:fillRef idx="2">
            <a:schemeClr val="accent3"/>
          </a:fillRef>
          <a:effectRef idx="1">
            <a:schemeClr val="accent3"/>
          </a:effectRef>
          <a:fontRef idx="minor">
            <a:schemeClr val="dk1"/>
          </a:fontRef>
        </p:style>
        <p:txBody>
          <a:bodyPr rtlCol="0" anchor="ctr"/>
          <a:lstStyle/>
          <a:p>
            <a:pPr marL="0" marR="0" algn="ctr">
              <a:spcBef>
                <a:spcPts val="0"/>
              </a:spcBef>
              <a:spcAft>
                <a:spcPts val="0"/>
              </a:spcAft>
            </a:pPr>
            <a:r>
              <a:rPr lang="en-US" sz="2400" b="1" dirty="0">
                <a:effectLst/>
                <a:latin typeface="Times New Roman" panose="02020603050405020304" pitchFamily="18" charset="0"/>
                <a:ea typeface="Calibri" panose="020F0502020204030204" pitchFamily="34" charset="0"/>
                <a:cs typeface="Gautami" panose="020B0502040204020203" pitchFamily="34" charset="0"/>
              </a:rPr>
              <a:t>SATISTICAL DATA</a:t>
            </a:r>
            <a:endParaRPr lang="en-US" sz="2000" dirty="0">
              <a:effectLst/>
              <a:latin typeface="Calibri" panose="020F0502020204030204" pitchFamily="34" charset="0"/>
              <a:ea typeface="Calibri" panose="020F0502020204030204" pitchFamily="34" charset="0"/>
              <a:cs typeface="Gautami" panose="020B0502040204020203" pitchFamily="34" charset="0"/>
            </a:endParaRPr>
          </a:p>
        </p:txBody>
      </p:sp>
    </p:spTree>
    <p:extLst>
      <p:ext uri="{BB962C8B-B14F-4D97-AF65-F5344CB8AC3E}">
        <p14:creationId xmlns:p14="http://schemas.microsoft.com/office/powerpoint/2010/main" val="318317060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FAE1E6-3056-F238-E61E-EBD66530B6B2}"/>
              </a:ext>
            </a:extLst>
          </p:cNvPr>
          <p:cNvSpPr>
            <a:spLocks noGrp="1"/>
          </p:cNvSpPr>
          <p:nvPr>
            <p:ph type="title"/>
          </p:nvPr>
        </p:nvSpPr>
        <p:spPr/>
        <p:txBody>
          <a:bodyPr/>
          <a:lstStyle/>
          <a:p>
            <a:r>
              <a:rPr lang="en-US" dirty="0"/>
              <a:t>discussion</a:t>
            </a:r>
          </a:p>
        </p:txBody>
      </p:sp>
    </p:spTree>
    <p:extLst>
      <p:ext uri="{BB962C8B-B14F-4D97-AF65-F5344CB8AC3E}">
        <p14:creationId xmlns:p14="http://schemas.microsoft.com/office/powerpoint/2010/main" val="80796842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7A8D174-1B63-1F48-75B2-7D42D3998E96}"/>
              </a:ext>
            </a:extLst>
          </p:cNvPr>
          <p:cNvSpPr txBox="1"/>
          <p:nvPr/>
        </p:nvSpPr>
        <p:spPr>
          <a:xfrm>
            <a:off x="520505" y="1624010"/>
            <a:ext cx="11141612" cy="4199611"/>
          </a:xfrm>
          <a:prstGeom prst="rect">
            <a:avLst/>
          </a:prstGeom>
          <a:noFill/>
        </p:spPr>
        <p:txBody>
          <a:bodyPr wrap="square">
            <a:spAutoFit/>
          </a:bodyPr>
          <a:lstStyle/>
          <a:p>
            <a:pPr marL="0" marR="0" algn="just">
              <a:lnSpc>
                <a:spcPct val="150000"/>
              </a:lnSpc>
              <a:spcBef>
                <a:spcPts val="0"/>
              </a:spcBef>
              <a:spcAft>
                <a:spcPts val="0"/>
              </a:spcAft>
            </a:pPr>
            <a:r>
              <a:rPr lang="en-US" sz="2000" b="1" dirty="0">
                <a:solidFill>
                  <a:schemeClr val="accent1">
                    <a:lumMod val="75000"/>
                  </a:schemeClr>
                </a:solidFill>
                <a:effectLst/>
                <a:latin typeface="Times New Roman" panose="02020603050405020304" pitchFamily="18" charset="0"/>
                <a:ea typeface="Calibri" panose="020F0502020204030204" pitchFamily="34" charset="0"/>
                <a:cs typeface="Times New Roman" panose="02020603050405020304" pitchFamily="18" charset="0"/>
              </a:rPr>
              <a:t>DISTRIBUTION OF STUDY POPULATION (MOTHERS AND NEONATES) BASED ON DEMOGRAPHIC DETAILS</a:t>
            </a:r>
            <a:endParaRPr lang="en-US" sz="2000" dirty="0">
              <a:solidFill>
                <a:schemeClr val="accent1">
                  <a:lumMod val="75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p>
            <a:pPr marL="285750" marR="0" indent="-285750" algn="just">
              <a:lnSpc>
                <a:spcPct val="150000"/>
              </a:lnSpc>
              <a:spcBef>
                <a:spcPts val="0"/>
              </a:spcBef>
              <a:spcAft>
                <a:spcPts val="0"/>
              </a:spcAft>
              <a:buFont typeface="Wingdings" panose="05000000000000000000" pitchFamily="2" charset="2"/>
              <a:buChar char="Ø"/>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The most numbers of study subjects are in 25-29 age groups with 45.26% of the total study population. The least number of study subjects are in 35-39 age groups with 8.42% of the total study population. The mean age of the mothers was found to be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27.610±</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4.354.</a:t>
            </a:r>
          </a:p>
          <a:p>
            <a:pPr marL="285750" indent="-285750" algn="just">
              <a:lnSpc>
                <a:spcPct val="150000"/>
              </a:lnSpc>
              <a:buFont typeface="Wingdings" panose="05000000000000000000" pitchFamily="2" charset="2"/>
              <a:buChar char="Ø"/>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During the study period, it was found that 46 study subjects have completed their education till graduation, 9 subjects till post-graduation, 13 completed till intermediate, 2 of them completed their diploma and 25 subjects completed their schooling.</a:t>
            </a:r>
          </a:p>
          <a:p>
            <a:pPr marL="0" marR="0" algn="just">
              <a:lnSpc>
                <a:spcPct val="150000"/>
              </a:lnSpc>
              <a:spcBef>
                <a:spcPts val="0"/>
              </a:spcBef>
              <a:spcAft>
                <a:spcPts val="0"/>
              </a:spcAft>
            </a:pP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42EBBCC1-FF1B-365D-677A-AB2C981330E2}"/>
              </a:ext>
            </a:extLst>
          </p:cNvPr>
          <p:cNvSpPr/>
          <p:nvPr/>
        </p:nvSpPr>
        <p:spPr>
          <a:xfrm>
            <a:off x="2451653" y="252020"/>
            <a:ext cx="7606747" cy="993913"/>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marL="0" marR="0" algn="ctr">
              <a:spcBef>
                <a:spcPts val="0"/>
              </a:spcBef>
              <a:spcAft>
                <a:spcPts val="0"/>
              </a:spcAft>
            </a:pPr>
            <a:r>
              <a:rPr lang="en-US" sz="4000" b="1" dirty="0">
                <a:effectLst/>
                <a:latin typeface="Times New Roman" panose="02020603050405020304" pitchFamily="18" charset="0"/>
                <a:ea typeface="Calibri" panose="020F0502020204030204" pitchFamily="34" charset="0"/>
                <a:cs typeface="Gautami" panose="020B0502040204020203" pitchFamily="34" charset="0"/>
              </a:rPr>
              <a:t>DISCUSSION</a:t>
            </a:r>
            <a:endParaRPr lang="en-US" sz="4000" dirty="0">
              <a:effectLst/>
              <a:latin typeface="Calibri" panose="020F0502020204030204" pitchFamily="34" charset="0"/>
              <a:ea typeface="Calibri" panose="020F0502020204030204" pitchFamily="34" charset="0"/>
              <a:cs typeface="Gautami" panose="020B0502040204020203" pitchFamily="34" charset="0"/>
            </a:endParaRPr>
          </a:p>
        </p:txBody>
      </p:sp>
    </p:spTree>
    <p:extLst>
      <p:ext uri="{BB962C8B-B14F-4D97-AF65-F5344CB8AC3E}">
        <p14:creationId xmlns:p14="http://schemas.microsoft.com/office/powerpoint/2010/main" val="362009027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BEB5A35-844B-1B36-982C-4CDCE14ED7D0}"/>
              </a:ext>
            </a:extLst>
          </p:cNvPr>
          <p:cNvSpPr txBox="1"/>
          <p:nvPr/>
        </p:nvSpPr>
        <p:spPr>
          <a:xfrm>
            <a:off x="868017" y="745859"/>
            <a:ext cx="10455965" cy="4199611"/>
          </a:xfrm>
          <a:prstGeom prst="rect">
            <a:avLst/>
          </a:prstGeom>
          <a:noFill/>
        </p:spPr>
        <p:txBody>
          <a:bodyPr wrap="square">
            <a:spAutoFit/>
          </a:bodyPr>
          <a:lstStyle/>
          <a:p>
            <a:pPr marL="0" marR="0" algn="just">
              <a:lnSpc>
                <a:spcPct val="150000"/>
              </a:lnSpc>
              <a:spcBef>
                <a:spcPts val="0"/>
              </a:spcBef>
              <a:spcAft>
                <a:spcPts val="0"/>
              </a:spcAft>
            </a:pPr>
            <a:r>
              <a:rPr lang="en-US" sz="2000" b="1" dirty="0">
                <a:solidFill>
                  <a:schemeClr val="accent1">
                    <a:lumMod val="75000"/>
                  </a:schemeClr>
                </a:solidFill>
                <a:effectLst/>
                <a:latin typeface="Times New Roman" panose="02020603050405020304" pitchFamily="18" charset="0"/>
                <a:ea typeface="Calibri" panose="020F0502020204030204" pitchFamily="34" charset="0"/>
                <a:cs typeface="Times New Roman" panose="02020603050405020304" pitchFamily="18" charset="0"/>
              </a:rPr>
              <a:t>DISTRIBUTION OF STUDY POPULATION BASED ON BIRTH WEIGHT AND PRE-TERM OR FULL TERM</a:t>
            </a:r>
            <a:endParaRPr lang="en-US" sz="2000" dirty="0">
              <a:solidFill>
                <a:schemeClr val="accent1">
                  <a:lumMod val="75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p>
            <a:pPr marL="285750" marR="0" indent="-285750" algn="just">
              <a:lnSpc>
                <a:spcPct val="150000"/>
              </a:lnSpc>
              <a:spcBef>
                <a:spcPts val="0"/>
              </a:spcBef>
              <a:spcAft>
                <a:spcPts val="0"/>
              </a:spcAft>
              <a:buFont typeface="Wingdings" panose="05000000000000000000" pitchFamily="2" charset="2"/>
              <a:buChar char="Ø"/>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In the total study population, the majority of full-term neonates had birth weight of 3-3.2 kgs and least number of study subjects were 2.2-2.4 kgs. In pre term neonates, majority of study subjects had birth weight of 2.8- 3 kgs and least number of them had birthweight of 2-2.2 kgs. The mean birth weight of full-term neonates is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2.855± 0.396 and in pre term is 2.857±</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0.398.</a:t>
            </a:r>
          </a:p>
          <a:p>
            <a:pPr marL="285750" indent="-285750" algn="just">
              <a:lnSpc>
                <a:spcPct val="150000"/>
              </a:lnSpc>
              <a:buFont typeface="Wingdings" panose="05000000000000000000" pitchFamily="2" charset="2"/>
              <a:buChar char="Ø"/>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In a systemic review performed by </a:t>
            </a: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Hassan </a:t>
            </a:r>
            <a:r>
              <a:rPr lang="en-US" sz="20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Boskabadi</a:t>
            </a: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et al. have found that prematurity was associated with neonatal jaundice.</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50000"/>
              </a:lnSpc>
              <a:spcBef>
                <a:spcPts val="0"/>
              </a:spcBef>
              <a:spcAft>
                <a:spcPts val="0"/>
              </a:spcAft>
            </a:pP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515526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37A3BA8-A2A3-AF9E-FEFF-8C822092A4B4}"/>
              </a:ext>
            </a:extLst>
          </p:cNvPr>
          <p:cNvSpPr txBox="1"/>
          <p:nvPr/>
        </p:nvSpPr>
        <p:spPr>
          <a:xfrm>
            <a:off x="940905" y="650215"/>
            <a:ext cx="10310190" cy="5115311"/>
          </a:xfrm>
          <a:prstGeom prst="rect">
            <a:avLst/>
          </a:prstGeom>
          <a:noFill/>
        </p:spPr>
        <p:txBody>
          <a:bodyPr wrap="square">
            <a:spAutoFit/>
          </a:bodyPr>
          <a:lstStyle/>
          <a:p>
            <a:pPr marL="0" marR="0" algn="just">
              <a:lnSpc>
                <a:spcPct val="150000"/>
              </a:lnSpc>
              <a:spcBef>
                <a:spcPts val="0"/>
              </a:spcBef>
              <a:spcAft>
                <a:spcPts val="0"/>
              </a:spcAft>
            </a:pPr>
            <a:r>
              <a:rPr lang="en-US" sz="2000" b="1" dirty="0">
                <a:solidFill>
                  <a:schemeClr val="accent1">
                    <a:lumMod val="75000"/>
                  </a:schemeClr>
                </a:solidFill>
                <a:effectLst/>
                <a:latin typeface="Times New Roman" panose="02020603050405020304" pitchFamily="18" charset="0"/>
                <a:ea typeface="Calibri" panose="020F0502020204030204" pitchFamily="34" charset="0"/>
                <a:cs typeface="Times New Roman" panose="02020603050405020304" pitchFamily="18" charset="0"/>
              </a:rPr>
              <a:t>DISTRIBUTION OF STUDY POPULATION BASED ON RISK FACTORS RELATED TO MOTHER</a:t>
            </a:r>
            <a:endParaRPr lang="en-US" sz="2000" dirty="0">
              <a:solidFill>
                <a:schemeClr val="accent1">
                  <a:lumMod val="75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p>
            <a:pPr marL="285750" marR="0" indent="-285750" algn="just">
              <a:lnSpc>
                <a:spcPct val="150000"/>
              </a:lnSpc>
              <a:spcBef>
                <a:spcPts val="0"/>
              </a:spcBef>
              <a:spcAft>
                <a:spcPts val="0"/>
              </a:spcAft>
              <a:buFont typeface="Wingdings" panose="05000000000000000000" pitchFamily="2" charset="2"/>
              <a:buChar char="Ø"/>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The most common risk factor related to mothers was found to be no feeding during 1</a:t>
            </a:r>
            <a:r>
              <a:rPr lang="en-US" sz="2000" baseline="30000" dirty="0">
                <a:effectLst/>
                <a:latin typeface="Times New Roman" panose="02020603050405020304" pitchFamily="18" charset="0"/>
                <a:ea typeface="Calibri" panose="020F0502020204030204" pitchFamily="34" charset="0"/>
                <a:cs typeface="Times New Roman" panose="02020603050405020304" pitchFamily="18" charset="0"/>
              </a:rPr>
              <a:t>st</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hour after delivery (64.21%) and the least common risk factor was found to be preeclampsia (1.05%).</a:t>
            </a:r>
          </a:p>
          <a:p>
            <a:pPr marL="285750" marR="0" indent="-285750" algn="just">
              <a:lnSpc>
                <a:spcPct val="150000"/>
              </a:lnSpc>
              <a:spcBef>
                <a:spcPts val="0"/>
              </a:spcBef>
              <a:spcAft>
                <a:spcPts val="0"/>
              </a:spcAft>
              <a:buFont typeface="Wingdings" panose="05000000000000000000" pitchFamily="2" charset="2"/>
              <a:buChar char="Ø"/>
            </a:pP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Similar study was performed by Hassan </a:t>
            </a:r>
            <a:r>
              <a:rPr lang="en-US" sz="20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Boskabadi</a:t>
            </a: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et al. The study concluded with list of maternal risk factors includes pregnancy problems(prematurity, premature rupture of membrane, negative maternal Rh), maternal diseases(hypertension, diabetes, preeclampsia, gestational infections), labor problems(type of delivery, cephalohematoma, place of delivery, delayed labor, delivery trauma, complications), breastfeeding problems(breast problems, reduced feeding, inappropriate breastfeeding technique) and other factors like maternal age, first delivery, abortion history.</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28296046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1FCFC18-8ECB-AE8B-6737-07E6F6D65CF6}"/>
              </a:ext>
            </a:extLst>
          </p:cNvPr>
          <p:cNvSpPr txBox="1"/>
          <p:nvPr/>
        </p:nvSpPr>
        <p:spPr>
          <a:xfrm>
            <a:off x="318052" y="543339"/>
            <a:ext cx="11555896" cy="5576976"/>
          </a:xfrm>
          <a:prstGeom prst="rect">
            <a:avLst/>
          </a:prstGeom>
          <a:noFill/>
        </p:spPr>
        <p:txBody>
          <a:bodyPr wrap="square">
            <a:spAutoFit/>
          </a:bodyPr>
          <a:lstStyle/>
          <a:p>
            <a:pPr marR="0" algn="just">
              <a:lnSpc>
                <a:spcPct val="150000"/>
              </a:lnSpc>
              <a:spcBef>
                <a:spcPts val="0"/>
              </a:spcBef>
              <a:spcAft>
                <a:spcPts val="0"/>
              </a:spcAft>
            </a:pPr>
            <a:r>
              <a:rPr lang="en-US" sz="2000" b="1" dirty="0">
                <a:solidFill>
                  <a:schemeClr val="accent1">
                    <a:lumMod val="75000"/>
                  </a:schemeClr>
                </a:solidFill>
                <a:effectLst/>
                <a:latin typeface="Times New Roman" panose="02020603050405020304" pitchFamily="18" charset="0"/>
                <a:ea typeface="Calibri" panose="020F0502020204030204" pitchFamily="34" charset="0"/>
                <a:cs typeface="Times New Roman" panose="02020603050405020304" pitchFamily="18" charset="0"/>
              </a:rPr>
              <a:t>DISTRIBUTION OF STUDY POPULATION BASED ON RISK FACTORS RELATED TO NEONATES</a:t>
            </a:r>
            <a:endParaRPr lang="en-US" sz="2000" dirty="0">
              <a:solidFill>
                <a:schemeClr val="accent1">
                  <a:lumMod val="75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indent="-342900" algn="just">
              <a:lnSpc>
                <a:spcPct val="150000"/>
              </a:lnSpc>
              <a:spcBef>
                <a:spcPts val="0"/>
              </a:spcBef>
              <a:spcAft>
                <a:spcPts val="0"/>
              </a:spcAft>
              <a:buFont typeface="Wingdings" panose="05000000000000000000" pitchFamily="2" charset="2"/>
              <a:buChar char="Ø"/>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The most common risk factor in both full term and pre term neonates was male sex with percentages of 55.55% and 43.75% respectively. The least common risk factor in full term neonates was sepsis and Rh incompatibility (6.34%) and in pre term neonates was Rh incompatibility (6.25%).</a:t>
            </a:r>
          </a:p>
          <a:p>
            <a:pPr marL="342900" marR="0" indent="-342900" algn="just">
              <a:lnSpc>
                <a:spcPct val="150000"/>
              </a:lnSpc>
              <a:spcBef>
                <a:spcPts val="0"/>
              </a:spcBef>
              <a:spcAft>
                <a:spcPts val="0"/>
              </a:spcAft>
              <a:buFont typeface="Wingdings" panose="05000000000000000000" pitchFamily="2" charset="2"/>
              <a:buChar char="Ø"/>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Similar studies were performed by </a:t>
            </a:r>
            <a:r>
              <a:rPr lang="en-US" sz="2000" dirty="0" err="1">
                <a:effectLst/>
                <a:latin typeface="Times New Roman" panose="02020603050405020304" pitchFamily="18" charset="0"/>
                <a:ea typeface="Times New Roman" panose="02020603050405020304" pitchFamily="18" charset="0"/>
                <a:cs typeface="Times New Roman" panose="02020603050405020304" pitchFamily="18" charset="0"/>
              </a:rPr>
              <a:t>Murekatete</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 C, et al. This study found that Gestational age, ABO and other blood group incompatibilities, Birth weight, neonatal gender, infections, prematurity and C-section were associated with neonatal jaundice.</a:t>
            </a:r>
            <a:r>
              <a:rPr lang="en-US" sz="2000" baseline="30000" dirty="0">
                <a:effectLst/>
                <a:latin typeface="Times New Roman" panose="02020603050405020304" pitchFamily="18" charset="0"/>
                <a:ea typeface="Times New Roman" panose="02020603050405020304" pitchFamily="18" charset="0"/>
                <a:cs typeface="Times New Roman" panose="02020603050405020304" pitchFamily="18" charset="0"/>
              </a:rPr>
              <a:t>[11]</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indent="-342900" algn="just">
              <a:lnSpc>
                <a:spcPct val="150000"/>
              </a:lnSpc>
              <a:spcBef>
                <a:spcPts val="0"/>
              </a:spcBef>
              <a:spcAft>
                <a:spcPts val="0"/>
              </a:spcAft>
              <a:buFont typeface="Wingdings" panose="05000000000000000000" pitchFamily="2" charset="2"/>
              <a:buChar char="Ø"/>
            </a:pP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In another study performed by </a:t>
            </a:r>
            <a:r>
              <a:rPr lang="en-US" sz="20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Asmamaw</a:t>
            </a: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demis</a:t>
            </a: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bizureh</a:t>
            </a: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et al. found out prolonged </a:t>
            </a:r>
            <a:r>
              <a:rPr lang="en-US" sz="20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labour</a:t>
            </a: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low birth weight, sepsis, birth asphyxia, hypothermia, sex were risk factors of Neonatal jaundice.</a:t>
            </a:r>
            <a:r>
              <a:rPr lang="en-US" sz="2000" baseline="30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[23]</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indent="-342900" algn="just">
              <a:lnSpc>
                <a:spcPct val="150000"/>
              </a:lnSpc>
              <a:spcBef>
                <a:spcPts val="0"/>
              </a:spcBef>
              <a:spcAft>
                <a:spcPts val="0"/>
              </a:spcAft>
              <a:buFont typeface="Wingdings" panose="05000000000000000000" pitchFamily="2" charset="2"/>
              <a:buChar char="Ø"/>
            </a:pP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Study performed by </a:t>
            </a:r>
            <a:r>
              <a:rPr lang="en-US" sz="20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Stephanee</a:t>
            </a: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campbell</a:t>
            </a: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wagemann</a:t>
            </a: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patricia</a:t>
            </a: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mena</a:t>
            </a: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nannig</a:t>
            </a: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found out male sex, prematurity, excessive weight loss and blood group incompatibility were the risk factors for severe hyperbilirubinemia.</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08518382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B2E521B-78AF-2838-BFC9-9E692895435B}"/>
              </a:ext>
            </a:extLst>
          </p:cNvPr>
          <p:cNvSpPr txBox="1"/>
          <p:nvPr/>
        </p:nvSpPr>
        <p:spPr>
          <a:xfrm>
            <a:off x="410818" y="178847"/>
            <a:ext cx="11569148" cy="6500306"/>
          </a:xfrm>
          <a:prstGeom prst="rect">
            <a:avLst/>
          </a:prstGeom>
          <a:noFill/>
        </p:spPr>
        <p:txBody>
          <a:bodyPr wrap="square">
            <a:spAutoFit/>
          </a:bodyPr>
          <a:lstStyle/>
          <a:p>
            <a:pPr marR="0" algn="just">
              <a:lnSpc>
                <a:spcPct val="150000"/>
              </a:lnSpc>
              <a:spcBef>
                <a:spcPts val="0"/>
              </a:spcBef>
              <a:spcAft>
                <a:spcPts val="0"/>
              </a:spcAft>
            </a:pPr>
            <a:r>
              <a:rPr lang="en-US" sz="2000" b="1" dirty="0">
                <a:solidFill>
                  <a:schemeClr val="accent1">
                    <a:lumMod val="75000"/>
                  </a:schemeClr>
                </a:solidFill>
                <a:effectLst/>
                <a:latin typeface="Times New Roman" panose="02020603050405020304" pitchFamily="18" charset="0"/>
                <a:ea typeface="Calibri" panose="020F0502020204030204" pitchFamily="34" charset="0"/>
                <a:cs typeface="Times New Roman" panose="02020603050405020304" pitchFamily="18" charset="0"/>
              </a:rPr>
              <a:t>DISTRIBUTION OF STUDY POPULATION(NEONATES) BASED ON BILIRUBIN LEVELS ON DAY OF ADMISSION</a:t>
            </a:r>
            <a:endParaRPr lang="en-US" sz="2000" dirty="0">
              <a:solidFill>
                <a:schemeClr val="accent1">
                  <a:lumMod val="75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indent="-342900" algn="just">
              <a:lnSpc>
                <a:spcPct val="150000"/>
              </a:lnSpc>
              <a:spcBef>
                <a:spcPts val="0"/>
              </a:spcBef>
              <a:spcAft>
                <a:spcPts val="0"/>
              </a:spcAft>
              <a:buFont typeface="Wingdings" panose="05000000000000000000" pitchFamily="2" charset="2"/>
              <a:buChar char="Ø"/>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During the study, majority of full-term neonates had bilirubin levels of 12-14mg/dl and pre-term neonates had bilirubin levels of 12-13mg/dl on day of admission. Least number of full-term neonates had bilirubin levels of 10-11mg/dl and 16-17mg/dl and pre-term neonates had bilirubin levels of 16-17mg/dl on day of admission.</a:t>
            </a:r>
          </a:p>
          <a:p>
            <a:pPr marL="342900" marR="0" indent="-342900" algn="just">
              <a:lnSpc>
                <a:spcPct val="150000"/>
              </a:lnSpc>
              <a:spcBef>
                <a:spcPts val="0"/>
              </a:spcBef>
              <a:spcAft>
                <a:spcPts val="0"/>
              </a:spcAft>
              <a:buFont typeface="Wingdings" panose="05000000000000000000" pitchFamily="2" charset="2"/>
              <a:buChar char="Ø"/>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The average total serum bilirubin on day of admission was found to be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13.189±</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1.407.</a:t>
            </a:r>
          </a:p>
          <a:p>
            <a:pPr marL="0" marR="0" algn="just">
              <a:lnSpc>
                <a:spcPct val="150000"/>
              </a:lnSpc>
              <a:spcBef>
                <a:spcPts val="0"/>
              </a:spcBef>
              <a:spcAft>
                <a:spcPts val="0"/>
              </a:spcAft>
            </a:pPr>
            <a:r>
              <a:rPr lang="en-US" sz="2000" b="1" dirty="0">
                <a:solidFill>
                  <a:schemeClr val="accent1">
                    <a:lumMod val="75000"/>
                  </a:schemeClr>
                </a:solidFill>
                <a:effectLst/>
                <a:latin typeface="Times New Roman" panose="02020603050405020304" pitchFamily="18" charset="0"/>
                <a:ea typeface="Calibri" panose="020F0502020204030204" pitchFamily="34" charset="0"/>
                <a:cs typeface="Times New Roman" panose="02020603050405020304" pitchFamily="18" charset="0"/>
              </a:rPr>
              <a:t>DISTRIBUTION OF STUDY POPULATION(NEONATES) BASED ON BILIRUBIN LEVELS ON DAY OF DISCHARGE</a:t>
            </a:r>
            <a:endParaRPr lang="en-US" sz="2000" dirty="0">
              <a:solidFill>
                <a:schemeClr val="accent1">
                  <a:lumMod val="75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indent="-342900" algn="just">
              <a:lnSpc>
                <a:spcPct val="150000"/>
              </a:lnSpc>
              <a:spcBef>
                <a:spcPts val="0"/>
              </a:spcBef>
              <a:spcAft>
                <a:spcPts val="0"/>
              </a:spcAft>
              <a:buFont typeface="Wingdings" panose="05000000000000000000" pitchFamily="2" charset="2"/>
              <a:buChar char="Ø"/>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During the study, majority of full-term neonates had bilirubin levels of 7-8mg/dl and pre-term neonates had bilirubin levels of 9-10mg/dl on day of discharge. </a:t>
            </a:r>
          </a:p>
          <a:p>
            <a:pPr marL="342900" marR="0" indent="-342900" algn="just">
              <a:lnSpc>
                <a:spcPct val="150000"/>
              </a:lnSpc>
              <a:spcBef>
                <a:spcPts val="0"/>
              </a:spcBef>
              <a:spcAft>
                <a:spcPts val="0"/>
              </a:spcAft>
              <a:buFont typeface="Wingdings" panose="05000000000000000000" pitchFamily="2" charset="2"/>
              <a:buChar char="Ø"/>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Least number of full-term neonates had bilirubin levels of 3-4mg/dl and pre-term neonates had bilirubin levels of 3-4 mg/dl and 11-12mg/dl on day of discharge. </a:t>
            </a:r>
          </a:p>
          <a:p>
            <a:pPr marL="342900" marR="0" indent="-342900" algn="just">
              <a:lnSpc>
                <a:spcPct val="150000"/>
              </a:lnSpc>
              <a:spcBef>
                <a:spcPts val="0"/>
              </a:spcBef>
              <a:spcAft>
                <a:spcPts val="0"/>
              </a:spcAft>
              <a:buFont typeface="Wingdings" panose="05000000000000000000" pitchFamily="2" charset="2"/>
              <a:buChar char="Ø"/>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The average total serum bilirubin on day of discharge was found to be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8.015±</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1.915.</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20820818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FBD17E5-636B-BC45-6961-A8E141213DF9}"/>
              </a:ext>
            </a:extLst>
          </p:cNvPr>
          <p:cNvSpPr txBox="1"/>
          <p:nvPr/>
        </p:nvSpPr>
        <p:spPr>
          <a:xfrm>
            <a:off x="457200" y="502878"/>
            <a:ext cx="11277600" cy="5121274"/>
          </a:xfrm>
          <a:prstGeom prst="rect">
            <a:avLst/>
          </a:prstGeom>
          <a:noFill/>
        </p:spPr>
        <p:txBody>
          <a:bodyPr wrap="square">
            <a:spAutoFit/>
          </a:bodyPr>
          <a:lstStyle/>
          <a:p>
            <a:pPr marL="0" marR="0" algn="just">
              <a:lnSpc>
                <a:spcPct val="150000"/>
              </a:lnSpc>
              <a:spcBef>
                <a:spcPts val="0"/>
              </a:spcBef>
              <a:spcAft>
                <a:spcPts val="0"/>
              </a:spcAft>
            </a:pPr>
            <a:r>
              <a:rPr lang="en-US" sz="2000" b="1" dirty="0">
                <a:solidFill>
                  <a:schemeClr val="accent1">
                    <a:lumMod val="75000"/>
                  </a:schemeClr>
                </a:solidFill>
                <a:effectLst/>
                <a:latin typeface="Times New Roman" panose="02020603050405020304" pitchFamily="18" charset="0"/>
                <a:ea typeface="Calibri" panose="020F0502020204030204" pitchFamily="34" charset="0"/>
                <a:cs typeface="Times New Roman" panose="02020603050405020304" pitchFamily="18" charset="0"/>
              </a:rPr>
              <a:t>KNOWLEDGE OF MOTHERS ON NEONATAL JAUNDICE</a:t>
            </a:r>
            <a:endParaRPr lang="en-US" sz="2000" dirty="0">
              <a:solidFill>
                <a:schemeClr val="accent1">
                  <a:lumMod val="75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indent="-342900" algn="just">
              <a:lnSpc>
                <a:spcPct val="150000"/>
              </a:lnSpc>
              <a:spcBef>
                <a:spcPts val="0"/>
              </a:spcBef>
              <a:spcAft>
                <a:spcPts val="0"/>
              </a:spcAft>
              <a:buFont typeface="Wingdings" panose="05000000000000000000" pitchFamily="2" charset="2"/>
              <a:buChar char="Ø"/>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In the total study population 71.58% of mothers have the knowledge of neonatal jaundice, 57.89% have the knowledge of treatment for neonatal jaundice and only 21.05% know the seriousness of jaundice.</a:t>
            </a:r>
          </a:p>
          <a:p>
            <a:pPr marL="342900" marR="0" indent="-342900" algn="just">
              <a:lnSpc>
                <a:spcPct val="150000"/>
              </a:lnSpc>
              <a:spcBef>
                <a:spcPts val="0"/>
              </a:spcBef>
              <a:spcAft>
                <a:spcPts val="0"/>
              </a:spcAft>
              <a:buFont typeface="Wingdings" panose="05000000000000000000" pitchFamily="2" charset="2"/>
              <a:buChar char="Ø"/>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Similar studies were performed by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Goodman et.al, </a:t>
            </a:r>
            <a:r>
              <a:rPr lang="en-US" sz="2000" dirty="0" err="1">
                <a:effectLst/>
                <a:latin typeface="Times New Roman" panose="02020603050405020304" pitchFamily="18" charset="0"/>
                <a:ea typeface="Times New Roman" panose="02020603050405020304" pitchFamily="18" charset="0"/>
                <a:cs typeface="Times New Roman" panose="02020603050405020304" pitchFamily="18" charset="0"/>
              </a:rPr>
              <a:t>Asmamaw</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err="1">
                <a:effectLst/>
                <a:latin typeface="Times New Roman" panose="02020603050405020304" pitchFamily="18" charset="0"/>
                <a:ea typeface="Times New Roman" panose="02020603050405020304" pitchFamily="18" charset="0"/>
                <a:cs typeface="Times New Roman" panose="02020603050405020304" pitchFamily="18" charset="0"/>
              </a:rPr>
              <a:t>Demis</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 et.al, and </a:t>
            </a:r>
            <a:r>
              <a:rPr lang="en-US" sz="20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Egube</a:t>
            </a: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BA et.al, the studies found that the awareness of neonatal jaundice among mothers is 75.4%, 39.2% and 85.9% respectively.</a:t>
            </a:r>
            <a:endParaRPr lang="en-US" sz="2000" baseline="30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lnSpc>
                <a:spcPct val="150000"/>
              </a:lnSpc>
              <a:spcBef>
                <a:spcPts val="0"/>
              </a:spcBef>
              <a:spcAft>
                <a:spcPts val="0"/>
              </a:spcAft>
            </a:pPr>
            <a:r>
              <a:rPr lang="en-US" sz="2000" b="1" dirty="0">
                <a:solidFill>
                  <a:schemeClr val="accent1">
                    <a:lumMod val="75000"/>
                  </a:schemeClr>
                </a:solidFill>
                <a:effectLst/>
                <a:latin typeface="Times New Roman" panose="02020603050405020304" pitchFamily="18" charset="0"/>
                <a:ea typeface="Calibri" panose="020F0502020204030204" pitchFamily="34" charset="0"/>
                <a:cs typeface="Times New Roman" panose="02020603050405020304" pitchFamily="18" charset="0"/>
              </a:rPr>
              <a:t>KNOWLEDGE OF MOTHERS ABOUT SIGNS AND SYMPTOMS OF NEONATAL JAUNDICE</a:t>
            </a:r>
            <a:endParaRPr lang="en-US" sz="2000" dirty="0">
              <a:solidFill>
                <a:schemeClr val="accent1">
                  <a:lumMod val="75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indent="-342900" algn="just">
              <a:lnSpc>
                <a:spcPct val="150000"/>
              </a:lnSpc>
              <a:spcBef>
                <a:spcPts val="0"/>
              </a:spcBef>
              <a:spcAft>
                <a:spcPts val="0"/>
              </a:spcAft>
              <a:buFont typeface="Wingdings" panose="05000000000000000000" pitchFamily="2" charset="2"/>
              <a:buChar char="Ø"/>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During the study the highest number of mothers answered yellow eyes (37.89%) as signs and symptoms of neonatal jaundice.</a:t>
            </a:r>
          </a:p>
          <a:p>
            <a:pPr marL="342900" marR="0" indent="-342900" algn="just">
              <a:lnSpc>
                <a:spcPct val="150000"/>
              </a:lnSpc>
              <a:spcBef>
                <a:spcPts val="0"/>
              </a:spcBef>
              <a:spcAft>
                <a:spcPts val="0"/>
              </a:spcAft>
              <a:buFont typeface="Wingdings" panose="05000000000000000000" pitchFamily="2" charset="2"/>
              <a:buChar char="Ø"/>
            </a:pP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In a cross-sectional study by </a:t>
            </a:r>
            <a:r>
              <a:rPr lang="en-US" sz="2000" dirty="0" err="1">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Amegan-Aho</a:t>
            </a:r>
            <a:r>
              <a:rPr lang="en-US" sz="20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 KH,</a:t>
            </a: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et al. 72.6%of mothers knew at least any one sign or symptom.</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80231200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B4864C4-33AF-44B5-B74D-43E91827067E}"/>
              </a:ext>
            </a:extLst>
          </p:cNvPr>
          <p:cNvSpPr txBox="1"/>
          <p:nvPr/>
        </p:nvSpPr>
        <p:spPr>
          <a:xfrm>
            <a:off x="510208" y="568110"/>
            <a:ext cx="11171583" cy="3730317"/>
          </a:xfrm>
          <a:prstGeom prst="rect">
            <a:avLst/>
          </a:prstGeom>
          <a:noFill/>
        </p:spPr>
        <p:txBody>
          <a:bodyPr wrap="square">
            <a:spAutoFit/>
          </a:bodyPr>
          <a:lstStyle/>
          <a:p>
            <a:pPr marL="0" marR="0" algn="just">
              <a:lnSpc>
                <a:spcPct val="150000"/>
              </a:lnSpc>
              <a:spcBef>
                <a:spcPts val="0"/>
              </a:spcBef>
              <a:spcAft>
                <a:spcPts val="0"/>
              </a:spcAft>
            </a:pPr>
            <a:r>
              <a:rPr lang="en-US" sz="2000" b="1" dirty="0">
                <a:solidFill>
                  <a:schemeClr val="accent1">
                    <a:lumMod val="75000"/>
                  </a:schemeClr>
                </a:solidFill>
                <a:effectLst/>
                <a:latin typeface="Times New Roman" panose="02020603050405020304" pitchFamily="18" charset="0"/>
                <a:ea typeface="Calibri" panose="020F0502020204030204" pitchFamily="34" charset="0"/>
                <a:cs typeface="Times New Roman" panose="02020603050405020304" pitchFamily="18" charset="0"/>
              </a:rPr>
              <a:t>KNOWLEDGE OF MOTHERS ON TREATMENT OF NEONATAL JAUNDICE</a:t>
            </a:r>
            <a:endParaRPr lang="en-US" sz="2000" dirty="0">
              <a:solidFill>
                <a:schemeClr val="accent1">
                  <a:lumMod val="75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indent="-342900" algn="just">
              <a:lnSpc>
                <a:spcPct val="150000"/>
              </a:lnSpc>
              <a:spcBef>
                <a:spcPts val="0"/>
              </a:spcBef>
              <a:spcAft>
                <a:spcPts val="0"/>
              </a:spcAft>
              <a:buFont typeface="Wingdings" panose="05000000000000000000" pitchFamily="2" charset="2"/>
              <a:buChar char="Ø"/>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In the study population, majority of mothers knew the treatment for jaundice is sunlight (44.21%).</a:t>
            </a:r>
          </a:p>
          <a:p>
            <a:pPr marL="342900" marR="0" indent="-342900" algn="just">
              <a:lnSpc>
                <a:spcPct val="150000"/>
              </a:lnSpc>
              <a:spcBef>
                <a:spcPts val="0"/>
              </a:spcBef>
              <a:spcAft>
                <a:spcPts val="0"/>
              </a:spcAft>
              <a:buFont typeface="Wingdings" panose="05000000000000000000" pitchFamily="2" charset="2"/>
              <a:buChar char="Ø"/>
            </a:pP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In a study performed by </a:t>
            </a:r>
            <a:r>
              <a:rPr lang="en-US" sz="2000" dirty="0" err="1">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Amegan-Aho</a:t>
            </a:r>
            <a:r>
              <a:rPr lang="en-US" sz="20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 KH,</a:t>
            </a: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et al. 52% of mothers know any one of treatment options.</a:t>
            </a:r>
            <a:endParaRPr lang="en-US" sz="2000" baseline="30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lnSpc>
                <a:spcPct val="150000"/>
              </a:lnSpc>
              <a:spcBef>
                <a:spcPts val="0"/>
              </a:spcBef>
              <a:spcAft>
                <a:spcPts val="0"/>
              </a:spcAft>
            </a:pP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50000"/>
              </a:lnSpc>
              <a:spcBef>
                <a:spcPts val="0"/>
              </a:spcBef>
              <a:spcAft>
                <a:spcPts val="0"/>
              </a:spcAft>
            </a:pPr>
            <a:r>
              <a:rPr lang="en-US" sz="2000" b="1" dirty="0">
                <a:solidFill>
                  <a:schemeClr val="accent1">
                    <a:lumMod val="75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ASSOCIATION OF MOTHER’S KNOWLEDGE WITH DIFFERENT MATERNAL FACTORS</a:t>
            </a:r>
            <a:endParaRPr lang="en-US" sz="2000" dirty="0">
              <a:solidFill>
                <a:schemeClr val="accent1">
                  <a:lumMod val="75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indent="-342900" algn="just">
              <a:lnSpc>
                <a:spcPct val="150000"/>
              </a:lnSpc>
              <a:spcBef>
                <a:spcPts val="0"/>
              </a:spcBef>
              <a:spcAft>
                <a:spcPts val="0"/>
              </a:spcAft>
              <a:buFont typeface="Wingdings" panose="05000000000000000000" pitchFamily="2" charset="2"/>
              <a:buChar char="Ø"/>
            </a:pP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We </a:t>
            </a:r>
            <a:r>
              <a:rPr lang="en-US" sz="20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analysed</a:t>
            </a: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mother’s knowledge with different maternal factors like age (p value =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0.221782)</a:t>
            </a: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locality (p value=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0.78322)</a:t>
            </a: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primiparity (p value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0.000167)</a:t>
            </a: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and education (p value=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0.000736)</a:t>
            </a: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indent="-342900" algn="just">
              <a:lnSpc>
                <a:spcPct val="150000"/>
              </a:lnSpc>
              <a:spcBef>
                <a:spcPts val="0"/>
              </a:spcBef>
              <a:spcAft>
                <a:spcPts val="0"/>
              </a:spcAft>
              <a:buFont typeface="Wingdings" panose="05000000000000000000" pitchFamily="2" charset="2"/>
              <a:buChar char="Ø"/>
            </a:pP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We got significant association of mother’s knowledge with primiparity and education.</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95215778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2610C91-4DF3-5EC7-36B6-BD7FA7CE724B}"/>
              </a:ext>
            </a:extLst>
          </p:cNvPr>
          <p:cNvSpPr txBox="1"/>
          <p:nvPr/>
        </p:nvSpPr>
        <p:spPr>
          <a:xfrm>
            <a:off x="748748" y="467278"/>
            <a:ext cx="10694504" cy="5582939"/>
          </a:xfrm>
          <a:prstGeom prst="rect">
            <a:avLst/>
          </a:prstGeom>
          <a:noFill/>
        </p:spPr>
        <p:txBody>
          <a:bodyPr wrap="square">
            <a:spAutoFit/>
          </a:bodyPr>
          <a:lstStyle/>
          <a:p>
            <a:pPr marL="0" marR="0" algn="just">
              <a:lnSpc>
                <a:spcPct val="150000"/>
              </a:lnSpc>
              <a:spcBef>
                <a:spcPts val="0"/>
              </a:spcBef>
              <a:spcAft>
                <a:spcPts val="0"/>
              </a:spcAft>
            </a:pPr>
            <a:r>
              <a:rPr lang="en-US" sz="2000" b="1" dirty="0">
                <a:solidFill>
                  <a:schemeClr val="accent1">
                    <a:lumMod val="75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ASSOCIATION OF TOTAL SERUM BILIRUBIN WITH MATERNAL RISK FACATORS FOR NEONATAL JAUNDICE</a:t>
            </a:r>
            <a:endParaRPr lang="en-US" sz="2000" dirty="0">
              <a:solidFill>
                <a:schemeClr val="accent1">
                  <a:lumMod val="75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indent="-342900" algn="just">
              <a:lnSpc>
                <a:spcPct val="150000"/>
              </a:lnSpc>
              <a:spcBef>
                <a:spcPts val="0"/>
              </a:spcBef>
              <a:spcAft>
                <a:spcPts val="0"/>
              </a:spcAft>
              <a:buFont typeface="Wingdings" panose="05000000000000000000" pitchFamily="2" charset="2"/>
              <a:buChar char="Ø"/>
            </a:pP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We analyzed association of total serum bilirubin with difficulty in feeding (p value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0.079864</a:t>
            </a: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no feeding during 1</a:t>
            </a:r>
            <a:r>
              <a:rPr lang="en-US" sz="2000" baseline="30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st</a:t>
            </a: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hour after delivery (p value=</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0.906782</a:t>
            </a: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PROM (p value =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0.136583</a:t>
            </a: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marital life (p value=</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0.806963</a:t>
            </a: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and gestational diabetes (p value =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0.000131</a:t>
            </a: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indent="-342900" algn="just">
              <a:lnSpc>
                <a:spcPct val="150000"/>
              </a:lnSpc>
              <a:spcBef>
                <a:spcPts val="0"/>
              </a:spcBef>
              <a:spcAft>
                <a:spcPts val="0"/>
              </a:spcAft>
              <a:buFont typeface="Wingdings" panose="05000000000000000000" pitchFamily="2" charset="2"/>
              <a:buChar char="Ø"/>
            </a:pP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We got significant association between gestational diabetes in mother and total serum bilirubin in neonates.</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50000"/>
              </a:lnSpc>
              <a:spcBef>
                <a:spcPts val="0"/>
              </a:spcBef>
              <a:spcAft>
                <a:spcPts val="0"/>
              </a:spcAft>
            </a:pPr>
            <a:r>
              <a:rPr lang="en-US" sz="2000" b="1" dirty="0">
                <a:solidFill>
                  <a:schemeClr val="accent1">
                    <a:lumMod val="75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ASSOCIATION OF TOTAL SERUM BILIRUBIN WITH NEONATAL RISK FACATORS FOR NEONATAL JAUNDICE</a:t>
            </a:r>
            <a:endParaRPr lang="en-US" sz="2000" dirty="0">
              <a:solidFill>
                <a:schemeClr val="accent1">
                  <a:lumMod val="75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indent="-342900" algn="just">
              <a:lnSpc>
                <a:spcPct val="150000"/>
              </a:lnSpc>
              <a:spcBef>
                <a:spcPts val="0"/>
              </a:spcBef>
              <a:spcAft>
                <a:spcPts val="0"/>
              </a:spcAft>
              <a:buFont typeface="Wingdings" panose="05000000000000000000" pitchFamily="2" charset="2"/>
              <a:buChar char="Ø"/>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We analyzed association of total serum bilirubin with sex (p value = 0.570795), Rh incompatibility (p value=0.368256), ABO incompatibility (p value=0.456893), previous sibling with jaundice (p value = 0.061783), term of pregnancy (p value= 0.181818) and sepsis (p value= 0.116545).</a:t>
            </a:r>
          </a:p>
        </p:txBody>
      </p:sp>
    </p:spTree>
    <p:extLst>
      <p:ext uri="{BB962C8B-B14F-4D97-AF65-F5344CB8AC3E}">
        <p14:creationId xmlns:p14="http://schemas.microsoft.com/office/powerpoint/2010/main" val="193120547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7EAF7-1396-C7AE-7437-9323D7C5CB72}"/>
              </a:ext>
            </a:extLst>
          </p:cNvPr>
          <p:cNvSpPr>
            <a:spLocks noGrp="1"/>
          </p:cNvSpPr>
          <p:nvPr>
            <p:ph type="title"/>
          </p:nvPr>
        </p:nvSpPr>
        <p:spPr/>
        <p:txBody>
          <a:bodyPr/>
          <a:lstStyle/>
          <a:p>
            <a:r>
              <a:rPr lang="en-US" dirty="0"/>
              <a:t>conclusion</a:t>
            </a:r>
          </a:p>
        </p:txBody>
      </p:sp>
    </p:spTree>
    <p:extLst>
      <p:ext uri="{BB962C8B-B14F-4D97-AF65-F5344CB8AC3E}">
        <p14:creationId xmlns:p14="http://schemas.microsoft.com/office/powerpoint/2010/main" val="180627438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0969793-9B91-33E2-CD2C-C885BD8B8A84}"/>
              </a:ext>
            </a:extLst>
          </p:cNvPr>
          <p:cNvSpPr txBox="1"/>
          <p:nvPr/>
        </p:nvSpPr>
        <p:spPr>
          <a:xfrm>
            <a:off x="649356" y="1859956"/>
            <a:ext cx="10959547" cy="2812950"/>
          </a:xfrm>
          <a:prstGeom prst="rect">
            <a:avLst/>
          </a:prstGeom>
          <a:noFill/>
        </p:spPr>
        <p:txBody>
          <a:bodyPr wrap="square">
            <a:spAutoFit/>
          </a:bodyPr>
          <a:lstStyle/>
          <a:p>
            <a:pPr marL="0" marR="0" algn="just">
              <a:lnSpc>
                <a:spcPct val="150000"/>
              </a:lnSpc>
              <a:spcBef>
                <a:spcPts val="0"/>
              </a:spcBef>
              <a:spcAft>
                <a:spcPts val="0"/>
              </a:spcAft>
            </a:pPr>
            <a:r>
              <a:rPr lang="en-US" sz="2000" dirty="0">
                <a:effectLst/>
                <a:latin typeface="Times New Roman" panose="02020603050405020304" pitchFamily="18" charset="0"/>
                <a:ea typeface="Calibri" panose="020F0502020204030204" pitchFamily="34" charset="0"/>
                <a:cs typeface="Gautami" panose="020B0502040204020203" pitchFamily="34" charset="0"/>
              </a:rPr>
              <a:t>Neonatal jaundice is yellowish discoloration of skin, conjunctiva and sclera due to elevated serum or plasma bilirubin in the newborn period. In our study, the most common risk factor among mothers is no feeding during 1</a:t>
            </a:r>
            <a:r>
              <a:rPr lang="en-US" sz="2000" baseline="30000" dirty="0">
                <a:effectLst/>
                <a:latin typeface="Times New Roman" panose="02020603050405020304" pitchFamily="18" charset="0"/>
                <a:ea typeface="Calibri" panose="020F0502020204030204" pitchFamily="34" charset="0"/>
                <a:cs typeface="Gautami" panose="020B0502040204020203" pitchFamily="34" charset="0"/>
              </a:rPr>
              <a:t>st</a:t>
            </a:r>
            <a:r>
              <a:rPr lang="en-US" sz="2000" dirty="0">
                <a:effectLst/>
                <a:latin typeface="Times New Roman" panose="02020603050405020304" pitchFamily="18" charset="0"/>
                <a:ea typeface="Calibri" panose="020F0502020204030204" pitchFamily="34" charset="0"/>
                <a:cs typeface="Gautami" panose="020B0502040204020203" pitchFamily="34" charset="0"/>
              </a:rPr>
              <a:t> hour after delivery and among neonates is male sex. Mothers had awareness about neonatal jaundice but knowledge regarding complications and treatment was low. The awareness about neonatal jaundice should be increased among mothers to identify, for early diagnosis and treatment. During our study, we helped mothers understand better about Neonatal jaundice.</a:t>
            </a:r>
            <a:endParaRPr lang="en-US" sz="2000" dirty="0">
              <a:effectLst/>
              <a:latin typeface="Calibri" panose="020F0502020204030204" pitchFamily="34" charset="0"/>
              <a:ea typeface="Calibri" panose="020F0502020204030204" pitchFamily="34" charset="0"/>
              <a:cs typeface="Gautami" panose="020B0502040204020203" pitchFamily="34" charset="0"/>
            </a:endParaRPr>
          </a:p>
        </p:txBody>
      </p:sp>
      <p:sp>
        <p:nvSpPr>
          <p:cNvPr id="4" name="Rectangle: Rounded Corners 3">
            <a:extLst>
              <a:ext uri="{FF2B5EF4-FFF2-40B4-BE49-F238E27FC236}">
                <a16:creationId xmlns:a16="http://schemas.microsoft.com/office/drawing/2014/main" id="{B184F3B4-EE49-5A7D-319B-8B5E4E6F226C}"/>
              </a:ext>
            </a:extLst>
          </p:cNvPr>
          <p:cNvSpPr/>
          <p:nvPr/>
        </p:nvSpPr>
        <p:spPr>
          <a:xfrm>
            <a:off x="2504662" y="169655"/>
            <a:ext cx="7606747" cy="993913"/>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marL="0" marR="0" algn="ctr">
              <a:spcBef>
                <a:spcPts val="0"/>
              </a:spcBef>
              <a:spcAft>
                <a:spcPts val="0"/>
              </a:spcAft>
            </a:pPr>
            <a:r>
              <a:rPr lang="en-US" sz="4000" b="1" dirty="0">
                <a:effectLst/>
                <a:latin typeface="Times New Roman" panose="02020603050405020304" pitchFamily="18" charset="0"/>
                <a:ea typeface="Calibri" panose="020F0502020204030204" pitchFamily="34" charset="0"/>
                <a:cs typeface="Gautami" panose="020B0502040204020203" pitchFamily="34" charset="0"/>
              </a:rPr>
              <a:t>CONCLUSION</a:t>
            </a:r>
            <a:endParaRPr lang="en-US" sz="4000" dirty="0">
              <a:effectLst/>
              <a:latin typeface="Calibri" panose="020F0502020204030204" pitchFamily="34" charset="0"/>
              <a:ea typeface="Calibri" panose="020F0502020204030204" pitchFamily="34" charset="0"/>
              <a:cs typeface="Gautami" panose="020B0502040204020203" pitchFamily="34" charset="0"/>
            </a:endParaRPr>
          </a:p>
        </p:txBody>
      </p:sp>
    </p:spTree>
    <p:extLst>
      <p:ext uri="{BB962C8B-B14F-4D97-AF65-F5344CB8AC3E}">
        <p14:creationId xmlns:p14="http://schemas.microsoft.com/office/powerpoint/2010/main" val="320189461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13EBC-8FFD-FA92-CEBF-96AA5BCB572F}"/>
              </a:ext>
            </a:extLst>
          </p:cNvPr>
          <p:cNvSpPr>
            <a:spLocks noGrp="1"/>
          </p:cNvSpPr>
          <p:nvPr>
            <p:ph type="title"/>
          </p:nvPr>
        </p:nvSpPr>
        <p:spPr/>
        <p:txBody>
          <a:bodyPr/>
          <a:lstStyle/>
          <a:p>
            <a:r>
              <a:rPr lang="en-US" dirty="0"/>
              <a:t>LIMITATIONS</a:t>
            </a:r>
          </a:p>
        </p:txBody>
      </p:sp>
    </p:spTree>
    <p:extLst>
      <p:ext uri="{BB962C8B-B14F-4D97-AF65-F5344CB8AC3E}">
        <p14:creationId xmlns:p14="http://schemas.microsoft.com/office/powerpoint/2010/main" val="401616886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5A8BDF1-469E-5392-BB55-D61AF097660C}"/>
              </a:ext>
            </a:extLst>
          </p:cNvPr>
          <p:cNvSpPr txBox="1"/>
          <p:nvPr/>
        </p:nvSpPr>
        <p:spPr>
          <a:xfrm>
            <a:off x="569843" y="2009904"/>
            <a:ext cx="10641496" cy="1883657"/>
          </a:xfrm>
          <a:prstGeom prst="rect">
            <a:avLst/>
          </a:prstGeom>
          <a:noFill/>
        </p:spPr>
        <p:txBody>
          <a:bodyPr wrap="square">
            <a:spAutoFit/>
          </a:bodyPr>
          <a:lstStyle/>
          <a:p>
            <a:pPr marL="342900" marR="0" lvl="0" indent="-342900" algn="just">
              <a:lnSpc>
                <a:spcPct val="150000"/>
              </a:lnSpc>
              <a:spcBef>
                <a:spcPts val="0"/>
              </a:spcBef>
              <a:spcAft>
                <a:spcPts val="0"/>
              </a:spcAft>
              <a:buFont typeface="Symbol" panose="05050102010706020507" pitchFamily="18" charset="2"/>
              <a:buChar char=""/>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Larger sample size is needed to draw proper conclusions which could have been possible with larger study period.</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Symbol" panose="05050102010706020507" pitchFamily="18" charset="2"/>
              <a:buChar char=""/>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We got less sample size which is needed to give definite conclusions due to third wave of COVID-19.</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5A025B25-18B6-918D-A668-244CF48F3E7D}"/>
              </a:ext>
            </a:extLst>
          </p:cNvPr>
          <p:cNvSpPr/>
          <p:nvPr/>
        </p:nvSpPr>
        <p:spPr>
          <a:xfrm>
            <a:off x="2504662" y="209411"/>
            <a:ext cx="7606747" cy="993913"/>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marL="0" marR="0" indent="457200" algn="ctr">
              <a:spcBef>
                <a:spcPts val="0"/>
              </a:spcBef>
              <a:spcAft>
                <a:spcPts val="0"/>
              </a:spcAft>
            </a:pPr>
            <a:r>
              <a:rPr lang="en-US" sz="4000" b="1" dirty="0">
                <a:effectLst/>
                <a:latin typeface="Times New Roman" panose="02020603050405020304" pitchFamily="18" charset="0"/>
                <a:ea typeface="Times New Roman" panose="02020603050405020304" pitchFamily="18" charset="0"/>
                <a:cs typeface="Gautami" panose="020B0502040204020203" pitchFamily="34" charset="0"/>
              </a:rPr>
              <a:t>LIMITATIONS</a:t>
            </a:r>
            <a:endParaRPr lang="en-US" sz="3200" dirty="0">
              <a:effectLst/>
              <a:latin typeface="Calibri" panose="020F0502020204030204" pitchFamily="34" charset="0"/>
              <a:ea typeface="Calibri" panose="020F0502020204030204" pitchFamily="34" charset="0"/>
              <a:cs typeface="Gautami" panose="020B0502040204020203" pitchFamily="34" charset="0"/>
            </a:endParaRPr>
          </a:p>
        </p:txBody>
      </p:sp>
    </p:spTree>
    <p:extLst>
      <p:ext uri="{BB962C8B-B14F-4D97-AF65-F5344CB8AC3E}">
        <p14:creationId xmlns:p14="http://schemas.microsoft.com/office/powerpoint/2010/main" val="107453955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DAE57-6C36-EFE9-9AAD-28FB2BF19049}"/>
              </a:ext>
            </a:extLst>
          </p:cNvPr>
          <p:cNvSpPr>
            <a:spLocks noGrp="1"/>
          </p:cNvSpPr>
          <p:nvPr>
            <p:ph type="title"/>
          </p:nvPr>
        </p:nvSpPr>
        <p:spPr/>
        <p:txBody>
          <a:bodyPr/>
          <a:lstStyle/>
          <a:p>
            <a:r>
              <a:rPr lang="en-US" dirty="0"/>
              <a:t>ANNEXURES</a:t>
            </a:r>
          </a:p>
        </p:txBody>
      </p:sp>
    </p:spTree>
    <p:extLst>
      <p:ext uri="{BB962C8B-B14F-4D97-AF65-F5344CB8AC3E}">
        <p14:creationId xmlns:p14="http://schemas.microsoft.com/office/powerpoint/2010/main" val="149280616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BB21BC-37A7-98E6-C0B5-813E441A0C5B}"/>
              </a:ext>
            </a:extLst>
          </p:cNvPr>
          <p:cNvSpPr txBox="1"/>
          <p:nvPr/>
        </p:nvSpPr>
        <p:spPr>
          <a:xfrm>
            <a:off x="1255644" y="1674674"/>
            <a:ext cx="3538330" cy="3139321"/>
          </a:xfrm>
          <a:prstGeom prst="rect">
            <a:avLst/>
          </a:prstGeom>
          <a:noFill/>
        </p:spPr>
        <p:txBody>
          <a:bodyPr wrap="square" rtlCol="0">
            <a:spAutoFit/>
          </a:bodyPr>
          <a:lstStyle/>
          <a:p>
            <a:pPr marL="285750" indent="-285750">
              <a:lnSpc>
                <a:spcPct val="150000"/>
              </a:lnSpc>
              <a:buFont typeface="Wingdings" panose="05000000000000000000" pitchFamily="2" charset="2"/>
              <a:buChar char="q"/>
            </a:pPr>
            <a:r>
              <a:rPr lang="en-US" sz="2400" dirty="0">
                <a:hlinkClick r:id="rId2" action="ppaction://hlinkfile" tooltip="PATIENT CONSENT FORM"/>
              </a:rPr>
              <a:t>ANNEXURE – I</a:t>
            </a:r>
            <a:endParaRPr lang="en-US" sz="2400" dirty="0"/>
          </a:p>
          <a:p>
            <a:pPr marL="285750" indent="-285750">
              <a:lnSpc>
                <a:spcPct val="150000"/>
              </a:lnSpc>
              <a:buFont typeface="Wingdings" panose="05000000000000000000" pitchFamily="2" charset="2"/>
              <a:buChar char="q"/>
            </a:pPr>
            <a:r>
              <a:rPr lang="en-US" sz="2400" dirty="0">
                <a:hlinkClick r:id="rId3" action="ppaction://hlinkfile" tooltip="DATA COLLECTION FORM"/>
              </a:rPr>
              <a:t>ANNEXURE- II</a:t>
            </a:r>
            <a:endParaRPr lang="en-US" sz="2400" dirty="0"/>
          </a:p>
          <a:p>
            <a:pPr marL="285750" indent="-285750">
              <a:lnSpc>
                <a:spcPct val="150000"/>
              </a:lnSpc>
              <a:buFont typeface="Wingdings" panose="05000000000000000000" pitchFamily="2" charset="2"/>
              <a:buChar char="q"/>
            </a:pPr>
            <a:r>
              <a:rPr lang="en-US" sz="2400" dirty="0">
                <a:hlinkClick r:id="rId4" action="ppaction://hlinkfile" tooltip="PATIENT INFORMATIONLEAFLET- ENGLISH"/>
              </a:rPr>
              <a:t>ANNEXURE- III(A)</a:t>
            </a:r>
            <a:endParaRPr lang="en-US" sz="2400" dirty="0"/>
          </a:p>
          <a:p>
            <a:pPr marL="285750" indent="-285750">
              <a:lnSpc>
                <a:spcPct val="150000"/>
              </a:lnSpc>
              <a:buFont typeface="Wingdings" panose="05000000000000000000" pitchFamily="2" charset="2"/>
              <a:buChar char="q"/>
            </a:pPr>
            <a:r>
              <a:rPr lang="en-US" sz="2400" dirty="0">
                <a:hlinkClick r:id="rId5" action="ppaction://hlinkfile" tooltip="PATIENT INFORMATION LEAFLET"/>
              </a:rPr>
              <a:t>ANNEXURE- III(B)</a:t>
            </a:r>
            <a:endParaRPr lang="en-US" sz="2400" dirty="0"/>
          </a:p>
          <a:p>
            <a:pPr marL="285750" indent="-285750">
              <a:lnSpc>
                <a:spcPct val="150000"/>
              </a:lnSpc>
              <a:buFont typeface="Wingdings" panose="05000000000000000000" pitchFamily="2" charset="2"/>
              <a:buChar char="q"/>
            </a:pPr>
            <a:r>
              <a:rPr lang="en-US" sz="2400" dirty="0">
                <a:hlinkClick r:id="rId6" action="ppaction://hlinkfile" tooltip="PATIENT INFORMATION LEAFLET - HINDI"/>
              </a:rPr>
              <a:t>ANNEXURE- III(C)</a:t>
            </a:r>
            <a:endParaRPr lang="en-US" sz="2400" dirty="0"/>
          </a:p>
          <a:p>
            <a:endParaRPr lang="en-US" dirty="0"/>
          </a:p>
        </p:txBody>
      </p:sp>
      <p:sp>
        <p:nvSpPr>
          <p:cNvPr id="3" name="Rectangle: Rounded Corners 2">
            <a:extLst>
              <a:ext uri="{FF2B5EF4-FFF2-40B4-BE49-F238E27FC236}">
                <a16:creationId xmlns:a16="http://schemas.microsoft.com/office/drawing/2014/main" id="{EEE5D281-541F-36A9-BB92-44D587616F2B}"/>
              </a:ext>
            </a:extLst>
          </p:cNvPr>
          <p:cNvSpPr/>
          <p:nvPr/>
        </p:nvSpPr>
        <p:spPr>
          <a:xfrm>
            <a:off x="3024809" y="251031"/>
            <a:ext cx="6142382" cy="583855"/>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marL="0" marR="0" indent="457200" algn="ctr">
              <a:spcBef>
                <a:spcPts val="0"/>
              </a:spcBef>
              <a:spcAft>
                <a:spcPts val="0"/>
              </a:spcAft>
            </a:pPr>
            <a:r>
              <a:rPr lang="en-US" sz="4000" b="1" dirty="0">
                <a:effectLst/>
                <a:latin typeface="Times New Roman" panose="02020603050405020304" pitchFamily="18" charset="0"/>
                <a:ea typeface="Calibri" panose="020F0502020204030204" pitchFamily="34" charset="0"/>
                <a:cs typeface="Gautami" panose="020B0502040204020203" pitchFamily="34" charset="0"/>
              </a:rPr>
              <a:t>ANNEXURES</a:t>
            </a:r>
            <a:endParaRPr lang="en-US" sz="3200" dirty="0">
              <a:effectLst/>
              <a:latin typeface="Calibri" panose="020F0502020204030204" pitchFamily="34" charset="0"/>
              <a:ea typeface="Calibri" panose="020F0502020204030204" pitchFamily="34" charset="0"/>
              <a:cs typeface="Gautami" panose="020B0502040204020203" pitchFamily="34" charset="0"/>
            </a:endParaRPr>
          </a:p>
        </p:txBody>
      </p:sp>
    </p:spTree>
    <p:extLst>
      <p:ext uri="{BB962C8B-B14F-4D97-AF65-F5344CB8AC3E}">
        <p14:creationId xmlns:p14="http://schemas.microsoft.com/office/powerpoint/2010/main" val="385807871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DC539FF-D8A5-7C89-9D40-953670CBBCA3}"/>
              </a:ext>
            </a:extLst>
          </p:cNvPr>
          <p:cNvSpPr txBox="1"/>
          <p:nvPr/>
        </p:nvSpPr>
        <p:spPr>
          <a:xfrm>
            <a:off x="708992" y="1403281"/>
            <a:ext cx="10701130" cy="5478423"/>
          </a:xfrm>
          <a:prstGeom prst="rect">
            <a:avLst/>
          </a:prstGeom>
          <a:noFill/>
        </p:spPr>
        <p:txBody>
          <a:bodyPr wrap="square">
            <a:spAutoFit/>
          </a:bodyPr>
          <a:lstStyle/>
          <a:p>
            <a:pPr marL="342900" marR="0" lvl="0" indent="-342900">
              <a:spcBef>
                <a:spcPts val="0"/>
              </a:spcBef>
              <a:spcAft>
                <a:spcPts val="0"/>
              </a:spcAft>
              <a:buFont typeface="Wingdings" panose="05000000000000000000" pitchFamily="2" charset="2"/>
              <a:buChar char="q"/>
            </a:pPr>
            <a:r>
              <a:rPr lang="en-US" sz="1400" dirty="0" err="1">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Ansong-Assoku</a:t>
            </a:r>
            <a:r>
              <a:rPr lang="en-US" sz="14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 B, Shah SD, </a:t>
            </a:r>
            <a:r>
              <a:rPr lang="en-US" sz="1400" dirty="0" err="1">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Ankola</a:t>
            </a:r>
            <a:r>
              <a:rPr lang="en-US" sz="14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 PA. Neonatal Jaundice. [Updated 2021 Oct 27]. In: </a:t>
            </a:r>
            <a:r>
              <a:rPr lang="en-US" sz="1400" dirty="0" err="1">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StatPearls</a:t>
            </a:r>
            <a:r>
              <a:rPr lang="en-US" sz="14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 [Internet]. </a:t>
            </a:r>
            <a:r>
              <a:rPr lang="en-US" sz="1400" i="1"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Treasure Island (FL): </a:t>
            </a:r>
            <a:r>
              <a:rPr lang="en-US" sz="1400" i="1" dirty="0" err="1">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StatPearls</a:t>
            </a:r>
            <a:r>
              <a:rPr lang="en-US" sz="1400" i="1"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 Publishing</a:t>
            </a:r>
            <a:r>
              <a:rPr lang="en-US" sz="14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 2022 Jan. Available from: </a:t>
            </a:r>
            <a:r>
              <a:rPr lang="en-US" sz="1400" u="sng" dirty="0">
                <a:solidFill>
                  <a:srgbClr val="0000FF"/>
                </a:solidFill>
                <a:effectLst/>
                <a:latin typeface="Times New Roman" panose="02020603050405020304" pitchFamily="18" charset="0"/>
                <a:ea typeface="Times New Roman" panose="02020603050405020304" pitchFamily="18" charset="0"/>
                <a:cs typeface="Times New Roman" panose="02020603050405020304" pitchFamily="18" charset="0"/>
                <a:hlinkClick r:id="rId2"/>
              </a:rPr>
              <a:t>https://www.ncbi.nlm.nih.gov/books/NBK532930/</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spcBef>
                <a:spcPts val="0"/>
              </a:spcBef>
              <a:spcAft>
                <a:spcPts val="0"/>
              </a:spcAft>
              <a:buFont typeface="Wingdings" panose="05000000000000000000" pitchFamily="2" charset="2"/>
              <a:buChar char="q"/>
            </a:pPr>
            <a:r>
              <a:rPr lang="en-US" sz="14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Ullah S, Rahman K, </a:t>
            </a:r>
            <a:r>
              <a:rPr lang="en-US" sz="1400" dirty="0" err="1">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Hedayati</a:t>
            </a:r>
            <a:r>
              <a:rPr lang="en-US" sz="14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M. Hyperbilirubinemia in neonates: types, causes, clinical examinations, preventive measures and treatments: a narrative review article. </a:t>
            </a:r>
            <a:r>
              <a:rPr lang="en-US" sz="1400" i="1"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Iranian journal of public health</a:t>
            </a:r>
            <a:r>
              <a:rPr lang="en-US" sz="14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2016 May;45(5):558.</a:t>
            </a:r>
            <a:r>
              <a:rPr lang="en-US" sz="14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 Available from: </a:t>
            </a:r>
            <a:r>
              <a:rPr lang="en-US" sz="1400" u="sng" dirty="0">
                <a:solidFill>
                  <a:srgbClr val="0000FF"/>
                </a:solidFill>
                <a:effectLst/>
                <a:latin typeface="Times New Roman" panose="02020603050405020304" pitchFamily="18" charset="0"/>
                <a:ea typeface="Times New Roman" panose="02020603050405020304" pitchFamily="18" charset="0"/>
                <a:cs typeface="Times New Roman" panose="02020603050405020304" pitchFamily="18" charset="0"/>
                <a:hlinkClick r:id="rId3"/>
              </a:rPr>
              <a:t>https://www.ncbi.nlm.nih.gov/pmc/articles/PMC4935699/</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spcBef>
                <a:spcPts val="0"/>
              </a:spcBef>
              <a:spcAft>
                <a:spcPts val="0"/>
              </a:spcAft>
              <a:buFont typeface="Wingdings" panose="05000000000000000000" pitchFamily="2" charset="2"/>
              <a:buChar char="q"/>
            </a:pPr>
            <a:r>
              <a:rPr lang="en-US" sz="14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Cohen RS, Wong RJ, Stevenson DK. Understanding neonatal jaundice: a perspective on causation. </a:t>
            </a:r>
            <a:r>
              <a:rPr lang="en-US" sz="1400" i="1"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Pediatrics &amp; Neonatology</a:t>
            </a:r>
            <a:r>
              <a:rPr lang="en-US" sz="14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2010 Jun 1;51(3):143-8.</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spcBef>
                <a:spcPts val="0"/>
              </a:spcBef>
              <a:spcAft>
                <a:spcPts val="0"/>
              </a:spcAft>
              <a:buFont typeface="Wingdings" panose="05000000000000000000" pitchFamily="2" charset="2"/>
              <a:buChar char="q"/>
            </a:pPr>
            <a:r>
              <a:rPr lang="en-US" sz="14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Ng MC, How CH. When babies turn yellow. </a:t>
            </a:r>
            <a:r>
              <a:rPr lang="en-US" sz="1400" i="1"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Singapore medical journal.</a:t>
            </a:r>
            <a:r>
              <a:rPr lang="en-US" sz="14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2015 Nov;56(11):599. </a:t>
            </a:r>
            <a:r>
              <a:rPr lang="en-US" sz="1400" dirty="0">
                <a:latin typeface="Times New Roman" panose="02020603050405020304" pitchFamily="18" charset="0"/>
                <a:ea typeface="Calibri" panose="020F0502020204030204" pitchFamily="34" charset="0"/>
                <a:cs typeface="Times New Roman" panose="02020603050405020304" pitchFamily="18" charset="0"/>
              </a:rPr>
              <a:t> </a:t>
            </a:r>
            <a:r>
              <a:rPr lang="en-US" sz="14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Available from: </a:t>
            </a:r>
            <a:r>
              <a:rPr lang="en-US" sz="1400" u="sng" dirty="0">
                <a:solidFill>
                  <a:srgbClr val="0000FF"/>
                </a:solidFill>
                <a:effectLst/>
                <a:latin typeface="Times New Roman" panose="02020603050405020304" pitchFamily="18" charset="0"/>
                <a:ea typeface="Times New Roman" panose="02020603050405020304" pitchFamily="18" charset="0"/>
                <a:cs typeface="Times New Roman" panose="02020603050405020304" pitchFamily="18" charset="0"/>
                <a:hlinkClick r:id="rId4"/>
              </a:rPr>
              <a:t>https://www.ncbi.nlm.nih.gov/pmc/articles/PMC4656866/</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spcBef>
                <a:spcPts val="0"/>
              </a:spcBef>
              <a:spcAft>
                <a:spcPts val="0"/>
              </a:spcAft>
              <a:buFont typeface="Wingdings" panose="05000000000000000000" pitchFamily="2" charset="2"/>
              <a:buChar char="q"/>
            </a:pPr>
            <a:r>
              <a:rPr lang="en-US" sz="14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Patel DR, </a:t>
            </a:r>
            <a:r>
              <a:rPr lang="en-US" sz="1400" dirty="0" err="1">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Neelakantan</a:t>
            </a:r>
            <a:r>
              <a:rPr lang="en-US" sz="14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M, </a:t>
            </a:r>
            <a:r>
              <a:rPr lang="en-US" sz="1400" dirty="0" err="1">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Pandher</a:t>
            </a:r>
            <a:r>
              <a:rPr lang="en-US" sz="14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K, Merrick J. Cerebral palsy in children: a clinical overview. </a:t>
            </a:r>
            <a:r>
              <a:rPr lang="en-US" sz="1400" i="1"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Translational pediatrics</a:t>
            </a:r>
            <a:r>
              <a:rPr lang="en-US" sz="14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2020 Feb;9(Suppl 1):S125.</a:t>
            </a:r>
            <a:r>
              <a:rPr lang="en-US" sz="1400" dirty="0">
                <a:latin typeface="Times New Roman" panose="02020603050405020304" pitchFamily="18" charset="0"/>
                <a:ea typeface="Calibri" panose="020F0502020204030204" pitchFamily="34" charset="0"/>
                <a:cs typeface="Times New Roman" panose="02020603050405020304" pitchFamily="18" charset="0"/>
              </a:rPr>
              <a:t> </a:t>
            </a:r>
            <a:r>
              <a:rPr lang="en-US" sz="14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Available from: </a:t>
            </a:r>
            <a:r>
              <a:rPr lang="en-US" sz="1400" u="sng" dirty="0">
                <a:solidFill>
                  <a:srgbClr val="0000FF"/>
                </a:solidFill>
                <a:effectLst/>
                <a:latin typeface="Times New Roman" panose="02020603050405020304" pitchFamily="18" charset="0"/>
                <a:ea typeface="Times New Roman" panose="02020603050405020304" pitchFamily="18" charset="0"/>
                <a:cs typeface="Times New Roman" panose="02020603050405020304" pitchFamily="18" charset="0"/>
                <a:hlinkClick r:id="rId4"/>
              </a:rPr>
              <a:t>https://www.ncbi.nlm.nih.gov/pmc/articles/PMC4656866/</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spcBef>
                <a:spcPts val="0"/>
              </a:spcBef>
              <a:spcAft>
                <a:spcPts val="0"/>
              </a:spcAft>
              <a:buFont typeface="Wingdings" panose="05000000000000000000" pitchFamily="2" charset="2"/>
              <a:buChar char="q"/>
            </a:pPr>
            <a:r>
              <a:rPr lang="en-US" sz="14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Hamza A. </a:t>
            </a:r>
            <a:r>
              <a:rPr lang="en-US" sz="1400" i="1"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Kernicterus</a:t>
            </a:r>
            <a:r>
              <a:rPr lang="en-US" sz="14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Autopsy and Case Reports. 2019 Jan 14;9(1):0-.</a:t>
            </a:r>
            <a:r>
              <a:rPr lang="en-US" sz="1400" dirty="0">
                <a:latin typeface="Times New Roman" panose="02020603050405020304" pitchFamily="18" charset="0"/>
                <a:ea typeface="Calibri" panose="020F0502020204030204" pitchFamily="34" charset="0"/>
                <a:cs typeface="Times New Roman" panose="02020603050405020304" pitchFamily="18" charset="0"/>
              </a:rPr>
              <a:t> </a:t>
            </a:r>
            <a:r>
              <a:rPr lang="en-US" sz="14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Available from: </a:t>
            </a:r>
            <a:r>
              <a:rPr lang="en-US" sz="1400" u="sng" dirty="0">
                <a:solidFill>
                  <a:srgbClr val="0000FF"/>
                </a:solidFill>
                <a:effectLst/>
                <a:latin typeface="Times New Roman" panose="02020603050405020304" pitchFamily="18" charset="0"/>
                <a:ea typeface="Times New Roman" panose="02020603050405020304" pitchFamily="18" charset="0"/>
                <a:cs typeface="Times New Roman" panose="02020603050405020304" pitchFamily="18" charset="0"/>
                <a:hlinkClick r:id="rId5"/>
              </a:rPr>
              <a:t>https://www.ncbi.nlm.nih.gov/pmc/articles/PMC6394357/</a:t>
            </a:r>
            <a:endParaRPr lang="en-US" sz="1400" u="sng" dirty="0">
              <a:solidFill>
                <a:srgbClr val="0000FF"/>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spcBef>
                <a:spcPts val="0"/>
              </a:spcBef>
              <a:spcAft>
                <a:spcPts val="0"/>
              </a:spcAft>
              <a:buFont typeface="Wingdings" panose="05000000000000000000" pitchFamily="2" charset="2"/>
              <a:buChar char="q"/>
            </a:pPr>
            <a:r>
              <a:rPr lang="en-US" sz="14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Sánchez-Gabriel MD, Castellanos JL, Fernández IB, </a:t>
            </a:r>
            <a:r>
              <a:rPr lang="en-US" sz="1400" dirty="0" err="1">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Muñuzuri</a:t>
            </a:r>
            <a:r>
              <a:rPr lang="en-US" sz="14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AP, </a:t>
            </a:r>
            <a:r>
              <a:rPr lang="en-US" sz="1400" dirty="0" err="1">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Gracia</a:t>
            </a:r>
            <a:r>
              <a:rPr lang="en-US" sz="14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SR, </a:t>
            </a:r>
            <a:r>
              <a:rPr lang="en-US" sz="1400" dirty="0" err="1">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Campillo</a:t>
            </a:r>
            <a:r>
              <a:rPr lang="en-US" sz="14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CW, López ES, Luna MS, </a:t>
            </a:r>
            <a:r>
              <a:rPr lang="en-US" sz="1400" dirty="0" err="1">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Comisión</a:t>
            </a:r>
            <a:r>
              <a:rPr lang="en-US" sz="14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de </a:t>
            </a:r>
            <a:r>
              <a:rPr lang="en-US" sz="1400" dirty="0" err="1">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Estándares</a:t>
            </a:r>
            <a:r>
              <a:rPr lang="en-US" sz="14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de la Sociedad Española de </a:t>
            </a:r>
            <a:r>
              <a:rPr lang="en-US" sz="1400" dirty="0" err="1">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Neonatología</a:t>
            </a:r>
            <a:r>
              <a:rPr lang="en-US" sz="14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Guidelines for prevention, detection and management of </a:t>
            </a:r>
            <a:r>
              <a:rPr lang="en-US" sz="1400" dirty="0" err="1">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hyperbilirubinaemia</a:t>
            </a:r>
            <a:r>
              <a:rPr lang="en-US" sz="14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in newborns of 35 or more weeks of gestation. </a:t>
            </a:r>
            <a:r>
              <a:rPr lang="en-US" sz="1400" i="1" dirty="0" err="1">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Anales</a:t>
            </a:r>
            <a:r>
              <a:rPr lang="en-US" sz="1400" i="1"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de </a:t>
            </a:r>
            <a:r>
              <a:rPr lang="en-US" sz="1400" i="1" dirty="0" err="1">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Pediatría</a:t>
            </a:r>
            <a:r>
              <a:rPr lang="en-US" sz="1400" i="1"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(English Edition)</a:t>
            </a:r>
            <a:r>
              <a:rPr lang="en-US" sz="14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2017 Nov 1;87(5):294-e1.</a:t>
            </a:r>
            <a:r>
              <a:rPr lang="en-US" sz="1400" dirty="0">
                <a:latin typeface="Times New Roman" panose="02020603050405020304" pitchFamily="18" charset="0"/>
                <a:ea typeface="Calibri" panose="020F0502020204030204" pitchFamily="34" charset="0"/>
                <a:cs typeface="Times New Roman" panose="02020603050405020304" pitchFamily="18" charset="0"/>
              </a:rPr>
              <a:t> </a:t>
            </a:r>
            <a:r>
              <a:rPr lang="en-US" sz="14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Available from: </a:t>
            </a:r>
            <a:r>
              <a:rPr lang="en-US" sz="1400" u="sng" dirty="0">
                <a:solidFill>
                  <a:srgbClr val="0000FF"/>
                </a:solidFill>
                <a:effectLst/>
                <a:latin typeface="Times New Roman" panose="02020603050405020304" pitchFamily="18" charset="0"/>
                <a:ea typeface="Times New Roman" panose="02020603050405020304" pitchFamily="18" charset="0"/>
                <a:cs typeface="Times New Roman" panose="02020603050405020304" pitchFamily="18" charset="0"/>
                <a:hlinkClick r:id="rId6"/>
              </a:rPr>
              <a:t>https://www.analesdepediatria.org/en-guidelines-for-prevention-detection-management-articulo-S234128791730162X</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spcBef>
                <a:spcPts val="0"/>
              </a:spcBef>
              <a:spcAft>
                <a:spcPts val="0"/>
              </a:spcAft>
              <a:buFont typeface="Wingdings" panose="05000000000000000000" pitchFamily="2" charset="2"/>
              <a:buChar char="q"/>
            </a:pPr>
            <a:r>
              <a:rPr lang="en-US" sz="14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Woodgate P, Jardine LA. Neonatal jaundice: phototherapy. </a:t>
            </a:r>
            <a:r>
              <a:rPr lang="en-US" sz="1400" i="1"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BMJ clinical evidence</a:t>
            </a:r>
            <a:r>
              <a:rPr lang="en-US" sz="14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2015; 2015.Available</a:t>
            </a:r>
            <a:r>
              <a:rPr lang="en-US" sz="14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 from: </a:t>
            </a:r>
            <a:r>
              <a:rPr lang="en-US" sz="1400" u="sng" dirty="0">
                <a:solidFill>
                  <a:srgbClr val="0000FF"/>
                </a:solidFill>
                <a:effectLst/>
                <a:latin typeface="Times New Roman" panose="02020603050405020304" pitchFamily="18" charset="0"/>
                <a:ea typeface="Times New Roman" panose="02020603050405020304" pitchFamily="18" charset="0"/>
                <a:cs typeface="Times New Roman" panose="02020603050405020304" pitchFamily="18" charset="0"/>
                <a:hlinkClick r:id="rId7"/>
              </a:rPr>
              <a:t>https://www.ncbi.nlm.nih.gov/pmc/articles/PMC4440981/#!po=17.4051</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spcBef>
                <a:spcPts val="0"/>
              </a:spcBef>
              <a:spcAft>
                <a:spcPts val="0"/>
              </a:spcAft>
              <a:buFont typeface="Wingdings" panose="05000000000000000000" pitchFamily="2" charset="2"/>
              <a:buChar char="q"/>
            </a:pPr>
            <a:r>
              <a:rPr lang="en-US" sz="1400" dirty="0" err="1">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Muchowski</a:t>
            </a:r>
            <a:r>
              <a:rPr lang="en-US" sz="14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KE. </a:t>
            </a:r>
            <a:r>
              <a:rPr lang="en-US" sz="1400" i="1"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Evaluation and treatment of neonatal hyperbilirubinemia</a:t>
            </a:r>
            <a:r>
              <a:rPr lang="en-US" sz="14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American family physician. 2014 Jun 1;89(11):873-8.</a:t>
            </a:r>
            <a:r>
              <a:rPr lang="en-US" sz="1400" dirty="0">
                <a:latin typeface="Times New Roman" panose="02020603050405020304" pitchFamily="18" charset="0"/>
                <a:ea typeface="Calibri" panose="020F0502020204030204" pitchFamily="34" charset="0"/>
                <a:cs typeface="Times New Roman" panose="02020603050405020304" pitchFamily="18" charset="0"/>
              </a:rPr>
              <a:t> </a:t>
            </a:r>
            <a:r>
              <a:rPr lang="en-US" sz="14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Available from: </a:t>
            </a: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hlinkClick r:id="rId8"/>
              </a:rPr>
              <a:t>https://www.aafp.org/afp/2014/0601/p873.html</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spcBef>
                <a:spcPts val="0"/>
              </a:spcBef>
              <a:spcAft>
                <a:spcPts val="0"/>
              </a:spcAft>
              <a:buFont typeface="Wingdings" panose="05000000000000000000" pitchFamily="2" charset="2"/>
              <a:buChar char="q"/>
            </a:pPr>
            <a:r>
              <a:rPr lang="en-US" sz="1400" dirty="0" err="1">
                <a:effectLst/>
                <a:latin typeface="Times New Roman" panose="02020603050405020304" pitchFamily="18" charset="0"/>
                <a:ea typeface="Times New Roman" panose="02020603050405020304" pitchFamily="18" charset="0"/>
                <a:cs typeface="Times New Roman" panose="02020603050405020304" pitchFamily="18" charset="0"/>
              </a:rPr>
              <a:t>Murekatete</a:t>
            </a: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 C, </a:t>
            </a:r>
            <a:r>
              <a:rPr lang="en-US" sz="1400" dirty="0" err="1">
                <a:effectLst/>
                <a:latin typeface="Times New Roman" panose="02020603050405020304" pitchFamily="18" charset="0"/>
                <a:ea typeface="Times New Roman" panose="02020603050405020304" pitchFamily="18" charset="0"/>
                <a:cs typeface="Times New Roman" panose="02020603050405020304" pitchFamily="18" charset="0"/>
              </a:rPr>
              <a:t>Muteteli</a:t>
            </a: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 C, </a:t>
            </a:r>
            <a:r>
              <a:rPr lang="en-US" sz="1400" dirty="0" err="1">
                <a:effectLst/>
                <a:latin typeface="Times New Roman" panose="02020603050405020304" pitchFamily="18" charset="0"/>
                <a:ea typeface="Times New Roman" panose="02020603050405020304" pitchFamily="18" charset="0"/>
                <a:cs typeface="Times New Roman" panose="02020603050405020304" pitchFamily="18" charset="0"/>
              </a:rPr>
              <a:t>Nsengiyumva</a:t>
            </a: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 R, </a:t>
            </a:r>
            <a:r>
              <a:rPr lang="en-US" sz="1400" dirty="0" err="1">
                <a:effectLst/>
                <a:latin typeface="Times New Roman" panose="02020603050405020304" pitchFamily="18" charset="0"/>
                <a:ea typeface="Times New Roman" panose="02020603050405020304" pitchFamily="18" charset="0"/>
                <a:cs typeface="Times New Roman" panose="02020603050405020304" pitchFamily="18" charset="0"/>
              </a:rPr>
              <a:t>Chiroda</a:t>
            </a: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 G. Neonatal Jaundice Risk Factors at a District Hospital in Rwanda. </a:t>
            </a:r>
            <a:r>
              <a:rPr lang="en-US" sz="1400" i="1" dirty="0">
                <a:effectLst/>
                <a:latin typeface="Times New Roman" panose="02020603050405020304" pitchFamily="18" charset="0"/>
                <a:ea typeface="Times New Roman" panose="02020603050405020304" pitchFamily="18" charset="0"/>
                <a:cs typeface="Times New Roman" panose="02020603050405020304" pitchFamily="18" charset="0"/>
              </a:rPr>
              <a:t>Rwanda Journal of Medicine and Health Sciences.</a:t>
            </a: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 2020 Sep 7;3(2):204-13. Available from: ajol.info/</a:t>
            </a:r>
            <a:r>
              <a:rPr lang="en-US" sz="1400" dirty="0" err="1">
                <a:effectLst/>
                <a:latin typeface="Times New Roman" panose="02020603050405020304" pitchFamily="18" charset="0"/>
                <a:ea typeface="Times New Roman" panose="02020603050405020304" pitchFamily="18" charset="0"/>
                <a:cs typeface="Times New Roman" panose="02020603050405020304" pitchFamily="18" charset="0"/>
              </a:rPr>
              <a:t>index.php</a:t>
            </a: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400" dirty="0" err="1">
                <a:effectLst/>
                <a:latin typeface="Times New Roman" panose="02020603050405020304" pitchFamily="18" charset="0"/>
                <a:ea typeface="Times New Roman" panose="02020603050405020304" pitchFamily="18" charset="0"/>
                <a:cs typeface="Times New Roman" panose="02020603050405020304" pitchFamily="18" charset="0"/>
              </a:rPr>
              <a:t>rjmhs</a:t>
            </a: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/article/view/199476 [accessed on 10th January 2022]. </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p>
            <a:pPr marR="0" lvl="0">
              <a:spcBef>
                <a:spcPts val="0"/>
              </a:spcBef>
              <a:spcAft>
                <a:spcPts val="0"/>
              </a:spcAft>
            </a:pP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93C5EB1C-2883-586C-E2CD-8EDBB125CBFC}"/>
              </a:ext>
            </a:extLst>
          </p:cNvPr>
          <p:cNvSpPr/>
          <p:nvPr/>
        </p:nvSpPr>
        <p:spPr>
          <a:xfrm>
            <a:off x="2504662" y="209411"/>
            <a:ext cx="7606747" cy="993913"/>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marL="0" marR="0" indent="457200" algn="ctr">
              <a:spcBef>
                <a:spcPts val="0"/>
              </a:spcBef>
              <a:spcAft>
                <a:spcPts val="0"/>
              </a:spcAft>
            </a:pPr>
            <a:r>
              <a:rPr lang="en-US" sz="4000" b="1" dirty="0">
                <a:latin typeface="Times New Roman" panose="02020603050405020304" pitchFamily="18" charset="0"/>
                <a:ea typeface="Calibri" panose="020F0502020204030204" pitchFamily="34" charset="0"/>
                <a:cs typeface="Gautami" panose="020B0502040204020203" pitchFamily="34" charset="0"/>
              </a:rPr>
              <a:t>REFERENCE</a:t>
            </a:r>
            <a:endParaRPr lang="en-US" sz="3200" dirty="0">
              <a:effectLst/>
              <a:latin typeface="Calibri" panose="020F0502020204030204" pitchFamily="34" charset="0"/>
              <a:ea typeface="Calibri" panose="020F0502020204030204" pitchFamily="34" charset="0"/>
              <a:cs typeface="Gautami" panose="020B0502040204020203" pitchFamily="34" charset="0"/>
            </a:endParaRPr>
          </a:p>
        </p:txBody>
      </p:sp>
    </p:spTree>
    <p:extLst>
      <p:ext uri="{BB962C8B-B14F-4D97-AF65-F5344CB8AC3E}">
        <p14:creationId xmlns:p14="http://schemas.microsoft.com/office/powerpoint/2010/main" val="154050753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F2CA837-38E6-C75E-8F11-51071C0620B2}"/>
              </a:ext>
            </a:extLst>
          </p:cNvPr>
          <p:cNvSpPr txBox="1"/>
          <p:nvPr/>
        </p:nvSpPr>
        <p:spPr>
          <a:xfrm>
            <a:off x="318052" y="320492"/>
            <a:ext cx="11118573" cy="4616648"/>
          </a:xfrm>
          <a:prstGeom prst="rect">
            <a:avLst/>
          </a:prstGeom>
          <a:noFill/>
        </p:spPr>
        <p:txBody>
          <a:bodyPr wrap="square">
            <a:spAutoFit/>
          </a:bodyPr>
          <a:lstStyle/>
          <a:p>
            <a:pPr marL="342900" indent="-342900" algn="just">
              <a:buFont typeface="Wingdings" panose="05000000000000000000" pitchFamily="2" charset="2"/>
              <a:buChar char="q"/>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Goodman OO, Kehinde OA, </a:t>
            </a:r>
            <a:r>
              <a:rPr lang="en-US" sz="1400" dirty="0" err="1">
                <a:effectLst/>
                <a:latin typeface="Times New Roman" panose="02020603050405020304" pitchFamily="18" charset="0"/>
                <a:ea typeface="Times New Roman" panose="02020603050405020304" pitchFamily="18" charset="0"/>
                <a:cs typeface="Times New Roman" panose="02020603050405020304" pitchFamily="18" charset="0"/>
              </a:rPr>
              <a:t>Odugbemi</a:t>
            </a: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 BA, Femi-Adebayo TT, </a:t>
            </a:r>
            <a:r>
              <a:rPr lang="en-US" sz="1400" dirty="0" err="1">
                <a:effectLst/>
                <a:latin typeface="Times New Roman" panose="02020603050405020304" pitchFamily="18" charset="0"/>
                <a:ea typeface="Times New Roman" panose="02020603050405020304" pitchFamily="18" charset="0"/>
                <a:cs typeface="Times New Roman" panose="02020603050405020304" pitchFamily="18" charset="0"/>
              </a:rPr>
              <a:t>Odusanya</a:t>
            </a: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 OO. Neonatal jaundice: knowledge, attitude and </a:t>
            </a:r>
            <a:r>
              <a:rPr lang="en-US" sz="1400" dirty="0" err="1">
                <a:effectLst/>
                <a:latin typeface="Times New Roman" panose="02020603050405020304" pitchFamily="18" charset="0"/>
                <a:ea typeface="Times New Roman" panose="02020603050405020304" pitchFamily="18" charset="0"/>
                <a:cs typeface="Times New Roman" panose="02020603050405020304" pitchFamily="18" charset="0"/>
              </a:rPr>
              <a:t>practises</a:t>
            </a: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 of mothers in </a:t>
            </a:r>
            <a:r>
              <a:rPr lang="en-US" sz="1400" dirty="0" err="1">
                <a:effectLst/>
                <a:latin typeface="Times New Roman" panose="02020603050405020304" pitchFamily="18" charset="0"/>
                <a:ea typeface="Times New Roman" panose="02020603050405020304" pitchFamily="18" charset="0"/>
                <a:cs typeface="Times New Roman" panose="02020603050405020304" pitchFamily="18" charset="0"/>
              </a:rPr>
              <a:t>Mosan</a:t>
            </a: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 - Okunola community, Lagos, Nigeria. </a:t>
            </a:r>
            <a:r>
              <a:rPr lang="en-US" sz="1400" i="1" dirty="0">
                <a:effectLst/>
                <a:latin typeface="Times New Roman" panose="02020603050405020304" pitchFamily="18" charset="0"/>
                <a:ea typeface="Times New Roman" panose="02020603050405020304" pitchFamily="18" charset="0"/>
                <a:cs typeface="Times New Roman" panose="02020603050405020304" pitchFamily="18" charset="0"/>
              </a:rPr>
              <a:t>Nigerian Postgraduate Medical Journal</a:t>
            </a: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 2015 Jul 1; 22(3):158-163. Available from: npmj.org/</a:t>
            </a:r>
            <a:r>
              <a:rPr lang="en-US" sz="1400" dirty="0" err="1">
                <a:effectLst/>
                <a:latin typeface="Times New Roman" panose="02020603050405020304" pitchFamily="18" charset="0"/>
                <a:ea typeface="Times New Roman" panose="02020603050405020304" pitchFamily="18" charset="0"/>
                <a:cs typeface="Times New Roman" panose="02020603050405020304" pitchFamily="18" charset="0"/>
              </a:rPr>
              <a:t>article.asp?issn</a:t>
            </a: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=1117-1936;year=2015;volume=22;issue=3;spage=158;epage=163;aulast=Goodman [accessed on 10th </a:t>
            </a:r>
            <a:r>
              <a:rPr lang="en-US" sz="1400" dirty="0" err="1">
                <a:effectLst/>
                <a:latin typeface="Times New Roman" panose="02020603050405020304" pitchFamily="18" charset="0"/>
                <a:ea typeface="Times New Roman" panose="02020603050405020304" pitchFamily="18" charset="0"/>
                <a:cs typeface="Times New Roman" panose="02020603050405020304" pitchFamily="18" charset="0"/>
              </a:rPr>
              <a:t>january</a:t>
            </a: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 2022]. </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spcBef>
                <a:spcPts val="0"/>
              </a:spcBef>
              <a:spcAft>
                <a:spcPts val="0"/>
              </a:spcAft>
              <a:buFont typeface="Wingdings" panose="05000000000000000000" pitchFamily="2" charset="2"/>
              <a:buChar char="q"/>
            </a:pPr>
            <a:r>
              <a:rPr lang="en-US" sz="1400" dirty="0" err="1">
                <a:solidFill>
                  <a:srgbClr val="222222"/>
                </a:solidFill>
                <a:effectLst/>
                <a:latin typeface="Times New Roman" panose="02020603050405020304" pitchFamily="18" charset="0"/>
                <a:ea typeface="Times New Roman" panose="02020603050405020304" pitchFamily="18" charset="0"/>
                <a:cs typeface="Gautami" panose="020B0502040204020203" pitchFamily="34" charset="0"/>
              </a:rPr>
              <a:t>Demis</a:t>
            </a:r>
            <a:r>
              <a:rPr lang="en-US" sz="1400" dirty="0">
                <a:solidFill>
                  <a:srgbClr val="222222"/>
                </a:solidFill>
                <a:effectLst/>
                <a:latin typeface="Times New Roman" panose="02020603050405020304" pitchFamily="18" charset="0"/>
                <a:ea typeface="Times New Roman" panose="02020603050405020304" pitchFamily="18" charset="0"/>
                <a:cs typeface="Gautami" panose="020B0502040204020203" pitchFamily="34" charset="0"/>
              </a:rPr>
              <a:t> A, </a:t>
            </a:r>
            <a:r>
              <a:rPr lang="en-US" sz="1400" dirty="0" err="1">
                <a:solidFill>
                  <a:srgbClr val="222222"/>
                </a:solidFill>
                <a:effectLst/>
                <a:latin typeface="Times New Roman" panose="02020603050405020304" pitchFamily="18" charset="0"/>
                <a:ea typeface="Times New Roman" panose="02020603050405020304" pitchFamily="18" charset="0"/>
                <a:cs typeface="Gautami" panose="020B0502040204020203" pitchFamily="34" charset="0"/>
              </a:rPr>
              <a:t>Getie</a:t>
            </a:r>
            <a:r>
              <a:rPr lang="en-US" sz="1400" dirty="0">
                <a:solidFill>
                  <a:srgbClr val="222222"/>
                </a:solidFill>
                <a:effectLst/>
                <a:latin typeface="Times New Roman" panose="02020603050405020304" pitchFamily="18" charset="0"/>
                <a:ea typeface="Times New Roman" panose="02020603050405020304" pitchFamily="18" charset="0"/>
                <a:cs typeface="Gautami" panose="020B0502040204020203" pitchFamily="34" charset="0"/>
              </a:rPr>
              <a:t> A, </a:t>
            </a:r>
            <a:r>
              <a:rPr lang="en-US" sz="1400" dirty="0" err="1">
                <a:solidFill>
                  <a:srgbClr val="222222"/>
                </a:solidFill>
                <a:effectLst/>
                <a:latin typeface="Times New Roman" panose="02020603050405020304" pitchFamily="18" charset="0"/>
                <a:ea typeface="Times New Roman" panose="02020603050405020304" pitchFamily="18" charset="0"/>
                <a:cs typeface="Gautami" panose="020B0502040204020203" pitchFamily="34" charset="0"/>
              </a:rPr>
              <a:t>Wondmieneh</a:t>
            </a:r>
            <a:r>
              <a:rPr lang="en-US" sz="1400" dirty="0">
                <a:solidFill>
                  <a:srgbClr val="222222"/>
                </a:solidFill>
                <a:effectLst/>
                <a:latin typeface="Times New Roman" panose="02020603050405020304" pitchFamily="18" charset="0"/>
                <a:ea typeface="Times New Roman" panose="02020603050405020304" pitchFamily="18" charset="0"/>
                <a:cs typeface="Gautami" panose="020B0502040204020203" pitchFamily="34" charset="0"/>
              </a:rPr>
              <a:t> A, </a:t>
            </a:r>
            <a:r>
              <a:rPr lang="en-US" sz="1400" dirty="0" err="1">
                <a:solidFill>
                  <a:srgbClr val="222222"/>
                </a:solidFill>
                <a:effectLst/>
                <a:latin typeface="Times New Roman" panose="02020603050405020304" pitchFamily="18" charset="0"/>
                <a:ea typeface="Times New Roman" panose="02020603050405020304" pitchFamily="18" charset="0"/>
                <a:cs typeface="Gautami" panose="020B0502040204020203" pitchFamily="34" charset="0"/>
              </a:rPr>
              <a:t>Alemnew</a:t>
            </a:r>
            <a:r>
              <a:rPr lang="en-US" sz="1400" dirty="0">
                <a:solidFill>
                  <a:srgbClr val="222222"/>
                </a:solidFill>
                <a:effectLst/>
                <a:latin typeface="Times New Roman" panose="02020603050405020304" pitchFamily="18" charset="0"/>
                <a:ea typeface="Times New Roman" panose="02020603050405020304" pitchFamily="18" charset="0"/>
                <a:cs typeface="Gautami" panose="020B0502040204020203" pitchFamily="34" charset="0"/>
              </a:rPr>
              <a:t> B, </a:t>
            </a:r>
            <a:r>
              <a:rPr lang="en-US" sz="1400" dirty="0" err="1">
                <a:solidFill>
                  <a:srgbClr val="222222"/>
                </a:solidFill>
                <a:effectLst/>
                <a:latin typeface="Times New Roman" panose="02020603050405020304" pitchFamily="18" charset="0"/>
                <a:ea typeface="Times New Roman" panose="02020603050405020304" pitchFamily="18" charset="0"/>
                <a:cs typeface="Gautami" panose="020B0502040204020203" pitchFamily="34" charset="0"/>
              </a:rPr>
              <a:t>Gedefaw</a:t>
            </a:r>
            <a:r>
              <a:rPr lang="en-US" sz="1400" dirty="0">
                <a:solidFill>
                  <a:srgbClr val="222222"/>
                </a:solidFill>
                <a:effectLst/>
                <a:latin typeface="Times New Roman" panose="02020603050405020304" pitchFamily="18" charset="0"/>
                <a:ea typeface="Times New Roman" panose="02020603050405020304" pitchFamily="18" charset="0"/>
                <a:cs typeface="Gautami" panose="020B0502040204020203" pitchFamily="34" charset="0"/>
              </a:rPr>
              <a:t> G. Knowledge on neonatal jaundice and its associated factors among mothers in northern Ethiopia: a facility-based cross-sectional study. </a:t>
            </a:r>
            <a:r>
              <a:rPr lang="en-US" sz="1400" i="1" dirty="0">
                <a:solidFill>
                  <a:srgbClr val="222222"/>
                </a:solidFill>
                <a:effectLst/>
                <a:latin typeface="Times New Roman" panose="02020603050405020304" pitchFamily="18" charset="0"/>
                <a:ea typeface="Times New Roman" panose="02020603050405020304" pitchFamily="18" charset="0"/>
                <a:cs typeface="Gautami" panose="020B0502040204020203" pitchFamily="34" charset="0"/>
              </a:rPr>
              <a:t>BMJ open</a:t>
            </a:r>
            <a:r>
              <a:rPr lang="en-US" sz="1400" dirty="0">
                <a:solidFill>
                  <a:srgbClr val="222222"/>
                </a:solidFill>
                <a:effectLst/>
                <a:latin typeface="Times New Roman" panose="02020603050405020304" pitchFamily="18" charset="0"/>
                <a:ea typeface="Times New Roman" panose="02020603050405020304" pitchFamily="18" charset="0"/>
                <a:cs typeface="Gautami" panose="020B0502040204020203" pitchFamily="34" charset="0"/>
              </a:rPr>
              <a:t>. 2021 Mar 1;11(3):e044390. Available from: </a:t>
            </a:r>
            <a:r>
              <a:rPr lang="en-US" sz="1400" u="sng" dirty="0">
                <a:solidFill>
                  <a:srgbClr val="1155CC"/>
                </a:solidFill>
                <a:effectLst/>
                <a:latin typeface="Times New Roman" panose="02020603050405020304" pitchFamily="18" charset="0"/>
                <a:ea typeface="Times New Roman" panose="02020603050405020304" pitchFamily="18" charset="0"/>
                <a:cs typeface="Gautami" panose="020B0502040204020203" pitchFamily="34" charset="0"/>
                <a:hlinkClick r:id="rId2"/>
              </a:rPr>
              <a:t>https://www.ncbi.nlm.nih.gov/pmc/articles/PMC7942262/</a:t>
            </a:r>
            <a:r>
              <a:rPr lang="en-US" sz="1400" dirty="0">
                <a:solidFill>
                  <a:srgbClr val="222222"/>
                </a:solidFill>
                <a:effectLst/>
                <a:latin typeface="Times New Roman" panose="02020603050405020304" pitchFamily="18" charset="0"/>
                <a:ea typeface="Times New Roman" panose="02020603050405020304" pitchFamily="18" charset="0"/>
                <a:cs typeface="Gautami" panose="020B0502040204020203" pitchFamily="34" charset="0"/>
              </a:rPr>
              <a:t> [accessed on 20th </a:t>
            </a:r>
            <a:r>
              <a:rPr lang="en-US" sz="1400" dirty="0" err="1">
                <a:solidFill>
                  <a:srgbClr val="222222"/>
                </a:solidFill>
                <a:effectLst/>
                <a:latin typeface="Times New Roman" panose="02020603050405020304" pitchFamily="18" charset="0"/>
                <a:ea typeface="Times New Roman" panose="02020603050405020304" pitchFamily="18" charset="0"/>
                <a:cs typeface="Gautami" panose="020B0502040204020203" pitchFamily="34" charset="0"/>
              </a:rPr>
              <a:t>january</a:t>
            </a:r>
            <a:r>
              <a:rPr lang="en-US" sz="1400" dirty="0">
                <a:solidFill>
                  <a:srgbClr val="222222"/>
                </a:solidFill>
                <a:effectLst/>
                <a:latin typeface="Times New Roman" panose="02020603050405020304" pitchFamily="18" charset="0"/>
                <a:ea typeface="Times New Roman" panose="02020603050405020304" pitchFamily="18" charset="0"/>
                <a:cs typeface="Gautami" panose="020B0502040204020203" pitchFamily="34" charset="0"/>
              </a:rPr>
              <a:t>] 2.5</a:t>
            </a:r>
          </a:p>
          <a:p>
            <a:pPr marL="342900" indent="-342900" algn="just">
              <a:buFont typeface="Wingdings" panose="05000000000000000000" pitchFamily="2" charset="2"/>
              <a:buChar char="q"/>
            </a:pPr>
            <a:r>
              <a:rPr lang="en-US" sz="1400" dirty="0" err="1">
                <a:solidFill>
                  <a:srgbClr val="222222"/>
                </a:solidFill>
                <a:effectLst/>
                <a:latin typeface="Times New Roman" panose="02020603050405020304" pitchFamily="18" charset="0"/>
                <a:ea typeface="Times New Roman" panose="02020603050405020304" pitchFamily="18" charset="0"/>
                <a:cs typeface="Gautami" panose="020B0502040204020203" pitchFamily="34" charset="0"/>
              </a:rPr>
              <a:t>Boskabadi</a:t>
            </a:r>
            <a:r>
              <a:rPr lang="en-US" sz="1400" dirty="0">
                <a:solidFill>
                  <a:srgbClr val="222222"/>
                </a:solidFill>
                <a:effectLst/>
                <a:latin typeface="Times New Roman" panose="02020603050405020304" pitchFamily="18" charset="0"/>
                <a:ea typeface="Times New Roman" panose="02020603050405020304" pitchFamily="18" charset="0"/>
                <a:cs typeface="Gautami" panose="020B0502040204020203" pitchFamily="34" charset="0"/>
              </a:rPr>
              <a:t> H, </a:t>
            </a:r>
            <a:r>
              <a:rPr lang="en-US" sz="1400" dirty="0" err="1">
                <a:solidFill>
                  <a:srgbClr val="222222"/>
                </a:solidFill>
                <a:effectLst/>
                <a:latin typeface="Times New Roman" panose="02020603050405020304" pitchFamily="18" charset="0"/>
                <a:ea typeface="Times New Roman" panose="02020603050405020304" pitchFamily="18" charset="0"/>
                <a:cs typeface="Gautami" panose="020B0502040204020203" pitchFamily="34" charset="0"/>
              </a:rPr>
              <a:t>Rakhshani</a:t>
            </a:r>
            <a:r>
              <a:rPr lang="en-US" sz="1400" dirty="0">
                <a:solidFill>
                  <a:srgbClr val="222222"/>
                </a:solidFill>
                <a:effectLst/>
                <a:latin typeface="Times New Roman" panose="02020603050405020304" pitchFamily="18" charset="0"/>
                <a:ea typeface="Times New Roman" panose="02020603050405020304" pitchFamily="18" charset="0"/>
                <a:cs typeface="Gautami" panose="020B0502040204020203" pitchFamily="34" charset="0"/>
              </a:rPr>
              <a:t> Zadeh F, </a:t>
            </a:r>
            <a:r>
              <a:rPr lang="en-US" sz="1400" dirty="0" err="1">
                <a:solidFill>
                  <a:srgbClr val="222222"/>
                </a:solidFill>
                <a:effectLst/>
                <a:latin typeface="Times New Roman" panose="02020603050405020304" pitchFamily="18" charset="0"/>
                <a:ea typeface="Times New Roman" panose="02020603050405020304" pitchFamily="18" charset="0"/>
                <a:cs typeface="Gautami" panose="020B0502040204020203" pitchFamily="34" charset="0"/>
              </a:rPr>
              <a:t>Zakerhamidi</a:t>
            </a:r>
            <a:r>
              <a:rPr lang="en-US" sz="1400" dirty="0">
                <a:solidFill>
                  <a:srgbClr val="222222"/>
                </a:solidFill>
                <a:effectLst/>
                <a:latin typeface="Times New Roman" panose="02020603050405020304" pitchFamily="18" charset="0"/>
                <a:ea typeface="Times New Roman" panose="02020603050405020304" pitchFamily="18" charset="0"/>
                <a:cs typeface="Gautami" panose="020B0502040204020203" pitchFamily="34" charset="0"/>
              </a:rPr>
              <a:t> M. Evaluation of maternal risk factors in neonatal hyperbilirubinemia. </a:t>
            </a:r>
            <a:r>
              <a:rPr lang="en-US" sz="1400" i="1" dirty="0">
                <a:solidFill>
                  <a:srgbClr val="222222"/>
                </a:solidFill>
                <a:effectLst/>
                <a:latin typeface="Times New Roman" panose="02020603050405020304" pitchFamily="18" charset="0"/>
                <a:ea typeface="Times New Roman" panose="02020603050405020304" pitchFamily="18" charset="0"/>
                <a:cs typeface="Gautami" panose="020B0502040204020203" pitchFamily="34" charset="0"/>
              </a:rPr>
              <a:t>Archives of Iranian medicine.</a:t>
            </a:r>
            <a:r>
              <a:rPr lang="en-US" sz="1400" dirty="0">
                <a:solidFill>
                  <a:srgbClr val="222222"/>
                </a:solidFill>
                <a:effectLst/>
                <a:latin typeface="Times New Roman" panose="02020603050405020304" pitchFamily="18" charset="0"/>
                <a:ea typeface="Times New Roman" panose="02020603050405020304" pitchFamily="18" charset="0"/>
                <a:cs typeface="Gautami" panose="020B0502040204020203" pitchFamily="34" charset="0"/>
              </a:rPr>
              <a:t> 2020 Feb 1;23(2):128-40. Available from: </a:t>
            </a:r>
            <a:r>
              <a:rPr lang="en-US" sz="1400" u="sng" dirty="0">
                <a:solidFill>
                  <a:srgbClr val="1155CC"/>
                </a:solidFill>
                <a:effectLst/>
                <a:latin typeface="Times New Roman" panose="02020603050405020304" pitchFamily="18" charset="0"/>
                <a:ea typeface="Times New Roman" panose="02020603050405020304" pitchFamily="18" charset="0"/>
                <a:cs typeface="Gautami" panose="020B0502040204020203" pitchFamily="34" charset="0"/>
                <a:hlinkClick r:id="rId3"/>
              </a:rPr>
              <a:t>http://www.aimjournal.ir/Article/aim-6727</a:t>
            </a:r>
            <a:r>
              <a:rPr lang="en-US" sz="1400" dirty="0">
                <a:solidFill>
                  <a:srgbClr val="222222"/>
                </a:solidFill>
                <a:effectLst/>
                <a:latin typeface="Times New Roman" panose="02020603050405020304" pitchFamily="18" charset="0"/>
                <a:ea typeface="Times New Roman" panose="02020603050405020304" pitchFamily="18" charset="0"/>
                <a:cs typeface="Gautami" panose="020B0502040204020203" pitchFamily="34" charset="0"/>
              </a:rPr>
              <a:t> [accessed on 24th </a:t>
            </a:r>
            <a:r>
              <a:rPr lang="en-US" sz="1400" dirty="0" err="1">
                <a:solidFill>
                  <a:srgbClr val="222222"/>
                </a:solidFill>
                <a:effectLst/>
                <a:latin typeface="Times New Roman" panose="02020603050405020304" pitchFamily="18" charset="0"/>
                <a:ea typeface="Times New Roman" panose="02020603050405020304" pitchFamily="18" charset="0"/>
                <a:cs typeface="Gautami" panose="020B0502040204020203" pitchFamily="34" charset="0"/>
              </a:rPr>
              <a:t>january</a:t>
            </a:r>
            <a:r>
              <a:rPr lang="en-US" sz="1400" dirty="0">
                <a:solidFill>
                  <a:srgbClr val="222222"/>
                </a:solidFill>
                <a:effectLst/>
                <a:latin typeface="Times New Roman" panose="02020603050405020304" pitchFamily="18" charset="0"/>
                <a:ea typeface="Times New Roman" panose="02020603050405020304" pitchFamily="18" charset="0"/>
                <a:cs typeface="Gautami" panose="020B0502040204020203" pitchFamily="34" charset="0"/>
              </a:rPr>
              <a:t> 2022] </a:t>
            </a:r>
            <a:endParaRPr lang="en-US" sz="1400" dirty="0">
              <a:effectLst/>
              <a:latin typeface="Calibri" panose="020F0502020204030204" pitchFamily="34" charset="0"/>
              <a:ea typeface="Calibri" panose="020F0502020204030204" pitchFamily="34" charset="0"/>
              <a:cs typeface="Gautami" panose="020B0502040204020203" pitchFamily="34" charset="0"/>
            </a:endParaRPr>
          </a:p>
          <a:p>
            <a:pPr marL="342900" indent="-342900" algn="just">
              <a:buFont typeface="Wingdings" panose="05000000000000000000" pitchFamily="2" charset="2"/>
              <a:buChar char="q"/>
            </a:pPr>
            <a:r>
              <a:rPr lang="en-US" sz="1400" dirty="0" err="1">
                <a:solidFill>
                  <a:srgbClr val="222222"/>
                </a:solidFill>
                <a:effectLst/>
                <a:latin typeface="Times New Roman" panose="02020603050405020304" pitchFamily="18" charset="0"/>
                <a:ea typeface="Times New Roman" panose="02020603050405020304" pitchFamily="18" charset="0"/>
                <a:cs typeface="Gautami" panose="020B0502040204020203" pitchFamily="34" charset="0"/>
              </a:rPr>
              <a:t>Egube</a:t>
            </a:r>
            <a:r>
              <a:rPr lang="en-US" sz="1400" dirty="0">
                <a:solidFill>
                  <a:srgbClr val="222222"/>
                </a:solidFill>
                <a:effectLst/>
                <a:latin typeface="Times New Roman" panose="02020603050405020304" pitchFamily="18" charset="0"/>
                <a:ea typeface="Times New Roman" panose="02020603050405020304" pitchFamily="18" charset="0"/>
                <a:cs typeface="Gautami" panose="020B0502040204020203" pitchFamily="34" charset="0"/>
              </a:rPr>
              <a:t> BA, </a:t>
            </a:r>
            <a:r>
              <a:rPr lang="en-US" sz="1400" dirty="0" err="1">
                <a:solidFill>
                  <a:srgbClr val="222222"/>
                </a:solidFill>
                <a:effectLst/>
                <a:latin typeface="Times New Roman" panose="02020603050405020304" pitchFamily="18" charset="0"/>
                <a:ea typeface="Times New Roman" panose="02020603050405020304" pitchFamily="18" charset="0"/>
                <a:cs typeface="Gautami" panose="020B0502040204020203" pitchFamily="34" charset="0"/>
              </a:rPr>
              <a:t>Ofili</a:t>
            </a:r>
            <a:r>
              <a:rPr lang="en-US" sz="1400" dirty="0">
                <a:solidFill>
                  <a:srgbClr val="222222"/>
                </a:solidFill>
                <a:effectLst/>
                <a:latin typeface="Times New Roman" panose="02020603050405020304" pitchFamily="18" charset="0"/>
                <a:ea typeface="Times New Roman" panose="02020603050405020304" pitchFamily="18" charset="0"/>
                <a:cs typeface="Gautami" panose="020B0502040204020203" pitchFamily="34" charset="0"/>
              </a:rPr>
              <a:t> AN, </a:t>
            </a:r>
            <a:r>
              <a:rPr lang="en-US" sz="1400" dirty="0" err="1">
                <a:solidFill>
                  <a:srgbClr val="222222"/>
                </a:solidFill>
                <a:effectLst/>
                <a:latin typeface="Times New Roman" panose="02020603050405020304" pitchFamily="18" charset="0"/>
                <a:ea typeface="Times New Roman" panose="02020603050405020304" pitchFamily="18" charset="0"/>
                <a:cs typeface="Gautami" panose="020B0502040204020203" pitchFamily="34" charset="0"/>
              </a:rPr>
              <a:t>Isara</a:t>
            </a:r>
            <a:r>
              <a:rPr lang="en-US" sz="1400" dirty="0">
                <a:solidFill>
                  <a:srgbClr val="222222"/>
                </a:solidFill>
                <a:effectLst/>
                <a:latin typeface="Times New Roman" panose="02020603050405020304" pitchFamily="18" charset="0"/>
                <a:ea typeface="Times New Roman" panose="02020603050405020304" pitchFamily="18" charset="0"/>
                <a:cs typeface="Gautami" panose="020B0502040204020203" pitchFamily="34" charset="0"/>
              </a:rPr>
              <a:t> AR, </a:t>
            </a:r>
            <a:r>
              <a:rPr lang="en-US" sz="1400" dirty="0" err="1">
                <a:solidFill>
                  <a:srgbClr val="222222"/>
                </a:solidFill>
                <a:effectLst/>
                <a:latin typeface="Times New Roman" panose="02020603050405020304" pitchFamily="18" charset="0"/>
                <a:ea typeface="Times New Roman" panose="02020603050405020304" pitchFamily="18" charset="0"/>
                <a:cs typeface="Gautami" panose="020B0502040204020203" pitchFamily="34" charset="0"/>
              </a:rPr>
              <a:t>Onakewhor</a:t>
            </a:r>
            <a:r>
              <a:rPr lang="en-US" sz="1400" dirty="0">
                <a:solidFill>
                  <a:srgbClr val="222222"/>
                </a:solidFill>
                <a:effectLst/>
                <a:latin typeface="Times New Roman" panose="02020603050405020304" pitchFamily="18" charset="0"/>
                <a:ea typeface="Times New Roman" panose="02020603050405020304" pitchFamily="18" charset="0"/>
                <a:cs typeface="Gautami" panose="020B0502040204020203" pitchFamily="34" charset="0"/>
              </a:rPr>
              <a:t> JU. Neonatal jaundice and its management: knowledge, attitude, and practice among expectant mothers attending antenatal clinic at University of Benin Teaching Hospital, Benin City, Nigeria. </a:t>
            </a:r>
            <a:r>
              <a:rPr lang="en-US" sz="1400" i="1" dirty="0">
                <a:solidFill>
                  <a:srgbClr val="222222"/>
                </a:solidFill>
                <a:effectLst/>
                <a:latin typeface="Times New Roman" panose="02020603050405020304" pitchFamily="18" charset="0"/>
                <a:ea typeface="Times New Roman" panose="02020603050405020304" pitchFamily="18" charset="0"/>
                <a:cs typeface="Gautami" panose="020B0502040204020203" pitchFamily="34" charset="0"/>
              </a:rPr>
              <a:t>Nigerian journal of clinical practice</a:t>
            </a:r>
            <a:r>
              <a:rPr lang="en-US" sz="1400" dirty="0">
                <a:solidFill>
                  <a:srgbClr val="222222"/>
                </a:solidFill>
                <a:effectLst/>
                <a:latin typeface="Times New Roman" panose="02020603050405020304" pitchFamily="18" charset="0"/>
                <a:ea typeface="Times New Roman" panose="02020603050405020304" pitchFamily="18" charset="0"/>
                <a:cs typeface="Gautami" panose="020B0502040204020203" pitchFamily="34" charset="0"/>
              </a:rPr>
              <a:t>. 2013 May 27;16(2):188-94. Available from: </a:t>
            </a:r>
            <a:r>
              <a:rPr lang="en-US" sz="1400" u="sng" dirty="0">
                <a:solidFill>
                  <a:srgbClr val="1155CC"/>
                </a:solidFill>
                <a:effectLst/>
                <a:latin typeface="Times New Roman" panose="02020603050405020304" pitchFamily="18" charset="0"/>
                <a:ea typeface="Times New Roman" panose="02020603050405020304" pitchFamily="18" charset="0"/>
                <a:cs typeface="Gautami" panose="020B0502040204020203" pitchFamily="34" charset="0"/>
                <a:hlinkClick r:id="rId4"/>
              </a:rPr>
              <a:t>https://www.njcponline.com/article.asp?issn=1119-3077;year=2013;volume=16;issue=2;spage=188;epage=194;aulast=Egube</a:t>
            </a:r>
            <a:r>
              <a:rPr lang="en-US" sz="1400" dirty="0">
                <a:solidFill>
                  <a:srgbClr val="222222"/>
                </a:solidFill>
                <a:effectLst/>
                <a:latin typeface="Times New Roman" panose="02020603050405020304" pitchFamily="18" charset="0"/>
                <a:ea typeface="Times New Roman" panose="02020603050405020304" pitchFamily="18" charset="0"/>
                <a:cs typeface="Gautami" panose="020B0502040204020203" pitchFamily="34" charset="0"/>
              </a:rPr>
              <a:t> [Accessed on 25th January 2022] </a:t>
            </a:r>
            <a:endParaRPr lang="en-US" sz="1400" dirty="0">
              <a:effectLst/>
              <a:latin typeface="Calibri" panose="020F0502020204030204" pitchFamily="34" charset="0"/>
              <a:ea typeface="Calibri" panose="020F0502020204030204" pitchFamily="34" charset="0"/>
              <a:cs typeface="Gautami" panose="020B0502040204020203" pitchFamily="34" charset="0"/>
            </a:endParaRPr>
          </a:p>
          <a:p>
            <a:pPr marL="342900" indent="-342900" algn="just">
              <a:buFont typeface="Wingdings" panose="05000000000000000000" pitchFamily="2" charset="2"/>
              <a:buChar char="q"/>
            </a:pPr>
            <a:r>
              <a:rPr lang="en-US" sz="1400" dirty="0" err="1">
                <a:solidFill>
                  <a:srgbClr val="222222"/>
                </a:solidFill>
                <a:effectLst/>
                <a:latin typeface="Times New Roman" panose="02020603050405020304" pitchFamily="18" charset="0"/>
                <a:ea typeface="Times New Roman" panose="02020603050405020304" pitchFamily="18" charset="0"/>
                <a:cs typeface="Gautami" panose="020B0502040204020203" pitchFamily="34" charset="0"/>
              </a:rPr>
              <a:t>Bizuneh</a:t>
            </a:r>
            <a:r>
              <a:rPr lang="en-US" sz="1400" dirty="0">
                <a:solidFill>
                  <a:srgbClr val="222222"/>
                </a:solidFill>
                <a:effectLst/>
                <a:latin typeface="Times New Roman" panose="02020603050405020304" pitchFamily="18" charset="0"/>
                <a:ea typeface="Times New Roman" panose="02020603050405020304" pitchFamily="18" charset="0"/>
                <a:cs typeface="Gautami" panose="020B0502040204020203" pitchFamily="34" charset="0"/>
              </a:rPr>
              <a:t> AD, </a:t>
            </a:r>
            <a:r>
              <a:rPr lang="en-US" sz="1400" dirty="0" err="1">
                <a:solidFill>
                  <a:srgbClr val="222222"/>
                </a:solidFill>
                <a:effectLst/>
                <a:latin typeface="Times New Roman" panose="02020603050405020304" pitchFamily="18" charset="0"/>
                <a:ea typeface="Times New Roman" panose="02020603050405020304" pitchFamily="18" charset="0"/>
                <a:cs typeface="Gautami" panose="020B0502040204020203" pitchFamily="34" charset="0"/>
              </a:rPr>
              <a:t>Alemnew</a:t>
            </a:r>
            <a:r>
              <a:rPr lang="en-US" sz="1400" dirty="0">
                <a:solidFill>
                  <a:srgbClr val="222222"/>
                </a:solidFill>
                <a:effectLst/>
                <a:latin typeface="Times New Roman" panose="02020603050405020304" pitchFamily="18" charset="0"/>
                <a:ea typeface="Times New Roman" panose="02020603050405020304" pitchFamily="18" charset="0"/>
                <a:cs typeface="Gautami" panose="020B0502040204020203" pitchFamily="34" charset="0"/>
              </a:rPr>
              <a:t> B, </a:t>
            </a:r>
            <a:r>
              <a:rPr lang="en-US" sz="1400" dirty="0" err="1">
                <a:solidFill>
                  <a:srgbClr val="222222"/>
                </a:solidFill>
                <a:effectLst/>
                <a:latin typeface="Times New Roman" panose="02020603050405020304" pitchFamily="18" charset="0"/>
                <a:ea typeface="Times New Roman" panose="02020603050405020304" pitchFamily="18" charset="0"/>
                <a:cs typeface="Gautami" panose="020B0502040204020203" pitchFamily="34" charset="0"/>
              </a:rPr>
              <a:t>Getie</a:t>
            </a:r>
            <a:r>
              <a:rPr lang="en-US" sz="1400" dirty="0">
                <a:solidFill>
                  <a:srgbClr val="222222"/>
                </a:solidFill>
                <a:effectLst/>
                <a:latin typeface="Times New Roman" panose="02020603050405020304" pitchFamily="18" charset="0"/>
                <a:ea typeface="Times New Roman" panose="02020603050405020304" pitchFamily="18" charset="0"/>
                <a:cs typeface="Gautami" panose="020B0502040204020203" pitchFamily="34" charset="0"/>
              </a:rPr>
              <a:t> A, </a:t>
            </a:r>
            <a:r>
              <a:rPr lang="en-US" sz="1400" dirty="0" err="1">
                <a:solidFill>
                  <a:srgbClr val="222222"/>
                </a:solidFill>
                <a:effectLst/>
                <a:latin typeface="Times New Roman" panose="02020603050405020304" pitchFamily="18" charset="0"/>
                <a:ea typeface="Times New Roman" panose="02020603050405020304" pitchFamily="18" charset="0"/>
                <a:cs typeface="Gautami" panose="020B0502040204020203" pitchFamily="34" charset="0"/>
              </a:rPr>
              <a:t>Wondmieneh</a:t>
            </a:r>
            <a:r>
              <a:rPr lang="en-US" sz="1400" dirty="0">
                <a:solidFill>
                  <a:srgbClr val="222222"/>
                </a:solidFill>
                <a:effectLst/>
                <a:latin typeface="Times New Roman" panose="02020603050405020304" pitchFamily="18" charset="0"/>
                <a:ea typeface="Times New Roman" panose="02020603050405020304" pitchFamily="18" charset="0"/>
                <a:cs typeface="Gautami" panose="020B0502040204020203" pitchFamily="34" charset="0"/>
              </a:rPr>
              <a:t> A, </a:t>
            </a:r>
            <a:r>
              <a:rPr lang="en-US" sz="1400" dirty="0" err="1">
                <a:solidFill>
                  <a:srgbClr val="222222"/>
                </a:solidFill>
                <a:effectLst/>
                <a:latin typeface="Times New Roman" panose="02020603050405020304" pitchFamily="18" charset="0"/>
                <a:ea typeface="Times New Roman" panose="02020603050405020304" pitchFamily="18" charset="0"/>
                <a:cs typeface="Gautami" panose="020B0502040204020203" pitchFamily="34" charset="0"/>
              </a:rPr>
              <a:t>Gedefaw</a:t>
            </a:r>
            <a:r>
              <a:rPr lang="en-US" sz="1400" dirty="0">
                <a:solidFill>
                  <a:srgbClr val="222222"/>
                </a:solidFill>
                <a:effectLst/>
                <a:latin typeface="Times New Roman" panose="02020603050405020304" pitchFamily="18" charset="0"/>
                <a:ea typeface="Times New Roman" panose="02020603050405020304" pitchFamily="18" charset="0"/>
                <a:cs typeface="Gautami" panose="020B0502040204020203" pitchFamily="34" charset="0"/>
              </a:rPr>
              <a:t> G. Determinants of neonatal jaundice among neonates admitted to five referral hospitals in Amhara region, Northern Ethiopia: an unmatched case-control study. </a:t>
            </a:r>
            <a:r>
              <a:rPr lang="en-US" sz="1400" i="1" dirty="0">
                <a:solidFill>
                  <a:srgbClr val="222222"/>
                </a:solidFill>
                <a:effectLst/>
                <a:latin typeface="Times New Roman" panose="02020603050405020304" pitchFamily="18" charset="0"/>
                <a:ea typeface="Times New Roman" panose="02020603050405020304" pitchFamily="18" charset="0"/>
                <a:cs typeface="Gautami" panose="020B0502040204020203" pitchFamily="34" charset="0"/>
              </a:rPr>
              <a:t>BMJ pediatrics open.</a:t>
            </a:r>
            <a:r>
              <a:rPr lang="en-US" sz="1400" dirty="0">
                <a:solidFill>
                  <a:srgbClr val="222222"/>
                </a:solidFill>
                <a:effectLst/>
                <a:latin typeface="Times New Roman" panose="02020603050405020304" pitchFamily="18" charset="0"/>
                <a:ea typeface="Times New Roman" panose="02020603050405020304" pitchFamily="18" charset="0"/>
                <a:cs typeface="Gautami" panose="020B0502040204020203" pitchFamily="34" charset="0"/>
              </a:rPr>
              <a:t> 2020;4(1). Available from: </a:t>
            </a:r>
            <a:r>
              <a:rPr lang="en-US" sz="1400" u="sng" dirty="0">
                <a:solidFill>
                  <a:srgbClr val="1155CC"/>
                </a:solidFill>
                <a:effectLst/>
                <a:latin typeface="Times New Roman" panose="02020603050405020304" pitchFamily="18" charset="0"/>
                <a:ea typeface="Times New Roman" panose="02020603050405020304" pitchFamily="18" charset="0"/>
                <a:cs typeface="Gautami" panose="020B0502040204020203" pitchFamily="34" charset="0"/>
                <a:hlinkClick r:id="rId5"/>
              </a:rPr>
              <a:t>https://www.ncbi.nlm.nih.gov/pmc/articles/PMC7511639/</a:t>
            </a:r>
            <a:r>
              <a:rPr lang="en-US" sz="1400" dirty="0">
                <a:solidFill>
                  <a:srgbClr val="222222"/>
                </a:solidFill>
                <a:effectLst/>
                <a:latin typeface="Times New Roman" panose="02020603050405020304" pitchFamily="18" charset="0"/>
                <a:ea typeface="Times New Roman" panose="02020603050405020304" pitchFamily="18" charset="0"/>
                <a:cs typeface="Gautami" panose="020B0502040204020203" pitchFamily="34" charset="0"/>
              </a:rPr>
              <a:t> [Accessed on 25th January 2022] </a:t>
            </a:r>
            <a:endParaRPr lang="en-US" sz="1400" dirty="0">
              <a:effectLst/>
              <a:latin typeface="Calibri" panose="020F0502020204030204" pitchFamily="34" charset="0"/>
              <a:ea typeface="Calibri" panose="020F0502020204030204" pitchFamily="34" charset="0"/>
              <a:cs typeface="Gautami" panose="020B0502040204020203" pitchFamily="34" charset="0"/>
            </a:endParaRPr>
          </a:p>
          <a:p>
            <a:pPr marL="342900" indent="-342900" algn="just">
              <a:buFont typeface="Wingdings" panose="05000000000000000000" pitchFamily="2" charset="2"/>
              <a:buChar char="q"/>
            </a:pPr>
            <a:r>
              <a:rPr lang="en-US" sz="1400" dirty="0" err="1">
                <a:solidFill>
                  <a:srgbClr val="222222"/>
                </a:solidFill>
                <a:effectLst/>
                <a:latin typeface="Times New Roman" panose="02020603050405020304" pitchFamily="18" charset="0"/>
                <a:ea typeface="Times New Roman" panose="02020603050405020304" pitchFamily="18" charset="0"/>
                <a:cs typeface="Gautami" panose="020B0502040204020203" pitchFamily="34" charset="0"/>
              </a:rPr>
              <a:t>Wagemann</a:t>
            </a:r>
            <a:r>
              <a:rPr lang="en-US" sz="1400" dirty="0">
                <a:solidFill>
                  <a:srgbClr val="222222"/>
                </a:solidFill>
                <a:effectLst/>
                <a:latin typeface="Times New Roman" panose="02020603050405020304" pitchFamily="18" charset="0"/>
                <a:ea typeface="Times New Roman" panose="02020603050405020304" pitchFamily="18" charset="0"/>
                <a:cs typeface="Gautami" panose="020B0502040204020203" pitchFamily="34" charset="0"/>
              </a:rPr>
              <a:t> SC, </a:t>
            </a:r>
            <a:r>
              <a:rPr lang="en-US" sz="1400" dirty="0" err="1">
                <a:solidFill>
                  <a:srgbClr val="222222"/>
                </a:solidFill>
                <a:effectLst/>
                <a:latin typeface="Times New Roman" panose="02020603050405020304" pitchFamily="18" charset="0"/>
                <a:ea typeface="Times New Roman" panose="02020603050405020304" pitchFamily="18" charset="0"/>
                <a:cs typeface="Gautami" panose="020B0502040204020203" pitchFamily="34" charset="0"/>
              </a:rPr>
              <a:t>Nannig</a:t>
            </a:r>
            <a:r>
              <a:rPr lang="en-US" sz="1400" dirty="0">
                <a:solidFill>
                  <a:srgbClr val="222222"/>
                </a:solidFill>
                <a:effectLst/>
                <a:latin typeface="Times New Roman" panose="02020603050405020304" pitchFamily="18" charset="0"/>
                <a:ea typeface="Times New Roman" panose="02020603050405020304" pitchFamily="18" charset="0"/>
                <a:cs typeface="Gautami" panose="020B0502040204020203" pitchFamily="34" charset="0"/>
              </a:rPr>
              <a:t> PM. Severe hyperbilirubinemia in newborns, risk factors and neurological outcomes. </a:t>
            </a:r>
            <a:r>
              <a:rPr lang="en-US" sz="1400" i="1" dirty="0">
                <a:solidFill>
                  <a:srgbClr val="222222"/>
                </a:solidFill>
                <a:effectLst/>
                <a:latin typeface="Times New Roman" panose="02020603050405020304" pitchFamily="18" charset="0"/>
                <a:ea typeface="Times New Roman" panose="02020603050405020304" pitchFamily="18" charset="0"/>
                <a:cs typeface="Gautami" panose="020B0502040204020203" pitchFamily="34" charset="0"/>
              </a:rPr>
              <a:t>Rev. </a:t>
            </a:r>
            <a:r>
              <a:rPr lang="en-US" sz="1400" i="1" dirty="0" err="1">
                <a:solidFill>
                  <a:srgbClr val="222222"/>
                </a:solidFill>
                <a:effectLst/>
                <a:latin typeface="Times New Roman" panose="02020603050405020304" pitchFamily="18" charset="0"/>
                <a:ea typeface="Times New Roman" panose="02020603050405020304" pitchFamily="18" charset="0"/>
                <a:cs typeface="Gautami" panose="020B0502040204020203" pitchFamily="34" charset="0"/>
              </a:rPr>
              <a:t>chil</a:t>
            </a:r>
            <a:r>
              <a:rPr lang="en-US" sz="1400" i="1" dirty="0">
                <a:solidFill>
                  <a:srgbClr val="222222"/>
                </a:solidFill>
                <a:effectLst/>
                <a:latin typeface="Times New Roman" panose="02020603050405020304" pitchFamily="18" charset="0"/>
                <a:ea typeface="Times New Roman" panose="02020603050405020304" pitchFamily="18" charset="0"/>
                <a:cs typeface="Gautami" panose="020B0502040204020203" pitchFamily="34" charset="0"/>
              </a:rPr>
              <a:t>. </a:t>
            </a:r>
            <a:r>
              <a:rPr lang="en-US" sz="1400" i="1" dirty="0" err="1">
                <a:solidFill>
                  <a:srgbClr val="222222"/>
                </a:solidFill>
                <a:effectLst/>
                <a:latin typeface="Times New Roman" panose="02020603050405020304" pitchFamily="18" charset="0"/>
                <a:ea typeface="Times New Roman" panose="02020603050405020304" pitchFamily="18" charset="0"/>
                <a:cs typeface="Gautami" panose="020B0502040204020203" pitchFamily="34" charset="0"/>
              </a:rPr>
              <a:t>pediatr</a:t>
            </a:r>
            <a:r>
              <a:rPr lang="en-US" sz="1400" i="1" dirty="0">
                <a:solidFill>
                  <a:srgbClr val="222222"/>
                </a:solidFill>
                <a:effectLst/>
                <a:latin typeface="Times New Roman" panose="02020603050405020304" pitchFamily="18" charset="0"/>
                <a:ea typeface="Times New Roman" panose="02020603050405020304" pitchFamily="18" charset="0"/>
                <a:cs typeface="Gautami" panose="020B0502040204020203" pitchFamily="34" charset="0"/>
              </a:rPr>
              <a:t>. Santiago</a:t>
            </a:r>
            <a:r>
              <a:rPr lang="en-US" sz="1400" dirty="0">
                <a:solidFill>
                  <a:srgbClr val="222222"/>
                </a:solidFill>
                <a:effectLst/>
                <a:latin typeface="Times New Roman" panose="02020603050405020304" pitchFamily="18" charset="0"/>
                <a:ea typeface="Times New Roman" panose="02020603050405020304" pitchFamily="18" charset="0"/>
                <a:cs typeface="Gautami" panose="020B0502040204020203" pitchFamily="34" charset="0"/>
              </a:rPr>
              <a:t>. 2019 Jun;90(3):267-74. Available from: </a:t>
            </a:r>
            <a:r>
              <a:rPr lang="en-US" sz="1400" u="sng" dirty="0">
                <a:solidFill>
                  <a:srgbClr val="0000FF"/>
                </a:solidFill>
                <a:effectLst/>
                <a:latin typeface="Times New Roman" panose="02020603050405020304" pitchFamily="18" charset="0"/>
                <a:ea typeface="Times New Roman" panose="02020603050405020304" pitchFamily="18" charset="0"/>
                <a:cs typeface="Gautami" panose="020B0502040204020203" pitchFamily="34" charset="0"/>
                <a:hlinkClick r:id="rId6"/>
              </a:rPr>
              <a:t>https://www.scielo.cl/scielo.php?script=sci_arttext&amp;pid=S0370-41062019005000702&amp;lng=en&amp;nrm=iso&amp;tlng=en</a:t>
            </a:r>
            <a:r>
              <a:rPr lang="en-US" sz="1400" dirty="0">
                <a:solidFill>
                  <a:srgbClr val="222222"/>
                </a:solidFill>
                <a:effectLst/>
                <a:latin typeface="Times New Roman" panose="02020603050405020304" pitchFamily="18" charset="0"/>
                <a:ea typeface="Times New Roman" panose="02020603050405020304" pitchFamily="18" charset="0"/>
                <a:cs typeface="Gautami" panose="020B0502040204020203" pitchFamily="34" charset="0"/>
              </a:rPr>
              <a:t> [Accessed on 26th January 2022] </a:t>
            </a:r>
          </a:p>
          <a:p>
            <a:pPr marL="342900" indent="-342900" algn="just">
              <a:buFont typeface="Wingdings" panose="05000000000000000000" pitchFamily="2" charset="2"/>
              <a:buChar char="q"/>
            </a:pPr>
            <a:r>
              <a:rPr lang="en-US" sz="1400" dirty="0" err="1">
                <a:solidFill>
                  <a:srgbClr val="222222"/>
                </a:solidFill>
                <a:effectLst/>
                <a:latin typeface="Times New Roman" panose="02020603050405020304" pitchFamily="18" charset="0"/>
                <a:ea typeface="Times New Roman" panose="02020603050405020304" pitchFamily="18" charset="0"/>
                <a:cs typeface="Gautami" panose="020B0502040204020203" pitchFamily="34" charset="0"/>
              </a:rPr>
              <a:t>Amegan-Aho</a:t>
            </a:r>
            <a:r>
              <a:rPr lang="en-US" sz="1400" dirty="0">
                <a:solidFill>
                  <a:srgbClr val="222222"/>
                </a:solidFill>
                <a:effectLst/>
                <a:latin typeface="Times New Roman" panose="02020603050405020304" pitchFamily="18" charset="0"/>
                <a:ea typeface="Times New Roman" panose="02020603050405020304" pitchFamily="18" charset="0"/>
                <a:cs typeface="Gautami" panose="020B0502040204020203" pitchFamily="34" charset="0"/>
              </a:rPr>
              <a:t> KH, </a:t>
            </a:r>
            <a:r>
              <a:rPr lang="en-US" sz="1400" dirty="0" err="1">
                <a:solidFill>
                  <a:srgbClr val="222222"/>
                </a:solidFill>
                <a:effectLst/>
                <a:latin typeface="Times New Roman" panose="02020603050405020304" pitchFamily="18" charset="0"/>
                <a:ea typeface="Times New Roman" panose="02020603050405020304" pitchFamily="18" charset="0"/>
                <a:cs typeface="Gautami" panose="020B0502040204020203" pitchFamily="34" charset="0"/>
              </a:rPr>
              <a:t>Segbefia</a:t>
            </a:r>
            <a:r>
              <a:rPr lang="en-US" sz="1400" dirty="0">
                <a:solidFill>
                  <a:srgbClr val="222222"/>
                </a:solidFill>
                <a:effectLst/>
                <a:latin typeface="Times New Roman" panose="02020603050405020304" pitchFamily="18" charset="0"/>
                <a:ea typeface="Times New Roman" panose="02020603050405020304" pitchFamily="18" charset="0"/>
                <a:cs typeface="Gautami" panose="020B0502040204020203" pitchFamily="34" charset="0"/>
              </a:rPr>
              <a:t> CI, Glover ND, Ansa GA, </a:t>
            </a:r>
            <a:r>
              <a:rPr lang="en-US" sz="1400" dirty="0" err="1">
                <a:solidFill>
                  <a:srgbClr val="222222"/>
                </a:solidFill>
                <a:effectLst/>
                <a:latin typeface="Times New Roman" panose="02020603050405020304" pitchFamily="18" charset="0"/>
                <a:ea typeface="Times New Roman" panose="02020603050405020304" pitchFamily="18" charset="0"/>
                <a:cs typeface="Gautami" panose="020B0502040204020203" pitchFamily="34" charset="0"/>
              </a:rPr>
              <a:t>Afaa</a:t>
            </a:r>
            <a:r>
              <a:rPr lang="en-US" sz="1400" dirty="0">
                <a:solidFill>
                  <a:srgbClr val="222222"/>
                </a:solidFill>
                <a:effectLst/>
                <a:latin typeface="Times New Roman" panose="02020603050405020304" pitchFamily="18" charset="0"/>
                <a:ea typeface="Times New Roman" panose="02020603050405020304" pitchFamily="18" charset="0"/>
                <a:cs typeface="Gautami" panose="020B0502040204020203" pitchFamily="34" charset="0"/>
              </a:rPr>
              <a:t> TJ. Neonatal Jaundice: awareness, perception and preventive practices in expectant mothers. </a:t>
            </a:r>
            <a:r>
              <a:rPr lang="en-US" sz="1400" i="1" dirty="0">
                <a:solidFill>
                  <a:srgbClr val="222222"/>
                </a:solidFill>
                <a:effectLst/>
                <a:latin typeface="Times New Roman" panose="02020603050405020304" pitchFamily="18" charset="0"/>
                <a:ea typeface="Times New Roman" panose="02020603050405020304" pitchFamily="18" charset="0"/>
                <a:cs typeface="Gautami" panose="020B0502040204020203" pitchFamily="34" charset="0"/>
              </a:rPr>
              <a:t>Ghana medical journal</a:t>
            </a:r>
            <a:r>
              <a:rPr lang="en-US" sz="1400" dirty="0">
                <a:solidFill>
                  <a:srgbClr val="222222"/>
                </a:solidFill>
                <a:effectLst/>
                <a:latin typeface="Times New Roman" panose="02020603050405020304" pitchFamily="18" charset="0"/>
                <a:ea typeface="Times New Roman" panose="02020603050405020304" pitchFamily="18" charset="0"/>
                <a:cs typeface="Gautami" panose="020B0502040204020203" pitchFamily="34" charset="0"/>
              </a:rPr>
              <a:t>. 2019;53(4):267-72. Available from: </a:t>
            </a:r>
            <a:r>
              <a:rPr lang="en-US" sz="1400" u="sng" dirty="0">
                <a:solidFill>
                  <a:srgbClr val="1155CC"/>
                </a:solidFill>
                <a:effectLst/>
                <a:latin typeface="Times New Roman" panose="02020603050405020304" pitchFamily="18" charset="0"/>
                <a:ea typeface="Times New Roman" panose="02020603050405020304" pitchFamily="18" charset="0"/>
                <a:cs typeface="Gautami" panose="020B0502040204020203" pitchFamily="34" charset="0"/>
                <a:hlinkClick r:id="rId7"/>
              </a:rPr>
              <a:t>https://www.ncbi.nlm.nih.gov/pmc/articles/PMC7036439/</a:t>
            </a:r>
            <a:r>
              <a:rPr lang="en-US" sz="1400" dirty="0">
                <a:solidFill>
                  <a:srgbClr val="222222"/>
                </a:solidFill>
                <a:effectLst/>
                <a:latin typeface="Times New Roman" panose="02020603050405020304" pitchFamily="18" charset="0"/>
                <a:ea typeface="Times New Roman" panose="02020603050405020304" pitchFamily="18" charset="0"/>
                <a:cs typeface="Gautami" panose="020B0502040204020203" pitchFamily="34" charset="0"/>
              </a:rPr>
              <a:t> [Accessed on 25th </a:t>
            </a:r>
            <a:r>
              <a:rPr lang="en-US" sz="1400" dirty="0" err="1">
                <a:solidFill>
                  <a:srgbClr val="222222"/>
                </a:solidFill>
                <a:effectLst/>
                <a:latin typeface="Times New Roman" panose="02020603050405020304" pitchFamily="18" charset="0"/>
                <a:ea typeface="Times New Roman" panose="02020603050405020304" pitchFamily="18" charset="0"/>
                <a:cs typeface="Gautami" panose="020B0502040204020203" pitchFamily="34" charset="0"/>
              </a:rPr>
              <a:t>january</a:t>
            </a:r>
            <a:r>
              <a:rPr lang="en-US" sz="1400" dirty="0">
                <a:solidFill>
                  <a:srgbClr val="222222"/>
                </a:solidFill>
                <a:effectLst/>
                <a:latin typeface="Times New Roman" panose="02020603050405020304" pitchFamily="18" charset="0"/>
                <a:ea typeface="Times New Roman" panose="02020603050405020304" pitchFamily="18" charset="0"/>
                <a:cs typeface="Gautami" panose="020B0502040204020203" pitchFamily="34" charset="0"/>
              </a:rPr>
              <a:t> 2022] </a:t>
            </a:r>
            <a:endParaRPr lang="en-US" sz="1400" dirty="0">
              <a:effectLst/>
              <a:latin typeface="Calibri" panose="020F0502020204030204" pitchFamily="34" charset="0"/>
              <a:ea typeface="Calibri" panose="020F0502020204030204" pitchFamily="34" charset="0"/>
              <a:cs typeface="Gautami" panose="020B0502040204020203" pitchFamily="34" charset="0"/>
            </a:endParaRPr>
          </a:p>
        </p:txBody>
      </p:sp>
    </p:spTree>
    <p:extLst>
      <p:ext uri="{BB962C8B-B14F-4D97-AF65-F5344CB8AC3E}">
        <p14:creationId xmlns:p14="http://schemas.microsoft.com/office/powerpoint/2010/main" val="204732094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8AAC40A-B7D6-4DD8-BB18-577EFA9646FE}"/>
              </a:ext>
            </a:extLst>
          </p:cNvPr>
          <p:cNvSpPr txBox="1"/>
          <p:nvPr/>
        </p:nvSpPr>
        <p:spPr>
          <a:xfrm>
            <a:off x="3478695" y="2228671"/>
            <a:ext cx="5234609" cy="1200329"/>
          </a:xfrm>
          <a:prstGeom prst="rect">
            <a:avLst/>
          </a:prstGeom>
          <a:noFill/>
        </p:spPr>
        <p:txBody>
          <a:bodyPr wrap="square" rtlCol="0">
            <a:spAutoFit/>
          </a:bodyPr>
          <a:lstStyle/>
          <a:p>
            <a:r>
              <a:rPr lang="en-US" sz="7200" dirty="0"/>
              <a:t>THANK YOU</a:t>
            </a:r>
          </a:p>
        </p:txBody>
      </p:sp>
    </p:spTree>
    <p:extLst>
      <p:ext uri="{BB962C8B-B14F-4D97-AF65-F5344CB8AC3E}">
        <p14:creationId xmlns:p14="http://schemas.microsoft.com/office/powerpoint/2010/main" val="243114289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 /></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docProps/app.xml><?xml version="1.0" encoding="utf-8"?>
<Properties xmlns="http://schemas.openxmlformats.org/officeDocument/2006/extended-properties" xmlns:vt="http://schemas.openxmlformats.org/officeDocument/2006/docPropsVTypes">
  <Template>Wood Type</Template>
  <TotalTime>1222</TotalTime>
  <Words>4646</Words>
  <Application>Microsoft Office PowerPoint</Application>
  <PresentationFormat>Widescreen</PresentationFormat>
  <Paragraphs>315</Paragraphs>
  <Slides>63</Slides>
  <Notes>0</Notes>
  <HiddenSlides>0</HiddenSlides>
  <MMClips>0</MMClips>
  <ScaleCrop>false</ScaleCrop>
  <HeadingPairs>
    <vt:vector size="4" baseType="variant">
      <vt:variant>
        <vt:lpstr>Theme</vt:lpstr>
      </vt:variant>
      <vt:variant>
        <vt:i4>1</vt:i4>
      </vt:variant>
      <vt:variant>
        <vt:lpstr>Slide Titles</vt:lpstr>
      </vt:variant>
      <vt:variant>
        <vt:i4>63</vt:i4>
      </vt:variant>
    </vt:vector>
  </HeadingPairs>
  <TitlesOfParts>
    <vt:vector size="64" baseType="lpstr">
      <vt:lpstr>Wood Type</vt:lpstr>
      <vt:lpstr>A PROSPECTIVE OBSERVATIONAL STUDY ON RISK ASSESSMENT AND MOTHER’S KNOWLEDGE ON NEONATAL JAUNDICE</vt:lpstr>
      <vt:lpstr>WHY THIS STUDY?</vt:lpstr>
      <vt:lpstr>INTRODUCTION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LITERATURE REVIEW</vt:lpstr>
      <vt:lpstr>PowerPoint Presentation</vt:lpstr>
      <vt:lpstr>PowerPoint Presentation</vt:lpstr>
      <vt:lpstr>PowerPoint Presentation</vt:lpstr>
      <vt:lpstr>PowerPoint Presentation</vt:lpstr>
      <vt:lpstr>PowerPoint Presentation</vt:lpstr>
      <vt:lpstr>AIMS AND OBJECTIVES</vt:lpstr>
      <vt:lpstr>PowerPoint Presentation</vt:lpstr>
      <vt:lpstr>PLAN OF WORK</vt:lpstr>
      <vt:lpstr>PowerPoint Presentation</vt:lpstr>
      <vt:lpstr>METHODOLOGY</vt:lpstr>
      <vt:lpstr>PowerPoint Presentation</vt:lpstr>
      <vt:lpstr>PowerPoint Presentation</vt:lpstr>
      <vt:lpstr>PowerPoint Presentation</vt:lpstr>
      <vt:lpstr>PowerPoint Presentation</vt:lpstr>
      <vt:lpstr>PowerPoint Presentation</vt:lpstr>
      <vt:lpstr>PowerPoint Presentation</vt:lpstr>
      <vt:lpstr>RESULTS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discussion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vt:lpstr>
      <vt:lpstr>PowerPoint Presentation</vt:lpstr>
      <vt:lpstr>LIMITATIONS</vt:lpstr>
      <vt:lpstr>PowerPoint Presentation</vt:lpstr>
      <vt:lpstr>ANNEXURES</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PROSPECTIVE OBSERVATIONAL STUDY ON RISK ASSESSMENT AND MOTHER’S KNOWLEDGE ON NEONATAL JAUNDICE</dc:title>
  <dc:creator>shatabdee mondal</dc:creator>
  <cp:lastModifiedBy>917702373686</cp:lastModifiedBy>
  <cp:revision>17</cp:revision>
  <dcterms:created xsi:type="dcterms:W3CDTF">2022-06-11T07:27:13Z</dcterms:created>
  <dcterms:modified xsi:type="dcterms:W3CDTF">2022-06-27T02:33:52Z</dcterms:modified>
</cp:coreProperties>
</file>